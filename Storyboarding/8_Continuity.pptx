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257" r:id="rId3"/>
    <p:sldId id="298" r:id="rId4"/>
    <p:sldId id="258" r:id="rId5"/>
    <p:sldId id="259" r:id="rId6"/>
    <p:sldId id="260" r:id="rId7"/>
    <p:sldId id="262" r:id="rId8"/>
    <p:sldId id="263" r:id="rId9"/>
    <p:sldId id="302" r:id="rId10"/>
    <p:sldId id="299" r:id="rId11"/>
    <p:sldId id="264" r:id="rId12"/>
    <p:sldId id="265" r:id="rId13"/>
    <p:sldId id="303" r:id="rId14"/>
    <p:sldId id="300" r:id="rId15"/>
    <p:sldId id="266" r:id="rId16"/>
    <p:sldId id="267" r:id="rId17"/>
    <p:sldId id="268" r:id="rId18"/>
    <p:sldId id="269" r:id="rId19"/>
    <p:sldId id="270" r:id="rId20"/>
    <p:sldId id="271" r:id="rId21"/>
    <p:sldId id="273" r:id="rId22"/>
    <p:sldId id="274" r:id="rId23"/>
    <p:sldId id="275" r:id="rId24"/>
    <p:sldId id="276" r:id="rId25"/>
    <p:sldId id="277" r:id="rId26"/>
    <p:sldId id="278" r:id="rId27"/>
    <p:sldId id="301"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_</a:t>
            </a:r>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As a storyboard artist, it is important to understand the editing process, and most importantly, continuity editing, which is an editing style used to create visual</a:t>
            </a:r>
            <a:r>
              <a:rPr lang="en-US" sz="1200" kern="1200" baseline="0" dirty="0">
                <a:solidFill>
                  <a:schemeClr val="tx1"/>
                </a:solidFill>
                <a:effectLst/>
                <a:latin typeface="+mn-lt"/>
                <a:ea typeface="+mn-ea"/>
                <a:cs typeface="+mn-cs"/>
              </a:rPr>
              <a:t> stories</a:t>
            </a:r>
            <a:r>
              <a:rPr lang="en-US" sz="1200" kern="1200" dirty="0">
                <a:solidFill>
                  <a:schemeClr val="tx1"/>
                </a:solidFill>
                <a:effectLst/>
                <a:latin typeface="+mn-lt"/>
                <a:ea typeface="+mn-ea"/>
                <a:cs typeface="+mn-cs"/>
              </a:rPr>
              <a:t> that flow continuously from beginning to end. </a:t>
            </a:r>
          </a:p>
        </p:txBody>
      </p:sp>
      <p:sp>
        <p:nvSpPr>
          <p:cNvPr id="4" name="Slide Number Placeholder 3"/>
          <p:cNvSpPr>
            <a:spLocks noGrp="1"/>
          </p:cNvSpPr>
          <p:nvPr>
            <p:ph type="sldNum" sz="quarter" idx="10"/>
          </p:nvPr>
        </p:nvSpPr>
        <p:spPr/>
        <p:txBody>
          <a:bodyPr/>
          <a:lstStyle/>
          <a:p>
            <a:fld id="{3C7FDB04-D1AC-46DB-9592-CA12D78D404F}" type="slidenum">
              <a:rPr lang="en-US" smtClean="0"/>
              <a:t>2</a:t>
            </a:fld>
            <a:endParaRPr lang="en-US"/>
          </a:p>
        </p:txBody>
      </p:sp>
    </p:spTree>
    <p:extLst>
      <p:ext uri="{BB962C8B-B14F-4D97-AF65-F5344CB8AC3E}">
        <p14:creationId xmlns:p14="http://schemas.microsoft.com/office/powerpoint/2010/main" val="3360381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This may seem misleading since continuity is about splicing together shots of various frame sizes and camera angles. </a:t>
            </a:r>
          </a:p>
          <a:p>
            <a:pPr latinLnBrk="1"/>
            <a:r>
              <a:rPr lang="en-US" sz="1200" kern="1200" dirty="0">
                <a:solidFill>
                  <a:schemeClr val="tx1"/>
                </a:solidFill>
                <a:effectLst/>
                <a:latin typeface="+mn-lt"/>
                <a:ea typeface="+mn-ea"/>
                <a:cs typeface="+mn-cs"/>
              </a:rPr>
              <a:t>There may be as many as a dozen cuts within one minute, however these edits are invisible if the editor does not do his job well. </a:t>
            </a:r>
          </a:p>
          <a:p>
            <a:pPr latinLnBrk="1"/>
            <a:r>
              <a:rPr lang="en-US" sz="1200" kern="1200" dirty="0">
                <a:solidFill>
                  <a:schemeClr val="tx1"/>
                </a:solidFill>
                <a:effectLst/>
                <a:latin typeface="+mn-lt"/>
                <a:ea typeface="+mn-ea"/>
                <a:cs typeface="+mn-cs"/>
              </a:rPr>
              <a:t>If continuity is achieved, audiences will not notice the edits but rather will see the story as a continuous whole.</a:t>
            </a:r>
          </a:p>
          <a:p>
            <a:pPr latinLnBrk="1"/>
            <a:r>
              <a:rPr lang="en-US" sz="1200" kern="1200" dirty="0">
                <a:solidFill>
                  <a:schemeClr val="tx1"/>
                </a:solidFill>
                <a:effectLst/>
                <a:latin typeface="+mn-lt"/>
                <a:ea typeface="+mn-ea"/>
                <a:cs typeface="+mn-cs"/>
              </a:rPr>
              <a:t>If the editor has not achieved continuity, however, the spectators illusion of seeing consecutive action will be interrupted. </a:t>
            </a:r>
          </a:p>
        </p:txBody>
      </p:sp>
      <p:sp>
        <p:nvSpPr>
          <p:cNvPr id="4" name="Slide Number Placeholder 3"/>
          <p:cNvSpPr>
            <a:spLocks noGrp="1"/>
          </p:cNvSpPr>
          <p:nvPr>
            <p:ph type="sldNum" sz="quarter" idx="10"/>
          </p:nvPr>
        </p:nvSpPr>
        <p:spPr/>
        <p:txBody>
          <a:bodyPr/>
          <a:lstStyle/>
          <a:p>
            <a:fld id="{3C7FDB04-D1AC-46DB-9592-CA12D78D404F}" type="slidenum">
              <a:rPr lang="en-US" smtClean="0"/>
              <a:t>3</a:t>
            </a:fld>
            <a:endParaRPr lang="en-US"/>
          </a:p>
        </p:txBody>
      </p:sp>
    </p:spTree>
    <p:extLst>
      <p:ext uri="{BB962C8B-B14F-4D97-AF65-F5344CB8AC3E}">
        <p14:creationId xmlns:p14="http://schemas.microsoft.com/office/powerpoint/2010/main" val="143393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A good director or designer will consider </a:t>
            </a:r>
            <a:r>
              <a:rPr lang="en-US" sz="1200" b="1" kern="1200" dirty="0">
                <a:solidFill>
                  <a:schemeClr val="tx1"/>
                </a:solidFill>
                <a:effectLst/>
                <a:latin typeface="+mn-lt"/>
                <a:ea typeface="+mn-ea"/>
                <a:cs typeface="+mn-cs"/>
              </a:rPr>
              <a:t>continuity at the storyboard phase</a:t>
            </a:r>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Each frame that is sketched is evaluated and judged, as the story is composed </a:t>
            </a:r>
            <a:r>
              <a:rPr lang="en-US" sz="1200" b="1" kern="1200" dirty="0">
                <a:solidFill>
                  <a:schemeClr val="tx1"/>
                </a:solidFill>
                <a:effectLst/>
                <a:latin typeface="+mn-lt"/>
                <a:ea typeface="+mn-ea"/>
                <a:cs typeface="+mn-cs"/>
              </a:rPr>
              <a:t>shot-by-shot</a:t>
            </a:r>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Essential details are considered, including the pacing and transitions, to establish the visual flow of the project.</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4</a:t>
            </a:fld>
            <a:endParaRPr lang="en-US"/>
          </a:p>
        </p:txBody>
      </p:sp>
    </p:spTree>
    <p:extLst>
      <p:ext uri="{BB962C8B-B14F-4D97-AF65-F5344CB8AC3E}">
        <p14:creationId xmlns:p14="http://schemas.microsoft.com/office/powerpoint/2010/main" val="2900023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The basic principle of continuity is to tell a story that </a:t>
            </a:r>
            <a:r>
              <a:rPr lang="en-US" sz="1200" b="1" kern="1200" dirty="0">
                <a:solidFill>
                  <a:schemeClr val="tx1"/>
                </a:solidFill>
                <a:effectLst/>
                <a:latin typeface="+mn-lt"/>
                <a:ea typeface="+mn-ea"/>
                <a:cs typeface="+mn-cs"/>
              </a:rPr>
              <a:t>develops through the interaction of its characters</a:t>
            </a:r>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If you look at most films, you will notice that many are based on continuity editing, which allows the director to create </a:t>
            </a:r>
            <a:r>
              <a:rPr lang="en-US" sz="1200" b="1" kern="1200" dirty="0">
                <a:solidFill>
                  <a:schemeClr val="tx1"/>
                </a:solidFill>
                <a:effectLst/>
                <a:latin typeface="+mn-lt"/>
                <a:ea typeface="+mn-ea"/>
                <a:cs typeface="+mn-cs"/>
              </a:rPr>
              <a:t>seamless</a:t>
            </a:r>
            <a:r>
              <a:rPr lang="en-US" sz="1200" kern="1200" dirty="0">
                <a:solidFill>
                  <a:schemeClr val="tx1"/>
                </a:solidFill>
                <a:effectLst/>
                <a:latin typeface="+mn-lt"/>
                <a:ea typeface="+mn-ea"/>
                <a:cs typeface="+mn-cs"/>
              </a:rPr>
              <a:t> sequences that </a:t>
            </a:r>
            <a:r>
              <a:rPr lang="en-US" sz="1200" b="1" kern="1200" dirty="0">
                <a:solidFill>
                  <a:schemeClr val="tx1"/>
                </a:solidFill>
                <a:effectLst/>
                <a:latin typeface="+mn-lt"/>
                <a:ea typeface="+mn-ea"/>
                <a:cs typeface="+mn-cs"/>
              </a:rPr>
              <a:t>flow from one shot to the next. </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5</a:t>
            </a:fld>
            <a:endParaRPr lang="en-US"/>
          </a:p>
        </p:txBody>
      </p:sp>
    </p:spTree>
    <p:extLst>
      <p:ext uri="{BB962C8B-B14F-4D97-AF65-F5344CB8AC3E}">
        <p14:creationId xmlns:p14="http://schemas.microsoft.com/office/powerpoint/2010/main" val="2022459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b="0" kern="1200" dirty="0">
                <a:solidFill>
                  <a:schemeClr val="tx1"/>
                </a:solidFill>
                <a:effectLst/>
                <a:latin typeface="+mn-lt"/>
                <a:ea typeface="+mn-ea"/>
                <a:cs typeface="+mn-cs"/>
              </a:rPr>
              <a:t>By focusing</a:t>
            </a:r>
            <a:r>
              <a:rPr lang="en-US" sz="1200" b="0" kern="1200" baseline="0" dirty="0">
                <a:solidFill>
                  <a:schemeClr val="tx1"/>
                </a:solidFill>
                <a:effectLst/>
                <a:latin typeface="+mn-lt"/>
                <a:ea typeface="+mn-ea"/>
                <a:cs typeface="+mn-cs"/>
              </a:rPr>
              <a:t> in on the parts that are relevant to the story, Editing gives the director a way of controlling time in the story.</a:t>
            </a:r>
          </a:p>
          <a:p>
            <a:pPr latinLnBrk="1"/>
            <a:r>
              <a:rPr lang="en-US" sz="1200" b="0" kern="1200" baseline="0" dirty="0">
                <a:solidFill>
                  <a:schemeClr val="tx1"/>
                </a:solidFill>
                <a:effectLst/>
                <a:latin typeface="+mn-lt"/>
                <a:ea typeface="+mn-ea"/>
                <a:cs typeface="+mn-cs"/>
              </a:rPr>
              <a:t>The example here shows a game of baseball. Anyone that’s been to a game of baseball can probably tell you it’s usually not a very short game.</a:t>
            </a:r>
            <a:endParaRPr lang="en-US" sz="1200" b="0" kern="1200" dirty="0">
              <a:solidFill>
                <a:schemeClr val="tx1"/>
              </a:solidFill>
              <a:effectLst/>
              <a:latin typeface="+mn-lt"/>
              <a:ea typeface="+mn-ea"/>
              <a:cs typeface="+mn-cs"/>
            </a:endParaRPr>
          </a:p>
          <a:p>
            <a:pPr latinLnBrk="1"/>
            <a:r>
              <a:rPr lang="en-US" sz="1200" b="1" kern="1200" dirty="0">
                <a:solidFill>
                  <a:schemeClr val="tx1"/>
                </a:solidFill>
                <a:effectLst/>
                <a:latin typeface="+mn-lt"/>
                <a:ea typeface="+mn-ea"/>
                <a:cs typeface="+mn-cs"/>
              </a:rPr>
              <a:t>In</a:t>
            </a:r>
            <a:r>
              <a:rPr lang="en-US" sz="1200" b="1" kern="1200" baseline="0" dirty="0">
                <a:solidFill>
                  <a:schemeClr val="tx1"/>
                </a:solidFill>
                <a:effectLst/>
                <a:latin typeface="+mn-lt"/>
                <a:ea typeface="+mn-ea"/>
                <a:cs typeface="+mn-cs"/>
              </a:rPr>
              <a:t> a film</a:t>
            </a:r>
            <a:r>
              <a:rPr lang="en-US" sz="1200" kern="1200" dirty="0">
                <a:solidFill>
                  <a:schemeClr val="tx1"/>
                </a:solidFill>
                <a:effectLst/>
                <a:latin typeface="+mn-lt"/>
                <a:ea typeface="+mn-ea"/>
                <a:cs typeface="+mn-cs"/>
              </a:rPr>
              <a:t>, however, the</a:t>
            </a:r>
            <a:r>
              <a:rPr lang="en-US" sz="1200" kern="1200" baseline="0" dirty="0">
                <a:solidFill>
                  <a:schemeClr val="tx1"/>
                </a:solidFill>
                <a:effectLst/>
                <a:latin typeface="+mn-lt"/>
                <a:ea typeface="+mn-ea"/>
                <a:cs typeface="+mn-cs"/>
              </a:rPr>
              <a:t> audience can be presented</a:t>
            </a:r>
            <a:r>
              <a:rPr lang="en-US" sz="1200" kern="1200" dirty="0">
                <a:solidFill>
                  <a:schemeClr val="tx1"/>
                </a:solidFill>
                <a:effectLst/>
                <a:latin typeface="+mn-lt"/>
                <a:ea typeface="+mn-ea"/>
                <a:cs typeface="+mn-cs"/>
              </a:rPr>
              <a:t> a game that takes place in only a few minutes.</a:t>
            </a:r>
          </a:p>
          <a:p>
            <a:pPr latinLnBrk="1"/>
            <a:r>
              <a:rPr lang="en-US" sz="1200" kern="1200" dirty="0">
                <a:solidFill>
                  <a:schemeClr val="tx1"/>
                </a:solidFill>
                <a:effectLst/>
                <a:latin typeface="+mn-lt"/>
                <a:ea typeface="+mn-ea"/>
                <a:cs typeface="+mn-cs"/>
              </a:rPr>
              <a:t>By</a:t>
            </a:r>
            <a:r>
              <a:rPr lang="en-US" sz="1200" kern="1200" baseline="0" dirty="0">
                <a:solidFill>
                  <a:schemeClr val="tx1"/>
                </a:solidFill>
                <a:effectLst/>
                <a:latin typeface="+mn-lt"/>
                <a:ea typeface="+mn-ea"/>
                <a:cs typeface="+mn-cs"/>
              </a:rPr>
              <a:t> doing so, the editing can focus in on the parts of the game that were important to the characters or to the story, and leave out the parts that weren’t.</a:t>
            </a:r>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As you develop each scene, you are</a:t>
            </a:r>
            <a:r>
              <a:rPr lang="en-US" sz="1200"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compressing</a:t>
            </a:r>
            <a:r>
              <a:rPr lang="en-US" sz="1200" kern="1200" dirty="0">
                <a:solidFill>
                  <a:schemeClr val="tx1"/>
                </a:solidFill>
                <a:effectLst/>
                <a:latin typeface="+mn-lt"/>
                <a:ea typeface="+mn-ea"/>
                <a:cs typeface="+mn-cs"/>
              </a:rPr>
              <a:t>, or in some instances </a:t>
            </a:r>
            <a:r>
              <a:rPr lang="en-US" sz="1200" b="1" kern="1200" dirty="0">
                <a:solidFill>
                  <a:schemeClr val="tx1"/>
                </a:solidFill>
                <a:effectLst/>
                <a:latin typeface="+mn-lt"/>
                <a:ea typeface="+mn-ea"/>
                <a:cs typeface="+mn-cs"/>
              </a:rPr>
              <a:t>stretching</a:t>
            </a:r>
            <a:r>
              <a:rPr lang="en-US" sz="1200" kern="1200" dirty="0">
                <a:solidFill>
                  <a:schemeClr val="tx1"/>
                </a:solidFill>
                <a:effectLst/>
                <a:latin typeface="+mn-lt"/>
                <a:ea typeface="+mn-ea"/>
                <a:cs typeface="+mn-cs"/>
              </a:rPr>
              <a:t> time.</a:t>
            </a:r>
          </a:p>
          <a:p>
            <a:pPr latinLnBrk="1"/>
            <a:r>
              <a:rPr lang="en-US" sz="1200" kern="1200" dirty="0">
                <a:solidFill>
                  <a:schemeClr val="tx1"/>
                </a:solidFill>
                <a:effectLst/>
                <a:latin typeface="+mn-lt"/>
                <a:ea typeface="+mn-ea"/>
                <a:cs typeface="+mn-cs"/>
              </a:rPr>
              <a:t>If a sequence is </a:t>
            </a:r>
            <a:r>
              <a:rPr lang="en-US" sz="1200" b="1" kern="1200" dirty="0">
                <a:solidFill>
                  <a:schemeClr val="tx1"/>
                </a:solidFill>
                <a:effectLst/>
                <a:latin typeface="+mn-lt"/>
                <a:ea typeface="+mn-ea"/>
                <a:cs typeface="+mn-cs"/>
              </a:rPr>
              <a:t>too fast</a:t>
            </a:r>
            <a:r>
              <a:rPr lang="en-US" sz="1200" kern="1200" dirty="0">
                <a:solidFill>
                  <a:schemeClr val="tx1"/>
                </a:solidFill>
                <a:effectLst/>
                <a:latin typeface="+mn-lt"/>
                <a:ea typeface="+mn-ea"/>
                <a:cs typeface="+mn-cs"/>
              </a:rPr>
              <a:t>, the audience will </a:t>
            </a:r>
            <a:r>
              <a:rPr lang="en-US" sz="1200" b="1" kern="1200" dirty="0">
                <a:solidFill>
                  <a:schemeClr val="tx1"/>
                </a:solidFill>
                <a:effectLst/>
                <a:latin typeface="+mn-lt"/>
                <a:ea typeface="+mn-ea"/>
                <a:cs typeface="+mn-cs"/>
              </a:rPr>
              <a:t>not understand what is happening</a:t>
            </a:r>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If the story is </a:t>
            </a:r>
            <a:r>
              <a:rPr lang="en-US" sz="1200" b="1" kern="1200" dirty="0">
                <a:solidFill>
                  <a:schemeClr val="tx1"/>
                </a:solidFill>
                <a:effectLst/>
                <a:latin typeface="+mn-lt"/>
                <a:ea typeface="+mn-ea"/>
                <a:cs typeface="+mn-cs"/>
              </a:rPr>
              <a:t>too slow</a:t>
            </a:r>
            <a:r>
              <a:rPr lang="en-US" sz="1200" kern="1200" dirty="0">
                <a:solidFill>
                  <a:schemeClr val="tx1"/>
                </a:solidFill>
                <a:effectLst/>
                <a:latin typeface="+mn-lt"/>
                <a:ea typeface="+mn-ea"/>
                <a:cs typeface="+mn-cs"/>
              </a:rPr>
              <a:t>, audiences will become </a:t>
            </a:r>
            <a:r>
              <a:rPr lang="en-US" sz="1200" b="1" kern="1200" dirty="0">
                <a:solidFill>
                  <a:schemeClr val="tx1"/>
                </a:solidFill>
                <a:effectLst/>
                <a:latin typeface="+mn-lt"/>
                <a:ea typeface="+mn-ea"/>
                <a:cs typeface="+mn-cs"/>
              </a:rPr>
              <a:t>bored</a:t>
            </a:r>
            <a:r>
              <a:rPr lang="en-US" sz="1200" kern="1200" dirty="0">
                <a:solidFill>
                  <a:schemeClr val="tx1"/>
                </a:solidFill>
                <a:effectLst/>
                <a:latin typeface="+mn-lt"/>
                <a:ea typeface="+mn-ea"/>
                <a:cs typeface="+mn-cs"/>
              </a:rPr>
              <a:t>. </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6</a:t>
            </a:fld>
            <a:endParaRPr lang="en-US"/>
          </a:p>
        </p:txBody>
      </p:sp>
    </p:spTree>
    <p:extLst>
      <p:ext uri="{BB962C8B-B14F-4D97-AF65-F5344CB8AC3E}">
        <p14:creationId xmlns:p14="http://schemas.microsoft.com/office/powerpoint/2010/main" val="1912397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Creating the illusion of a continuous action in real time can be tricky, especially when dealing with hundreds, if not thousands, of shots that vary in frame size and camera positions. </a:t>
            </a:r>
          </a:p>
          <a:p>
            <a:r>
              <a:rPr lang="en-US" sz="1200" kern="1200" dirty="0">
                <a:solidFill>
                  <a:schemeClr val="tx1"/>
                </a:solidFill>
                <a:effectLst/>
                <a:latin typeface="+mn-lt"/>
                <a:ea typeface="+mn-ea"/>
                <a:cs typeface="+mn-cs"/>
              </a:rPr>
              <a:t>If a production achieves continuity the audience </a:t>
            </a:r>
            <a:r>
              <a:rPr lang="en-US" sz="1200" b="1" kern="1200" dirty="0">
                <a:solidFill>
                  <a:schemeClr val="tx1"/>
                </a:solidFill>
                <a:effectLst/>
                <a:latin typeface="+mn-lt"/>
                <a:ea typeface="+mn-ea"/>
                <a:cs typeface="+mn-cs"/>
              </a:rPr>
              <a:t>will not see the manipulation of time and space. </a:t>
            </a:r>
          </a:p>
          <a:p>
            <a:r>
              <a:rPr lang="en-US" sz="1200" kern="1200" dirty="0">
                <a:solidFill>
                  <a:schemeClr val="tx1"/>
                </a:solidFill>
                <a:effectLst/>
                <a:latin typeface="+mn-lt"/>
                <a:ea typeface="+mn-ea"/>
                <a:cs typeface="+mn-cs"/>
              </a:rPr>
              <a:t>They will be swept up in the narrative even if the story jumps suddenly to the future or back in time.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7</a:t>
            </a:fld>
            <a:endParaRPr lang="en-US"/>
          </a:p>
        </p:txBody>
      </p:sp>
    </p:spTree>
    <p:extLst>
      <p:ext uri="{BB962C8B-B14F-4D97-AF65-F5344CB8AC3E}">
        <p14:creationId xmlns:p14="http://schemas.microsoft.com/office/powerpoint/2010/main" val="2286227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most  outrageous leaps in time is in the Stanley Kubrick film 2001: A space odyssey. </a:t>
            </a:r>
          </a:p>
          <a:p>
            <a:r>
              <a:rPr lang="en-US" sz="1200" kern="1200" dirty="0">
                <a:solidFill>
                  <a:schemeClr val="tx1"/>
                </a:solidFill>
                <a:effectLst/>
                <a:latin typeface="+mn-lt"/>
                <a:ea typeface="+mn-ea"/>
                <a:cs typeface="+mn-cs"/>
              </a:rPr>
              <a:t>The film begins with a prehistoric ape throwing a bone into the air and on his descend, it transitions to a space shuttle about to dock at a space station. </a:t>
            </a:r>
          </a:p>
          <a:p>
            <a:r>
              <a:rPr lang="en-US" sz="1200" kern="1200" dirty="0">
                <a:solidFill>
                  <a:schemeClr val="tx1"/>
                </a:solidFill>
                <a:effectLst/>
                <a:latin typeface="+mn-lt"/>
                <a:ea typeface="+mn-ea"/>
                <a:cs typeface="+mn-cs"/>
              </a:rPr>
              <a:t>Quite a bold leap in time, but it works. </a:t>
            </a:r>
          </a:p>
        </p:txBody>
      </p:sp>
      <p:sp>
        <p:nvSpPr>
          <p:cNvPr id="4" name="Slide Number Placeholder 3"/>
          <p:cNvSpPr>
            <a:spLocks noGrp="1"/>
          </p:cNvSpPr>
          <p:nvPr>
            <p:ph type="sldNum" sz="quarter" idx="10"/>
          </p:nvPr>
        </p:nvSpPr>
        <p:spPr/>
        <p:txBody>
          <a:bodyPr/>
          <a:lstStyle/>
          <a:p>
            <a:fld id="{3C7FDB04-D1AC-46DB-9592-CA12D78D404F}" type="slidenum">
              <a:rPr lang="en-US" smtClean="0"/>
              <a:t>8</a:t>
            </a:fld>
            <a:endParaRPr lang="en-US"/>
          </a:p>
        </p:txBody>
      </p:sp>
    </p:spTree>
    <p:extLst>
      <p:ext uri="{BB962C8B-B14F-4D97-AF65-F5344CB8AC3E}">
        <p14:creationId xmlns:p14="http://schemas.microsoft.com/office/powerpoint/2010/main" val="1140275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in summary,</a:t>
            </a:r>
            <a:r>
              <a:rPr lang="en-US" sz="1200" kern="1200" baseline="0" dirty="0">
                <a:solidFill>
                  <a:schemeClr val="tx1"/>
                </a:solidFill>
                <a:effectLst/>
                <a:latin typeface="+mn-lt"/>
                <a:ea typeface="+mn-ea"/>
                <a:cs typeface="+mn-cs"/>
              </a:rPr>
              <a:t> </a:t>
            </a:r>
            <a:r>
              <a:rPr lang="en-US" dirty="0">
                <a:solidFill>
                  <a:schemeClr val="tx1"/>
                </a:solidFill>
              </a:rPr>
              <a:t>continuity editing can be used to link shots together to create a </a:t>
            </a:r>
            <a:r>
              <a:rPr lang="en-US" b="1" dirty="0">
                <a:solidFill>
                  <a:schemeClr val="tx1"/>
                </a:solidFill>
              </a:rPr>
              <a:t>dynamic meaning</a:t>
            </a:r>
            <a:r>
              <a:rPr lang="en-US" b="0" baseline="0" dirty="0">
                <a:solidFill>
                  <a:schemeClr val="tx1"/>
                </a:solidFill>
              </a:rPr>
              <a:t>, </a:t>
            </a:r>
          </a:p>
          <a:p>
            <a:r>
              <a:rPr lang="en-US" b="0" baseline="0" dirty="0">
                <a:solidFill>
                  <a:schemeClr val="tx1"/>
                </a:solidFill>
              </a:rPr>
              <a:t>linking the action of the individual shot to the bigger picture of the story.</a:t>
            </a:r>
            <a:endParaRPr lang="en-US" dirty="0">
              <a:solidFill>
                <a:schemeClr val="tx1"/>
              </a:solidFill>
            </a:endParaRPr>
          </a:p>
          <a:p>
            <a:r>
              <a:rPr lang="en-US" dirty="0">
                <a:solidFill>
                  <a:schemeClr val="tx1"/>
                </a:solidFill>
              </a:rPr>
              <a:t>Continuity can be used to </a:t>
            </a:r>
            <a:r>
              <a:rPr lang="en-US" b="1" dirty="0">
                <a:solidFill>
                  <a:schemeClr val="tx1"/>
                </a:solidFill>
              </a:rPr>
              <a:t>compress</a:t>
            </a:r>
            <a:r>
              <a:rPr lang="en-US" dirty="0">
                <a:solidFill>
                  <a:schemeClr val="tx1"/>
                </a:solidFill>
              </a:rPr>
              <a:t> or </a:t>
            </a:r>
            <a:r>
              <a:rPr lang="en-US" b="1" dirty="0">
                <a:solidFill>
                  <a:schemeClr val="tx1"/>
                </a:solidFill>
              </a:rPr>
              <a:t>stretch</a:t>
            </a:r>
            <a:r>
              <a:rPr lang="en-US" dirty="0">
                <a:solidFill>
                  <a:schemeClr val="tx1"/>
                </a:solidFill>
              </a:rPr>
              <a:t> </a:t>
            </a:r>
            <a:r>
              <a:rPr lang="en-US" b="1" dirty="0">
                <a:solidFill>
                  <a:schemeClr val="tx1"/>
                </a:solidFill>
              </a:rPr>
              <a:t>time</a:t>
            </a:r>
            <a:r>
              <a:rPr lang="en-US" dirty="0">
                <a:solidFill>
                  <a:schemeClr val="tx1"/>
                </a:solidFill>
              </a:rPr>
              <a:t>, depending on what is best for the narrative.</a:t>
            </a:r>
          </a:p>
          <a:p>
            <a:r>
              <a:rPr lang="en-US" dirty="0">
                <a:solidFill>
                  <a:schemeClr val="tx1"/>
                </a:solidFill>
              </a:rPr>
              <a:t>If an editor has done  their job well, the audience </a:t>
            </a:r>
            <a:r>
              <a:rPr lang="en-US" b="1" dirty="0">
                <a:solidFill>
                  <a:schemeClr val="tx1"/>
                </a:solidFill>
              </a:rPr>
              <a:t>will not notice how shots of various frame sizes and angles are spliced together to tell a story</a:t>
            </a:r>
            <a:r>
              <a:rPr lang="en-US" dirty="0">
                <a:solidFill>
                  <a:schemeClr val="tx1"/>
                </a:solidFill>
              </a:rPr>
              <a:t>. </a:t>
            </a:r>
          </a:p>
          <a:p>
            <a:endParaRPr lang="en-US" dirty="0"/>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9</a:t>
            </a:fld>
            <a:endParaRPr lang="en-US"/>
          </a:p>
        </p:txBody>
      </p:sp>
    </p:spTree>
    <p:extLst>
      <p:ext uri="{BB962C8B-B14F-4D97-AF65-F5344CB8AC3E}">
        <p14:creationId xmlns:p14="http://schemas.microsoft.com/office/powerpoint/2010/main" val="1209534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Several techniques that can be applied to create continuity include </a:t>
            </a:r>
            <a:r>
              <a:rPr lang="en-US" sz="1200" b="1" kern="1200" dirty="0">
                <a:solidFill>
                  <a:schemeClr val="tx1"/>
                </a:solidFill>
                <a:effectLst/>
                <a:latin typeface="+mn-lt"/>
                <a:ea typeface="+mn-ea"/>
                <a:cs typeface="+mn-cs"/>
              </a:rPr>
              <a:t>proper transitions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matching eye lines </a:t>
            </a:r>
            <a:r>
              <a:rPr lang="en-US" sz="1200" kern="1200" dirty="0">
                <a:solidFill>
                  <a:schemeClr val="tx1"/>
                </a:solidFill>
                <a:effectLst/>
                <a:latin typeface="+mn-lt"/>
                <a:ea typeface="+mn-ea"/>
                <a:cs typeface="+mn-cs"/>
              </a:rPr>
              <a:t>and </a:t>
            </a:r>
            <a:r>
              <a:rPr lang="en-US" sz="1200" b="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and applying the </a:t>
            </a:r>
            <a:r>
              <a:rPr lang="en-US" sz="1200" b="1" kern="1200" dirty="0">
                <a:solidFill>
                  <a:schemeClr val="tx1"/>
                </a:solidFill>
                <a:effectLst/>
                <a:latin typeface="+mn-lt"/>
                <a:ea typeface="+mn-ea"/>
                <a:cs typeface="+mn-cs"/>
              </a:rPr>
              <a:t>180-degree</a:t>
            </a:r>
            <a:r>
              <a:rPr lang="en-US" sz="1200" kern="1200" dirty="0">
                <a:solidFill>
                  <a:schemeClr val="tx1"/>
                </a:solidFill>
                <a:effectLst/>
                <a:latin typeface="+mn-lt"/>
                <a:ea typeface="+mn-ea"/>
                <a:cs typeface="+mn-cs"/>
              </a:rPr>
              <a:t> rule to your work. </a:t>
            </a:r>
          </a:p>
        </p:txBody>
      </p:sp>
      <p:sp>
        <p:nvSpPr>
          <p:cNvPr id="4" name="Slide Number Placeholder 3"/>
          <p:cNvSpPr>
            <a:spLocks noGrp="1"/>
          </p:cNvSpPr>
          <p:nvPr>
            <p:ph type="sldNum" sz="quarter" idx="10"/>
          </p:nvPr>
        </p:nvSpPr>
        <p:spPr/>
        <p:txBody>
          <a:bodyPr/>
          <a:lstStyle/>
          <a:p>
            <a:fld id="{3C7FDB04-D1AC-46DB-9592-CA12D78D404F}" type="slidenum">
              <a:rPr lang="en-US" smtClean="0"/>
              <a:t>10</a:t>
            </a:fld>
            <a:endParaRPr lang="en-US"/>
          </a:p>
        </p:txBody>
      </p:sp>
    </p:spTree>
    <p:extLst>
      <p:ext uri="{BB962C8B-B14F-4D97-AF65-F5344CB8AC3E}">
        <p14:creationId xmlns:p14="http://schemas.microsoft.com/office/powerpoint/2010/main" val="3009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line of action, also known as the </a:t>
            </a:r>
            <a:r>
              <a:rPr lang="en-US" sz="1200" b="1" kern="1200" dirty="0">
                <a:solidFill>
                  <a:schemeClr val="tx1"/>
                </a:solidFill>
                <a:effectLst/>
                <a:latin typeface="+mn-lt"/>
                <a:ea typeface="+mn-ea"/>
                <a:cs typeface="+mn-cs"/>
              </a:rPr>
              <a:t>180-degree rule</a:t>
            </a:r>
            <a:r>
              <a:rPr lang="en-US" sz="1200" kern="1200" dirty="0">
                <a:solidFill>
                  <a:schemeClr val="tx1"/>
                </a:solidFill>
                <a:effectLst/>
                <a:latin typeface="+mn-lt"/>
                <a:ea typeface="+mn-ea"/>
                <a:cs typeface="+mn-cs"/>
              </a:rPr>
              <a:t>, is one of the most important continuity tools because it helps organize camera angles and movement in a consistent screen direction. </a:t>
            </a:r>
          </a:p>
          <a:p>
            <a:r>
              <a:rPr lang="en-US" sz="1200" kern="1200" dirty="0">
                <a:solidFill>
                  <a:schemeClr val="tx1"/>
                </a:solidFill>
                <a:effectLst/>
                <a:latin typeface="+mn-lt"/>
                <a:ea typeface="+mn-ea"/>
                <a:cs typeface="+mn-cs"/>
              </a:rPr>
              <a:t>The line of action is an imaginary line that runs through right in front of the camera or the direction the eyes are looking (line of sight), which gives the audience a </a:t>
            </a:r>
            <a:r>
              <a:rPr lang="en-US" sz="1200" b="1" kern="1200" dirty="0">
                <a:solidFill>
                  <a:schemeClr val="tx1"/>
                </a:solidFill>
                <a:effectLst/>
                <a:latin typeface="+mn-lt"/>
                <a:ea typeface="+mn-ea"/>
                <a:cs typeface="+mn-cs"/>
              </a:rPr>
              <a:t>sense of direction</a:t>
            </a:r>
            <a:r>
              <a:rPr lang="en-US" sz="1200" kern="1200" dirty="0">
                <a:solidFill>
                  <a:schemeClr val="tx1"/>
                </a:solidFill>
                <a:effectLst/>
                <a:latin typeface="+mn-lt"/>
                <a:ea typeface="+mn-ea"/>
                <a:cs typeface="+mn-cs"/>
              </a:rPr>
              <a:t> for the scene.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11</a:t>
            </a:fld>
            <a:endParaRPr lang="en-US"/>
          </a:p>
        </p:txBody>
      </p:sp>
    </p:spTree>
    <p:extLst>
      <p:ext uri="{BB962C8B-B14F-4D97-AF65-F5344CB8AC3E}">
        <p14:creationId xmlns:p14="http://schemas.microsoft.com/office/powerpoint/2010/main" val="65549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easiest way to see how the line of action works is to render a profile shot of two people standing across from each other. </a:t>
            </a:r>
          </a:p>
          <a:p>
            <a:r>
              <a:rPr lang="en-US" sz="1200" kern="1200" dirty="0">
                <a:solidFill>
                  <a:schemeClr val="tx1"/>
                </a:solidFill>
                <a:effectLst/>
                <a:latin typeface="+mn-lt"/>
                <a:ea typeface="+mn-ea"/>
                <a:cs typeface="+mn-cs"/>
              </a:rPr>
              <a:t>The Line of Action is drawn between two individuals. </a:t>
            </a:r>
          </a:p>
          <a:p>
            <a:r>
              <a:rPr lang="en-US" sz="1200" kern="1200" dirty="0">
                <a:solidFill>
                  <a:schemeClr val="tx1"/>
                </a:solidFill>
                <a:effectLst/>
                <a:latin typeface="+mn-lt"/>
                <a:ea typeface="+mn-ea"/>
                <a:cs typeface="+mn-cs"/>
              </a:rPr>
              <a:t>Once the line is in place, there is a space of 180 degrees (half circle) where shots can be rendered.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12</a:t>
            </a:fld>
            <a:endParaRPr lang="en-US"/>
          </a:p>
        </p:txBody>
      </p:sp>
    </p:spTree>
    <p:extLst>
      <p:ext uri="{BB962C8B-B14F-4D97-AF65-F5344CB8AC3E}">
        <p14:creationId xmlns:p14="http://schemas.microsoft.com/office/powerpoint/2010/main" val="2958520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an example, the two</a:t>
            </a:r>
            <a:r>
              <a:rPr lang="en-US" sz="1200" kern="1200" baseline="0" dirty="0">
                <a:solidFill>
                  <a:schemeClr val="tx1"/>
                </a:solidFill>
                <a:effectLst/>
                <a:latin typeface="+mn-lt"/>
                <a:ea typeface="+mn-ea"/>
                <a:cs typeface="+mn-cs"/>
              </a:rPr>
              <a:t> characters are facing each other in this scene.</a:t>
            </a:r>
          </a:p>
          <a:p>
            <a:r>
              <a:rPr lang="en-US" sz="1200" kern="1200" baseline="0" dirty="0">
                <a:solidFill>
                  <a:schemeClr val="tx1"/>
                </a:solidFill>
                <a:effectLst/>
                <a:latin typeface="+mn-lt"/>
                <a:ea typeface="+mn-ea"/>
                <a:cs typeface="+mn-cs"/>
              </a:rPr>
              <a:t>This is a somewhat subjective shot, where both characters are seen from a side angle, letting us see the facial expressions of each character.</a:t>
            </a:r>
          </a:p>
          <a:p>
            <a:r>
              <a:rPr lang="en-US" sz="1200" b="1" kern="1200" baseline="0" dirty="0">
                <a:solidFill>
                  <a:schemeClr val="tx1"/>
                </a:solidFill>
                <a:effectLst/>
                <a:latin typeface="+mn-lt"/>
                <a:ea typeface="+mn-ea"/>
                <a:cs typeface="+mn-cs"/>
              </a:rPr>
              <a:t>A line is drawn between them</a:t>
            </a:r>
            <a:r>
              <a:rPr lang="en-US" sz="1200" kern="1200" baseline="0" dirty="0">
                <a:solidFill>
                  <a:schemeClr val="tx1"/>
                </a:solidFill>
                <a:effectLst/>
                <a:latin typeface="+mn-lt"/>
                <a:ea typeface="+mn-ea"/>
                <a:cs typeface="+mn-cs"/>
              </a:rPr>
              <a:t>, and the </a:t>
            </a:r>
            <a:r>
              <a:rPr lang="en-US" sz="1200" b="1" kern="1200" baseline="0" dirty="0">
                <a:solidFill>
                  <a:schemeClr val="tx1"/>
                </a:solidFill>
                <a:effectLst/>
                <a:latin typeface="+mn-lt"/>
                <a:ea typeface="+mn-ea"/>
                <a:cs typeface="+mn-cs"/>
              </a:rPr>
              <a:t>camera is placed on either side </a:t>
            </a:r>
            <a:r>
              <a:rPr lang="en-US" sz="1200" kern="1200" baseline="0" dirty="0">
                <a:solidFill>
                  <a:schemeClr val="tx1"/>
                </a:solidFill>
                <a:effectLst/>
                <a:latin typeface="+mn-lt"/>
                <a:ea typeface="+mn-ea"/>
                <a:cs typeface="+mn-cs"/>
              </a:rPr>
              <a:t>of the line to frame that shot.</a:t>
            </a:r>
          </a:p>
          <a:p>
            <a:r>
              <a:rPr lang="en-US" sz="1200" kern="1200" baseline="0" dirty="0">
                <a:solidFill>
                  <a:schemeClr val="tx1"/>
                </a:solidFill>
                <a:effectLst/>
                <a:latin typeface="+mn-lt"/>
                <a:ea typeface="+mn-ea"/>
                <a:cs typeface="+mn-cs"/>
              </a:rPr>
              <a:t>From here, we may frame a shot emphasizing the expressions of either character.</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13</a:t>
            </a:fld>
            <a:endParaRPr lang="en-US"/>
          </a:p>
        </p:txBody>
      </p:sp>
    </p:spTree>
    <p:extLst>
      <p:ext uri="{BB962C8B-B14F-4D97-AF65-F5344CB8AC3E}">
        <p14:creationId xmlns:p14="http://schemas.microsoft.com/office/powerpoint/2010/main" val="275878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an artist, you want to make sure that you capture the action of a shot from the </a:t>
            </a:r>
            <a:r>
              <a:rPr lang="en-US" sz="1200" b="1" kern="1200" dirty="0">
                <a:solidFill>
                  <a:schemeClr val="tx1"/>
                </a:solidFill>
                <a:effectLst/>
                <a:latin typeface="+mn-lt"/>
                <a:ea typeface="+mn-ea"/>
                <a:cs typeface="+mn-cs"/>
              </a:rPr>
              <a:t>same side</a:t>
            </a:r>
            <a:r>
              <a:rPr lang="en-US" sz="1200" kern="1200" dirty="0">
                <a:solidFill>
                  <a:schemeClr val="tx1"/>
                </a:solidFill>
                <a:effectLst/>
                <a:latin typeface="+mn-lt"/>
                <a:ea typeface="+mn-ea"/>
                <a:cs typeface="+mn-cs"/>
              </a:rPr>
              <a:t> of a line to maintain consistency. </a:t>
            </a:r>
          </a:p>
          <a:p>
            <a:r>
              <a:rPr lang="en-US" sz="1200" kern="1200" dirty="0">
                <a:solidFill>
                  <a:schemeClr val="tx1"/>
                </a:solidFill>
                <a:effectLst/>
                <a:latin typeface="+mn-lt"/>
                <a:ea typeface="+mn-ea"/>
                <a:cs typeface="+mn-cs"/>
              </a:rPr>
              <a:t>If the line is crossed, one character might end up looking at the backside of another character's head. </a:t>
            </a:r>
          </a:p>
        </p:txBody>
      </p:sp>
      <p:sp>
        <p:nvSpPr>
          <p:cNvPr id="4" name="Slide Number Placeholder 3"/>
          <p:cNvSpPr>
            <a:spLocks noGrp="1"/>
          </p:cNvSpPr>
          <p:nvPr>
            <p:ph type="sldNum" sz="quarter" idx="10"/>
          </p:nvPr>
        </p:nvSpPr>
        <p:spPr/>
        <p:txBody>
          <a:bodyPr/>
          <a:lstStyle/>
          <a:p>
            <a:fld id="{3C7FDB04-D1AC-46DB-9592-CA12D78D404F}" type="slidenum">
              <a:rPr lang="en-US" smtClean="0"/>
              <a:t>14</a:t>
            </a:fld>
            <a:endParaRPr lang="en-US"/>
          </a:p>
        </p:txBody>
      </p:sp>
    </p:spTree>
    <p:extLst>
      <p:ext uri="{BB962C8B-B14F-4D97-AF65-F5344CB8AC3E}">
        <p14:creationId xmlns:p14="http://schemas.microsoft.com/office/powerpoint/2010/main" val="3551752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if you want to show separate locations of two people talking on the phone with each other? </a:t>
            </a:r>
          </a:p>
          <a:p>
            <a:r>
              <a:rPr lang="en-US" sz="1200" kern="1200" dirty="0">
                <a:solidFill>
                  <a:schemeClr val="tx1"/>
                </a:solidFill>
                <a:effectLst/>
                <a:latin typeface="+mn-lt"/>
                <a:ea typeface="+mn-ea"/>
                <a:cs typeface="+mn-cs"/>
              </a:rPr>
              <a:t>In such situations, you will still want to establish an imaginary line between the characters. </a:t>
            </a:r>
          </a:p>
          <a:p>
            <a:r>
              <a:rPr lang="en-US" sz="1200" kern="1200" dirty="0">
                <a:solidFill>
                  <a:schemeClr val="tx1"/>
                </a:solidFill>
                <a:effectLst/>
                <a:latin typeface="+mn-lt"/>
                <a:ea typeface="+mn-ea"/>
                <a:cs typeface="+mn-cs"/>
              </a:rPr>
              <a:t>Therefore, when cutting from one character to the next, the characters should be facing each other, even if they are in separate locations.</a:t>
            </a:r>
          </a:p>
        </p:txBody>
      </p:sp>
      <p:sp>
        <p:nvSpPr>
          <p:cNvPr id="4" name="Slide Number Placeholder 3"/>
          <p:cNvSpPr>
            <a:spLocks noGrp="1"/>
          </p:cNvSpPr>
          <p:nvPr>
            <p:ph type="sldNum" sz="quarter" idx="10"/>
          </p:nvPr>
        </p:nvSpPr>
        <p:spPr/>
        <p:txBody>
          <a:bodyPr/>
          <a:lstStyle/>
          <a:p>
            <a:fld id="{3C7FDB04-D1AC-46DB-9592-CA12D78D404F}" type="slidenum">
              <a:rPr lang="en-US" smtClean="0"/>
              <a:t>15</a:t>
            </a:fld>
            <a:endParaRPr lang="en-US"/>
          </a:p>
        </p:txBody>
      </p:sp>
    </p:spTree>
    <p:extLst>
      <p:ext uri="{BB962C8B-B14F-4D97-AF65-F5344CB8AC3E}">
        <p14:creationId xmlns:p14="http://schemas.microsoft.com/office/powerpoint/2010/main" val="1287101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the line of action is established, there are several occasions when a character or object may </a:t>
            </a:r>
            <a:r>
              <a:rPr lang="en-US" sz="1200" b="1" kern="1200" dirty="0">
                <a:solidFill>
                  <a:schemeClr val="tx1"/>
                </a:solidFill>
                <a:effectLst/>
                <a:latin typeface="+mn-lt"/>
                <a:ea typeface="+mn-ea"/>
                <a:cs typeface="+mn-cs"/>
              </a:rPr>
              <a:t>cross the line.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approach is to </a:t>
            </a:r>
            <a:r>
              <a:rPr lang="en-US" sz="1200" b="1" kern="1200" dirty="0">
                <a:solidFill>
                  <a:schemeClr val="tx1"/>
                </a:solidFill>
                <a:effectLst/>
                <a:latin typeface="+mn-lt"/>
                <a:ea typeface="+mn-ea"/>
                <a:cs typeface="+mn-cs"/>
              </a:rPr>
              <a:t>keep the camera moving. </a:t>
            </a:r>
          </a:p>
          <a:p>
            <a:r>
              <a:rPr lang="en-US" sz="1200" kern="1200" dirty="0">
                <a:solidFill>
                  <a:schemeClr val="tx1"/>
                </a:solidFill>
                <a:effectLst/>
                <a:latin typeface="+mn-lt"/>
                <a:ea typeface="+mn-ea"/>
                <a:cs typeface="+mn-cs"/>
              </a:rPr>
              <a:t>A dolly or crane shot can move over the established line, as long as the movement is continuous. </a:t>
            </a:r>
          </a:p>
        </p:txBody>
      </p:sp>
      <p:sp>
        <p:nvSpPr>
          <p:cNvPr id="4" name="Slide Number Placeholder 3"/>
          <p:cNvSpPr>
            <a:spLocks noGrp="1"/>
          </p:cNvSpPr>
          <p:nvPr>
            <p:ph type="sldNum" sz="quarter" idx="10"/>
          </p:nvPr>
        </p:nvSpPr>
        <p:spPr/>
        <p:txBody>
          <a:bodyPr/>
          <a:lstStyle/>
          <a:p>
            <a:fld id="{3C7FDB04-D1AC-46DB-9592-CA12D78D404F}" type="slidenum">
              <a:rPr lang="en-US" smtClean="0"/>
              <a:t>16</a:t>
            </a:fld>
            <a:endParaRPr lang="en-US"/>
          </a:p>
        </p:txBody>
      </p:sp>
    </p:spTree>
    <p:extLst>
      <p:ext uri="{BB962C8B-B14F-4D97-AF65-F5344CB8AC3E}">
        <p14:creationId xmlns:p14="http://schemas.microsoft.com/office/powerpoint/2010/main" val="23722268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may also cross the line if an object or </a:t>
            </a:r>
            <a:r>
              <a:rPr lang="en-US" sz="1200" b="1" kern="1200" dirty="0">
                <a:solidFill>
                  <a:schemeClr val="tx1"/>
                </a:solidFill>
                <a:effectLst/>
                <a:latin typeface="+mn-lt"/>
                <a:ea typeface="+mn-ea"/>
                <a:cs typeface="+mn-cs"/>
              </a:rPr>
              <a:t>person moves across the line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say these two characters having coffee when one of the characters gets up and moves to a new position. </a:t>
            </a:r>
          </a:p>
          <a:p>
            <a:r>
              <a:rPr lang="en-US" sz="1200" kern="1200" dirty="0">
                <a:solidFill>
                  <a:schemeClr val="tx1"/>
                </a:solidFill>
                <a:effectLst/>
                <a:latin typeface="+mn-lt"/>
                <a:ea typeface="+mn-ea"/>
                <a:cs typeface="+mn-cs"/>
              </a:rPr>
              <a:t>Once the character has established his eye contact with the seated character, you have established a new line. </a:t>
            </a:r>
          </a:p>
        </p:txBody>
      </p:sp>
      <p:sp>
        <p:nvSpPr>
          <p:cNvPr id="4" name="Slide Number Placeholder 3"/>
          <p:cNvSpPr>
            <a:spLocks noGrp="1"/>
          </p:cNvSpPr>
          <p:nvPr>
            <p:ph type="sldNum" sz="quarter" idx="10"/>
          </p:nvPr>
        </p:nvSpPr>
        <p:spPr/>
        <p:txBody>
          <a:bodyPr/>
          <a:lstStyle/>
          <a:p>
            <a:fld id="{3C7FDB04-D1AC-46DB-9592-CA12D78D404F}" type="slidenum">
              <a:rPr lang="en-US" smtClean="0"/>
              <a:t>17</a:t>
            </a:fld>
            <a:endParaRPr lang="en-US"/>
          </a:p>
        </p:txBody>
      </p:sp>
    </p:spTree>
    <p:extLst>
      <p:ext uri="{BB962C8B-B14F-4D97-AF65-F5344CB8AC3E}">
        <p14:creationId xmlns:p14="http://schemas.microsoft.com/office/powerpoint/2010/main" val="2243964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camera may cross the line of action when an eyesight line for a character is established. </a:t>
            </a:r>
          </a:p>
          <a:p>
            <a:r>
              <a:rPr lang="en-US" sz="1200" kern="1200" dirty="0">
                <a:solidFill>
                  <a:schemeClr val="tx1"/>
                </a:solidFill>
                <a:effectLst/>
                <a:latin typeface="+mn-lt"/>
                <a:ea typeface="+mn-ea"/>
                <a:cs typeface="+mn-cs"/>
              </a:rPr>
              <a:t>In this picture, these two characters are in the same</a:t>
            </a:r>
            <a:r>
              <a:rPr lang="en-US" sz="1200" kern="1200" baseline="0" dirty="0">
                <a:solidFill>
                  <a:schemeClr val="tx1"/>
                </a:solidFill>
                <a:effectLst/>
                <a:latin typeface="+mn-lt"/>
                <a:ea typeface="+mn-ea"/>
                <a:cs typeface="+mn-cs"/>
              </a:rPr>
              <a:t> room, perhaps watching TV or engaged in a conversation with an off-screen character to the right of the screen.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a camera cuts away to a </a:t>
            </a:r>
            <a:r>
              <a:rPr lang="en-US" sz="1200" b="1" kern="1200" dirty="0">
                <a:solidFill>
                  <a:schemeClr val="tx1"/>
                </a:solidFill>
                <a:effectLst/>
                <a:latin typeface="+mn-lt"/>
                <a:ea typeface="+mn-ea"/>
                <a:cs typeface="+mn-cs"/>
              </a:rPr>
              <a:t>third person </a:t>
            </a:r>
            <a:r>
              <a:rPr lang="en-US" sz="1200" kern="1200" dirty="0">
                <a:solidFill>
                  <a:schemeClr val="tx1"/>
                </a:solidFill>
                <a:effectLst/>
                <a:latin typeface="+mn-lt"/>
                <a:ea typeface="+mn-ea"/>
                <a:cs typeface="+mn-cs"/>
              </a:rPr>
              <a:t>entering the room and one of the characters seated turns </a:t>
            </a:r>
            <a:r>
              <a:rPr lang="en-US" sz="1200" b="1" kern="1200" dirty="0">
                <a:solidFill>
                  <a:schemeClr val="tx1"/>
                </a:solidFill>
                <a:effectLst/>
                <a:latin typeface="+mn-lt"/>
                <a:ea typeface="+mn-ea"/>
                <a:cs typeface="+mn-cs"/>
              </a:rPr>
              <a:t>to acknowledge the third person </a:t>
            </a:r>
            <a:r>
              <a:rPr lang="en-US" sz="120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establishing a new sight line</a:t>
            </a:r>
            <a:r>
              <a:rPr lang="en-US" sz="1200" kern="1200" dirty="0">
                <a:solidFill>
                  <a:schemeClr val="tx1"/>
                </a:solidFill>
                <a:effectLst/>
                <a:latin typeface="+mn-lt"/>
                <a:ea typeface="+mn-ea"/>
                <a:cs typeface="+mn-cs"/>
              </a:rPr>
              <a:t>), you may cross the line and establish a new one.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a:t>
            </a:r>
            <a:r>
              <a:rPr lang="en-US" sz="1200" kern="1200" baseline="0" dirty="0">
                <a:solidFill>
                  <a:schemeClr val="tx1"/>
                </a:solidFill>
                <a:effectLst/>
                <a:latin typeface="+mn-lt"/>
                <a:ea typeface="+mn-ea"/>
                <a:cs typeface="+mn-cs"/>
              </a:rPr>
              <a:t> order to preserve this line of action, if there are cuts, showing the character entering the room, </a:t>
            </a:r>
            <a:r>
              <a:rPr lang="en-US" sz="1200" b="1" kern="1200" baseline="0" dirty="0">
                <a:solidFill>
                  <a:schemeClr val="tx1"/>
                </a:solidFill>
                <a:effectLst/>
                <a:latin typeface="+mn-lt"/>
                <a:ea typeface="+mn-ea"/>
                <a:cs typeface="+mn-cs"/>
              </a:rPr>
              <a:t>the movement should be consistent with this line of sight</a:t>
            </a:r>
            <a:r>
              <a:rPr lang="en-US" sz="1200" kern="1200" baseline="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18</a:t>
            </a:fld>
            <a:endParaRPr lang="en-US"/>
          </a:p>
        </p:txBody>
      </p:sp>
    </p:spTree>
    <p:extLst>
      <p:ext uri="{BB962C8B-B14F-4D97-AF65-F5344CB8AC3E}">
        <p14:creationId xmlns:p14="http://schemas.microsoft.com/office/powerpoint/2010/main" val="3959088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if you have a scene where the main character is rushing through a crowd trying to find the</a:t>
            </a:r>
            <a:r>
              <a:rPr lang="en-US" sz="1200" kern="1200" baseline="0" dirty="0">
                <a:solidFill>
                  <a:schemeClr val="tx1"/>
                </a:solidFill>
                <a:effectLst/>
                <a:latin typeface="+mn-lt"/>
                <a:ea typeface="+mn-ea"/>
                <a:cs typeface="+mn-cs"/>
              </a:rPr>
              <a:t> bad guy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such a situation, you may want to cross the line to establish a </a:t>
            </a:r>
            <a:r>
              <a:rPr lang="en-US" sz="1200" b="1" kern="1200" dirty="0">
                <a:solidFill>
                  <a:schemeClr val="tx1"/>
                </a:solidFill>
                <a:effectLst/>
                <a:latin typeface="+mn-lt"/>
                <a:ea typeface="+mn-ea"/>
                <a:cs typeface="+mn-cs"/>
              </a:rPr>
              <a:t>frenetic</a:t>
            </a:r>
            <a:r>
              <a:rPr lang="en-US" sz="1200" kern="1200" dirty="0">
                <a:solidFill>
                  <a:schemeClr val="tx1"/>
                </a:solidFill>
                <a:effectLst/>
                <a:latin typeface="+mn-lt"/>
                <a:ea typeface="+mn-ea"/>
                <a:cs typeface="+mn-cs"/>
              </a:rPr>
              <a:t> or </a:t>
            </a:r>
            <a:r>
              <a:rPr lang="en-US" sz="1200" b="1" kern="1200" dirty="0">
                <a:solidFill>
                  <a:schemeClr val="tx1"/>
                </a:solidFill>
                <a:effectLst/>
                <a:latin typeface="+mn-lt"/>
                <a:ea typeface="+mn-ea"/>
                <a:cs typeface="+mn-cs"/>
              </a:rPr>
              <a:t>disorienting</a:t>
            </a:r>
            <a:r>
              <a:rPr lang="en-US" sz="1200" kern="1200" dirty="0">
                <a:solidFill>
                  <a:schemeClr val="tx1"/>
                </a:solidFill>
                <a:effectLst/>
                <a:latin typeface="+mn-lt"/>
                <a:ea typeface="+mn-ea"/>
                <a:cs typeface="+mn-cs"/>
              </a:rPr>
              <a:t> chase. </a:t>
            </a:r>
          </a:p>
          <a:p>
            <a:r>
              <a:rPr lang="en-US" sz="1200" kern="1200" dirty="0">
                <a:solidFill>
                  <a:schemeClr val="tx1"/>
                </a:solidFill>
                <a:effectLst/>
                <a:latin typeface="+mn-lt"/>
                <a:ea typeface="+mn-ea"/>
                <a:cs typeface="+mn-cs"/>
              </a:rPr>
              <a:t>By crossing the line, you will end up with several shots that showcase the main character running back and forth,</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even though in reality the character is moving in the same direction.  </a:t>
            </a:r>
          </a:p>
          <a:p>
            <a:r>
              <a:rPr lang="en-US" sz="1200" kern="1200" dirty="0">
                <a:solidFill>
                  <a:schemeClr val="tx1"/>
                </a:solidFill>
                <a:effectLst/>
                <a:latin typeface="+mn-lt"/>
                <a:ea typeface="+mn-ea"/>
                <a:cs typeface="+mn-cs"/>
              </a:rPr>
              <a:t>Be aware, however, </a:t>
            </a:r>
            <a:r>
              <a:rPr lang="en-US" sz="1200" b="1" kern="1200" dirty="0">
                <a:solidFill>
                  <a:schemeClr val="tx1"/>
                </a:solidFill>
                <a:effectLst/>
                <a:latin typeface="+mn-lt"/>
                <a:ea typeface="+mn-ea"/>
                <a:cs typeface="+mn-cs"/>
              </a:rPr>
              <a:t>there is a very fine line conveying a character’s confusion and confusing your audience.</a:t>
            </a:r>
          </a:p>
          <a:p>
            <a:r>
              <a:rPr lang="en-US" sz="1200" b="1"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3C7FDB04-D1AC-46DB-9592-CA12D78D404F}" type="slidenum">
              <a:rPr lang="en-US" smtClean="0"/>
              <a:t>19</a:t>
            </a:fld>
            <a:endParaRPr lang="en-US"/>
          </a:p>
        </p:txBody>
      </p:sp>
    </p:spTree>
    <p:extLst>
      <p:ext uri="{BB962C8B-B14F-4D97-AF65-F5344CB8AC3E}">
        <p14:creationId xmlns:p14="http://schemas.microsoft.com/office/powerpoint/2010/main" val="1749713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rendering storyboards, it is important to plan the direction a person or object moves or looks toward. </a:t>
            </a:r>
          </a:p>
          <a:p>
            <a:r>
              <a:rPr lang="en-US" sz="1200" kern="1200" dirty="0">
                <a:solidFill>
                  <a:schemeClr val="tx1"/>
                </a:solidFill>
                <a:effectLst/>
                <a:latin typeface="+mn-lt"/>
                <a:ea typeface="+mn-ea"/>
                <a:cs typeface="+mn-cs"/>
              </a:rPr>
              <a:t>If a character is facing in one direction in the first shot, and the opposite direction in the second shot, continuity will be jeopardized. </a:t>
            </a:r>
          </a:p>
          <a:p>
            <a:r>
              <a:rPr lang="en-US" sz="1200" kern="1200" dirty="0">
                <a:solidFill>
                  <a:schemeClr val="tx1"/>
                </a:solidFill>
                <a:effectLst/>
                <a:latin typeface="+mn-lt"/>
                <a:ea typeface="+mn-ea"/>
                <a:cs typeface="+mn-cs"/>
              </a:rPr>
              <a:t>This often confuses viewers as to  the intent of the scene, especially when there are dozens of shots that make up the scene. </a:t>
            </a:r>
          </a:p>
          <a:p>
            <a:r>
              <a:rPr lang="en-US" sz="1200" kern="1200" dirty="0">
                <a:solidFill>
                  <a:schemeClr val="tx1"/>
                </a:solidFill>
                <a:effectLst/>
                <a:latin typeface="+mn-lt"/>
                <a:ea typeface="+mn-ea"/>
                <a:cs typeface="+mn-cs"/>
              </a:rPr>
              <a:t>A good director will rely on the </a:t>
            </a:r>
            <a:r>
              <a:rPr lang="en-US" sz="1200" kern="1200" dirty="0" err="1">
                <a:solidFill>
                  <a:schemeClr val="tx1"/>
                </a:solidFill>
                <a:effectLst/>
                <a:latin typeface="+mn-lt"/>
                <a:ea typeface="+mn-ea"/>
                <a:cs typeface="+mn-cs"/>
              </a:rPr>
              <a:t>shot</a:t>
            </a:r>
            <a:r>
              <a:rPr lang="en-US" sz="1200" kern="1200" dirty="0">
                <a:solidFill>
                  <a:schemeClr val="tx1"/>
                </a:solidFill>
                <a:effectLst/>
                <a:latin typeface="+mn-lt"/>
                <a:ea typeface="+mn-ea"/>
                <a:cs typeface="+mn-cs"/>
              </a:rPr>
              <a:t> list and storyboards to maintain a consistent screen Direction.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Several types  of screen direction include </a:t>
            </a:r>
            <a:r>
              <a:rPr lang="en-US" sz="1200" b="1" kern="1200" dirty="0">
                <a:solidFill>
                  <a:schemeClr val="tx1"/>
                </a:solidFill>
                <a:effectLst/>
                <a:latin typeface="+mn-lt"/>
                <a:ea typeface="+mn-ea"/>
                <a:cs typeface="+mn-cs"/>
              </a:rPr>
              <a:t>neutral</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constant</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contrasting </a:t>
            </a:r>
            <a:r>
              <a:rPr lang="en-US" sz="1200" kern="1200" dirty="0">
                <a:solidFill>
                  <a:schemeClr val="tx1"/>
                </a:solidFill>
                <a:effectLst/>
                <a:latin typeface="+mn-lt"/>
                <a:ea typeface="+mn-ea"/>
                <a:cs typeface="+mn-cs"/>
              </a:rPr>
              <a:t>direction. </a:t>
            </a:r>
          </a:p>
        </p:txBody>
      </p:sp>
      <p:sp>
        <p:nvSpPr>
          <p:cNvPr id="4" name="Slide Number Placeholder 3"/>
          <p:cNvSpPr>
            <a:spLocks noGrp="1"/>
          </p:cNvSpPr>
          <p:nvPr>
            <p:ph type="sldNum" sz="quarter" idx="10"/>
          </p:nvPr>
        </p:nvSpPr>
        <p:spPr/>
        <p:txBody>
          <a:bodyPr/>
          <a:lstStyle/>
          <a:p>
            <a:fld id="{3C7FDB04-D1AC-46DB-9592-CA12D78D404F}" type="slidenum">
              <a:rPr lang="en-US" smtClean="0"/>
              <a:t>20</a:t>
            </a:fld>
            <a:endParaRPr lang="en-US"/>
          </a:p>
        </p:txBody>
      </p:sp>
    </p:spTree>
    <p:extLst>
      <p:ext uri="{BB962C8B-B14F-4D97-AF65-F5344CB8AC3E}">
        <p14:creationId xmlns:p14="http://schemas.microsoft.com/office/powerpoint/2010/main" val="24560556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Neutral screen direction is movement toward or away from the camera. </a:t>
            </a:r>
          </a:p>
          <a:p>
            <a:r>
              <a:rPr lang="en-US" sz="1200" kern="1200" dirty="0">
                <a:solidFill>
                  <a:schemeClr val="tx1"/>
                </a:solidFill>
                <a:effectLst/>
                <a:latin typeface="+mn-lt"/>
                <a:ea typeface="+mn-ea"/>
                <a:cs typeface="+mn-cs"/>
              </a:rPr>
              <a:t>It shows only the </a:t>
            </a:r>
            <a:r>
              <a:rPr lang="en-US" sz="1200" b="1" kern="1200" dirty="0">
                <a:solidFill>
                  <a:schemeClr val="tx1"/>
                </a:solidFill>
                <a:effectLst/>
                <a:latin typeface="+mn-lt"/>
                <a:ea typeface="+mn-ea"/>
                <a:cs typeface="+mn-cs"/>
              </a:rPr>
              <a:t>front</a:t>
            </a:r>
            <a:r>
              <a:rPr lang="en-US" sz="1200" kern="1200" dirty="0">
                <a:solidFill>
                  <a:schemeClr val="tx1"/>
                </a:solidFill>
                <a:effectLst/>
                <a:latin typeface="+mn-lt"/>
                <a:ea typeface="+mn-ea"/>
                <a:cs typeface="+mn-cs"/>
              </a:rPr>
              <a:t> or </a:t>
            </a:r>
            <a:r>
              <a:rPr lang="en-US" sz="1200" b="1" kern="1200" dirty="0">
                <a:solidFill>
                  <a:schemeClr val="tx1"/>
                </a:solidFill>
                <a:effectLst/>
                <a:latin typeface="+mn-lt"/>
                <a:ea typeface="+mn-ea"/>
                <a:cs typeface="+mn-cs"/>
              </a:rPr>
              <a:t>back</a:t>
            </a:r>
            <a:r>
              <a:rPr lang="en-US" sz="1200" kern="1200" dirty="0">
                <a:solidFill>
                  <a:schemeClr val="tx1"/>
                </a:solidFill>
                <a:effectLst/>
                <a:latin typeface="+mn-lt"/>
                <a:ea typeface="+mn-ea"/>
                <a:cs typeface="+mn-cs"/>
              </a:rPr>
              <a:t> side of a person or object one of the most common shots we see of a neutral screen direction is when a character walks directly toward the camera and blacks out the lens. </a:t>
            </a:r>
          </a:p>
          <a:p>
            <a:r>
              <a:rPr lang="en-US" sz="1200" kern="1200" dirty="0">
                <a:solidFill>
                  <a:schemeClr val="tx1"/>
                </a:solidFill>
                <a:effectLst/>
                <a:latin typeface="+mn-lt"/>
                <a:ea typeface="+mn-ea"/>
                <a:cs typeface="+mn-cs"/>
              </a:rPr>
              <a:t>Neutral screen Direction provides impact and is quite dynamic because the character or object appears to increase in size as it moves closer to the camera. For instance, a shot of the bad guy running straight at the camera will often jolt to the audience.</a:t>
            </a:r>
          </a:p>
        </p:txBody>
      </p:sp>
      <p:sp>
        <p:nvSpPr>
          <p:cNvPr id="4" name="Slide Number Placeholder 3"/>
          <p:cNvSpPr>
            <a:spLocks noGrp="1"/>
          </p:cNvSpPr>
          <p:nvPr>
            <p:ph type="sldNum" sz="quarter" idx="10"/>
          </p:nvPr>
        </p:nvSpPr>
        <p:spPr/>
        <p:txBody>
          <a:bodyPr/>
          <a:lstStyle/>
          <a:p>
            <a:fld id="{3C7FDB04-D1AC-46DB-9592-CA12D78D404F}" type="slidenum">
              <a:rPr lang="en-US" smtClean="0"/>
              <a:t>21</a:t>
            </a:fld>
            <a:endParaRPr lang="en-US"/>
          </a:p>
        </p:txBody>
      </p:sp>
    </p:spTree>
    <p:extLst>
      <p:ext uri="{BB962C8B-B14F-4D97-AF65-F5344CB8AC3E}">
        <p14:creationId xmlns:p14="http://schemas.microsoft.com/office/powerpoint/2010/main" val="432328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Constant screen Direction shows movement in one direction only. </a:t>
            </a:r>
          </a:p>
          <a:p>
            <a:r>
              <a:rPr lang="en-US" sz="1200" kern="1200" dirty="0">
                <a:solidFill>
                  <a:schemeClr val="tx1"/>
                </a:solidFill>
                <a:effectLst/>
                <a:latin typeface="+mn-lt"/>
                <a:ea typeface="+mn-ea"/>
                <a:cs typeface="+mn-cs"/>
              </a:rPr>
              <a:t>Let's say a downtown bus is traveling it's daily route through the city. </a:t>
            </a:r>
          </a:p>
          <a:p>
            <a:r>
              <a:rPr lang="en-US" sz="1200" kern="1200" dirty="0">
                <a:solidFill>
                  <a:schemeClr val="tx1"/>
                </a:solidFill>
                <a:effectLst/>
                <a:latin typeface="+mn-lt"/>
                <a:ea typeface="+mn-ea"/>
                <a:cs typeface="+mn-cs"/>
              </a:rPr>
              <a:t>You would storyboard the progression of shots of the bus going in the same direction. </a:t>
            </a:r>
          </a:p>
          <a:p>
            <a:r>
              <a:rPr lang="en-US" sz="1200" kern="1200" dirty="0">
                <a:solidFill>
                  <a:schemeClr val="tx1"/>
                </a:solidFill>
                <a:effectLst/>
                <a:latin typeface="+mn-lt"/>
                <a:ea typeface="+mn-ea"/>
                <a:cs typeface="+mn-cs"/>
              </a:rPr>
              <a:t>If you cut to the shot of the same bus traveling in the opposite direction, this will confuse the audience because the bus appears to be moving back to its starting point.</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3C7FDB04-D1AC-46DB-9592-CA12D78D404F}" type="slidenum">
              <a:rPr lang="en-US" smtClean="0"/>
              <a:t>22</a:t>
            </a:fld>
            <a:endParaRPr lang="en-US"/>
          </a:p>
        </p:txBody>
      </p:sp>
    </p:spTree>
    <p:extLst>
      <p:ext uri="{BB962C8B-B14F-4D97-AF65-F5344CB8AC3E}">
        <p14:creationId xmlns:p14="http://schemas.microsoft.com/office/powerpoint/2010/main" val="941316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same can be said of subject answering and exiting a frame. </a:t>
            </a:r>
          </a:p>
          <a:p>
            <a:r>
              <a:rPr lang="en-US" sz="1200" kern="1200" dirty="0">
                <a:solidFill>
                  <a:schemeClr val="tx1"/>
                </a:solidFill>
                <a:effectLst/>
                <a:latin typeface="+mn-lt"/>
                <a:ea typeface="+mn-ea"/>
                <a:cs typeface="+mn-cs"/>
              </a:rPr>
              <a:t>Subjects should move in the same direction whether they are moving left to right or right to left. </a:t>
            </a:r>
          </a:p>
          <a:p>
            <a:r>
              <a:rPr lang="en-US" sz="1200" kern="1200" dirty="0">
                <a:solidFill>
                  <a:schemeClr val="tx1"/>
                </a:solidFill>
                <a:effectLst/>
                <a:latin typeface="+mn-lt"/>
                <a:ea typeface="+mn-ea"/>
                <a:cs typeface="+mn-cs"/>
              </a:rPr>
              <a:t>One technique to maintain a consistent screen direction is to establish a line of action and then position the camera to one side of the line. Once the line and the camera are established, </a:t>
            </a:r>
            <a:r>
              <a:rPr lang="en-US" sz="1200" b="1" kern="1200" dirty="0">
                <a:solidFill>
                  <a:schemeClr val="tx1"/>
                </a:solidFill>
                <a:effectLst/>
                <a:latin typeface="+mn-lt"/>
                <a:ea typeface="+mn-ea"/>
                <a:cs typeface="+mn-cs"/>
              </a:rPr>
              <a:t>screen direction will be maintained</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3C7FDB04-D1AC-46DB-9592-CA12D78D404F}" type="slidenum">
              <a:rPr lang="en-US" smtClean="0"/>
              <a:t>23</a:t>
            </a:fld>
            <a:endParaRPr lang="en-US"/>
          </a:p>
        </p:txBody>
      </p:sp>
    </p:spTree>
    <p:extLst>
      <p:ext uri="{BB962C8B-B14F-4D97-AF65-F5344CB8AC3E}">
        <p14:creationId xmlns:p14="http://schemas.microsoft.com/office/powerpoint/2010/main" val="2643703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Contrasting screen Direction is when  a person </a:t>
            </a:r>
            <a:r>
              <a:rPr lang="en-US" sz="1200" b="1" kern="1200" dirty="0">
                <a:solidFill>
                  <a:schemeClr val="tx1"/>
                </a:solidFill>
                <a:effectLst/>
                <a:latin typeface="+mn-lt"/>
                <a:ea typeface="+mn-ea"/>
                <a:cs typeface="+mn-cs"/>
              </a:rPr>
              <a:t>comes into the frame </a:t>
            </a:r>
            <a:r>
              <a:rPr lang="en-US" sz="1200" kern="1200" dirty="0">
                <a:solidFill>
                  <a:schemeClr val="tx1"/>
                </a:solidFill>
                <a:effectLst/>
                <a:latin typeface="+mn-lt"/>
                <a:ea typeface="+mn-ea"/>
                <a:cs typeface="+mn-cs"/>
              </a:rPr>
              <a:t>from one direction and leaves in the </a:t>
            </a:r>
            <a:r>
              <a:rPr lang="en-US" sz="1200" b="1" kern="1200" dirty="0">
                <a:solidFill>
                  <a:schemeClr val="tx1"/>
                </a:solidFill>
                <a:effectLst/>
                <a:latin typeface="+mn-lt"/>
                <a:ea typeface="+mn-ea"/>
                <a:cs typeface="+mn-cs"/>
              </a:rPr>
              <a:t>opposite direction</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This is often called left to right and right to left movement.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these example the character leaves his home and walks left to right towards his car to</a:t>
            </a:r>
            <a:r>
              <a:rPr lang="en-US" sz="1200" kern="1200" baseline="0" dirty="0">
                <a:solidFill>
                  <a:schemeClr val="tx1"/>
                </a:solidFill>
                <a:effectLst/>
                <a:latin typeface="+mn-lt"/>
                <a:ea typeface="+mn-ea"/>
                <a:cs typeface="+mn-cs"/>
              </a:rPr>
              <a:t> go to work</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Therefore logical</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movement on his way back from</a:t>
            </a:r>
            <a:r>
              <a:rPr lang="en-US" sz="1200" kern="1200" baseline="0" dirty="0">
                <a:solidFill>
                  <a:schemeClr val="tx1"/>
                </a:solidFill>
                <a:effectLst/>
                <a:latin typeface="+mn-lt"/>
                <a:ea typeface="+mn-ea"/>
                <a:cs typeface="+mn-cs"/>
              </a:rPr>
              <a:t> work would be right to left.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24</a:t>
            </a:fld>
            <a:endParaRPr lang="en-US"/>
          </a:p>
        </p:txBody>
      </p:sp>
    </p:spTree>
    <p:extLst>
      <p:ext uri="{BB962C8B-B14F-4D97-AF65-F5344CB8AC3E}">
        <p14:creationId xmlns:p14="http://schemas.microsoft.com/office/powerpoint/2010/main" val="19566597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Opposing screen direction is also </a:t>
            </a:r>
            <a:r>
              <a:rPr lang="en-US" sz="1200" b="1" kern="1200" dirty="0">
                <a:solidFill>
                  <a:schemeClr val="tx1"/>
                </a:solidFill>
                <a:effectLst/>
                <a:latin typeface="+mn-lt"/>
                <a:ea typeface="+mn-ea"/>
                <a:cs typeface="+mn-cs"/>
              </a:rPr>
              <a:t>established by showing two objects or people moving toward each other.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this example, the two opposing groups are headed for each other on a collision course.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Two opposing screen directions creates tension, the timing of the shots gets faster, and the shot framing tighter, as the tanks accelerate toward each other until contact. </a:t>
            </a:r>
          </a:p>
        </p:txBody>
      </p:sp>
      <p:sp>
        <p:nvSpPr>
          <p:cNvPr id="4" name="Slide Number Placeholder 3"/>
          <p:cNvSpPr>
            <a:spLocks noGrp="1"/>
          </p:cNvSpPr>
          <p:nvPr>
            <p:ph type="sldNum" sz="quarter" idx="10"/>
          </p:nvPr>
        </p:nvSpPr>
        <p:spPr/>
        <p:txBody>
          <a:bodyPr/>
          <a:lstStyle/>
          <a:p>
            <a:fld id="{3C7FDB04-D1AC-46DB-9592-CA12D78D404F}" type="slidenum">
              <a:rPr lang="en-US" smtClean="0"/>
              <a:t>25</a:t>
            </a:fld>
            <a:endParaRPr lang="en-US"/>
          </a:p>
        </p:txBody>
      </p:sp>
    </p:spTree>
    <p:extLst>
      <p:ext uri="{BB962C8B-B14F-4D97-AF65-F5344CB8AC3E}">
        <p14:creationId xmlns:p14="http://schemas.microsoft.com/office/powerpoint/2010/main" val="930887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shot/reverse shot Is a common technique used to create continuity between two or more characters. </a:t>
            </a:r>
          </a:p>
          <a:p>
            <a:r>
              <a:rPr lang="en-US" sz="1200" kern="1200" dirty="0">
                <a:solidFill>
                  <a:schemeClr val="tx1"/>
                </a:solidFill>
                <a:effectLst/>
                <a:latin typeface="+mn-lt"/>
                <a:ea typeface="+mn-ea"/>
                <a:cs typeface="+mn-cs"/>
              </a:rPr>
              <a:t>It allows the audience to follow the action between characters as camera angles and framing changes. </a:t>
            </a:r>
          </a:p>
          <a:p>
            <a:r>
              <a:rPr lang="en-US" sz="1200" kern="1200" dirty="0">
                <a:solidFill>
                  <a:schemeClr val="tx1"/>
                </a:solidFill>
                <a:effectLst/>
                <a:latin typeface="+mn-lt"/>
                <a:ea typeface="+mn-ea"/>
                <a:cs typeface="+mn-cs"/>
              </a:rPr>
              <a:t>The simplest form of the short/ reverse shot is staging conversation between two characters. </a:t>
            </a:r>
          </a:p>
        </p:txBody>
      </p:sp>
      <p:sp>
        <p:nvSpPr>
          <p:cNvPr id="4" name="Slide Number Placeholder 3"/>
          <p:cNvSpPr>
            <a:spLocks noGrp="1"/>
          </p:cNvSpPr>
          <p:nvPr>
            <p:ph type="sldNum" sz="quarter" idx="10"/>
          </p:nvPr>
        </p:nvSpPr>
        <p:spPr/>
        <p:txBody>
          <a:bodyPr/>
          <a:lstStyle/>
          <a:p>
            <a:fld id="{3C7FDB04-D1AC-46DB-9592-CA12D78D404F}" type="slidenum">
              <a:rPr lang="en-US" smtClean="0"/>
              <a:t>26</a:t>
            </a:fld>
            <a:endParaRPr lang="en-US"/>
          </a:p>
        </p:txBody>
      </p:sp>
    </p:spTree>
    <p:extLst>
      <p:ext uri="{BB962C8B-B14F-4D97-AF65-F5344CB8AC3E}">
        <p14:creationId xmlns:p14="http://schemas.microsoft.com/office/powerpoint/2010/main" val="26151694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may want to set up an initial shot that establishes the </a:t>
            </a:r>
            <a:r>
              <a:rPr lang="en-US" sz="1200" b="1" kern="1200" dirty="0">
                <a:solidFill>
                  <a:schemeClr val="tx1"/>
                </a:solidFill>
                <a:effectLst/>
                <a:latin typeface="+mn-lt"/>
                <a:ea typeface="+mn-ea"/>
                <a:cs typeface="+mn-cs"/>
              </a:rPr>
              <a:t>location</a:t>
            </a:r>
            <a:r>
              <a:rPr lang="en-US" sz="1200" kern="1200" dirty="0">
                <a:solidFill>
                  <a:schemeClr val="tx1"/>
                </a:solidFill>
                <a:effectLst/>
                <a:latin typeface="+mn-lt"/>
                <a:ea typeface="+mn-ea"/>
                <a:cs typeface="+mn-cs"/>
              </a:rPr>
              <a:t> and characters. </a:t>
            </a:r>
          </a:p>
          <a:p>
            <a:r>
              <a:rPr lang="en-US" sz="1200" kern="1200" dirty="0">
                <a:solidFill>
                  <a:schemeClr val="tx1"/>
                </a:solidFill>
                <a:effectLst/>
                <a:latin typeface="+mn-lt"/>
                <a:ea typeface="+mn-ea"/>
                <a:cs typeface="+mn-cs"/>
              </a:rPr>
              <a:t>Once established, </a:t>
            </a:r>
            <a:r>
              <a:rPr lang="en-US" sz="1200" b="1" kern="1200" dirty="0">
                <a:solidFill>
                  <a:schemeClr val="tx1"/>
                </a:solidFill>
                <a:effectLst/>
                <a:latin typeface="+mn-lt"/>
                <a:ea typeface="+mn-ea"/>
                <a:cs typeface="+mn-cs"/>
              </a:rPr>
              <a:t>draw the line of action </a:t>
            </a:r>
            <a:r>
              <a:rPr lang="en-US" sz="1200" kern="1200" dirty="0">
                <a:solidFill>
                  <a:schemeClr val="tx1"/>
                </a:solidFill>
                <a:effectLst/>
                <a:latin typeface="+mn-lt"/>
                <a:ea typeface="+mn-ea"/>
                <a:cs typeface="+mn-cs"/>
              </a:rPr>
              <a:t>between the two characters. </a:t>
            </a:r>
          </a:p>
          <a:p>
            <a:r>
              <a:rPr lang="en-US" sz="1200" kern="1200" dirty="0">
                <a:solidFill>
                  <a:schemeClr val="tx1"/>
                </a:solidFill>
                <a:effectLst/>
                <a:latin typeface="+mn-lt"/>
                <a:ea typeface="+mn-ea"/>
                <a:cs typeface="+mn-cs"/>
              </a:rPr>
              <a:t>The imaginary line allows the camera to be positioned anywhere on one side of the line, to capture the conversation between them. </a:t>
            </a:r>
          </a:p>
          <a:p>
            <a:r>
              <a:rPr lang="en-US" sz="1200" kern="1200" dirty="0">
                <a:solidFill>
                  <a:schemeClr val="tx1"/>
                </a:solidFill>
                <a:effectLst/>
                <a:latin typeface="+mn-lt"/>
                <a:ea typeface="+mn-ea"/>
                <a:cs typeface="+mn-cs"/>
              </a:rPr>
              <a:t>A typical shot/reverse shot frames characters over the shoulder. </a:t>
            </a:r>
          </a:p>
          <a:p>
            <a:r>
              <a:rPr lang="en-US" sz="1200" kern="1200" dirty="0">
                <a:solidFill>
                  <a:schemeClr val="tx1"/>
                </a:solidFill>
                <a:effectLst/>
                <a:latin typeface="+mn-lt"/>
                <a:ea typeface="+mn-ea"/>
                <a:cs typeface="+mn-cs"/>
              </a:rPr>
              <a:t>So, if the camera is behind the first character, who is looking right at the second, the camera is behind the first character’s shoulder. </a:t>
            </a:r>
          </a:p>
          <a:p>
            <a:r>
              <a:rPr lang="en-US" sz="1200" kern="1200" dirty="0">
                <a:solidFill>
                  <a:schemeClr val="tx1"/>
                </a:solidFill>
                <a:effectLst/>
                <a:latin typeface="+mn-lt"/>
                <a:ea typeface="+mn-ea"/>
                <a:cs typeface="+mn-cs"/>
              </a:rPr>
              <a:t>And the reverse shot, the camera is behind second character’s right shoulder, as he looks left.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27</a:t>
            </a:fld>
            <a:endParaRPr lang="en-US"/>
          </a:p>
        </p:txBody>
      </p:sp>
    </p:spTree>
    <p:extLst>
      <p:ext uri="{BB962C8B-B14F-4D97-AF65-F5344CB8AC3E}">
        <p14:creationId xmlns:p14="http://schemas.microsoft.com/office/powerpoint/2010/main" val="1296902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Match on action is the illusion that the action continues uninterrupted even though the camera positions may have changed from one shot to the next. </a:t>
            </a:r>
          </a:p>
          <a:p>
            <a:r>
              <a:rPr lang="en-US" sz="1200" kern="1200" dirty="0">
                <a:solidFill>
                  <a:schemeClr val="tx1"/>
                </a:solidFill>
                <a:effectLst/>
                <a:latin typeface="+mn-lt"/>
                <a:ea typeface="+mn-ea"/>
                <a:cs typeface="+mn-cs"/>
              </a:rPr>
              <a:t>To create a match on action, everything at the end of the first shot must closely match the action at the beginning of the next shot.  </a:t>
            </a:r>
          </a:p>
          <a:p>
            <a:r>
              <a:rPr lang="en-US" sz="1200" kern="1200" dirty="0">
                <a:solidFill>
                  <a:schemeClr val="tx1"/>
                </a:solidFill>
                <a:effectLst/>
                <a:latin typeface="+mn-lt"/>
                <a:ea typeface="+mn-ea"/>
                <a:cs typeface="+mn-cs"/>
              </a:rPr>
              <a:t>It is generally easier to create a match cut by noticeably changing the size of the frame and cutting on the movement. </a:t>
            </a:r>
          </a:p>
          <a:p>
            <a:r>
              <a:rPr lang="en-US" sz="1200" kern="1200" dirty="0">
                <a:solidFill>
                  <a:schemeClr val="tx1"/>
                </a:solidFill>
                <a:effectLst/>
                <a:latin typeface="+mn-lt"/>
                <a:ea typeface="+mn-ea"/>
                <a:cs typeface="+mn-cs"/>
              </a:rPr>
              <a:t>For instance cutting on the movement of the character takes off his glasses, as in the figure below , it appears fluid as the director cuts from a full shot to a medium shot. </a:t>
            </a:r>
          </a:p>
        </p:txBody>
      </p:sp>
      <p:sp>
        <p:nvSpPr>
          <p:cNvPr id="4" name="Slide Number Placeholder 3"/>
          <p:cNvSpPr>
            <a:spLocks noGrp="1"/>
          </p:cNvSpPr>
          <p:nvPr>
            <p:ph type="sldNum" sz="quarter" idx="10"/>
          </p:nvPr>
        </p:nvSpPr>
        <p:spPr/>
        <p:txBody>
          <a:bodyPr/>
          <a:lstStyle/>
          <a:p>
            <a:fld id="{3C7FDB04-D1AC-46DB-9592-CA12D78D404F}" type="slidenum">
              <a:rPr lang="en-US" smtClean="0"/>
              <a:t>28</a:t>
            </a:fld>
            <a:endParaRPr lang="en-US"/>
          </a:p>
        </p:txBody>
      </p:sp>
    </p:spTree>
    <p:extLst>
      <p:ext uri="{BB962C8B-B14F-4D97-AF65-F5344CB8AC3E}">
        <p14:creationId xmlns:p14="http://schemas.microsoft.com/office/powerpoint/2010/main" val="495552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matching action, you should only cut after the audience understands the visual information that is being delivered. </a:t>
            </a:r>
          </a:p>
          <a:p>
            <a:r>
              <a:rPr lang="en-US" sz="1200" kern="1200" dirty="0">
                <a:solidFill>
                  <a:schemeClr val="tx1"/>
                </a:solidFill>
                <a:effectLst/>
                <a:latin typeface="+mn-lt"/>
                <a:ea typeface="+mn-ea"/>
                <a:cs typeface="+mn-cs"/>
              </a:rPr>
              <a:t>If a shot is too fast, the audience will not have time to absorb the details, and if the shot is too long, the audience will be irked.</a:t>
            </a:r>
          </a:p>
        </p:txBody>
      </p:sp>
      <p:sp>
        <p:nvSpPr>
          <p:cNvPr id="4" name="Slide Number Placeholder 3"/>
          <p:cNvSpPr>
            <a:spLocks noGrp="1"/>
          </p:cNvSpPr>
          <p:nvPr>
            <p:ph type="sldNum" sz="quarter" idx="10"/>
          </p:nvPr>
        </p:nvSpPr>
        <p:spPr/>
        <p:txBody>
          <a:bodyPr/>
          <a:lstStyle/>
          <a:p>
            <a:fld id="{3C7FDB04-D1AC-46DB-9592-CA12D78D404F}" type="slidenum">
              <a:rPr lang="en-US" smtClean="0"/>
              <a:t>29</a:t>
            </a:fld>
            <a:endParaRPr lang="en-US"/>
          </a:p>
        </p:txBody>
      </p:sp>
    </p:spTree>
    <p:extLst>
      <p:ext uri="{BB962C8B-B14F-4D97-AF65-F5344CB8AC3E}">
        <p14:creationId xmlns:p14="http://schemas.microsoft.com/office/powerpoint/2010/main" val="1645659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eyeline match c</a:t>
            </a:r>
            <a:r>
              <a:rPr lang="en-US" dirty="0">
                <a:solidFill>
                  <a:schemeClr val="tx1"/>
                </a:solidFill>
              </a:rPr>
              <a:t>reates order and meaning within the story space by matching eyeline between characters, or what a character might be looking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Put simply, if a person looks off screen in the first frame, the audience will expect to be shown what the character sees in the next shot. </a:t>
            </a:r>
          </a:p>
          <a:p>
            <a:r>
              <a:rPr lang="en-US" sz="1200" kern="1200" dirty="0">
                <a:solidFill>
                  <a:schemeClr val="tx1"/>
                </a:solidFill>
                <a:effectLst/>
                <a:latin typeface="+mn-lt"/>
                <a:ea typeface="+mn-ea"/>
                <a:cs typeface="+mn-cs"/>
              </a:rPr>
              <a:t>If a character looks screen left at a character off screen, then an imaginary line of sight will be drawn between him and the off screen character. By obeying the line of sight, the characters will look toward each other, maintaining eye lines. </a:t>
            </a:r>
          </a:p>
        </p:txBody>
      </p:sp>
      <p:sp>
        <p:nvSpPr>
          <p:cNvPr id="4" name="Slide Number Placeholder 3"/>
          <p:cNvSpPr>
            <a:spLocks noGrp="1"/>
          </p:cNvSpPr>
          <p:nvPr>
            <p:ph type="sldNum" sz="quarter" idx="10"/>
          </p:nvPr>
        </p:nvSpPr>
        <p:spPr/>
        <p:txBody>
          <a:bodyPr/>
          <a:lstStyle/>
          <a:p>
            <a:fld id="{3C7FDB04-D1AC-46DB-9592-CA12D78D404F}" type="slidenum">
              <a:rPr lang="en-US" smtClean="0"/>
              <a:t>30</a:t>
            </a:fld>
            <a:endParaRPr lang="en-US"/>
          </a:p>
        </p:txBody>
      </p:sp>
    </p:spTree>
    <p:extLst>
      <p:ext uri="{BB962C8B-B14F-4D97-AF65-F5344CB8AC3E}">
        <p14:creationId xmlns:p14="http://schemas.microsoft.com/office/powerpoint/2010/main" val="531329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Cutaway technique is used to manipulate time and space. </a:t>
            </a:r>
          </a:p>
          <a:p>
            <a:r>
              <a:rPr lang="en-US" sz="1200" kern="1200" dirty="0">
                <a:solidFill>
                  <a:schemeClr val="tx1"/>
                </a:solidFill>
                <a:effectLst/>
                <a:latin typeface="+mn-lt"/>
                <a:ea typeface="+mn-ea"/>
                <a:cs typeface="+mn-cs"/>
              </a:rPr>
              <a:t>The Cutaway should be related to the main action, but not part of it.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example, t</a:t>
            </a:r>
            <a:r>
              <a:rPr lang="en-US" dirty="0"/>
              <a:t>he camera cuts away to the singer to complement the main action, which is the conversation between the two characters.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situation, the cutaway is used to add context to the setting.</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31</a:t>
            </a:fld>
            <a:endParaRPr lang="en-US"/>
          </a:p>
        </p:txBody>
      </p:sp>
    </p:spTree>
    <p:extLst>
      <p:ext uri="{BB962C8B-B14F-4D97-AF65-F5344CB8AC3E}">
        <p14:creationId xmlns:p14="http://schemas.microsoft.com/office/powerpoint/2010/main" val="19618934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Cutaways allow the director to make minor shifts in time. </a:t>
            </a:r>
          </a:p>
        </p:txBody>
      </p:sp>
      <p:sp>
        <p:nvSpPr>
          <p:cNvPr id="4" name="Slide Number Placeholder 3"/>
          <p:cNvSpPr>
            <a:spLocks noGrp="1"/>
          </p:cNvSpPr>
          <p:nvPr>
            <p:ph type="sldNum" sz="quarter" idx="10"/>
          </p:nvPr>
        </p:nvSpPr>
        <p:spPr/>
        <p:txBody>
          <a:bodyPr/>
          <a:lstStyle/>
          <a:p>
            <a:fld id="{3C7FDB04-D1AC-46DB-9592-CA12D78D404F}" type="slidenum">
              <a:rPr lang="en-US" smtClean="0"/>
              <a:t>32</a:t>
            </a:fld>
            <a:endParaRPr lang="en-US"/>
          </a:p>
        </p:txBody>
      </p:sp>
    </p:spTree>
    <p:extLst>
      <p:ext uri="{BB962C8B-B14F-4D97-AF65-F5344CB8AC3E}">
        <p14:creationId xmlns:p14="http://schemas.microsoft.com/office/powerpoint/2010/main" val="22898575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Cut-ins focus on the primary action of a scene. </a:t>
            </a:r>
          </a:p>
          <a:p>
            <a:r>
              <a:rPr lang="en-US" sz="1200" kern="1200" dirty="0">
                <a:solidFill>
                  <a:schemeClr val="tx1"/>
                </a:solidFill>
                <a:effectLst/>
                <a:latin typeface="+mn-lt"/>
                <a:ea typeface="+mn-ea"/>
                <a:cs typeface="+mn-cs"/>
              </a:rPr>
              <a:t>Rather than cutting away from the main action, the cut in shot narrows our view to a smaller portion of the action, providing dramatic emphasis.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the main action is a baseball game, a cut in could be a bat connecting to a baseball. </a:t>
            </a:r>
          </a:p>
          <a:p>
            <a:r>
              <a:rPr lang="en-US" sz="1200" kern="1200" dirty="0">
                <a:solidFill>
                  <a:schemeClr val="tx1"/>
                </a:solidFill>
                <a:effectLst/>
                <a:latin typeface="+mn-lt"/>
                <a:ea typeface="+mn-ea"/>
                <a:cs typeface="+mn-cs"/>
              </a:rPr>
              <a:t>The dramatic action of the bat hitting the ball in the smaller action must match what is being shown in the larger scene. </a:t>
            </a:r>
          </a:p>
          <a:p>
            <a:r>
              <a:rPr lang="en-US" sz="1200" kern="1200" dirty="0">
                <a:solidFill>
                  <a:schemeClr val="tx1"/>
                </a:solidFill>
                <a:effectLst/>
                <a:latin typeface="+mn-lt"/>
                <a:ea typeface="+mn-ea"/>
                <a:cs typeface="+mn-cs"/>
              </a:rPr>
              <a:t>If it does not match, you will have a jump-cut in which the figure appears to move but the background does not.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33</a:t>
            </a:fld>
            <a:endParaRPr lang="en-US"/>
          </a:p>
        </p:txBody>
      </p:sp>
    </p:spTree>
    <p:extLst>
      <p:ext uri="{BB962C8B-B14F-4D97-AF65-F5344CB8AC3E}">
        <p14:creationId xmlns:p14="http://schemas.microsoft.com/office/powerpoint/2010/main" val="4091178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Cross-cutting,  also called parallel editing, manipulates both time and space. </a:t>
            </a:r>
          </a:p>
          <a:p>
            <a:r>
              <a:rPr lang="en-US" dirty="0">
                <a:solidFill>
                  <a:schemeClr val="tx1"/>
                </a:solidFill>
              </a:rPr>
              <a:t>Action that is happening at the same time is intercut so that the audience may see a parallel action. </a:t>
            </a:r>
          </a:p>
          <a:p>
            <a:r>
              <a:rPr lang="en-US" sz="1200" kern="1200" dirty="0">
                <a:solidFill>
                  <a:schemeClr val="tx1"/>
                </a:solidFill>
                <a:effectLst/>
                <a:latin typeface="+mn-lt"/>
                <a:ea typeface="+mn-ea"/>
                <a:cs typeface="+mn-cs"/>
              </a:rPr>
              <a:t>Cross-cutting is often used to intensify the drama and to provide suspense in a  film or animation.  </a:t>
            </a:r>
          </a:p>
          <a:p>
            <a:r>
              <a:rPr lang="en-US" sz="1200" kern="1200" dirty="0">
                <a:solidFill>
                  <a:schemeClr val="tx1"/>
                </a:solidFill>
                <a:effectLst/>
                <a:latin typeface="+mn-lt"/>
                <a:ea typeface="+mn-ea"/>
                <a:cs typeface="+mn-cs"/>
              </a:rPr>
              <a:t>How many times have you witnessed the scenes of the bad guy about to kill his next victim as the hero races to The Hideout</a:t>
            </a:r>
          </a:p>
          <a:p>
            <a:r>
              <a:rPr lang="en-US" sz="1200" kern="1200" dirty="0">
                <a:solidFill>
                  <a:schemeClr val="tx1"/>
                </a:solidFill>
                <a:effectLst/>
                <a:latin typeface="+mn-lt"/>
                <a:ea typeface="+mn-ea"/>
                <a:cs typeface="+mn-cs"/>
              </a:rPr>
              <a:t>These two independent scenes are added together to keep the audience on the edge of their seats as they Wonder  if  the hero will make it in time.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34</a:t>
            </a:fld>
            <a:endParaRPr lang="en-US"/>
          </a:p>
        </p:txBody>
      </p:sp>
    </p:spTree>
    <p:extLst>
      <p:ext uri="{BB962C8B-B14F-4D97-AF65-F5344CB8AC3E}">
        <p14:creationId xmlns:p14="http://schemas.microsoft.com/office/powerpoint/2010/main" val="1492319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 excellent use of cross-cutting is shown in the film Godfather. </a:t>
            </a:r>
          </a:p>
          <a:p>
            <a:r>
              <a:rPr lang="en-US" sz="1200" kern="1200" dirty="0">
                <a:solidFill>
                  <a:schemeClr val="tx1"/>
                </a:solidFill>
                <a:effectLst/>
                <a:latin typeface="+mn-lt"/>
                <a:ea typeface="+mn-ea"/>
                <a:cs typeface="+mn-cs"/>
              </a:rPr>
              <a:t>The sequence between the baptism of Michael Corleone's nephew cross cuts with the Corleone Mobsters preparing for and ultimately committing murder. </a:t>
            </a:r>
          </a:p>
          <a:p>
            <a:r>
              <a:rPr lang="en-US" sz="1200" kern="1200" dirty="0">
                <a:solidFill>
                  <a:schemeClr val="tx1"/>
                </a:solidFill>
                <a:effectLst/>
                <a:latin typeface="+mn-lt"/>
                <a:ea typeface="+mn-ea"/>
                <a:cs typeface="+mn-cs"/>
              </a:rPr>
              <a:t>Although the sequence last for 6 minutes, it is fairly fast-paced. </a:t>
            </a:r>
          </a:p>
        </p:txBody>
      </p:sp>
      <p:sp>
        <p:nvSpPr>
          <p:cNvPr id="4" name="Slide Number Placeholder 3"/>
          <p:cNvSpPr>
            <a:spLocks noGrp="1"/>
          </p:cNvSpPr>
          <p:nvPr>
            <p:ph type="sldNum" sz="quarter" idx="10"/>
          </p:nvPr>
        </p:nvSpPr>
        <p:spPr/>
        <p:txBody>
          <a:bodyPr/>
          <a:lstStyle/>
          <a:p>
            <a:fld id="{3C7FDB04-D1AC-46DB-9592-CA12D78D404F}" type="slidenum">
              <a:rPr lang="en-US" smtClean="0"/>
              <a:t>35</a:t>
            </a:fld>
            <a:endParaRPr lang="en-US"/>
          </a:p>
        </p:txBody>
      </p:sp>
    </p:spTree>
    <p:extLst>
      <p:ext uri="{BB962C8B-B14F-4D97-AF65-F5344CB8AC3E}">
        <p14:creationId xmlns:p14="http://schemas.microsoft.com/office/powerpoint/2010/main" val="29343742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transition is a narrative device that links two different shots that may change in time, place, location, or characters.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Transitions contributed to the pacing of a production, whether it is lyrical or abrupt.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 are several types of transitions, including the dissolve, cut, and fade.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36</a:t>
            </a:fld>
            <a:endParaRPr lang="en-US"/>
          </a:p>
        </p:txBody>
      </p:sp>
    </p:spTree>
    <p:extLst>
      <p:ext uri="{BB962C8B-B14F-4D97-AF65-F5344CB8AC3E}">
        <p14:creationId xmlns:p14="http://schemas.microsoft.com/office/powerpoint/2010/main" val="9546898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dissolve is when a piece of film strip  is superimposed on to another.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Disolves</a:t>
            </a:r>
            <a:r>
              <a:rPr lang="en-US" sz="1200" kern="1200" dirty="0">
                <a:solidFill>
                  <a:schemeClr val="tx1"/>
                </a:solidFill>
                <a:effectLst/>
                <a:latin typeface="+mn-lt"/>
                <a:ea typeface="+mn-ea"/>
                <a:cs typeface="+mn-cs"/>
              </a:rPr>
              <a:t> can be any length and are often used to show either time lapse or location change.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example in shot number one in the figure below  a person is exiting a limousine.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shot slowly dissolves to shot number two of the character on the train platform.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assume from the dissolve that the man Waiting on the train platform is the same man that was getting out of the limousine.</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37</a:t>
            </a:fld>
            <a:endParaRPr lang="en-US"/>
          </a:p>
        </p:txBody>
      </p:sp>
    </p:spTree>
    <p:extLst>
      <p:ext uri="{BB962C8B-B14F-4D97-AF65-F5344CB8AC3E}">
        <p14:creationId xmlns:p14="http://schemas.microsoft.com/office/powerpoint/2010/main" val="32360780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cut is an unobtrusive and frequently used transition in terms of Storytelling.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Over 90% of films use Cuts as a transition to connect two shots together.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Most audiences do not even notice when a program cuts to a different angle or framing within a scene.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llogical</a:t>
            </a:r>
            <a:r>
              <a:rPr lang="en-US" sz="1200" kern="1200" dirty="0">
                <a:solidFill>
                  <a:schemeClr val="tx1"/>
                </a:solidFill>
                <a:effectLst/>
                <a:latin typeface="+mn-lt"/>
                <a:ea typeface="+mn-ea"/>
                <a:cs typeface="+mn-cs"/>
              </a:rPr>
              <a:t> cut may include a wide shot of a building that cuts to a full shot of the building door.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cut is effective for compressing time. Before our wedding, for example, can be compressed to a few minutes by using cuts.</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38</a:t>
            </a:fld>
            <a:endParaRPr lang="en-US"/>
          </a:p>
        </p:txBody>
      </p:sp>
    </p:spTree>
    <p:extLst>
      <p:ext uri="{BB962C8B-B14F-4D97-AF65-F5344CB8AC3E}">
        <p14:creationId xmlns:p14="http://schemas.microsoft.com/office/powerpoint/2010/main" val="38280121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Fades are used to denote a passage of time and should not be used in the present tense. </a:t>
            </a:r>
          </a:p>
          <a:p>
            <a:r>
              <a:rPr lang="en-US" sz="1200" kern="1200" dirty="0">
                <a:solidFill>
                  <a:schemeClr val="tx1"/>
                </a:solidFill>
                <a:effectLst/>
                <a:latin typeface="+mn-lt"/>
                <a:ea typeface="+mn-ea"/>
                <a:cs typeface="+mn-cs"/>
              </a:rPr>
              <a:t>Fades are usually very subtle as the screen fades in or out from black. (if it fades to white, it's often called a white out)</a:t>
            </a:r>
          </a:p>
          <a:p>
            <a:r>
              <a:rPr lang="en-US" sz="1200" kern="1200" dirty="0">
                <a:solidFill>
                  <a:schemeClr val="tx1"/>
                </a:solidFill>
                <a:effectLst/>
                <a:latin typeface="+mn-lt"/>
                <a:ea typeface="+mn-ea"/>
                <a:cs typeface="+mn-cs"/>
              </a:rPr>
              <a:t>A fade-in is used to ease the audience into a setting by starting in black, and gradually lightening up the setting to full brightness. A Fade Out is usually the last shot of a scene that gradually disappears into darkness.</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39</a:t>
            </a:fld>
            <a:endParaRPr lang="en-US"/>
          </a:p>
        </p:txBody>
      </p:sp>
    </p:spTree>
    <p:extLst>
      <p:ext uri="{BB962C8B-B14F-4D97-AF65-F5344CB8AC3E}">
        <p14:creationId xmlns:p14="http://schemas.microsoft.com/office/powerpoint/2010/main" val="29218558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Wipes function the same way as the cut, transitioning from one shot to the next, but here it pushes one image off the screen with another image. This showy technique was quite popular during the 1930s and 40s, but went out of fashion shortly after World War II. The wipe made a Resurgence in the 1970s with the release of Star Wars, and can be seen in a handful of films today.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40</a:t>
            </a:fld>
            <a:endParaRPr lang="en-US"/>
          </a:p>
        </p:txBody>
      </p:sp>
    </p:spTree>
    <p:extLst>
      <p:ext uri="{BB962C8B-B14F-4D97-AF65-F5344CB8AC3E}">
        <p14:creationId xmlns:p14="http://schemas.microsoft.com/office/powerpoint/2010/main" val="8132358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Jump cuts are the opposite of continuity shots, using abrupt changes in movement to disrupt the illusion of a continuous flow of action .  </a:t>
            </a:r>
          </a:p>
          <a:p>
            <a:r>
              <a:rPr lang="en-US" sz="1200" kern="1200" dirty="0">
                <a:solidFill>
                  <a:schemeClr val="tx1"/>
                </a:solidFill>
                <a:effectLst/>
                <a:latin typeface="+mn-lt"/>
                <a:ea typeface="+mn-ea"/>
                <a:cs typeface="+mn-cs"/>
              </a:rPr>
              <a:t>A jump can be achieved between Shots by maintaining the background and abruptly changing a character's position.  </a:t>
            </a:r>
          </a:p>
          <a:p>
            <a:r>
              <a:rPr lang="en-US" sz="1200" kern="1200" dirty="0">
                <a:solidFill>
                  <a:schemeClr val="tx1"/>
                </a:solidFill>
                <a:effectLst/>
                <a:latin typeface="+mn-lt"/>
                <a:ea typeface="+mn-ea"/>
                <a:cs typeface="+mn-cs"/>
              </a:rPr>
              <a:t>In the film dark blue, the character played by Kurt Russell appears to jump from a bed to the window, to a chair, </a:t>
            </a:r>
            <a:r>
              <a:rPr lang="en-US" sz="1200" kern="1200" dirty="0" err="1">
                <a:solidFill>
                  <a:schemeClr val="tx1"/>
                </a:solidFill>
                <a:effectLst/>
                <a:latin typeface="+mn-lt"/>
                <a:ea typeface="+mn-ea"/>
                <a:cs typeface="+mn-cs"/>
              </a:rPr>
              <a:t>Etc</a:t>
            </a:r>
            <a:r>
              <a:rPr lang="en-US" sz="1200" kern="1200" dirty="0">
                <a:solidFill>
                  <a:schemeClr val="tx1"/>
                </a:solidFill>
                <a:effectLst/>
                <a:latin typeface="+mn-lt"/>
                <a:ea typeface="+mn-ea"/>
                <a:cs typeface="+mn-cs"/>
              </a:rPr>
              <a:t>, to communicate the passage of time. </a:t>
            </a:r>
          </a:p>
          <a:p>
            <a:r>
              <a:rPr lang="en-US" sz="1200" kern="1200" dirty="0">
                <a:solidFill>
                  <a:schemeClr val="tx1"/>
                </a:solidFill>
                <a:effectLst/>
                <a:latin typeface="+mn-lt"/>
                <a:ea typeface="+mn-ea"/>
                <a:cs typeface="+mn-cs"/>
              </a:rPr>
              <a:t>In such situations , the story has jumped over some of the action. </a:t>
            </a:r>
          </a:p>
          <a:p>
            <a:r>
              <a:rPr lang="en-US" sz="1200" kern="1200" dirty="0">
                <a:solidFill>
                  <a:schemeClr val="tx1"/>
                </a:solidFill>
                <a:effectLst/>
                <a:latin typeface="+mn-lt"/>
                <a:ea typeface="+mn-ea"/>
                <a:cs typeface="+mn-cs"/>
              </a:rPr>
              <a:t>Jump cuts are also achieved when character framing is the same from one shot to the next, but the camera has moved its position.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41</a:t>
            </a:fld>
            <a:endParaRPr lang="en-US"/>
          </a:p>
        </p:txBody>
      </p:sp>
    </p:spTree>
    <p:extLst>
      <p:ext uri="{BB962C8B-B14F-4D97-AF65-F5344CB8AC3E}">
        <p14:creationId xmlns:p14="http://schemas.microsoft.com/office/powerpoint/2010/main" val="11662719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Cinematic montage is a series of images that can be juxtaposed to create  meaning by evoking an emotional response. </a:t>
            </a:r>
          </a:p>
          <a:p>
            <a:r>
              <a:rPr lang="en-US" sz="1200" kern="1200" dirty="0">
                <a:solidFill>
                  <a:schemeClr val="tx1"/>
                </a:solidFill>
                <a:effectLst/>
                <a:latin typeface="+mn-lt"/>
                <a:ea typeface="+mn-ea"/>
                <a:cs typeface="+mn-cs"/>
              </a:rPr>
              <a:t>The shots maintained information relating to a single idea or theme. Music videos are often assembled around the Montage sequence of a band or singer.  </a:t>
            </a:r>
          </a:p>
          <a:p>
            <a:r>
              <a:rPr lang="en-US" sz="1200" kern="1200" dirty="0">
                <a:solidFill>
                  <a:schemeClr val="tx1"/>
                </a:solidFill>
                <a:effectLst/>
                <a:latin typeface="+mn-lt"/>
                <a:ea typeface="+mn-ea"/>
                <a:cs typeface="+mn-cs"/>
              </a:rPr>
              <a:t>In such scenarios, the Rhythm and pacing of the video depends on the structure of the song.</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42</a:t>
            </a:fld>
            <a:endParaRPr lang="en-US"/>
          </a:p>
        </p:txBody>
      </p:sp>
    </p:spTree>
    <p:extLst>
      <p:ext uri="{BB962C8B-B14F-4D97-AF65-F5344CB8AC3E}">
        <p14:creationId xmlns:p14="http://schemas.microsoft.com/office/powerpoint/2010/main" val="39468432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Suppose you have two separate shots. </a:t>
            </a:r>
          </a:p>
          <a:p>
            <a:r>
              <a:rPr lang="en-US" sz="1200" kern="1200" dirty="0">
                <a:solidFill>
                  <a:schemeClr val="tx1"/>
                </a:solidFill>
                <a:effectLst/>
                <a:latin typeface="+mn-lt"/>
                <a:ea typeface="+mn-ea"/>
                <a:cs typeface="+mn-cs"/>
              </a:rPr>
              <a:t>The first shot, is a group of students languishing over an exam in a classroom. </a:t>
            </a:r>
          </a:p>
          <a:p>
            <a:r>
              <a:rPr lang="en-US" sz="1200" kern="1200" dirty="0">
                <a:solidFill>
                  <a:schemeClr val="tx1"/>
                </a:solidFill>
                <a:effectLst/>
                <a:latin typeface="+mn-lt"/>
                <a:ea typeface="+mn-ea"/>
                <a:cs typeface="+mn-cs"/>
              </a:rPr>
              <a:t>The second shot is someone sleeping in bed. </a:t>
            </a:r>
          </a:p>
          <a:p>
            <a:r>
              <a:rPr lang="en-US" sz="1200" kern="1200" dirty="0">
                <a:solidFill>
                  <a:schemeClr val="tx1"/>
                </a:solidFill>
                <a:effectLst/>
                <a:latin typeface="+mn-lt"/>
                <a:ea typeface="+mn-ea"/>
                <a:cs typeface="+mn-cs"/>
              </a:rPr>
              <a:t>The shots are unrelated in both time and space, yet when they're just opposed with one another they create meaning.  </a:t>
            </a:r>
          </a:p>
          <a:p>
            <a:r>
              <a:rPr lang="en-US" sz="1200" kern="1200" dirty="0">
                <a:solidFill>
                  <a:schemeClr val="tx1"/>
                </a:solidFill>
                <a:effectLst/>
                <a:latin typeface="+mn-lt"/>
                <a:ea typeface="+mn-ea"/>
                <a:cs typeface="+mn-cs"/>
              </a:rPr>
              <a:t>The two shots lead the audience to believe that the character in bed has overslept on exam day.  </a:t>
            </a:r>
          </a:p>
        </p:txBody>
      </p:sp>
      <p:sp>
        <p:nvSpPr>
          <p:cNvPr id="4" name="Slide Number Placeholder 3"/>
          <p:cNvSpPr>
            <a:spLocks noGrp="1"/>
          </p:cNvSpPr>
          <p:nvPr>
            <p:ph type="sldNum" sz="quarter" idx="10"/>
          </p:nvPr>
        </p:nvSpPr>
        <p:spPr/>
        <p:txBody>
          <a:bodyPr/>
          <a:lstStyle/>
          <a:p>
            <a:fld id="{3C7FDB04-D1AC-46DB-9592-CA12D78D404F}" type="slidenum">
              <a:rPr lang="en-US" smtClean="0"/>
              <a:t>43</a:t>
            </a:fld>
            <a:endParaRPr lang="en-US"/>
          </a:p>
        </p:txBody>
      </p:sp>
    </p:spTree>
    <p:extLst>
      <p:ext uri="{BB962C8B-B14F-4D97-AF65-F5344CB8AC3E}">
        <p14:creationId xmlns:p14="http://schemas.microsoft.com/office/powerpoint/2010/main" val="102840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Montage Style  was developed in the 1920s by Soviet filmmakers such as </a:t>
            </a:r>
            <a:r>
              <a:rPr lang="en-US" sz="1200" kern="1200" dirty="0" err="1">
                <a:solidFill>
                  <a:schemeClr val="tx1"/>
                </a:solidFill>
                <a:effectLst/>
                <a:latin typeface="+mn-lt"/>
                <a:ea typeface="+mn-ea"/>
                <a:cs typeface="+mn-cs"/>
              </a:rPr>
              <a:t>Sergi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eisenstein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ablnd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Dziga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Vertov</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One of the most famous Montage sequences is the Odessa steps from Einstein's Battleship </a:t>
            </a:r>
            <a:r>
              <a:rPr lang="en-US" sz="1200" kern="1200" dirty="0" err="1">
                <a:solidFill>
                  <a:schemeClr val="tx1"/>
                </a:solidFill>
                <a:effectLst/>
                <a:latin typeface="+mn-lt"/>
                <a:ea typeface="+mn-ea"/>
                <a:cs typeface="+mn-cs"/>
              </a:rPr>
              <a:t>potemkin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images include boots of the soldiers stopping down steps, a mother screaming, a baby carriage rolling out of control, a broken umbrella, a woman's bleeding eye, and close-ups of frightened faces. These edits include shots that vary in length to build the rhythm of a sequence, which ultimately climaxes with the massacre and failure of the </a:t>
            </a:r>
            <a:r>
              <a:rPr lang="en-US" sz="1200" kern="1200" dirty="0" err="1">
                <a:solidFill>
                  <a:schemeClr val="tx1"/>
                </a:solidFill>
                <a:effectLst/>
                <a:latin typeface="+mn-lt"/>
                <a:ea typeface="+mn-ea"/>
                <a:cs typeface="+mn-cs"/>
              </a:rPr>
              <a:t>russian</a:t>
            </a:r>
            <a:r>
              <a:rPr lang="en-US" sz="1200" kern="1200" dirty="0">
                <a:solidFill>
                  <a:schemeClr val="tx1"/>
                </a:solidFill>
                <a:effectLst/>
                <a:latin typeface="+mn-lt"/>
                <a:ea typeface="+mn-ea"/>
                <a:cs typeface="+mn-cs"/>
              </a:rPr>
              <a:t> revolution.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44</a:t>
            </a:fld>
            <a:endParaRPr lang="en-US"/>
          </a:p>
        </p:txBody>
      </p:sp>
    </p:spTree>
    <p:extLst>
      <p:ext uri="{BB962C8B-B14F-4D97-AF65-F5344CB8AC3E}">
        <p14:creationId xmlns:p14="http://schemas.microsoft.com/office/powerpoint/2010/main" val="38557019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Continuity editing Works to join shots together to create Dynamic meaning.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an editor has done  their job well, the audience will not notice how shots of various frame sizes and angles are spliced together to tell a story. Instead the audience will see the story as a continuous whole of uninterrupted action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45</a:t>
            </a:fld>
            <a:endParaRPr lang="en-US"/>
          </a:p>
        </p:txBody>
      </p:sp>
    </p:spTree>
    <p:extLst>
      <p:ext uri="{BB962C8B-B14F-4D97-AF65-F5344CB8AC3E}">
        <p14:creationId xmlns:p14="http://schemas.microsoft.com/office/powerpoint/2010/main" val="3115314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jpeg"/></Relationships>
</file>

<file path=ppt/slides/_rels/slide2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4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dirty="0"/>
              <a:t>Continuity</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Continuity</a:t>
            </a:r>
          </a:p>
        </p:txBody>
      </p:sp>
      <p:sp>
        <p:nvSpPr>
          <p:cNvPr id="3" name="Content Placeholder 2">
            <a:extLst>
              <a:ext uri="{FF2B5EF4-FFF2-40B4-BE49-F238E27FC236}">
                <a16:creationId xmlns:a16="http://schemas.microsoft.com/office/drawing/2014/main" id="{6F79B231-F775-4B98-856F-27C74BC6DA6D}"/>
              </a:ext>
            </a:extLst>
          </p:cNvPr>
          <p:cNvSpPr>
            <a:spLocks noGrp="1"/>
          </p:cNvSpPr>
          <p:nvPr>
            <p:ph idx="1"/>
          </p:nvPr>
        </p:nvSpPr>
        <p:spPr>
          <a:xfrm>
            <a:off x="1295401" y="2783664"/>
            <a:ext cx="5047033" cy="3092204"/>
          </a:xfrm>
        </p:spPr>
        <p:txBody>
          <a:bodyPr/>
          <a:lstStyle/>
          <a:p>
            <a:r>
              <a:rPr lang="en-US" b="1" dirty="0">
                <a:solidFill>
                  <a:schemeClr val="tx1"/>
                </a:solidFill>
              </a:rPr>
              <a:t>Continuity Editing</a:t>
            </a:r>
            <a:r>
              <a:rPr lang="en-US" dirty="0">
                <a:solidFill>
                  <a:schemeClr val="tx1"/>
                </a:solidFill>
              </a:rPr>
              <a:t> is an editing style used to create visual stories that </a:t>
            </a:r>
            <a:r>
              <a:rPr lang="en-US" b="1" i="1" dirty="0">
                <a:solidFill>
                  <a:schemeClr val="tx1"/>
                </a:solidFill>
              </a:rPr>
              <a:t>flow</a:t>
            </a:r>
            <a:r>
              <a:rPr lang="en-US" dirty="0">
                <a:solidFill>
                  <a:schemeClr val="tx1"/>
                </a:solidFill>
              </a:rPr>
              <a:t> continuously from beginning to end. </a:t>
            </a:r>
          </a:p>
          <a:p>
            <a:endParaRPr lang="en-US" dirty="0"/>
          </a:p>
        </p:txBody>
      </p:sp>
      <p:pic>
        <p:nvPicPr>
          <p:cNvPr id="1026" name="Picture 2" descr="Image result for Editing Film">
            <a:extLst>
              <a:ext uri="{FF2B5EF4-FFF2-40B4-BE49-F238E27FC236}">
                <a16:creationId xmlns:a16="http://schemas.microsoft.com/office/drawing/2014/main" id="{C448DDB7-2463-40BD-8582-40F6DA78B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8391" y="2783664"/>
            <a:ext cx="4298207" cy="2865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541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Continuity</a:t>
            </a:r>
          </a:p>
        </p:txBody>
      </p:sp>
      <p:sp>
        <p:nvSpPr>
          <p:cNvPr id="3" name="Content Placeholder 2">
            <a:extLst>
              <a:ext uri="{FF2B5EF4-FFF2-40B4-BE49-F238E27FC236}">
                <a16:creationId xmlns:a16="http://schemas.microsoft.com/office/drawing/2014/main" id="{42AD455B-6607-4CDF-A630-5E01D2C17542}"/>
              </a:ext>
            </a:extLst>
          </p:cNvPr>
          <p:cNvSpPr>
            <a:spLocks noGrp="1"/>
          </p:cNvSpPr>
          <p:nvPr>
            <p:ph idx="1"/>
          </p:nvPr>
        </p:nvSpPr>
        <p:spPr/>
        <p:txBody>
          <a:bodyPr/>
          <a:lstStyle/>
          <a:p>
            <a:r>
              <a:rPr lang="en-US" dirty="0">
                <a:solidFill>
                  <a:schemeClr val="tx1"/>
                </a:solidFill>
              </a:rPr>
              <a:t>Continuity is about </a:t>
            </a:r>
            <a:r>
              <a:rPr lang="en-US" b="1" dirty="0">
                <a:solidFill>
                  <a:schemeClr val="tx1"/>
                </a:solidFill>
              </a:rPr>
              <a:t>splicing</a:t>
            </a:r>
            <a:r>
              <a:rPr lang="en-US" dirty="0">
                <a:solidFill>
                  <a:schemeClr val="tx1"/>
                </a:solidFill>
              </a:rPr>
              <a:t> </a:t>
            </a:r>
            <a:r>
              <a:rPr lang="en-US" b="1" dirty="0">
                <a:solidFill>
                  <a:schemeClr val="tx1"/>
                </a:solidFill>
              </a:rPr>
              <a:t>together</a:t>
            </a:r>
            <a:r>
              <a:rPr lang="en-US" dirty="0">
                <a:solidFill>
                  <a:schemeClr val="tx1"/>
                </a:solidFill>
              </a:rPr>
              <a:t> shots of various frame sizes and camera angles.</a:t>
            </a:r>
          </a:p>
          <a:p>
            <a:r>
              <a:rPr lang="en-US" dirty="0">
                <a:solidFill>
                  <a:schemeClr val="tx1"/>
                </a:solidFill>
              </a:rPr>
              <a:t>If an editor is doing his/her job well, the cuts will seem </a:t>
            </a:r>
            <a:r>
              <a:rPr lang="en-US" b="1" dirty="0">
                <a:solidFill>
                  <a:schemeClr val="tx1"/>
                </a:solidFill>
              </a:rPr>
              <a:t>invisible</a:t>
            </a:r>
            <a:r>
              <a:rPr lang="en-US" dirty="0">
                <a:solidFill>
                  <a:schemeClr val="tx1"/>
                </a:solidFill>
              </a:rPr>
              <a:t>.</a:t>
            </a:r>
          </a:p>
          <a:p>
            <a:r>
              <a:rPr lang="en-US" dirty="0">
                <a:solidFill>
                  <a:schemeClr val="tx1"/>
                </a:solidFill>
              </a:rPr>
              <a:t>Audience will then </a:t>
            </a:r>
            <a:r>
              <a:rPr lang="en-US" b="1" dirty="0">
                <a:solidFill>
                  <a:schemeClr val="tx1"/>
                </a:solidFill>
              </a:rPr>
              <a:t>perceive the story as a whole</a:t>
            </a:r>
          </a:p>
          <a:p>
            <a:r>
              <a:rPr lang="en-US" dirty="0">
                <a:solidFill>
                  <a:schemeClr val="tx1"/>
                </a:solidFill>
              </a:rPr>
              <a:t>If the editor has </a:t>
            </a:r>
            <a:r>
              <a:rPr lang="en-US" i="1" dirty="0">
                <a:solidFill>
                  <a:schemeClr val="tx1"/>
                </a:solidFill>
              </a:rPr>
              <a:t>not</a:t>
            </a:r>
            <a:r>
              <a:rPr lang="en-US" dirty="0">
                <a:solidFill>
                  <a:schemeClr val="tx1"/>
                </a:solidFill>
              </a:rPr>
              <a:t> achieved continuity, the illusion of seeing consecutive action will be </a:t>
            </a:r>
            <a:r>
              <a:rPr lang="en-US" b="1" dirty="0">
                <a:solidFill>
                  <a:schemeClr val="tx1"/>
                </a:solidFill>
              </a:rPr>
              <a:t>interrupted</a:t>
            </a:r>
            <a:r>
              <a:rPr lang="en-US" dirty="0">
                <a:solidFill>
                  <a:schemeClr val="tx1"/>
                </a:solidFill>
              </a:rPr>
              <a:t>.</a:t>
            </a:r>
            <a:endParaRPr lang="en-US" dirty="0"/>
          </a:p>
        </p:txBody>
      </p:sp>
    </p:spTree>
    <p:extLst>
      <p:ext uri="{BB962C8B-B14F-4D97-AF65-F5344CB8AC3E}">
        <p14:creationId xmlns:p14="http://schemas.microsoft.com/office/powerpoint/2010/main" val="3602290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Continuity</a:t>
            </a:r>
          </a:p>
        </p:txBody>
      </p:sp>
      <p:sp>
        <p:nvSpPr>
          <p:cNvPr id="3" name="Content Placeholder 2">
            <a:extLst>
              <a:ext uri="{FF2B5EF4-FFF2-40B4-BE49-F238E27FC236}">
                <a16:creationId xmlns:a16="http://schemas.microsoft.com/office/drawing/2014/main" id="{5CBD1AE9-289C-4734-9E74-9B11D904CABE}"/>
              </a:ext>
            </a:extLst>
          </p:cNvPr>
          <p:cNvSpPr>
            <a:spLocks noGrp="1"/>
          </p:cNvSpPr>
          <p:nvPr>
            <p:ph idx="1"/>
          </p:nvPr>
        </p:nvSpPr>
        <p:spPr/>
        <p:txBody>
          <a:bodyPr/>
          <a:lstStyle/>
          <a:p>
            <a:r>
              <a:rPr lang="en-US" dirty="0">
                <a:solidFill>
                  <a:schemeClr val="tx1"/>
                </a:solidFill>
              </a:rPr>
              <a:t>A good director or designer will consider continuity at the </a:t>
            </a:r>
            <a:r>
              <a:rPr lang="en-US" b="1" dirty="0">
                <a:solidFill>
                  <a:schemeClr val="tx1"/>
                </a:solidFill>
              </a:rPr>
              <a:t>storyboard/planning phase</a:t>
            </a:r>
            <a:r>
              <a:rPr lang="en-US" dirty="0">
                <a:solidFill>
                  <a:schemeClr val="tx1"/>
                </a:solidFill>
              </a:rPr>
              <a:t>. </a:t>
            </a:r>
          </a:p>
          <a:p>
            <a:r>
              <a:rPr lang="en-US" dirty="0">
                <a:solidFill>
                  <a:schemeClr val="tx1"/>
                </a:solidFill>
              </a:rPr>
              <a:t>Essential details are considered, including the </a:t>
            </a:r>
            <a:r>
              <a:rPr lang="en-US" b="1" dirty="0">
                <a:solidFill>
                  <a:schemeClr val="tx1"/>
                </a:solidFill>
              </a:rPr>
              <a:t>pacing</a:t>
            </a:r>
            <a:r>
              <a:rPr lang="en-US" dirty="0">
                <a:solidFill>
                  <a:schemeClr val="tx1"/>
                </a:solidFill>
              </a:rPr>
              <a:t> and transitions, to establish the </a:t>
            </a:r>
            <a:r>
              <a:rPr lang="en-US" b="1" dirty="0">
                <a:solidFill>
                  <a:schemeClr val="tx1"/>
                </a:solidFill>
              </a:rPr>
              <a:t>visual flow </a:t>
            </a:r>
            <a:r>
              <a:rPr lang="en-US" dirty="0">
                <a:solidFill>
                  <a:schemeClr val="tx1"/>
                </a:solidFill>
              </a:rPr>
              <a:t>of the project.</a:t>
            </a:r>
          </a:p>
          <a:p>
            <a:endParaRPr lang="en-US" dirty="0"/>
          </a:p>
        </p:txBody>
      </p:sp>
    </p:spTree>
    <p:extLst>
      <p:ext uri="{BB962C8B-B14F-4D97-AF65-F5344CB8AC3E}">
        <p14:creationId xmlns:p14="http://schemas.microsoft.com/office/powerpoint/2010/main" val="2670036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Basic Principle of Continuity</a:t>
            </a:r>
          </a:p>
        </p:txBody>
      </p:sp>
      <p:sp>
        <p:nvSpPr>
          <p:cNvPr id="3" name="Content Placeholder 2">
            <a:extLst>
              <a:ext uri="{FF2B5EF4-FFF2-40B4-BE49-F238E27FC236}">
                <a16:creationId xmlns:a16="http://schemas.microsoft.com/office/drawing/2014/main" id="{C8883316-E652-43C5-9A38-8D91FBC11B65}"/>
              </a:ext>
            </a:extLst>
          </p:cNvPr>
          <p:cNvSpPr>
            <a:spLocks noGrp="1"/>
          </p:cNvSpPr>
          <p:nvPr>
            <p:ph idx="1"/>
          </p:nvPr>
        </p:nvSpPr>
        <p:spPr/>
        <p:txBody>
          <a:bodyPr/>
          <a:lstStyle/>
          <a:p>
            <a:r>
              <a:rPr lang="en-US" dirty="0"/>
              <a:t>To tell a story that </a:t>
            </a:r>
            <a:r>
              <a:rPr lang="en-US" b="1" dirty="0"/>
              <a:t>develops</a:t>
            </a:r>
            <a:r>
              <a:rPr lang="en-US" dirty="0"/>
              <a:t> </a:t>
            </a:r>
            <a:r>
              <a:rPr lang="en-US" b="1" dirty="0"/>
              <a:t>through the interaction of its characters</a:t>
            </a:r>
            <a:r>
              <a:rPr lang="en-US" dirty="0"/>
              <a:t>.</a:t>
            </a:r>
          </a:p>
          <a:p>
            <a:r>
              <a:rPr lang="en-US" dirty="0"/>
              <a:t>Continuity editing allows the director to create </a:t>
            </a:r>
            <a:r>
              <a:rPr lang="en-US" b="1" dirty="0"/>
              <a:t>seamless</a:t>
            </a:r>
            <a:r>
              <a:rPr lang="en-US" dirty="0"/>
              <a:t> sequences that flow from one shot to the next.</a:t>
            </a:r>
          </a:p>
        </p:txBody>
      </p:sp>
    </p:spTree>
    <p:extLst>
      <p:ext uri="{BB962C8B-B14F-4D97-AF65-F5344CB8AC3E}">
        <p14:creationId xmlns:p14="http://schemas.microsoft.com/office/powerpoint/2010/main" val="2144178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Basic Principle of Continuity</a:t>
            </a:r>
          </a:p>
        </p:txBody>
      </p:sp>
      <p:sp>
        <p:nvSpPr>
          <p:cNvPr id="3" name="Content Placeholder 2">
            <a:extLst>
              <a:ext uri="{FF2B5EF4-FFF2-40B4-BE49-F238E27FC236}">
                <a16:creationId xmlns:a16="http://schemas.microsoft.com/office/drawing/2014/main" id="{E6107181-57F5-4044-BD64-CD1176B2CB1B}"/>
              </a:ext>
            </a:extLst>
          </p:cNvPr>
          <p:cNvSpPr>
            <a:spLocks noGrp="1"/>
          </p:cNvSpPr>
          <p:nvPr>
            <p:ph idx="1"/>
          </p:nvPr>
        </p:nvSpPr>
        <p:spPr>
          <a:xfrm>
            <a:off x="1295401" y="2556932"/>
            <a:ext cx="3295649" cy="3318936"/>
          </a:xfrm>
        </p:spPr>
        <p:txBody>
          <a:bodyPr/>
          <a:lstStyle/>
          <a:p>
            <a:r>
              <a:rPr lang="en-US" b="1" dirty="0"/>
              <a:t>Time in film differs from that of reality</a:t>
            </a:r>
            <a:r>
              <a:rPr lang="en-US" dirty="0"/>
              <a:t>.</a:t>
            </a:r>
          </a:p>
          <a:p>
            <a:r>
              <a:rPr lang="en-US" dirty="0"/>
              <a:t>If a sequence is too </a:t>
            </a:r>
            <a:r>
              <a:rPr lang="en-US" i="1" dirty="0"/>
              <a:t>fast</a:t>
            </a:r>
            <a:r>
              <a:rPr lang="en-US" dirty="0"/>
              <a:t>, the audience might not understand what is happening.</a:t>
            </a:r>
          </a:p>
          <a:p>
            <a:r>
              <a:rPr lang="en-US" dirty="0"/>
              <a:t>If it is too </a:t>
            </a:r>
            <a:r>
              <a:rPr lang="en-US" i="1" dirty="0"/>
              <a:t>slow</a:t>
            </a:r>
            <a:r>
              <a:rPr lang="en-US" dirty="0"/>
              <a:t>, they can become bored.</a:t>
            </a:r>
          </a:p>
        </p:txBody>
      </p:sp>
      <p:pic>
        <p:nvPicPr>
          <p:cNvPr id="2050" name="Picture 2" descr="Image result for bull durham">
            <a:extLst>
              <a:ext uri="{FF2B5EF4-FFF2-40B4-BE49-F238E27FC236}">
                <a16:creationId xmlns:a16="http://schemas.microsoft.com/office/drawing/2014/main" id="{B235227E-7D9E-4F53-9C64-A770B0ED9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050" y="2487612"/>
            <a:ext cx="6667500" cy="345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0532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Basic Principle of Continuity</a:t>
            </a:r>
          </a:p>
        </p:txBody>
      </p:sp>
      <p:sp>
        <p:nvSpPr>
          <p:cNvPr id="3" name="Content Placeholder 2">
            <a:extLst>
              <a:ext uri="{FF2B5EF4-FFF2-40B4-BE49-F238E27FC236}">
                <a16:creationId xmlns:a16="http://schemas.microsoft.com/office/drawing/2014/main" id="{1110D695-9451-4367-A285-C8085EAF9D2D}"/>
              </a:ext>
            </a:extLst>
          </p:cNvPr>
          <p:cNvSpPr>
            <a:spLocks noGrp="1"/>
          </p:cNvSpPr>
          <p:nvPr>
            <p:ph idx="1"/>
          </p:nvPr>
        </p:nvSpPr>
        <p:spPr>
          <a:xfrm>
            <a:off x="1295401" y="2556932"/>
            <a:ext cx="6661825" cy="3318936"/>
          </a:xfrm>
        </p:spPr>
        <p:txBody>
          <a:bodyPr/>
          <a:lstStyle/>
          <a:p>
            <a:r>
              <a:rPr lang="en-US" dirty="0">
                <a:solidFill>
                  <a:schemeClr val="tx1"/>
                </a:solidFill>
              </a:rPr>
              <a:t>If a production achieves continuity the audience will </a:t>
            </a:r>
            <a:r>
              <a:rPr lang="en-US" b="1" dirty="0">
                <a:solidFill>
                  <a:schemeClr val="tx1"/>
                </a:solidFill>
              </a:rPr>
              <a:t>not see the manipulation of time and space</a:t>
            </a:r>
            <a:r>
              <a:rPr lang="en-US" dirty="0">
                <a:solidFill>
                  <a:schemeClr val="tx1"/>
                </a:solidFill>
              </a:rPr>
              <a:t>. </a:t>
            </a:r>
          </a:p>
          <a:p>
            <a:r>
              <a:rPr lang="en-US" dirty="0">
                <a:solidFill>
                  <a:schemeClr val="tx1"/>
                </a:solidFill>
              </a:rPr>
              <a:t>They will be swept up in the narrative even if the story jumps suddenly to the future or back in time. </a:t>
            </a:r>
          </a:p>
          <a:p>
            <a:endParaRPr lang="en-US" dirty="0"/>
          </a:p>
        </p:txBody>
      </p:sp>
    </p:spTree>
    <p:extLst>
      <p:ext uri="{BB962C8B-B14F-4D97-AF65-F5344CB8AC3E}">
        <p14:creationId xmlns:p14="http://schemas.microsoft.com/office/powerpoint/2010/main" val="4014882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Basic Principle of Continuity</a:t>
            </a:r>
          </a:p>
        </p:txBody>
      </p:sp>
      <p:sp>
        <p:nvSpPr>
          <p:cNvPr id="3" name="Content Placeholder 2">
            <a:extLst>
              <a:ext uri="{FF2B5EF4-FFF2-40B4-BE49-F238E27FC236}">
                <a16:creationId xmlns:a16="http://schemas.microsoft.com/office/drawing/2014/main" id="{FDDBDE37-4708-4986-9CD3-F6DC6160C325}"/>
              </a:ext>
            </a:extLst>
          </p:cNvPr>
          <p:cNvSpPr>
            <a:spLocks noGrp="1"/>
          </p:cNvSpPr>
          <p:nvPr>
            <p:ph idx="1"/>
          </p:nvPr>
        </p:nvSpPr>
        <p:spPr>
          <a:xfrm>
            <a:off x="8132323" y="2634190"/>
            <a:ext cx="2764274" cy="3241677"/>
          </a:xfrm>
        </p:spPr>
        <p:txBody>
          <a:bodyPr/>
          <a:lstStyle/>
          <a:p>
            <a:r>
              <a:rPr lang="en-US" dirty="0"/>
              <a:t>Example. 2001:</a:t>
            </a:r>
          </a:p>
          <a:p>
            <a:r>
              <a:rPr lang="en-US" dirty="0"/>
              <a:t>Film begins with ape throwing bone into air that transitions to image of space station.</a:t>
            </a:r>
          </a:p>
        </p:txBody>
      </p:sp>
      <p:pic>
        <p:nvPicPr>
          <p:cNvPr id="5" name="Picture 2" descr="Image result for 2001">
            <a:extLst>
              <a:ext uri="{FF2B5EF4-FFF2-40B4-BE49-F238E27FC236}">
                <a16:creationId xmlns:a16="http://schemas.microsoft.com/office/drawing/2014/main" id="{BCF31EE4-5192-436E-8BC1-E30C951A7A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2" y="2634191"/>
            <a:ext cx="6480174" cy="3240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694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Basic Principle of Continuity</a:t>
            </a:r>
          </a:p>
        </p:txBody>
      </p:sp>
      <p:sp>
        <p:nvSpPr>
          <p:cNvPr id="4" name="Content Placeholder 3"/>
          <p:cNvSpPr>
            <a:spLocks noGrp="1"/>
          </p:cNvSpPr>
          <p:nvPr>
            <p:ph idx="1"/>
          </p:nvPr>
        </p:nvSpPr>
        <p:spPr/>
        <p:txBody>
          <a:bodyPr/>
          <a:lstStyle/>
          <a:p>
            <a:r>
              <a:rPr lang="en-US" dirty="0">
                <a:solidFill>
                  <a:schemeClr val="tx1"/>
                </a:solidFill>
              </a:rPr>
              <a:t>Continuity editing works to join shots together to create </a:t>
            </a:r>
            <a:r>
              <a:rPr lang="en-US" b="1" dirty="0">
                <a:solidFill>
                  <a:schemeClr val="tx1"/>
                </a:solidFill>
              </a:rPr>
              <a:t>dynamic meaning</a:t>
            </a:r>
            <a:r>
              <a:rPr lang="en-US" dirty="0">
                <a:solidFill>
                  <a:schemeClr val="tx1"/>
                </a:solidFill>
              </a:rPr>
              <a:t>, linking the action of the </a:t>
            </a:r>
            <a:r>
              <a:rPr lang="en-US" b="1" dirty="0">
                <a:solidFill>
                  <a:schemeClr val="tx1"/>
                </a:solidFill>
              </a:rPr>
              <a:t>individual shot </a:t>
            </a:r>
            <a:r>
              <a:rPr lang="en-US" dirty="0">
                <a:solidFill>
                  <a:schemeClr val="tx1"/>
                </a:solidFill>
              </a:rPr>
              <a:t>to </a:t>
            </a:r>
            <a:r>
              <a:rPr lang="en-US" b="1" dirty="0">
                <a:solidFill>
                  <a:schemeClr val="tx1"/>
                </a:solidFill>
              </a:rPr>
              <a:t>the bigger picture</a:t>
            </a:r>
            <a:r>
              <a:rPr lang="en-US" dirty="0">
                <a:solidFill>
                  <a:schemeClr val="tx1"/>
                </a:solidFill>
              </a:rPr>
              <a:t> of the story.</a:t>
            </a:r>
          </a:p>
          <a:p>
            <a:r>
              <a:rPr lang="en-US" dirty="0">
                <a:solidFill>
                  <a:schemeClr val="tx1"/>
                </a:solidFill>
              </a:rPr>
              <a:t>Continuity can be used to </a:t>
            </a:r>
            <a:r>
              <a:rPr lang="en-US" b="1" dirty="0">
                <a:solidFill>
                  <a:schemeClr val="tx1"/>
                </a:solidFill>
              </a:rPr>
              <a:t>compress</a:t>
            </a:r>
            <a:r>
              <a:rPr lang="en-US" dirty="0">
                <a:solidFill>
                  <a:schemeClr val="tx1"/>
                </a:solidFill>
              </a:rPr>
              <a:t> or </a:t>
            </a:r>
            <a:r>
              <a:rPr lang="en-US" b="1" dirty="0">
                <a:solidFill>
                  <a:schemeClr val="tx1"/>
                </a:solidFill>
              </a:rPr>
              <a:t>stretch</a:t>
            </a:r>
            <a:r>
              <a:rPr lang="en-US" dirty="0">
                <a:solidFill>
                  <a:schemeClr val="tx1"/>
                </a:solidFill>
              </a:rPr>
              <a:t> </a:t>
            </a:r>
            <a:r>
              <a:rPr lang="en-US" b="1" dirty="0">
                <a:solidFill>
                  <a:schemeClr val="tx1"/>
                </a:solidFill>
              </a:rPr>
              <a:t>time</a:t>
            </a:r>
            <a:r>
              <a:rPr lang="en-US" dirty="0">
                <a:solidFill>
                  <a:schemeClr val="tx1"/>
                </a:solidFill>
              </a:rPr>
              <a:t>, depending on what is best for the narrative.</a:t>
            </a:r>
          </a:p>
          <a:p>
            <a:r>
              <a:rPr lang="en-US" dirty="0">
                <a:solidFill>
                  <a:schemeClr val="tx1"/>
                </a:solidFill>
              </a:rPr>
              <a:t>If an editor has done  their job well, the audience </a:t>
            </a:r>
            <a:r>
              <a:rPr lang="en-US" b="1" dirty="0">
                <a:solidFill>
                  <a:schemeClr val="tx1"/>
                </a:solidFill>
              </a:rPr>
              <a:t>will not notice how shots of various frame sizes and angles are spliced together to tell a story</a:t>
            </a:r>
            <a:r>
              <a:rPr lang="en-US" dirty="0">
                <a:solidFill>
                  <a:schemeClr val="tx1"/>
                </a:solidFill>
              </a:rPr>
              <a:t>. </a:t>
            </a:r>
          </a:p>
          <a:p>
            <a:endParaRPr lang="en-US" dirty="0"/>
          </a:p>
        </p:txBody>
      </p:sp>
    </p:spTree>
    <p:extLst>
      <p:ext uri="{BB962C8B-B14F-4D97-AF65-F5344CB8AC3E}">
        <p14:creationId xmlns:p14="http://schemas.microsoft.com/office/powerpoint/2010/main" val="30483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Other techniques that can affect Continuity</a:t>
            </a:r>
          </a:p>
        </p:txBody>
      </p:sp>
      <p:sp>
        <p:nvSpPr>
          <p:cNvPr id="3" name="Content Placeholder 2">
            <a:extLst>
              <a:ext uri="{FF2B5EF4-FFF2-40B4-BE49-F238E27FC236}">
                <a16:creationId xmlns:a16="http://schemas.microsoft.com/office/drawing/2014/main" id="{FDDBDE37-4708-4986-9CD3-F6DC6160C325}"/>
              </a:ext>
            </a:extLst>
          </p:cNvPr>
          <p:cNvSpPr>
            <a:spLocks noGrp="1"/>
          </p:cNvSpPr>
          <p:nvPr>
            <p:ph idx="1"/>
          </p:nvPr>
        </p:nvSpPr>
        <p:spPr>
          <a:xfrm>
            <a:off x="4713863" y="2634190"/>
            <a:ext cx="2764274" cy="3241677"/>
          </a:xfrm>
        </p:spPr>
        <p:txBody>
          <a:bodyPr/>
          <a:lstStyle/>
          <a:p>
            <a:r>
              <a:rPr lang="en-US" dirty="0"/>
              <a:t>Matching </a:t>
            </a:r>
            <a:r>
              <a:rPr lang="en-US" b="1" dirty="0"/>
              <a:t>eye lines</a:t>
            </a:r>
          </a:p>
          <a:p>
            <a:r>
              <a:rPr lang="en-US" dirty="0"/>
              <a:t>Matching </a:t>
            </a:r>
            <a:r>
              <a:rPr lang="en-US" b="1" dirty="0"/>
              <a:t>action</a:t>
            </a:r>
          </a:p>
          <a:p>
            <a:r>
              <a:rPr lang="en-US" b="1" dirty="0"/>
              <a:t>180 degree rule</a:t>
            </a:r>
            <a:r>
              <a:rPr lang="en-US" dirty="0"/>
              <a:t>.</a:t>
            </a:r>
          </a:p>
        </p:txBody>
      </p:sp>
    </p:spTree>
    <p:extLst>
      <p:ext uri="{BB962C8B-B14F-4D97-AF65-F5344CB8AC3E}">
        <p14:creationId xmlns:p14="http://schemas.microsoft.com/office/powerpoint/2010/main" val="422248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Line of Action (180 degree rule)</a:t>
            </a:r>
          </a:p>
        </p:txBody>
      </p:sp>
      <p:sp>
        <p:nvSpPr>
          <p:cNvPr id="4" name="Content Placeholder 3">
            <a:extLst>
              <a:ext uri="{FF2B5EF4-FFF2-40B4-BE49-F238E27FC236}">
                <a16:creationId xmlns:a16="http://schemas.microsoft.com/office/drawing/2014/main" id="{628E7DC2-9D75-4DD0-BB35-8CC1FFD5D435}"/>
              </a:ext>
            </a:extLst>
          </p:cNvPr>
          <p:cNvSpPr>
            <a:spLocks noGrp="1"/>
          </p:cNvSpPr>
          <p:nvPr>
            <p:ph idx="1"/>
          </p:nvPr>
        </p:nvSpPr>
        <p:spPr/>
        <p:txBody>
          <a:bodyPr/>
          <a:lstStyle/>
          <a:p>
            <a:r>
              <a:rPr lang="en-US" b="1" dirty="0"/>
              <a:t>Line of Action</a:t>
            </a:r>
            <a:r>
              <a:rPr lang="en-US" dirty="0"/>
              <a:t> (also known as </a:t>
            </a:r>
            <a:r>
              <a:rPr lang="en-US" b="1" dirty="0"/>
              <a:t>180 degree rule</a:t>
            </a:r>
            <a:r>
              <a:rPr lang="en-US" dirty="0"/>
              <a:t>) helps organize camera angles and movement into consistent screen direction.</a:t>
            </a:r>
          </a:p>
          <a:p>
            <a:r>
              <a:rPr lang="en-US" dirty="0"/>
              <a:t>Line of Action gives </a:t>
            </a:r>
            <a:r>
              <a:rPr lang="en-US" dirty="0">
                <a:solidFill>
                  <a:schemeClr val="tx1"/>
                </a:solidFill>
              </a:rPr>
              <a:t>the audience a </a:t>
            </a:r>
            <a:r>
              <a:rPr lang="en-US" b="1" dirty="0">
                <a:solidFill>
                  <a:schemeClr val="tx1"/>
                </a:solidFill>
              </a:rPr>
              <a:t>sense of direction </a:t>
            </a:r>
            <a:r>
              <a:rPr lang="en-US" dirty="0">
                <a:solidFill>
                  <a:schemeClr val="tx1"/>
                </a:solidFill>
              </a:rPr>
              <a:t>for the scene.</a:t>
            </a:r>
          </a:p>
          <a:p>
            <a:endParaRPr lang="en-US" dirty="0"/>
          </a:p>
        </p:txBody>
      </p:sp>
    </p:spTree>
    <p:extLst>
      <p:ext uri="{BB962C8B-B14F-4D97-AF65-F5344CB8AC3E}">
        <p14:creationId xmlns:p14="http://schemas.microsoft.com/office/powerpoint/2010/main" val="4071800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Line of Action</a:t>
            </a:r>
          </a:p>
        </p:txBody>
      </p:sp>
      <p:sp>
        <p:nvSpPr>
          <p:cNvPr id="4" name="Content Placeholder 3">
            <a:extLst>
              <a:ext uri="{FF2B5EF4-FFF2-40B4-BE49-F238E27FC236}">
                <a16:creationId xmlns:a16="http://schemas.microsoft.com/office/drawing/2014/main" id="{395E2ADB-77CC-4293-8FB1-83DCBE8EBBF5}"/>
              </a:ext>
            </a:extLst>
          </p:cNvPr>
          <p:cNvSpPr>
            <a:spLocks noGrp="1"/>
          </p:cNvSpPr>
          <p:nvPr>
            <p:ph idx="1"/>
          </p:nvPr>
        </p:nvSpPr>
        <p:spPr>
          <a:xfrm>
            <a:off x="1295402" y="2556932"/>
            <a:ext cx="3704616" cy="3318936"/>
          </a:xfrm>
        </p:spPr>
        <p:txBody>
          <a:bodyPr/>
          <a:lstStyle/>
          <a:p>
            <a:pPr marL="0" indent="0" algn="ctr">
              <a:buNone/>
            </a:pPr>
            <a:r>
              <a:rPr lang="en-US" b="1" dirty="0"/>
              <a:t>Example</a:t>
            </a:r>
            <a:r>
              <a:rPr lang="en-US" dirty="0"/>
              <a:t>:</a:t>
            </a:r>
          </a:p>
          <a:p>
            <a:pPr algn="just"/>
            <a:r>
              <a:rPr lang="en-US" dirty="0"/>
              <a:t>Line of Action is drawn between two individuals.</a:t>
            </a:r>
          </a:p>
          <a:p>
            <a:pPr algn="just"/>
            <a:r>
              <a:rPr lang="en-US" dirty="0">
                <a:solidFill>
                  <a:schemeClr val="tx1"/>
                </a:solidFill>
              </a:rPr>
              <a:t>Once line is in place, there is a space of 180 degrees (half circle) where shots can be rendered</a:t>
            </a:r>
            <a:endParaRPr lang="en-US" dirty="0"/>
          </a:p>
          <a:p>
            <a:endParaRPr lang="en-US" dirty="0"/>
          </a:p>
        </p:txBody>
      </p:sp>
      <p:pic>
        <p:nvPicPr>
          <p:cNvPr id="3074" name="Picture 2" descr="Image result for Two shot">
            <a:extLst>
              <a:ext uri="{FF2B5EF4-FFF2-40B4-BE49-F238E27FC236}">
                <a16:creationId xmlns:a16="http://schemas.microsoft.com/office/drawing/2014/main" id="{DB033863-F7E6-413B-B708-5AD447358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9668" y="2556932"/>
            <a:ext cx="5920902" cy="3338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874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Line of Action</a:t>
            </a:r>
          </a:p>
        </p:txBody>
      </p:sp>
      <p:sp>
        <p:nvSpPr>
          <p:cNvPr id="4" name="Content Placeholder 3">
            <a:extLst>
              <a:ext uri="{FF2B5EF4-FFF2-40B4-BE49-F238E27FC236}">
                <a16:creationId xmlns:a16="http://schemas.microsoft.com/office/drawing/2014/main" id="{395E2ADB-77CC-4293-8FB1-83DCBE8EBBF5}"/>
              </a:ext>
            </a:extLst>
          </p:cNvPr>
          <p:cNvSpPr>
            <a:spLocks noGrp="1"/>
          </p:cNvSpPr>
          <p:nvPr>
            <p:ph idx="1"/>
          </p:nvPr>
        </p:nvSpPr>
        <p:spPr>
          <a:xfrm>
            <a:off x="1295402" y="2556932"/>
            <a:ext cx="3704616" cy="3318936"/>
          </a:xfrm>
        </p:spPr>
        <p:txBody>
          <a:bodyPr/>
          <a:lstStyle/>
          <a:p>
            <a:pPr marL="0" indent="0" algn="ctr">
              <a:buNone/>
            </a:pPr>
            <a:r>
              <a:rPr lang="en-US" b="1" dirty="0"/>
              <a:t>Example</a:t>
            </a:r>
            <a:r>
              <a:rPr lang="en-US" dirty="0"/>
              <a:t>:</a:t>
            </a:r>
          </a:p>
          <a:p>
            <a:pPr algn="just"/>
            <a:r>
              <a:rPr lang="en-US" dirty="0"/>
              <a:t>Line of Action is drawn between two individuals.</a:t>
            </a:r>
          </a:p>
          <a:p>
            <a:pPr algn="just"/>
            <a:r>
              <a:rPr lang="en-US" dirty="0">
                <a:solidFill>
                  <a:schemeClr val="tx1"/>
                </a:solidFill>
              </a:rPr>
              <a:t>Once line is in place, there is a space of 180 degrees (half circle) where shots can be rendered</a:t>
            </a:r>
            <a:endParaRPr lang="en-US" dirty="0"/>
          </a:p>
          <a:p>
            <a:endParaRPr lang="en-US" dirty="0"/>
          </a:p>
        </p:txBody>
      </p:sp>
      <p:pic>
        <p:nvPicPr>
          <p:cNvPr id="3074" name="Picture 2" descr="Image result for Two shot">
            <a:extLst>
              <a:ext uri="{FF2B5EF4-FFF2-40B4-BE49-F238E27FC236}">
                <a16:creationId xmlns:a16="http://schemas.microsoft.com/office/drawing/2014/main" id="{DB033863-F7E6-413B-B708-5AD447358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9668" y="2556932"/>
            <a:ext cx="5920902" cy="333821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flipH="1">
            <a:off x="7933386" y="3876541"/>
            <a:ext cx="862884" cy="77273"/>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807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Line of Action</a:t>
            </a:r>
          </a:p>
        </p:txBody>
      </p:sp>
      <p:sp>
        <p:nvSpPr>
          <p:cNvPr id="4" name="Content Placeholder 3">
            <a:extLst>
              <a:ext uri="{FF2B5EF4-FFF2-40B4-BE49-F238E27FC236}">
                <a16:creationId xmlns:a16="http://schemas.microsoft.com/office/drawing/2014/main" id="{395E2ADB-77CC-4293-8FB1-83DCBE8EBBF5}"/>
              </a:ext>
            </a:extLst>
          </p:cNvPr>
          <p:cNvSpPr>
            <a:spLocks noGrp="1"/>
          </p:cNvSpPr>
          <p:nvPr>
            <p:ph idx="1"/>
          </p:nvPr>
        </p:nvSpPr>
        <p:spPr>
          <a:xfrm>
            <a:off x="1295402" y="2556932"/>
            <a:ext cx="4074266" cy="3727958"/>
          </a:xfrm>
        </p:spPr>
        <p:txBody>
          <a:bodyPr>
            <a:normAutofit fontScale="92500"/>
          </a:bodyPr>
          <a:lstStyle/>
          <a:p>
            <a:r>
              <a:rPr lang="en-US" dirty="0">
                <a:solidFill>
                  <a:schemeClr val="tx1"/>
                </a:solidFill>
              </a:rPr>
              <a:t>Make sure to capture the action of a shot from the </a:t>
            </a:r>
            <a:r>
              <a:rPr lang="en-US" b="1" dirty="0">
                <a:solidFill>
                  <a:schemeClr val="tx1"/>
                </a:solidFill>
              </a:rPr>
              <a:t>same side </a:t>
            </a:r>
            <a:r>
              <a:rPr lang="en-US" dirty="0">
                <a:solidFill>
                  <a:schemeClr val="tx1"/>
                </a:solidFill>
              </a:rPr>
              <a:t>of a line to maintain </a:t>
            </a:r>
            <a:r>
              <a:rPr lang="en-US" b="1" dirty="0">
                <a:solidFill>
                  <a:schemeClr val="tx1"/>
                </a:solidFill>
              </a:rPr>
              <a:t>consistency</a:t>
            </a:r>
            <a:r>
              <a:rPr lang="en-US" dirty="0">
                <a:solidFill>
                  <a:schemeClr val="tx1"/>
                </a:solidFill>
              </a:rPr>
              <a:t>. </a:t>
            </a:r>
          </a:p>
          <a:p>
            <a:r>
              <a:rPr lang="en-US" dirty="0">
                <a:solidFill>
                  <a:schemeClr val="tx1"/>
                </a:solidFill>
              </a:rPr>
              <a:t>If the line is crossed, one character might end up looking at the backside of another character's head.</a:t>
            </a:r>
          </a:p>
          <a:p>
            <a:r>
              <a:rPr lang="en-US" dirty="0">
                <a:solidFill>
                  <a:schemeClr val="tx1"/>
                </a:solidFill>
              </a:rPr>
              <a:t>The audience will be </a:t>
            </a:r>
            <a:r>
              <a:rPr lang="en-US" b="1" dirty="0">
                <a:solidFill>
                  <a:schemeClr val="tx1"/>
                </a:solidFill>
              </a:rPr>
              <a:t>confused</a:t>
            </a:r>
            <a:r>
              <a:rPr lang="en-US" dirty="0">
                <a:solidFill>
                  <a:schemeClr val="tx1"/>
                </a:solidFill>
              </a:rPr>
              <a:t>.</a:t>
            </a:r>
          </a:p>
          <a:p>
            <a:endParaRPr lang="en-US" dirty="0"/>
          </a:p>
        </p:txBody>
      </p:sp>
      <p:pic>
        <p:nvPicPr>
          <p:cNvPr id="8" name="Picture 2" descr="Image result for Two shot">
            <a:extLst>
              <a:ext uri="{FF2B5EF4-FFF2-40B4-BE49-F238E27FC236}">
                <a16:creationId xmlns:a16="http://schemas.microsoft.com/office/drawing/2014/main" id="{DB033863-F7E6-413B-B708-5AD447358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369668" y="2537651"/>
            <a:ext cx="5920902" cy="33382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752076" y="3078050"/>
            <a:ext cx="1156086" cy="2646878"/>
          </a:xfrm>
          <a:prstGeom prst="rect">
            <a:avLst/>
          </a:prstGeom>
          <a:noFill/>
        </p:spPr>
        <p:txBody>
          <a:bodyPr wrap="none" rtlCol="0">
            <a:spAutoFit/>
          </a:bodyPr>
          <a:lstStyle/>
          <a:p>
            <a:r>
              <a:rPr lang="en-US" sz="16600" dirty="0">
                <a:solidFill>
                  <a:srgbClr val="FFC000"/>
                </a:solidFill>
                <a:latin typeface="Adobe Gothic Std B" panose="020B0800000000000000" pitchFamily="34" charset="-128"/>
                <a:ea typeface="Adobe Gothic Std B" panose="020B0800000000000000" pitchFamily="34" charset="-128"/>
              </a:rPr>
              <a:t>?</a:t>
            </a:r>
          </a:p>
        </p:txBody>
      </p:sp>
      <p:cxnSp>
        <p:nvCxnSpPr>
          <p:cNvPr id="10" name="Straight Connector 9"/>
          <p:cNvCxnSpPr/>
          <p:nvPr/>
        </p:nvCxnSpPr>
        <p:spPr>
          <a:xfrm>
            <a:off x="5369668" y="2537651"/>
            <a:ext cx="5920902" cy="333821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5369668" y="2553623"/>
            <a:ext cx="5920902" cy="3322245"/>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44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Line of Action</a:t>
            </a:r>
          </a:p>
        </p:txBody>
      </p:sp>
      <p:sp>
        <p:nvSpPr>
          <p:cNvPr id="4" name="Content Placeholder 3">
            <a:extLst>
              <a:ext uri="{FF2B5EF4-FFF2-40B4-BE49-F238E27FC236}">
                <a16:creationId xmlns:a16="http://schemas.microsoft.com/office/drawing/2014/main" id="{4FB7EEA6-1902-46BF-B720-64F865F3354C}"/>
              </a:ext>
            </a:extLst>
          </p:cNvPr>
          <p:cNvSpPr>
            <a:spLocks noGrp="1"/>
          </p:cNvSpPr>
          <p:nvPr>
            <p:ph idx="1"/>
          </p:nvPr>
        </p:nvSpPr>
        <p:spPr>
          <a:xfrm>
            <a:off x="7196419" y="2729984"/>
            <a:ext cx="4099725" cy="3232410"/>
          </a:xfrm>
        </p:spPr>
        <p:txBody>
          <a:bodyPr>
            <a:normAutofit fontScale="92500"/>
          </a:bodyPr>
          <a:lstStyle/>
          <a:p>
            <a:r>
              <a:rPr lang="en-US" dirty="0"/>
              <a:t>Situations with distant characters talking to one another </a:t>
            </a:r>
            <a:r>
              <a:rPr lang="en-US" b="1" dirty="0"/>
              <a:t>still need an imaginary line between the characters.</a:t>
            </a:r>
          </a:p>
          <a:p>
            <a:r>
              <a:rPr lang="en-US" dirty="0"/>
              <a:t>When cutting from one character to the next, characters should be facing each other, even if they are in separate locations.</a:t>
            </a:r>
          </a:p>
          <a:p>
            <a:endParaRPr lang="en-US" dirty="0"/>
          </a:p>
        </p:txBody>
      </p:sp>
      <p:pic>
        <p:nvPicPr>
          <p:cNvPr id="4098" name="Picture 2" descr="Image result for Phone conversation split screen">
            <a:extLst>
              <a:ext uri="{FF2B5EF4-FFF2-40B4-BE49-F238E27FC236}">
                <a16:creationId xmlns:a16="http://schemas.microsoft.com/office/drawing/2014/main" id="{3A3B5F77-BFC4-4AEB-B3C7-3998F2B58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856" y="2729984"/>
            <a:ext cx="5901018" cy="331893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3013656" y="4417454"/>
            <a:ext cx="399245" cy="28333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4119093" y="4309797"/>
            <a:ext cx="401392" cy="33260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429556" y="5679064"/>
            <a:ext cx="4581191" cy="338554"/>
          </a:xfrm>
          <a:prstGeom prst="rect">
            <a:avLst/>
          </a:prstGeom>
          <a:noFill/>
        </p:spPr>
        <p:txBody>
          <a:bodyPr wrap="none" rtlCol="0">
            <a:spAutoFit/>
          </a:bodyPr>
          <a:lstStyle/>
          <a:p>
            <a:r>
              <a:rPr lang="en-US" sz="1600" dirty="0">
                <a:solidFill>
                  <a:srgbClr val="FFC000"/>
                </a:solidFill>
              </a:rPr>
              <a:t>Characters are looking at each other’s </a:t>
            </a:r>
            <a:r>
              <a:rPr lang="en-US" sz="1600" b="1" dirty="0">
                <a:solidFill>
                  <a:srgbClr val="FFC000"/>
                </a:solidFill>
              </a:rPr>
              <a:t>general</a:t>
            </a:r>
            <a:r>
              <a:rPr lang="en-US" sz="1600" dirty="0">
                <a:solidFill>
                  <a:srgbClr val="FFC000"/>
                </a:solidFill>
              </a:rPr>
              <a:t> direction</a:t>
            </a:r>
          </a:p>
        </p:txBody>
      </p:sp>
    </p:spTree>
    <p:extLst>
      <p:ext uri="{BB962C8B-B14F-4D97-AF65-F5344CB8AC3E}">
        <p14:creationId xmlns:p14="http://schemas.microsoft.com/office/powerpoint/2010/main" val="3480541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Crossing the Line of Action</a:t>
            </a:r>
          </a:p>
        </p:txBody>
      </p:sp>
      <p:sp>
        <p:nvSpPr>
          <p:cNvPr id="4" name="Content Placeholder 3">
            <a:extLst>
              <a:ext uri="{FF2B5EF4-FFF2-40B4-BE49-F238E27FC236}">
                <a16:creationId xmlns:a16="http://schemas.microsoft.com/office/drawing/2014/main" id="{AE414FC7-008A-4CB5-82BA-9FE8E6894862}"/>
              </a:ext>
            </a:extLst>
          </p:cNvPr>
          <p:cNvSpPr>
            <a:spLocks noGrp="1"/>
          </p:cNvSpPr>
          <p:nvPr>
            <p:ph idx="1"/>
          </p:nvPr>
        </p:nvSpPr>
        <p:spPr>
          <a:xfrm>
            <a:off x="1295401" y="3229582"/>
            <a:ext cx="3548973" cy="2646285"/>
          </a:xfrm>
        </p:spPr>
        <p:txBody>
          <a:bodyPr/>
          <a:lstStyle/>
          <a:p>
            <a:r>
              <a:rPr lang="en-US" dirty="0">
                <a:solidFill>
                  <a:schemeClr val="tx1"/>
                </a:solidFill>
              </a:rPr>
              <a:t>A dolly or crane shot can move </a:t>
            </a:r>
            <a:r>
              <a:rPr lang="en-US" i="1" dirty="0">
                <a:solidFill>
                  <a:schemeClr val="tx1"/>
                </a:solidFill>
              </a:rPr>
              <a:t>over</a:t>
            </a:r>
            <a:r>
              <a:rPr lang="en-US" dirty="0">
                <a:solidFill>
                  <a:schemeClr val="tx1"/>
                </a:solidFill>
              </a:rPr>
              <a:t> the established line, </a:t>
            </a:r>
            <a:r>
              <a:rPr lang="en-US" b="1" dirty="0">
                <a:solidFill>
                  <a:schemeClr val="tx1"/>
                </a:solidFill>
              </a:rPr>
              <a:t>as long as the movement is continuous</a:t>
            </a:r>
            <a:endParaRPr lang="en-US" b="1" dirty="0"/>
          </a:p>
        </p:txBody>
      </p:sp>
      <p:pic>
        <p:nvPicPr>
          <p:cNvPr id="6146" name="Picture 2" descr="Image result for dolly line of action shot">
            <a:extLst>
              <a:ext uri="{FF2B5EF4-FFF2-40B4-BE49-F238E27FC236}">
                <a16:creationId xmlns:a16="http://schemas.microsoft.com/office/drawing/2014/main" id="{5526C711-6898-48EA-9F6B-1CB82FB3861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370882" y="2668638"/>
            <a:ext cx="5525716" cy="3111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965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Crossing the Line of Action</a:t>
            </a:r>
            <a:endParaRPr lang="en-US" sz="4400" dirty="0"/>
          </a:p>
        </p:txBody>
      </p:sp>
      <p:sp>
        <p:nvSpPr>
          <p:cNvPr id="4" name="Content Placeholder 3">
            <a:extLst>
              <a:ext uri="{FF2B5EF4-FFF2-40B4-BE49-F238E27FC236}">
                <a16:creationId xmlns:a16="http://schemas.microsoft.com/office/drawing/2014/main" id="{5CB3715D-7008-453B-A53F-F76BA86DD65A}"/>
              </a:ext>
            </a:extLst>
          </p:cNvPr>
          <p:cNvSpPr>
            <a:spLocks noGrp="1"/>
          </p:cNvSpPr>
          <p:nvPr>
            <p:ph idx="1"/>
          </p:nvPr>
        </p:nvSpPr>
        <p:spPr>
          <a:xfrm>
            <a:off x="1295401" y="2556932"/>
            <a:ext cx="3957535" cy="3318936"/>
          </a:xfrm>
        </p:spPr>
        <p:txBody>
          <a:bodyPr/>
          <a:lstStyle/>
          <a:p>
            <a:r>
              <a:rPr lang="en-US" dirty="0">
                <a:solidFill>
                  <a:schemeClr val="tx1"/>
                </a:solidFill>
              </a:rPr>
              <a:t>If one of these characters were to get up and move, the camera will be reframed.</a:t>
            </a:r>
          </a:p>
          <a:p>
            <a:r>
              <a:rPr lang="en-US" b="1" dirty="0">
                <a:solidFill>
                  <a:schemeClr val="tx1"/>
                </a:solidFill>
              </a:rPr>
              <a:t>Once the character has established his eye contact </a:t>
            </a:r>
            <a:r>
              <a:rPr lang="en-US" dirty="0">
                <a:solidFill>
                  <a:schemeClr val="tx1"/>
                </a:solidFill>
              </a:rPr>
              <a:t>with the seated character, you have established a </a:t>
            </a:r>
            <a:r>
              <a:rPr lang="en-US" b="1" dirty="0">
                <a:solidFill>
                  <a:schemeClr val="tx1"/>
                </a:solidFill>
              </a:rPr>
              <a:t>new line of action</a:t>
            </a:r>
            <a:r>
              <a:rPr lang="en-US" dirty="0">
                <a:solidFill>
                  <a:schemeClr val="tx1"/>
                </a:solidFill>
              </a:rPr>
              <a:t>.</a:t>
            </a:r>
            <a:endParaRPr lang="en-US" dirty="0"/>
          </a:p>
        </p:txBody>
      </p:sp>
      <p:pic>
        <p:nvPicPr>
          <p:cNvPr id="7170" name="Picture 2" descr="Image result for the equalizer rotating camera conversation scene">
            <a:extLst>
              <a:ext uri="{FF2B5EF4-FFF2-40B4-BE49-F238E27FC236}">
                <a16:creationId xmlns:a16="http://schemas.microsoft.com/office/drawing/2014/main" id="{6065F125-C970-4F0F-9FC6-D269CFFF517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252937" y="2556932"/>
            <a:ext cx="5643662" cy="3232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702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Crossing the Line of Action</a:t>
            </a:r>
            <a:endParaRPr lang="en-US" sz="4400" dirty="0"/>
          </a:p>
        </p:txBody>
      </p:sp>
      <p:sp>
        <p:nvSpPr>
          <p:cNvPr id="4" name="Content Placeholder 3">
            <a:extLst>
              <a:ext uri="{FF2B5EF4-FFF2-40B4-BE49-F238E27FC236}">
                <a16:creationId xmlns:a16="http://schemas.microsoft.com/office/drawing/2014/main" id="{AAE2A716-75ED-41FF-BB1E-96EE0C560E0E}"/>
              </a:ext>
            </a:extLst>
          </p:cNvPr>
          <p:cNvSpPr>
            <a:spLocks noGrp="1"/>
          </p:cNvSpPr>
          <p:nvPr>
            <p:ph idx="1"/>
          </p:nvPr>
        </p:nvSpPr>
        <p:spPr>
          <a:xfrm>
            <a:off x="1050587" y="2556932"/>
            <a:ext cx="3938081" cy="3318936"/>
          </a:xfrm>
        </p:spPr>
        <p:txBody>
          <a:bodyPr>
            <a:normAutofit lnSpcReduction="10000"/>
          </a:bodyPr>
          <a:lstStyle/>
          <a:p>
            <a:r>
              <a:rPr lang="en-US" dirty="0">
                <a:solidFill>
                  <a:schemeClr val="tx1"/>
                </a:solidFill>
              </a:rPr>
              <a:t>If a camera cuts away to a </a:t>
            </a:r>
            <a:r>
              <a:rPr lang="en-US" i="1" dirty="0">
                <a:solidFill>
                  <a:schemeClr val="tx1"/>
                </a:solidFill>
              </a:rPr>
              <a:t>third</a:t>
            </a:r>
            <a:r>
              <a:rPr lang="en-US" dirty="0">
                <a:solidFill>
                  <a:schemeClr val="tx1"/>
                </a:solidFill>
              </a:rPr>
              <a:t> person entering the room and one of the characters seated turns to acknowledge the third person (</a:t>
            </a:r>
            <a:r>
              <a:rPr lang="en-US" b="1" dirty="0">
                <a:solidFill>
                  <a:schemeClr val="tx1"/>
                </a:solidFill>
              </a:rPr>
              <a:t>establishing a new sight line</a:t>
            </a:r>
            <a:r>
              <a:rPr lang="en-US" dirty="0">
                <a:solidFill>
                  <a:schemeClr val="tx1"/>
                </a:solidFill>
              </a:rPr>
              <a:t>), you may cross the line and establish a new one. </a:t>
            </a:r>
          </a:p>
          <a:p>
            <a:endParaRPr lang="en-US" dirty="0"/>
          </a:p>
        </p:txBody>
      </p:sp>
      <p:pic>
        <p:nvPicPr>
          <p:cNvPr id="8194" name="Picture 2" descr="Image result for offscreen character entrance">
            <a:extLst>
              <a:ext uri="{FF2B5EF4-FFF2-40B4-BE49-F238E27FC236}">
                <a16:creationId xmlns:a16="http://schemas.microsoft.com/office/drawing/2014/main" id="{93201965-12FA-4B50-8B60-524EF9386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8667" y="2552657"/>
            <a:ext cx="5907931" cy="3323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842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Crossing the Line of Action</a:t>
            </a:r>
            <a:endParaRPr lang="en-US" sz="4400" dirty="0"/>
          </a:p>
        </p:txBody>
      </p:sp>
      <p:sp>
        <p:nvSpPr>
          <p:cNvPr id="4" name="Content Placeholder 3">
            <a:extLst>
              <a:ext uri="{FF2B5EF4-FFF2-40B4-BE49-F238E27FC236}">
                <a16:creationId xmlns:a16="http://schemas.microsoft.com/office/drawing/2014/main" id="{248C4776-B306-49C0-A229-AFA6916EE8BB}"/>
              </a:ext>
            </a:extLst>
          </p:cNvPr>
          <p:cNvSpPr>
            <a:spLocks noGrp="1"/>
          </p:cNvSpPr>
          <p:nvPr>
            <p:ph idx="1"/>
          </p:nvPr>
        </p:nvSpPr>
        <p:spPr>
          <a:xfrm>
            <a:off x="673406" y="2556931"/>
            <a:ext cx="4667515" cy="3649315"/>
          </a:xfrm>
        </p:spPr>
        <p:txBody>
          <a:bodyPr>
            <a:normAutofit/>
          </a:bodyPr>
          <a:lstStyle/>
          <a:p>
            <a:r>
              <a:rPr lang="en-US" dirty="0">
                <a:solidFill>
                  <a:schemeClr val="tx1"/>
                </a:solidFill>
              </a:rPr>
              <a:t>Occasionally, the line of action is crossed to convey the character’s confusion. </a:t>
            </a:r>
            <a:r>
              <a:rPr lang="en-US" sz="2000" dirty="0">
                <a:solidFill>
                  <a:schemeClr val="tx1"/>
                </a:solidFill>
              </a:rPr>
              <a:t>(example: searching for suspect in crowd)</a:t>
            </a:r>
            <a:endParaRPr lang="en-US" dirty="0">
              <a:solidFill>
                <a:schemeClr val="tx1"/>
              </a:solidFill>
            </a:endParaRPr>
          </a:p>
          <a:p>
            <a:r>
              <a:rPr lang="en-US" dirty="0">
                <a:solidFill>
                  <a:schemeClr val="tx1"/>
                </a:solidFill>
              </a:rPr>
              <a:t>Be aware, however, there is a </a:t>
            </a:r>
            <a:r>
              <a:rPr lang="en-US" b="1" dirty="0">
                <a:solidFill>
                  <a:schemeClr val="tx1"/>
                </a:solidFill>
              </a:rPr>
              <a:t>very</a:t>
            </a:r>
            <a:r>
              <a:rPr lang="en-US" dirty="0">
                <a:solidFill>
                  <a:schemeClr val="tx1"/>
                </a:solidFill>
              </a:rPr>
              <a:t> </a:t>
            </a:r>
            <a:r>
              <a:rPr lang="en-US" b="1" dirty="0">
                <a:solidFill>
                  <a:schemeClr val="tx1"/>
                </a:solidFill>
              </a:rPr>
              <a:t>fine line convey a character’s confusion and confusing your audience.</a:t>
            </a:r>
          </a:p>
          <a:p>
            <a:endParaRPr lang="en-US" dirty="0"/>
          </a:p>
        </p:txBody>
      </p:sp>
      <p:pic>
        <p:nvPicPr>
          <p:cNvPr id="9218" name="Picture 2" descr="Image result for george clooney peacemaker crowd scene">
            <a:extLst>
              <a:ext uri="{FF2B5EF4-FFF2-40B4-BE49-F238E27FC236}">
                <a16:creationId xmlns:a16="http://schemas.microsoft.com/office/drawing/2014/main" id="{E3E78B14-6343-4400-98A6-ED64FC9F43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0921" y="2556931"/>
            <a:ext cx="5900332" cy="3318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788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Screen Direction</a:t>
            </a:r>
          </a:p>
        </p:txBody>
      </p:sp>
      <p:sp>
        <p:nvSpPr>
          <p:cNvPr id="4" name="Content Placeholder 3">
            <a:extLst>
              <a:ext uri="{FF2B5EF4-FFF2-40B4-BE49-F238E27FC236}">
                <a16:creationId xmlns:a16="http://schemas.microsoft.com/office/drawing/2014/main" id="{23337C65-C776-4343-BC08-19AD97561F1E}"/>
              </a:ext>
            </a:extLst>
          </p:cNvPr>
          <p:cNvSpPr>
            <a:spLocks noGrp="1"/>
          </p:cNvSpPr>
          <p:nvPr>
            <p:ph idx="1"/>
          </p:nvPr>
        </p:nvSpPr>
        <p:spPr>
          <a:xfrm>
            <a:off x="1295401" y="2556932"/>
            <a:ext cx="9601196" cy="3552038"/>
          </a:xfrm>
        </p:spPr>
        <p:txBody>
          <a:bodyPr>
            <a:normAutofit lnSpcReduction="10000"/>
          </a:bodyPr>
          <a:lstStyle/>
          <a:p>
            <a:r>
              <a:rPr lang="en-US" dirty="0">
                <a:solidFill>
                  <a:schemeClr val="tx1"/>
                </a:solidFill>
              </a:rPr>
              <a:t>It is important to plan the </a:t>
            </a:r>
            <a:r>
              <a:rPr lang="en-US" b="1" dirty="0">
                <a:solidFill>
                  <a:schemeClr val="tx1"/>
                </a:solidFill>
              </a:rPr>
              <a:t>direction</a:t>
            </a:r>
            <a:r>
              <a:rPr lang="en-US" dirty="0">
                <a:solidFill>
                  <a:schemeClr val="tx1"/>
                </a:solidFill>
              </a:rPr>
              <a:t> a person or object moves or </a:t>
            </a:r>
            <a:r>
              <a:rPr lang="en-US" b="1" dirty="0">
                <a:solidFill>
                  <a:schemeClr val="tx1"/>
                </a:solidFill>
              </a:rPr>
              <a:t>looks</a:t>
            </a:r>
            <a:r>
              <a:rPr lang="en-US" dirty="0">
                <a:solidFill>
                  <a:schemeClr val="tx1"/>
                </a:solidFill>
              </a:rPr>
              <a:t> </a:t>
            </a:r>
            <a:r>
              <a:rPr lang="en-US" b="1" dirty="0">
                <a:solidFill>
                  <a:schemeClr val="tx1"/>
                </a:solidFill>
              </a:rPr>
              <a:t>toward</a:t>
            </a:r>
            <a:r>
              <a:rPr lang="en-US" dirty="0">
                <a:solidFill>
                  <a:schemeClr val="tx1"/>
                </a:solidFill>
              </a:rPr>
              <a:t>. </a:t>
            </a:r>
          </a:p>
          <a:p>
            <a:r>
              <a:rPr lang="en-US" dirty="0">
                <a:solidFill>
                  <a:schemeClr val="tx1"/>
                </a:solidFill>
              </a:rPr>
              <a:t>Have </a:t>
            </a:r>
            <a:r>
              <a:rPr lang="en-US" b="1" dirty="0">
                <a:solidFill>
                  <a:schemeClr val="tx1"/>
                </a:solidFill>
              </a:rPr>
              <a:t>clarity</a:t>
            </a:r>
            <a:r>
              <a:rPr lang="en-US" dirty="0">
                <a:solidFill>
                  <a:schemeClr val="tx1"/>
                </a:solidFill>
              </a:rPr>
              <a:t> in intent of scene, especially when multiple shots are used.</a:t>
            </a:r>
          </a:p>
          <a:p>
            <a:r>
              <a:rPr lang="en-US" dirty="0">
                <a:solidFill>
                  <a:schemeClr val="tx1"/>
                </a:solidFill>
              </a:rPr>
              <a:t>A good director will rely on the </a:t>
            </a:r>
            <a:r>
              <a:rPr lang="en-US" b="1" dirty="0" err="1">
                <a:solidFill>
                  <a:schemeClr val="tx1"/>
                </a:solidFill>
              </a:rPr>
              <a:t>shot</a:t>
            </a:r>
            <a:r>
              <a:rPr lang="en-US" b="1" dirty="0">
                <a:solidFill>
                  <a:schemeClr val="tx1"/>
                </a:solidFill>
              </a:rPr>
              <a:t> list </a:t>
            </a:r>
            <a:r>
              <a:rPr lang="en-US" dirty="0">
                <a:solidFill>
                  <a:schemeClr val="tx1"/>
                </a:solidFill>
              </a:rPr>
              <a:t>and storyboards to maintain a consistent screen direction. </a:t>
            </a:r>
          </a:p>
          <a:p>
            <a:r>
              <a:rPr lang="en-US" dirty="0">
                <a:solidFill>
                  <a:schemeClr val="tx1"/>
                </a:solidFill>
              </a:rPr>
              <a:t> </a:t>
            </a:r>
          </a:p>
          <a:p>
            <a:r>
              <a:rPr lang="en-US" dirty="0">
                <a:solidFill>
                  <a:schemeClr val="tx1"/>
                </a:solidFill>
              </a:rPr>
              <a:t>Several types  of screen direction include </a:t>
            </a:r>
            <a:r>
              <a:rPr lang="en-US" b="1" dirty="0">
                <a:solidFill>
                  <a:schemeClr val="tx1"/>
                </a:solidFill>
              </a:rPr>
              <a:t>neutral</a:t>
            </a:r>
            <a:r>
              <a:rPr lang="en-US" dirty="0">
                <a:solidFill>
                  <a:schemeClr val="tx1"/>
                </a:solidFill>
              </a:rPr>
              <a:t>, </a:t>
            </a:r>
            <a:r>
              <a:rPr lang="en-US" b="1" dirty="0">
                <a:solidFill>
                  <a:schemeClr val="tx1"/>
                </a:solidFill>
              </a:rPr>
              <a:t>constant</a:t>
            </a:r>
            <a:r>
              <a:rPr lang="en-US" dirty="0">
                <a:solidFill>
                  <a:schemeClr val="tx1"/>
                </a:solidFill>
              </a:rPr>
              <a:t>, and </a:t>
            </a:r>
            <a:r>
              <a:rPr lang="en-US" b="1" dirty="0">
                <a:solidFill>
                  <a:schemeClr val="tx1"/>
                </a:solidFill>
              </a:rPr>
              <a:t>contrasting </a:t>
            </a:r>
            <a:r>
              <a:rPr lang="en-US" dirty="0">
                <a:solidFill>
                  <a:schemeClr val="tx1"/>
                </a:solidFill>
              </a:rPr>
              <a:t>direction. </a:t>
            </a:r>
            <a:endParaRPr lang="en-US" dirty="0"/>
          </a:p>
        </p:txBody>
      </p:sp>
    </p:spTree>
    <p:extLst>
      <p:ext uri="{BB962C8B-B14F-4D97-AF65-F5344CB8AC3E}">
        <p14:creationId xmlns:p14="http://schemas.microsoft.com/office/powerpoint/2010/main" val="2933858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Neutral Screen Direction</a:t>
            </a:r>
          </a:p>
        </p:txBody>
      </p:sp>
      <p:sp>
        <p:nvSpPr>
          <p:cNvPr id="7" name="Content Placeholder 6">
            <a:extLst>
              <a:ext uri="{FF2B5EF4-FFF2-40B4-BE49-F238E27FC236}">
                <a16:creationId xmlns:a16="http://schemas.microsoft.com/office/drawing/2014/main" id="{23995074-4D30-4D85-B331-3E8F85084A99}"/>
              </a:ext>
            </a:extLst>
          </p:cNvPr>
          <p:cNvSpPr>
            <a:spLocks noGrp="1"/>
          </p:cNvSpPr>
          <p:nvPr>
            <p:ph idx="1"/>
          </p:nvPr>
        </p:nvSpPr>
        <p:spPr>
          <a:xfrm>
            <a:off x="6539530" y="3015574"/>
            <a:ext cx="4841832" cy="3326860"/>
          </a:xfrm>
        </p:spPr>
        <p:txBody>
          <a:bodyPr>
            <a:normAutofit/>
          </a:bodyPr>
          <a:lstStyle/>
          <a:p>
            <a:r>
              <a:rPr lang="en-US" dirty="0">
                <a:solidFill>
                  <a:schemeClr val="tx1"/>
                </a:solidFill>
              </a:rPr>
              <a:t>movement </a:t>
            </a:r>
            <a:r>
              <a:rPr lang="en-US" b="1" dirty="0">
                <a:solidFill>
                  <a:schemeClr val="tx1"/>
                </a:solidFill>
              </a:rPr>
              <a:t>toward</a:t>
            </a:r>
            <a:r>
              <a:rPr lang="en-US" dirty="0">
                <a:solidFill>
                  <a:schemeClr val="tx1"/>
                </a:solidFill>
              </a:rPr>
              <a:t> or </a:t>
            </a:r>
            <a:r>
              <a:rPr lang="en-US" b="1" dirty="0">
                <a:solidFill>
                  <a:schemeClr val="tx1"/>
                </a:solidFill>
              </a:rPr>
              <a:t>away</a:t>
            </a:r>
            <a:r>
              <a:rPr lang="en-US" dirty="0">
                <a:solidFill>
                  <a:schemeClr val="tx1"/>
                </a:solidFill>
              </a:rPr>
              <a:t> from the camera.</a:t>
            </a:r>
          </a:p>
          <a:p>
            <a:r>
              <a:rPr lang="en-US" dirty="0">
                <a:solidFill>
                  <a:schemeClr val="tx1"/>
                </a:solidFill>
              </a:rPr>
              <a:t>shows only the </a:t>
            </a:r>
            <a:r>
              <a:rPr lang="en-US" b="1" dirty="0">
                <a:solidFill>
                  <a:schemeClr val="tx1"/>
                </a:solidFill>
              </a:rPr>
              <a:t>front</a:t>
            </a:r>
            <a:r>
              <a:rPr lang="en-US" dirty="0">
                <a:solidFill>
                  <a:schemeClr val="tx1"/>
                </a:solidFill>
              </a:rPr>
              <a:t> or </a:t>
            </a:r>
            <a:r>
              <a:rPr lang="en-US" b="1" dirty="0">
                <a:solidFill>
                  <a:schemeClr val="tx1"/>
                </a:solidFill>
              </a:rPr>
              <a:t>back</a:t>
            </a:r>
            <a:r>
              <a:rPr lang="en-US" dirty="0">
                <a:solidFill>
                  <a:schemeClr val="tx1"/>
                </a:solidFill>
              </a:rPr>
              <a:t> side.</a:t>
            </a:r>
          </a:p>
          <a:p>
            <a:r>
              <a:rPr lang="en-US" dirty="0">
                <a:solidFill>
                  <a:schemeClr val="tx1"/>
                </a:solidFill>
              </a:rPr>
              <a:t>provides </a:t>
            </a:r>
            <a:r>
              <a:rPr lang="en-US" b="1" dirty="0">
                <a:solidFill>
                  <a:schemeClr val="tx1"/>
                </a:solidFill>
              </a:rPr>
              <a:t>impact</a:t>
            </a:r>
            <a:r>
              <a:rPr lang="en-US" dirty="0">
                <a:solidFill>
                  <a:schemeClr val="tx1"/>
                </a:solidFill>
              </a:rPr>
              <a:t> and is quite dynamic because the character or object appears to increase in size as it moves closer to the camera. </a:t>
            </a:r>
          </a:p>
          <a:p>
            <a:endParaRPr lang="en-US" dirty="0"/>
          </a:p>
        </p:txBody>
      </p:sp>
      <p:pic>
        <p:nvPicPr>
          <p:cNvPr id="1028" name="Picture 4" descr="Image result for Incredibles running towards camera">
            <a:extLst>
              <a:ext uri="{FF2B5EF4-FFF2-40B4-BE49-F238E27FC236}">
                <a16:creationId xmlns:a16="http://schemas.microsoft.com/office/drawing/2014/main" id="{E87D9D74-B585-4494-8AE9-62B0E4F1ED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639" y="3015574"/>
            <a:ext cx="5728890" cy="2393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968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Constant Screen Direction</a:t>
            </a:r>
          </a:p>
        </p:txBody>
      </p:sp>
      <p:sp>
        <p:nvSpPr>
          <p:cNvPr id="3" name="Content Placeholder 2">
            <a:extLst>
              <a:ext uri="{FF2B5EF4-FFF2-40B4-BE49-F238E27FC236}">
                <a16:creationId xmlns:a16="http://schemas.microsoft.com/office/drawing/2014/main" id="{5AE8A78F-5DA9-48DA-99F0-9A9D7672CCC7}"/>
              </a:ext>
            </a:extLst>
          </p:cNvPr>
          <p:cNvSpPr>
            <a:spLocks noGrp="1"/>
          </p:cNvSpPr>
          <p:nvPr>
            <p:ph idx="1"/>
          </p:nvPr>
        </p:nvSpPr>
        <p:spPr>
          <a:xfrm>
            <a:off x="1295401" y="2556932"/>
            <a:ext cx="4169920" cy="3318936"/>
          </a:xfrm>
        </p:spPr>
        <p:txBody>
          <a:bodyPr>
            <a:normAutofit fontScale="85000" lnSpcReduction="10000"/>
          </a:bodyPr>
          <a:lstStyle/>
          <a:p>
            <a:r>
              <a:rPr lang="en-US" dirty="0">
                <a:solidFill>
                  <a:schemeClr val="tx1"/>
                </a:solidFill>
              </a:rPr>
              <a:t>Constant screen Direction shows movement in </a:t>
            </a:r>
            <a:r>
              <a:rPr lang="en-US" b="1" dirty="0">
                <a:solidFill>
                  <a:schemeClr val="tx1"/>
                </a:solidFill>
              </a:rPr>
              <a:t>one direction only</a:t>
            </a:r>
            <a:r>
              <a:rPr lang="en-US" dirty="0">
                <a:solidFill>
                  <a:schemeClr val="tx1"/>
                </a:solidFill>
              </a:rPr>
              <a:t>. </a:t>
            </a:r>
          </a:p>
          <a:p>
            <a:r>
              <a:rPr lang="en-US" dirty="0">
                <a:solidFill>
                  <a:schemeClr val="tx1"/>
                </a:solidFill>
              </a:rPr>
              <a:t>You would storyboard the progression of shots of this bus going in </a:t>
            </a:r>
            <a:r>
              <a:rPr lang="en-US" b="1" dirty="0">
                <a:solidFill>
                  <a:schemeClr val="tx1"/>
                </a:solidFill>
              </a:rPr>
              <a:t>the same direction</a:t>
            </a:r>
            <a:r>
              <a:rPr lang="en-US" dirty="0">
                <a:solidFill>
                  <a:schemeClr val="tx1"/>
                </a:solidFill>
              </a:rPr>
              <a:t>. </a:t>
            </a:r>
          </a:p>
          <a:p>
            <a:r>
              <a:rPr lang="en-US" dirty="0">
                <a:solidFill>
                  <a:schemeClr val="tx1"/>
                </a:solidFill>
              </a:rPr>
              <a:t>Showing the bus going in the </a:t>
            </a:r>
            <a:r>
              <a:rPr lang="en-US" b="1" dirty="0">
                <a:solidFill>
                  <a:schemeClr val="tx1"/>
                </a:solidFill>
              </a:rPr>
              <a:t>opposite</a:t>
            </a:r>
            <a:r>
              <a:rPr lang="en-US" dirty="0">
                <a:solidFill>
                  <a:schemeClr val="tx1"/>
                </a:solidFill>
              </a:rPr>
              <a:t> direction, this will </a:t>
            </a:r>
            <a:r>
              <a:rPr lang="en-US" b="1" dirty="0">
                <a:solidFill>
                  <a:schemeClr val="tx1"/>
                </a:solidFill>
              </a:rPr>
              <a:t>confuse</a:t>
            </a:r>
            <a:r>
              <a:rPr lang="en-US" dirty="0">
                <a:solidFill>
                  <a:schemeClr val="tx1"/>
                </a:solidFill>
              </a:rPr>
              <a:t> the audience because the bus </a:t>
            </a:r>
            <a:r>
              <a:rPr lang="en-US" b="1" dirty="0">
                <a:solidFill>
                  <a:schemeClr val="tx1"/>
                </a:solidFill>
              </a:rPr>
              <a:t>appears to be moving back</a:t>
            </a:r>
            <a:r>
              <a:rPr lang="en-US" dirty="0">
                <a:solidFill>
                  <a:schemeClr val="tx1"/>
                </a:solidFill>
              </a:rPr>
              <a:t> to its starting point.</a:t>
            </a:r>
          </a:p>
        </p:txBody>
      </p:sp>
      <p:pic>
        <p:nvPicPr>
          <p:cNvPr id="10242" name="Picture 2" descr="Image result for bus routine movie">
            <a:extLst>
              <a:ext uri="{FF2B5EF4-FFF2-40B4-BE49-F238E27FC236}">
                <a16:creationId xmlns:a16="http://schemas.microsoft.com/office/drawing/2014/main" id="{E63CC241-5A4D-4923-9756-3A33332A85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5203"/>
          <a:stretch/>
        </p:blipFill>
        <p:spPr bwMode="auto">
          <a:xfrm>
            <a:off x="5465321" y="2542118"/>
            <a:ext cx="5431277"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201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Constant Screen Direction</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p:txBody>
          <a:bodyPr/>
          <a:lstStyle/>
          <a:p>
            <a:r>
              <a:rPr lang="en-US" dirty="0">
                <a:solidFill>
                  <a:schemeClr val="tx1"/>
                </a:solidFill>
              </a:rPr>
              <a:t>Subjects should move in the </a:t>
            </a:r>
            <a:r>
              <a:rPr lang="en-US" b="1" dirty="0">
                <a:solidFill>
                  <a:schemeClr val="tx1"/>
                </a:solidFill>
              </a:rPr>
              <a:t>same</a:t>
            </a:r>
            <a:r>
              <a:rPr lang="en-US" dirty="0">
                <a:solidFill>
                  <a:schemeClr val="tx1"/>
                </a:solidFill>
              </a:rPr>
              <a:t> direction</a:t>
            </a:r>
          </a:p>
          <a:p>
            <a:r>
              <a:rPr lang="en-US" dirty="0">
                <a:solidFill>
                  <a:schemeClr val="tx1"/>
                </a:solidFill>
              </a:rPr>
              <a:t>Once the line and the camera are established, </a:t>
            </a:r>
            <a:r>
              <a:rPr lang="en-US" b="1" dirty="0">
                <a:solidFill>
                  <a:schemeClr val="tx1"/>
                </a:solidFill>
              </a:rPr>
              <a:t>screen direction will be maintained</a:t>
            </a:r>
            <a:endParaRPr lang="en-US" dirty="0">
              <a:solidFill>
                <a:schemeClr val="tx1"/>
              </a:solidFill>
            </a:endParaRPr>
          </a:p>
          <a:p>
            <a:endParaRPr lang="en-US" dirty="0">
              <a:solidFill>
                <a:schemeClr val="tx1"/>
              </a:solidFill>
            </a:endParaRPr>
          </a:p>
          <a:p>
            <a:endParaRPr lang="en-US" dirty="0"/>
          </a:p>
        </p:txBody>
      </p:sp>
    </p:spTree>
    <p:extLst>
      <p:ext uri="{BB962C8B-B14F-4D97-AF65-F5344CB8AC3E}">
        <p14:creationId xmlns:p14="http://schemas.microsoft.com/office/powerpoint/2010/main" val="1939127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Contrasting Screen Direction</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1295401" y="2556932"/>
            <a:ext cx="3860259" cy="3318936"/>
          </a:xfrm>
        </p:spPr>
        <p:txBody>
          <a:bodyPr/>
          <a:lstStyle/>
          <a:p>
            <a:r>
              <a:rPr lang="en-US" dirty="0">
                <a:solidFill>
                  <a:schemeClr val="tx1"/>
                </a:solidFill>
              </a:rPr>
              <a:t>Entering and Exiting frame from opposite directions.</a:t>
            </a:r>
          </a:p>
          <a:p>
            <a:r>
              <a:rPr lang="en-US" dirty="0">
                <a:solidFill>
                  <a:schemeClr val="tx1"/>
                </a:solidFill>
              </a:rPr>
              <a:t>Often called Right or Left and Left to Right movement.</a:t>
            </a:r>
          </a:p>
          <a:p>
            <a:endParaRPr lang="en-US" dirty="0"/>
          </a:p>
        </p:txBody>
      </p:sp>
      <p:pic>
        <p:nvPicPr>
          <p:cNvPr id="2050" name="Picture 2" descr="Image result for goofy motor mania">
            <a:extLst>
              <a:ext uri="{FF2B5EF4-FFF2-40B4-BE49-F238E27FC236}">
                <a16:creationId xmlns:a16="http://schemas.microsoft.com/office/drawing/2014/main" id="{42BEB641-029B-423F-97FA-91FF72D1B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2519" y="2556932"/>
            <a:ext cx="2414079" cy="18105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goofy motor mania">
            <a:extLst>
              <a:ext uri="{FF2B5EF4-FFF2-40B4-BE49-F238E27FC236}">
                <a16:creationId xmlns:a16="http://schemas.microsoft.com/office/drawing/2014/main" id="{9F74BCDE-2083-4C12-AF40-B5506974C6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577829"/>
            <a:ext cx="2286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Image result for goofy motor mania returning home">
            <a:extLst>
              <a:ext uri="{FF2B5EF4-FFF2-40B4-BE49-F238E27FC236}">
                <a16:creationId xmlns:a16="http://schemas.microsoft.com/office/drawing/2014/main" id="{9D645F5E-D2F6-4762-8419-C5BC34E434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2900" y="4445559"/>
            <a:ext cx="22991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042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Contrasting Screen Direction</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2"/>
            <a:ext cx="2898843" cy="3318936"/>
          </a:xfrm>
        </p:spPr>
        <p:txBody>
          <a:bodyPr/>
          <a:lstStyle/>
          <a:p>
            <a:r>
              <a:rPr lang="en-US" dirty="0">
                <a:solidFill>
                  <a:schemeClr val="tx1"/>
                </a:solidFill>
              </a:rPr>
              <a:t>Entering and Exiting frame from opposite directions.</a:t>
            </a:r>
          </a:p>
          <a:p>
            <a:r>
              <a:rPr lang="en-US" dirty="0">
                <a:solidFill>
                  <a:schemeClr val="tx1"/>
                </a:solidFill>
              </a:rPr>
              <a:t>Often called Right to Left and Left to Right movement.</a:t>
            </a:r>
          </a:p>
          <a:p>
            <a:endParaRPr lang="en-US" dirty="0"/>
          </a:p>
        </p:txBody>
      </p:sp>
      <p:pic>
        <p:nvPicPr>
          <p:cNvPr id="5122" name="Picture 2" descr="Image result for Avengers civil war face off">
            <a:extLst>
              <a:ext uri="{FF2B5EF4-FFF2-40B4-BE49-F238E27FC236}">
                <a16:creationId xmlns:a16="http://schemas.microsoft.com/office/drawing/2014/main" id="{120A0E94-213D-4433-AE02-7B3FEE6A455A}"/>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95279" y="2694518"/>
            <a:ext cx="7153138" cy="2986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55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Shot/Reverse Shot</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1"/>
            <a:ext cx="4087763" cy="3753717"/>
          </a:xfrm>
        </p:spPr>
        <p:txBody>
          <a:bodyPr>
            <a:normAutofit fontScale="92500" lnSpcReduction="20000"/>
          </a:bodyPr>
          <a:lstStyle/>
          <a:p>
            <a:r>
              <a:rPr lang="en-US" dirty="0">
                <a:solidFill>
                  <a:schemeClr val="tx1"/>
                </a:solidFill>
              </a:rPr>
              <a:t>Common technique used to create continuity between two or more characters. </a:t>
            </a:r>
          </a:p>
          <a:p>
            <a:r>
              <a:rPr lang="en-US" dirty="0">
                <a:solidFill>
                  <a:schemeClr val="tx1"/>
                </a:solidFill>
              </a:rPr>
              <a:t>Allows audience to follow the action between characters as camera angles and framing changes. </a:t>
            </a:r>
          </a:p>
          <a:p>
            <a:r>
              <a:rPr lang="en-US" dirty="0">
                <a:solidFill>
                  <a:schemeClr val="tx1"/>
                </a:solidFill>
              </a:rPr>
              <a:t>The simplest form of the short/ reverse shot is staging conversation between two characters. </a:t>
            </a:r>
          </a:p>
          <a:p>
            <a:endParaRPr lang="en-US" dirty="0"/>
          </a:p>
        </p:txBody>
      </p:sp>
      <p:pic>
        <p:nvPicPr>
          <p:cNvPr id="12290" name="Picture 2" descr="Image result for shot/reverse shot">
            <a:extLst>
              <a:ext uri="{FF2B5EF4-FFF2-40B4-BE49-F238E27FC236}">
                <a16:creationId xmlns:a16="http://schemas.microsoft.com/office/drawing/2014/main" id="{6C8A3E57-91DB-47B6-8844-D40975855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1347" y="2556932"/>
            <a:ext cx="6096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080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Shot/Reverse Shot</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1"/>
            <a:ext cx="4087763" cy="3753717"/>
          </a:xfrm>
        </p:spPr>
        <p:txBody>
          <a:bodyPr>
            <a:normAutofit fontScale="92500" lnSpcReduction="20000"/>
          </a:bodyPr>
          <a:lstStyle/>
          <a:p>
            <a:r>
              <a:rPr lang="en-US" dirty="0">
                <a:solidFill>
                  <a:schemeClr val="tx1"/>
                </a:solidFill>
              </a:rPr>
              <a:t>Common technique used to create continuity between two or more characters. </a:t>
            </a:r>
          </a:p>
          <a:p>
            <a:r>
              <a:rPr lang="en-US" dirty="0">
                <a:solidFill>
                  <a:schemeClr val="tx1"/>
                </a:solidFill>
              </a:rPr>
              <a:t>Allows audience to follow the action between characters as camera angles and framing changes. </a:t>
            </a:r>
          </a:p>
          <a:p>
            <a:r>
              <a:rPr lang="en-US" dirty="0">
                <a:solidFill>
                  <a:schemeClr val="tx1"/>
                </a:solidFill>
              </a:rPr>
              <a:t>The simplest form of the short/ reverse shot is staging conversation between two characters. </a:t>
            </a:r>
          </a:p>
          <a:p>
            <a:endParaRPr lang="en-US" dirty="0"/>
          </a:p>
        </p:txBody>
      </p:sp>
      <p:pic>
        <p:nvPicPr>
          <p:cNvPr id="12290" name="Picture 2" descr="Image result for shot/reverse shot">
            <a:extLst>
              <a:ext uri="{FF2B5EF4-FFF2-40B4-BE49-F238E27FC236}">
                <a16:creationId xmlns:a16="http://schemas.microsoft.com/office/drawing/2014/main" id="{6C8A3E57-91DB-47B6-8844-D40975855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1347" y="2556932"/>
            <a:ext cx="6096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0500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Match on Action</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2"/>
            <a:ext cx="9953015" cy="3318936"/>
          </a:xfrm>
        </p:spPr>
        <p:txBody>
          <a:bodyPr>
            <a:normAutofit/>
          </a:bodyPr>
          <a:lstStyle/>
          <a:p>
            <a:r>
              <a:rPr lang="en-US" dirty="0">
                <a:solidFill>
                  <a:schemeClr val="tx1"/>
                </a:solidFill>
              </a:rPr>
              <a:t>Match on action is the illusion that the action continues </a:t>
            </a:r>
            <a:r>
              <a:rPr lang="en-US" b="1" dirty="0">
                <a:solidFill>
                  <a:schemeClr val="tx1"/>
                </a:solidFill>
              </a:rPr>
              <a:t>uninterrupted</a:t>
            </a:r>
            <a:r>
              <a:rPr lang="en-US" dirty="0">
                <a:solidFill>
                  <a:schemeClr val="tx1"/>
                </a:solidFill>
              </a:rPr>
              <a:t> even though the camera positions may have changed from one shot to the next.</a:t>
            </a:r>
          </a:p>
          <a:p>
            <a:r>
              <a:rPr lang="en-US" dirty="0">
                <a:solidFill>
                  <a:schemeClr val="tx1"/>
                </a:solidFill>
              </a:rPr>
              <a:t>To create a match on action, </a:t>
            </a:r>
            <a:r>
              <a:rPr lang="en-US" b="1" dirty="0">
                <a:solidFill>
                  <a:schemeClr val="tx1"/>
                </a:solidFill>
              </a:rPr>
              <a:t>everything at the end </a:t>
            </a:r>
            <a:r>
              <a:rPr lang="en-US" dirty="0">
                <a:solidFill>
                  <a:schemeClr val="tx1"/>
                </a:solidFill>
              </a:rPr>
              <a:t>of the first shot must </a:t>
            </a:r>
            <a:r>
              <a:rPr lang="en-US" b="1" dirty="0">
                <a:solidFill>
                  <a:schemeClr val="tx1"/>
                </a:solidFill>
              </a:rPr>
              <a:t>closely match the action at the beginning of the next shot</a:t>
            </a:r>
            <a:r>
              <a:rPr lang="en-US" dirty="0">
                <a:solidFill>
                  <a:schemeClr val="tx1"/>
                </a:solidFill>
              </a:rPr>
              <a:t>.  </a:t>
            </a:r>
          </a:p>
          <a:p>
            <a:r>
              <a:rPr lang="en-US" dirty="0">
                <a:solidFill>
                  <a:schemeClr val="tx1"/>
                </a:solidFill>
              </a:rPr>
              <a:t>It is generally easier to create a match cut by noticeably changing the size of the frame and cutting on the movement. </a:t>
            </a:r>
          </a:p>
          <a:p>
            <a:endParaRPr lang="en-US" dirty="0"/>
          </a:p>
        </p:txBody>
      </p:sp>
    </p:spTree>
    <p:extLst>
      <p:ext uri="{BB962C8B-B14F-4D97-AF65-F5344CB8AC3E}">
        <p14:creationId xmlns:p14="http://schemas.microsoft.com/office/powerpoint/2010/main" val="2011821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Match on Action</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2"/>
            <a:ext cx="9953015" cy="3318936"/>
          </a:xfrm>
        </p:spPr>
        <p:txBody>
          <a:bodyPr/>
          <a:lstStyle/>
          <a:p>
            <a:r>
              <a:rPr lang="en-US" dirty="0">
                <a:solidFill>
                  <a:schemeClr val="tx1"/>
                </a:solidFill>
              </a:rPr>
              <a:t>When matching action, you should only cut </a:t>
            </a:r>
            <a:r>
              <a:rPr lang="en-US" b="1" dirty="0">
                <a:solidFill>
                  <a:schemeClr val="tx1"/>
                </a:solidFill>
              </a:rPr>
              <a:t>after</a:t>
            </a:r>
            <a:r>
              <a:rPr lang="en-US" dirty="0">
                <a:solidFill>
                  <a:schemeClr val="tx1"/>
                </a:solidFill>
              </a:rPr>
              <a:t> the audience understands the visual information that is being delivered. </a:t>
            </a:r>
          </a:p>
          <a:p>
            <a:r>
              <a:rPr lang="en-US" dirty="0">
                <a:solidFill>
                  <a:schemeClr val="tx1"/>
                </a:solidFill>
              </a:rPr>
              <a:t>If a shot is too fast, the audience will not have time to absorb the details</a:t>
            </a:r>
          </a:p>
          <a:p>
            <a:r>
              <a:rPr lang="en-US" dirty="0">
                <a:solidFill>
                  <a:schemeClr val="tx1"/>
                </a:solidFill>
              </a:rPr>
              <a:t>If the shot is too long, the audience will be irked.</a:t>
            </a:r>
          </a:p>
          <a:p>
            <a:endParaRPr lang="en-US" dirty="0"/>
          </a:p>
        </p:txBody>
      </p:sp>
    </p:spTree>
    <p:extLst>
      <p:ext uri="{BB962C8B-B14F-4D97-AF65-F5344CB8AC3E}">
        <p14:creationId xmlns:p14="http://schemas.microsoft.com/office/powerpoint/2010/main" val="1861616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Eyeline Match</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2"/>
            <a:ext cx="9953015" cy="3318936"/>
          </a:xfrm>
        </p:spPr>
        <p:txBody>
          <a:bodyPr/>
          <a:lstStyle/>
          <a:p>
            <a:r>
              <a:rPr lang="en-US" dirty="0">
                <a:solidFill>
                  <a:schemeClr val="tx1"/>
                </a:solidFill>
              </a:rPr>
              <a:t>Creates order and meaning within the story space by matching eyeline between characters, or what a character might be looking at..</a:t>
            </a:r>
          </a:p>
          <a:p>
            <a:r>
              <a:rPr lang="en-US" dirty="0">
                <a:solidFill>
                  <a:schemeClr val="tx1"/>
                </a:solidFill>
              </a:rPr>
              <a:t>Example: If a person looks off screen, the audience will expect to be shown what that character is looking at in next shot.</a:t>
            </a:r>
          </a:p>
          <a:p>
            <a:r>
              <a:rPr lang="en-US" dirty="0">
                <a:solidFill>
                  <a:schemeClr val="tx1"/>
                </a:solidFill>
              </a:rPr>
              <a:t>By obeying the line of sight, characters will look toward each other, </a:t>
            </a:r>
            <a:r>
              <a:rPr lang="en-US" dirty="0" err="1">
                <a:solidFill>
                  <a:schemeClr val="tx1"/>
                </a:solidFill>
              </a:rPr>
              <a:t>maintiaining</a:t>
            </a:r>
            <a:r>
              <a:rPr lang="en-US" dirty="0">
                <a:solidFill>
                  <a:schemeClr val="tx1"/>
                </a:solidFill>
              </a:rPr>
              <a:t> eyelines.</a:t>
            </a:r>
          </a:p>
          <a:p>
            <a:endParaRPr lang="en-US" dirty="0"/>
          </a:p>
        </p:txBody>
      </p:sp>
    </p:spTree>
    <p:extLst>
      <p:ext uri="{BB962C8B-B14F-4D97-AF65-F5344CB8AC3E}">
        <p14:creationId xmlns:p14="http://schemas.microsoft.com/office/powerpoint/2010/main" val="1693665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FDE59-BB50-4413-BA80-3009067C88F5}"/>
              </a:ext>
            </a:extLst>
          </p:cNvPr>
          <p:cNvSpPr>
            <a:spLocks noGrp="1"/>
          </p:cNvSpPr>
          <p:nvPr>
            <p:ph type="title"/>
          </p:nvPr>
        </p:nvSpPr>
        <p:spPr/>
        <p:txBody>
          <a:bodyPr/>
          <a:lstStyle/>
          <a:p>
            <a:r>
              <a:rPr lang="en-US" dirty="0"/>
              <a:t>Cutaways</a:t>
            </a:r>
          </a:p>
        </p:txBody>
      </p:sp>
      <p:sp>
        <p:nvSpPr>
          <p:cNvPr id="3" name="Content Placeholder 2">
            <a:extLst>
              <a:ext uri="{FF2B5EF4-FFF2-40B4-BE49-F238E27FC236}">
                <a16:creationId xmlns:a16="http://schemas.microsoft.com/office/drawing/2014/main" id="{3AA9E0DB-F465-4518-BAD0-9172ACCAA7EE}"/>
              </a:ext>
            </a:extLst>
          </p:cNvPr>
          <p:cNvSpPr>
            <a:spLocks noGrp="1"/>
          </p:cNvSpPr>
          <p:nvPr>
            <p:ph idx="1"/>
          </p:nvPr>
        </p:nvSpPr>
        <p:spPr>
          <a:xfrm>
            <a:off x="1295401" y="2556932"/>
            <a:ext cx="2954627" cy="3318936"/>
          </a:xfrm>
        </p:spPr>
        <p:txBody>
          <a:bodyPr>
            <a:normAutofit/>
          </a:bodyPr>
          <a:lstStyle/>
          <a:p>
            <a:r>
              <a:rPr lang="en-US" dirty="0">
                <a:solidFill>
                  <a:schemeClr val="tx1"/>
                </a:solidFill>
              </a:rPr>
              <a:t>The Cutaway technique is used to manipulate time and space. </a:t>
            </a:r>
          </a:p>
          <a:p>
            <a:r>
              <a:rPr lang="en-US" dirty="0">
                <a:solidFill>
                  <a:schemeClr val="tx1"/>
                </a:solidFill>
              </a:rPr>
              <a:t>The Cutaway should be related to the main action, but not part of it.  </a:t>
            </a:r>
          </a:p>
          <a:p>
            <a:endParaRPr lang="en-US" dirty="0"/>
          </a:p>
        </p:txBody>
      </p:sp>
      <p:pic>
        <p:nvPicPr>
          <p:cNvPr id="13314" name="Picture 2" descr="Image result for cut away shot">
            <a:extLst>
              <a:ext uri="{FF2B5EF4-FFF2-40B4-BE49-F238E27FC236}">
                <a16:creationId xmlns:a16="http://schemas.microsoft.com/office/drawing/2014/main" id="{D1490D53-C1E4-4D6D-A5B3-5300BA699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7884" y="2591070"/>
            <a:ext cx="6816110" cy="19809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87C700-C525-493D-813B-F2A39F982108}"/>
              </a:ext>
            </a:extLst>
          </p:cNvPr>
          <p:cNvSpPr txBox="1"/>
          <p:nvPr/>
        </p:nvSpPr>
        <p:spPr>
          <a:xfrm>
            <a:off x="4507884" y="4700789"/>
            <a:ext cx="6816110" cy="923330"/>
          </a:xfrm>
          <a:prstGeom prst="rect">
            <a:avLst/>
          </a:prstGeom>
          <a:noFill/>
        </p:spPr>
        <p:txBody>
          <a:bodyPr wrap="square" rtlCol="0">
            <a:spAutoFit/>
          </a:bodyPr>
          <a:lstStyle/>
          <a:p>
            <a:r>
              <a:rPr lang="en-US" dirty="0"/>
              <a:t>The camera cuts away to the singer to complement the main action, which is the conversation between the two characters. In this situation, the cutaway is used to add context to the setting.</a:t>
            </a:r>
          </a:p>
        </p:txBody>
      </p:sp>
    </p:spTree>
    <p:extLst>
      <p:ext uri="{BB962C8B-B14F-4D97-AF65-F5344CB8AC3E}">
        <p14:creationId xmlns:p14="http://schemas.microsoft.com/office/powerpoint/2010/main" val="3346703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FDE59-BB50-4413-BA80-3009067C88F5}"/>
              </a:ext>
            </a:extLst>
          </p:cNvPr>
          <p:cNvSpPr>
            <a:spLocks noGrp="1"/>
          </p:cNvSpPr>
          <p:nvPr>
            <p:ph type="title"/>
          </p:nvPr>
        </p:nvSpPr>
        <p:spPr/>
        <p:txBody>
          <a:bodyPr/>
          <a:lstStyle/>
          <a:p>
            <a:r>
              <a:rPr lang="en-US" dirty="0"/>
              <a:t>Cutaways</a:t>
            </a:r>
          </a:p>
        </p:txBody>
      </p:sp>
      <p:sp>
        <p:nvSpPr>
          <p:cNvPr id="3" name="Content Placeholder 2">
            <a:extLst>
              <a:ext uri="{FF2B5EF4-FFF2-40B4-BE49-F238E27FC236}">
                <a16:creationId xmlns:a16="http://schemas.microsoft.com/office/drawing/2014/main" id="{3AA9E0DB-F465-4518-BAD0-9172ACCAA7EE}"/>
              </a:ext>
            </a:extLst>
          </p:cNvPr>
          <p:cNvSpPr>
            <a:spLocks noGrp="1"/>
          </p:cNvSpPr>
          <p:nvPr>
            <p:ph idx="1"/>
          </p:nvPr>
        </p:nvSpPr>
        <p:spPr>
          <a:xfrm>
            <a:off x="1295401" y="2556932"/>
            <a:ext cx="4435429" cy="3318936"/>
          </a:xfrm>
        </p:spPr>
        <p:txBody>
          <a:bodyPr>
            <a:normAutofit fontScale="92500" lnSpcReduction="20000"/>
          </a:bodyPr>
          <a:lstStyle/>
          <a:p>
            <a:r>
              <a:rPr lang="en-US" dirty="0">
                <a:solidFill>
                  <a:schemeClr val="tx1"/>
                </a:solidFill>
              </a:rPr>
              <a:t>Cutaways allow the director to make minor shifts in time. </a:t>
            </a:r>
          </a:p>
          <a:p>
            <a:r>
              <a:rPr lang="en-US" dirty="0">
                <a:solidFill>
                  <a:schemeClr val="tx1"/>
                </a:solidFill>
              </a:rPr>
              <a:t>Cutaways allow director to build tension or work within the “psychological space” of a character interaction.</a:t>
            </a:r>
          </a:p>
          <a:p>
            <a:r>
              <a:rPr lang="en-US" dirty="0">
                <a:solidFill>
                  <a:schemeClr val="tx1"/>
                </a:solidFill>
              </a:rPr>
              <a:t>By cutting away from the main action, we can focus on only the actions that are important to the story.</a:t>
            </a:r>
          </a:p>
          <a:p>
            <a:endParaRPr lang="en-US" dirty="0"/>
          </a:p>
        </p:txBody>
      </p:sp>
      <p:pic>
        <p:nvPicPr>
          <p:cNvPr id="15362" name="Picture 2" descr="Image result for Robbery scene store movie">
            <a:extLst>
              <a:ext uri="{FF2B5EF4-FFF2-40B4-BE49-F238E27FC236}">
                <a16:creationId xmlns:a16="http://schemas.microsoft.com/office/drawing/2014/main" id="{0BAF2C34-80EA-4850-B604-CB4AA70477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0830" y="2556932"/>
            <a:ext cx="5238750"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517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9D5DC-08DC-479D-813F-E55F2A1052C2}"/>
              </a:ext>
            </a:extLst>
          </p:cNvPr>
          <p:cNvSpPr>
            <a:spLocks noGrp="1"/>
          </p:cNvSpPr>
          <p:nvPr>
            <p:ph type="title"/>
          </p:nvPr>
        </p:nvSpPr>
        <p:spPr/>
        <p:txBody>
          <a:bodyPr/>
          <a:lstStyle/>
          <a:p>
            <a:r>
              <a:rPr lang="en-US" dirty="0"/>
              <a:t>Cut-ins</a:t>
            </a:r>
          </a:p>
        </p:txBody>
      </p:sp>
      <p:sp>
        <p:nvSpPr>
          <p:cNvPr id="3" name="Content Placeholder 2">
            <a:extLst>
              <a:ext uri="{FF2B5EF4-FFF2-40B4-BE49-F238E27FC236}">
                <a16:creationId xmlns:a16="http://schemas.microsoft.com/office/drawing/2014/main" id="{7E8039CC-7267-4C89-936A-32ACBFCF38EB}"/>
              </a:ext>
            </a:extLst>
          </p:cNvPr>
          <p:cNvSpPr>
            <a:spLocks noGrp="1"/>
          </p:cNvSpPr>
          <p:nvPr>
            <p:ph idx="1"/>
          </p:nvPr>
        </p:nvSpPr>
        <p:spPr>
          <a:xfrm>
            <a:off x="1295401" y="2556932"/>
            <a:ext cx="6350539" cy="3318936"/>
          </a:xfrm>
        </p:spPr>
        <p:txBody>
          <a:bodyPr/>
          <a:lstStyle/>
          <a:p>
            <a:r>
              <a:rPr lang="en-US" dirty="0">
                <a:solidFill>
                  <a:schemeClr val="tx1"/>
                </a:solidFill>
              </a:rPr>
              <a:t>Cut-ins focus on the primary action of a scene. </a:t>
            </a:r>
          </a:p>
          <a:p>
            <a:r>
              <a:rPr lang="en-US" dirty="0">
                <a:solidFill>
                  <a:schemeClr val="tx1"/>
                </a:solidFill>
              </a:rPr>
              <a:t>Rather than cutting away from the main action, the cut-in shot narrows our view to a smaller portion of the action.</a:t>
            </a:r>
          </a:p>
          <a:p>
            <a:r>
              <a:rPr lang="en-US" dirty="0">
                <a:solidFill>
                  <a:schemeClr val="tx1"/>
                </a:solidFill>
              </a:rPr>
              <a:t>Provides dramatic emphasis. </a:t>
            </a:r>
          </a:p>
          <a:p>
            <a:endParaRPr lang="en-US" dirty="0"/>
          </a:p>
        </p:txBody>
      </p:sp>
    </p:spTree>
    <p:extLst>
      <p:ext uri="{BB962C8B-B14F-4D97-AF65-F5344CB8AC3E}">
        <p14:creationId xmlns:p14="http://schemas.microsoft.com/office/powerpoint/2010/main" val="2904683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9ED9-A32A-46A8-A5E5-40852795689A}"/>
              </a:ext>
            </a:extLst>
          </p:cNvPr>
          <p:cNvSpPr>
            <a:spLocks noGrp="1"/>
          </p:cNvSpPr>
          <p:nvPr>
            <p:ph type="title"/>
          </p:nvPr>
        </p:nvSpPr>
        <p:spPr/>
        <p:txBody>
          <a:bodyPr/>
          <a:lstStyle/>
          <a:p>
            <a:r>
              <a:rPr lang="en-US" dirty="0"/>
              <a:t>Cross-cut</a:t>
            </a:r>
          </a:p>
        </p:txBody>
      </p:sp>
      <p:sp>
        <p:nvSpPr>
          <p:cNvPr id="3" name="Content Placeholder 2">
            <a:extLst>
              <a:ext uri="{FF2B5EF4-FFF2-40B4-BE49-F238E27FC236}">
                <a16:creationId xmlns:a16="http://schemas.microsoft.com/office/drawing/2014/main" id="{0139352E-71BA-4C79-A25F-077D63EE5DEF}"/>
              </a:ext>
            </a:extLst>
          </p:cNvPr>
          <p:cNvSpPr>
            <a:spLocks noGrp="1"/>
          </p:cNvSpPr>
          <p:nvPr>
            <p:ph idx="1"/>
          </p:nvPr>
        </p:nvSpPr>
        <p:spPr/>
        <p:txBody>
          <a:bodyPr/>
          <a:lstStyle/>
          <a:p>
            <a:r>
              <a:rPr lang="en-US" dirty="0">
                <a:solidFill>
                  <a:schemeClr val="tx1"/>
                </a:solidFill>
              </a:rPr>
              <a:t>Cross-cutting,  also called parallel editing, manipulates both time and space. </a:t>
            </a:r>
          </a:p>
          <a:p>
            <a:r>
              <a:rPr lang="en-US" dirty="0">
                <a:solidFill>
                  <a:schemeClr val="tx1"/>
                </a:solidFill>
              </a:rPr>
              <a:t>Action that is happening at the same time is intercut so that the audience may see a parallel action. </a:t>
            </a:r>
          </a:p>
          <a:p>
            <a:r>
              <a:rPr lang="en-US" dirty="0">
                <a:solidFill>
                  <a:schemeClr val="tx1"/>
                </a:solidFill>
              </a:rPr>
              <a:t>Cross-cutting is often used to intensify the drama and to provide suspense in a  film or animation.  </a:t>
            </a:r>
          </a:p>
          <a:p>
            <a:endParaRPr lang="en-US" dirty="0"/>
          </a:p>
        </p:txBody>
      </p:sp>
    </p:spTree>
    <p:extLst>
      <p:ext uri="{BB962C8B-B14F-4D97-AF65-F5344CB8AC3E}">
        <p14:creationId xmlns:p14="http://schemas.microsoft.com/office/powerpoint/2010/main" val="3966124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9ED9-A32A-46A8-A5E5-40852795689A}"/>
              </a:ext>
            </a:extLst>
          </p:cNvPr>
          <p:cNvSpPr>
            <a:spLocks noGrp="1"/>
          </p:cNvSpPr>
          <p:nvPr>
            <p:ph type="title"/>
          </p:nvPr>
        </p:nvSpPr>
        <p:spPr/>
        <p:txBody>
          <a:bodyPr/>
          <a:lstStyle/>
          <a:p>
            <a:r>
              <a:rPr lang="en-US" dirty="0"/>
              <a:t>Cross-cut</a:t>
            </a:r>
          </a:p>
        </p:txBody>
      </p:sp>
      <p:sp>
        <p:nvSpPr>
          <p:cNvPr id="3" name="Content Placeholder 2">
            <a:extLst>
              <a:ext uri="{FF2B5EF4-FFF2-40B4-BE49-F238E27FC236}">
                <a16:creationId xmlns:a16="http://schemas.microsoft.com/office/drawing/2014/main" id="{0139352E-71BA-4C79-A25F-077D63EE5DEF}"/>
              </a:ext>
            </a:extLst>
          </p:cNvPr>
          <p:cNvSpPr>
            <a:spLocks noGrp="1"/>
          </p:cNvSpPr>
          <p:nvPr>
            <p:ph idx="1"/>
          </p:nvPr>
        </p:nvSpPr>
        <p:spPr>
          <a:xfrm>
            <a:off x="1295401" y="2556932"/>
            <a:ext cx="4709742" cy="3318936"/>
          </a:xfrm>
        </p:spPr>
        <p:txBody>
          <a:bodyPr>
            <a:normAutofit lnSpcReduction="10000"/>
          </a:bodyPr>
          <a:lstStyle/>
          <a:p>
            <a:pPr marL="0" indent="0" algn="ctr">
              <a:buNone/>
            </a:pPr>
            <a:r>
              <a:rPr lang="en-US" b="1" dirty="0">
                <a:solidFill>
                  <a:schemeClr val="tx1"/>
                </a:solidFill>
              </a:rPr>
              <a:t>Example (The Godfather):</a:t>
            </a:r>
          </a:p>
          <a:p>
            <a:r>
              <a:rPr lang="en-US" dirty="0">
                <a:solidFill>
                  <a:schemeClr val="tx1"/>
                </a:solidFill>
              </a:rPr>
              <a:t>The sequence between the baptism of Michael Corleone's nephew cross cuts with the Corleone Mobsters preparing for and ultimately committing murder. </a:t>
            </a:r>
          </a:p>
          <a:p>
            <a:r>
              <a:rPr lang="en-US" dirty="0">
                <a:solidFill>
                  <a:schemeClr val="tx1"/>
                </a:solidFill>
              </a:rPr>
              <a:t>Although the sequence last for 6 minutes, it is fairly fast-paced. </a:t>
            </a:r>
          </a:p>
          <a:p>
            <a:endParaRPr lang="en-US" dirty="0"/>
          </a:p>
        </p:txBody>
      </p:sp>
      <p:pic>
        <p:nvPicPr>
          <p:cNvPr id="16386" name="Picture 2" descr="Image result for godfather baptism sequence">
            <a:extLst>
              <a:ext uri="{FF2B5EF4-FFF2-40B4-BE49-F238E27FC236}">
                <a16:creationId xmlns:a16="http://schemas.microsoft.com/office/drawing/2014/main" id="{D8F0CDC3-BB0E-4BE4-8B6E-0D4B50D01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4910" y="4094410"/>
            <a:ext cx="2764880" cy="1843253"/>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Image result for godfather baptism sequence">
            <a:extLst>
              <a:ext uri="{FF2B5EF4-FFF2-40B4-BE49-F238E27FC236}">
                <a16:creationId xmlns:a16="http://schemas.microsoft.com/office/drawing/2014/main" id="{C8124562-2804-4543-BE74-2F2437468C0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074"/>
          <a:stretch/>
        </p:blipFill>
        <p:spPr bwMode="auto">
          <a:xfrm>
            <a:off x="6096000" y="4094408"/>
            <a:ext cx="2418910" cy="1843253"/>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Image result for godfather baptism sequence">
            <a:extLst>
              <a:ext uri="{FF2B5EF4-FFF2-40B4-BE49-F238E27FC236}">
                <a16:creationId xmlns:a16="http://schemas.microsoft.com/office/drawing/2014/main" id="{10CFB262-15EA-414C-8D45-73EE1BA1FEC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347" b="12535"/>
          <a:stretch/>
        </p:blipFill>
        <p:spPr bwMode="auto">
          <a:xfrm>
            <a:off x="8550772" y="2556932"/>
            <a:ext cx="2729018" cy="1537476"/>
          </a:xfrm>
          <a:prstGeom prst="rect">
            <a:avLst/>
          </a:prstGeom>
          <a:noFill/>
          <a:extLst>
            <a:ext uri="{909E8E84-426E-40DD-AFC4-6F175D3DCCD1}">
              <a14:hiddenFill xmlns:a14="http://schemas.microsoft.com/office/drawing/2010/main">
                <a:solidFill>
                  <a:srgbClr val="FFFFFF"/>
                </a:solidFill>
              </a14:hiddenFill>
            </a:ext>
          </a:extLst>
        </p:spPr>
      </p:pic>
      <p:pic>
        <p:nvPicPr>
          <p:cNvPr id="16392" name="Picture 8" descr="Image result for godfather baptism sequence">
            <a:extLst>
              <a:ext uri="{FF2B5EF4-FFF2-40B4-BE49-F238E27FC236}">
                <a16:creationId xmlns:a16="http://schemas.microsoft.com/office/drawing/2014/main" id="{BD7E83BF-97F5-4E01-982E-53E5C6765A0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349" r="9522"/>
          <a:stretch/>
        </p:blipFill>
        <p:spPr bwMode="auto">
          <a:xfrm>
            <a:off x="6096000" y="2556932"/>
            <a:ext cx="2509767" cy="1537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8703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11BE3-4440-4C5E-8091-47DC498FABF9}"/>
              </a:ext>
            </a:extLst>
          </p:cNvPr>
          <p:cNvSpPr>
            <a:spLocks noGrp="1"/>
          </p:cNvSpPr>
          <p:nvPr>
            <p:ph type="title"/>
          </p:nvPr>
        </p:nvSpPr>
        <p:spPr/>
        <p:txBody>
          <a:bodyPr/>
          <a:lstStyle/>
          <a:p>
            <a:r>
              <a:rPr lang="en-US" dirty="0"/>
              <a:t>Transitions</a:t>
            </a:r>
          </a:p>
        </p:txBody>
      </p:sp>
      <p:sp>
        <p:nvSpPr>
          <p:cNvPr id="3" name="Content Placeholder 2">
            <a:extLst>
              <a:ext uri="{FF2B5EF4-FFF2-40B4-BE49-F238E27FC236}">
                <a16:creationId xmlns:a16="http://schemas.microsoft.com/office/drawing/2014/main" id="{B733F94E-A8B6-44A1-87CC-ECF44144CF16}"/>
              </a:ext>
            </a:extLst>
          </p:cNvPr>
          <p:cNvSpPr>
            <a:spLocks noGrp="1"/>
          </p:cNvSpPr>
          <p:nvPr>
            <p:ph idx="1"/>
          </p:nvPr>
        </p:nvSpPr>
        <p:spPr/>
        <p:txBody>
          <a:bodyPr/>
          <a:lstStyle/>
          <a:p>
            <a:r>
              <a:rPr lang="en-US" dirty="0"/>
              <a:t>Narrative device linking two different shots, that may change in time, place, or focus of characters.</a:t>
            </a:r>
          </a:p>
          <a:p>
            <a:r>
              <a:rPr lang="en-US" dirty="0"/>
              <a:t>Contributes to the pace of a production, whether it is lyrical or abrupt.</a:t>
            </a:r>
          </a:p>
          <a:p>
            <a:r>
              <a:rPr lang="en-US" dirty="0"/>
              <a:t>Types of transitions include: </a:t>
            </a:r>
            <a:r>
              <a:rPr lang="en-US" b="1" dirty="0"/>
              <a:t>Dissolve</a:t>
            </a:r>
            <a:r>
              <a:rPr lang="en-US" dirty="0"/>
              <a:t>, </a:t>
            </a:r>
            <a:r>
              <a:rPr lang="en-US" b="1" dirty="0"/>
              <a:t>Cut</a:t>
            </a:r>
            <a:r>
              <a:rPr lang="en-US" dirty="0"/>
              <a:t>, and </a:t>
            </a:r>
            <a:r>
              <a:rPr lang="en-US" b="1" dirty="0"/>
              <a:t>Fade</a:t>
            </a:r>
            <a:r>
              <a:rPr lang="en-US" dirty="0"/>
              <a:t>.</a:t>
            </a:r>
          </a:p>
        </p:txBody>
      </p:sp>
    </p:spTree>
    <p:extLst>
      <p:ext uri="{BB962C8B-B14F-4D97-AF65-F5344CB8AC3E}">
        <p14:creationId xmlns:p14="http://schemas.microsoft.com/office/powerpoint/2010/main" val="29009845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11BE3-4440-4C5E-8091-47DC498FABF9}"/>
              </a:ext>
            </a:extLst>
          </p:cNvPr>
          <p:cNvSpPr>
            <a:spLocks noGrp="1"/>
          </p:cNvSpPr>
          <p:nvPr>
            <p:ph type="title"/>
          </p:nvPr>
        </p:nvSpPr>
        <p:spPr/>
        <p:txBody>
          <a:bodyPr/>
          <a:lstStyle/>
          <a:p>
            <a:r>
              <a:rPr lang="en-US" dirty="0"/>
              <a:t>Dissolve</a:t>
            </a:r>
          </a:p>
        </p:txBody>
      </p:sp>
      <p:sp>
        <p:nvSpPr>
          <p:cNvPr id="3" name="Content Placeholder 2">
            <a:extLst>
              <a:ext uri="{FF2B5EF4-FFF2-40B4-BE49-F238E27FC236}">
                <a16:creationId xmlns:a16="http://schemas.microsoft.com/office/drawing/2014/main" id="{B733F94E-A8B6-44A1-87CC-ECF44144CF16}"/>
              </a:ext>
            </a:extLst>
          </p:cNvPr>
          <p:cNvSpPr>
            <a:spLocks noGrp="1"/>
          </p:cNvSpPr>
          <p:nvPr>
            <p:ph idx="1"/>
          </p:nvPr>
        </p:nvSpPr>
        <p:spPr/>
        <p:txBody>
          <a:bodyPr/>
          <a:lstStyle/>
          <a:p>
            <a:r>
              <a:rPr lang="en-US" dirty="0"/>
              <a:t>Basically, when a piece of film strip was </a:t>
            </a:r>
            <a:r>
              <a:rPr lang="en-US" b="1" dirty="0"/>
              <a:t>superimposed</a:t>
            </a:r>
            <a:r>
              <a:rPr lang="en-US" dirty="0"/>
              <a:t> onto another, creating an </a:t>
            </a:r>
            <a:r>
              <a:rPr lang="en-US" b="1" dirty="0"/>
              <a:t>overlapping</a:t>
            </a:r>
            <a:r>
              <a:rPr lang="en-US" dirty="0"/>
              <a:t> image.</a:t>
            </a:r>
          </a:p>
          <a:p>
            <a:r>
              <a:rPr lang="en-US" dirty="0"/>
              <a:t>Can be any length, and are usually employed to show a time lapse or location change.</a:t>
            </a:r>
          </a:p>
        </p:txBody>
      </p:sp>
    </p:spTree>
    <p:extLst>
      <p:ext uri="{BB962C8B-B14F-4D97-AF65-F5344CB8AC3E}">
        <p14:creationId xmlns:p14="http://schemas.microsoft.com/office/powerpoint/2010/main" val="2321641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59711-5047-49FE-9E59-F5749AA9EB37}"/>
              </a:ext>
            </a:extLst>
          </p:cNvPr>
          <p:cNvSpPr>
            <a:spLocks noGrp="1"/>
          </p:cNvSpPr>
          <p:nvPr>
            <p:ph type="title"/>
          </p:nvPr>
        </p:nvSpPr>
        <p:spPr/>
        <p:txBody>
          <a:bodyPr/>
          <a:lstStyle/>
          <a:p>
            <a:r>
              <a:rPr lang="en-US" dirty="0"/>
              <a:t>Cuts</a:t>
            </a:r>
          </a:p>
        </p:txBody>
      </p:sp>
      <p:sp>
        <p:nvSpPr>
          <p:cNvPr id="6" name="Content Placeholder 5">
            <a:extLst>
              <a:ext uri="{FF2B5EF4-FFF2-40B4-BE49-F238E27FC236}">
                <a16:creationId xmlns:a16="http://schemas.microsoft.com/office/drawing/2014/main" id="{703F2E35-DA9B-4BA8-9635-500A1F891687}"/>
              </a:ext>
            </a:extLst>
          </p:cNvPr>
          <p:cNvSpPr>
            <a:spLocks noGrp="1"/>
          </p:cNvSpPr>
          <p:nvPr>
            <p:ph idx="1"/>
          </p:nvPr>
        </p:nvSpPr>
        <p:spPr/>
        <p:txBody>
          <a:bodyPr>
            <a:normAutofit/>
          </a:bodyPr>
          <a:lstStyle/>
          <a:p>
            <a:r>
              <a:rPr lang="en-US" dirty="0">
                <a:solidFill>
                  <a:schemeClr val="tx1"/>
                </a:solidFill>
              </a:rPr>
              <a:t>Over 90% of films use </a:t>
            </a:r>
            <a:r>
              <a:rPr lang="en-US" b="1" dirty="0">
                <a:solidFill>
                  <a:schemeClr val="tx1"/>
                </a:solidFill>
              </a:rPr>
              <a:t>Cuts</a:t>
            </a:r>
            <a:r>
              <a:rPr lang="en-US" dirty="0">
                <a:solidFill>
                  <a:schemeClr val="tx1"/>
                </a:solidFill>
              </a:rPr>
              <a:t> as a transition to connect two shots together.</a:t>
            </a:r>
          </a:p>
          <a:p>
            <a:r>
              <a:rPr lang="en-US" dirty="0">
                <a:solidFill>
                  <a:schemeClr val="tx1"/>
                </a:solidFill>
              </a:rPr>
              <a:t> Most audiences do not even notice when a program cuts to a different angle or framing within a scene. </a:t>
            </a:r>
          </a:p>
          <a:p>
            <a:r>
              <a:rPr lang="en-US" dirty="0">
                <a:solidFill>
                  <a:schemeClr val="tx1"/>
                </a:solidFill>
              </a:rPr>
              <a:t>The cut is </a:t>
            </a:r>
            <a:r>
              <a:rPr lang="en-US" b="1" dirty="0">
                <a:solidFill>
                  <a:schemeClr val="tx1"/>
                </a:solidFill>
              </a:rPr>
              <a:t>effective for compressing time</a:t>
            </a:r>
            <a:r>
              <a:rPr lang="en-US" dirty="0">
                <a:solidFill>
                  <a:schemeClr val="tx1"/>
                </a:solidFill>
              </a:rPr>
              <a:t>. </a:t>
            </a:r>
            <a:endParaRPr lang="en-US" dirty="0"/>
          </a:p>
          <a:p>
            <a:endParaRPr lang="en-US" dirty="0">
              <a:solidFill>
                <a:schemeClr val="tx1"/>
              </a:solidFill>
            </a:endParaRPr>
          </a:p>
          <a:p>
            <a:endParaRPr lang="en-US" dirty="0">
              <a:solidFill>
                <a:schemeClr val="tx1"/>
              </a:solidFill>
            </a:endParaRPr>
          </a:p>
          <a:p>
            <a:endParaRPr lang="en-US" dirty="0"/>
          </a:p>
          <a:p>
            <a:endParaRPr lang="en-US" dirty="0"/>
          </a:p>
        </p:txBody>
      </p:sp>
    </p:spTree>
    <p:extLst>
      <p:ext uri="{BB962C8B-B14F-4D97-AF65-F5344CB8AC3E}">
        <p14:creationId xmlns:p14="http://schemas.microsoft.com/office/powerpoint/2010/main" val="1197165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FD256-FA49-45AF-8632-9EE3112CAE1E}"/>
              </a:ext>
            </a:extLst>
          </p:cNvPr>
          <p:cNvSpPr>
            <a:spLocks noGrp="1"/>
          </p:cNvSpPr>
          <p:nvPr>
            <p:ph type="title"/>
          </p:nvPr>
        </p:nvSpPr>
        <p:spPr/>
        <p:txBody>
          <a:bodyPr/>
          <a:lstStyle/>
          <a:p>
            <a:r>
              <a:rPr lang="en-US" dirty="0"/>
              <a:t>Fades</a:t>
            </a:r>
          </a:p>
        </p:txBody>
      </p:sp>
      <p:sp>
        <p:nvSpPr>
          <p:cNvPr id="3" name="Content Placeholder 2">
            <a:extLst>
              <a:ext uri="{FF2B5EF4-FFF2-40B4-BE49-F238E27FC236}">
                <a16:creationId xmlns:a16="http://schemas.microsoft.com/office/drawing/2014/main" id="{E1E88A0E-251C-440E-870C-28AFF45B85ED}"/>
              </a:ext>
            </a:extLst>
          </p:cNvPr>
          <p:cNvSpPr>
            <a:spLocks noGrp="1"/>
          </p:cNvSpPr>
          <p:nvPr>
            <p:ph idx="1"/>
          </p:nvPr>
        </p:nvSpPr>
        <p:spPr/>
        <p:txBody>
          <a:bodyPr>
            <a:normAutofit lnSpcReduction="10000"/>
          </a:bodyPr>
          <a:lstStyle/>
          <a:p>
            <a:r>
              <a:rPr lang="en-US" dirty="0">
                <a:solidFill>
                  <a:schemeClr val="tx1"/>
                </a:solidFill>
              </a:rPr>
              <a:t>Used to denote a </a:t>
            </a:r>
            <a:r>
              <a:rPr lang="en-US" b="1" dirty="0">
                <a:solidFill>
                  <a:schemeClr val="tx1"/>
                </a:solidFill>
              </a:rPr>
              <a:t>passage of time</a:t>
            </a:r>
            <a:r>
              <a:rPr lang="en-US" dirty="0">
                <a:solidFill>
                  <a:schemeClr val="tx1"/>
                </a:solidFill>
              </a:rPr>
              <a:t> and should not be used in the present tense. </a:t>
            </a:r>
          </a:p>
          <a:p>
            <a:r>
              <a:rPr lang="en-US" dirty="0">
                <a:solidFill>
                  <a:schemeClr val="tx1"/>
                </a:solidFill>
              </a:rPr>
              <a:t>Fades are usually very subtle as the screen fades in or out from black. (if it fades to white, it's often called a white out)</a:t>
            </a:r>
          </a:p>
          <a:p>
            <a:r>
              <a:rPr lang="en-US" dirty="0">
                <a:solidFill>
                  <a:schemeClr val="tx1"/>
                </a:solidFill>
              </a:rPr>
              <a:t>A </a:t>
            </a:r>
            <a:r>
              <a:rPr lang="en-US" b="1" dirty="0">
                <a:solidFill>
                  <a:schemeClr val="tx1"/>
                </a:solidFill>
              </a:rPr>
              <a:t>Fade-In</a:t>
            </a:r>
            <a:r>
              <a:rPr lang="en-US" dirty="0">
                <a:solidFill>
                  <a:schemeClr val="tx1"/>
                </a:solidFill>
              </a:rPr>
              <a:t> is used to ease the audience into a setting by starting in black, and gradually lightening up the setting to full brightness. </a:t>
            </a:r>
          </a:p>
          <a:p>
            <a:r>
              <a:rPr lang="en-US" dirty="0">
                <a:solidFill>
                  <a:schemeClr val="tx1"/>
                </a:solidFill>
              </a:rPr>
              <a:t>A </a:t>
            </a:r>
            <a:r>
              <a:rPr lang="en-US" b="1" dirty="0">
                <a:solidFill>
                  <a:schemeClr val="tx1"/>
                </a:solidFill>
              </a:rPr>
              <a:t>Fade Out</a:t>
            </a:r>
            <a:r>
              <a:rPr lang="en-US" dirty="0">
                <a:solidFill>
                  <a:schemeClr val="tx1"/>
                </a:solidFill>
              </a:rPr>
              <a:t> is usually the last shot of a scene that gradually disappears into darkness.</a:t>
            </a:r>
          </a:p>
          <a:p>
            <a:endParaRPr lang="en-US" dirty="0"/>
          </a:p>
        </p:txBody>
      </p:sp>
    </p:spTree>
    <p:extLst>
      <p:ext uri="{BB962C8B-B14F-4D97-AF65-F5344CB8AC3E}">
        <p14:creationId xmlns:p14="http://schemas.microsoft.com/office/powerpoint/2010/main" val="70159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115C0-0F99-4855-A2CC-12541815381F}"/>
              </a:ext>
            </a:extLst>
          </p:cNvPr>
          <p:cNvSpPr>
            <a:spLocks noGrp="1"/>
          </p:cNvSpPr>
          <p:nvPr>
            <p:ph type="title"/>
          </p:nvPr>
        </p:nvSpPr>
        <p:spPr/>
        <p:txBody>
          <a:bodyPr/>
          <a:lstStyle/>
          <a:p>
            <a:r>
              <a:rPr lang="en-US" dirty="0"/>
              <a:t>Wipes</a:t>
            </a:r>
          </a:p>
        </p:txBody>
      </p:sp>
      <p:sp>
        <p:nvSpPr>
          <p:cNvPr id="3" name="Content Placeholder 2">
            <a:extLst>
              <a:ext uri="{FF2B5EF4-FFF2-40B4-BE49-F238E27FC236}">
                <a16:creationId xmlns:a16="http://schemas.microsoft.com/office/drawing/2014/main" id="{4F0E944D-3A8E-486C-924A-7F2F19447042}"/>
              </a:ext>
            </a:extLst>
          </p:cNvPr>
          <p:cNvSpPr>
            <a:spLocks noGrp="1"/>
          </p:cNvSpPr>
          <p:nvPr>
            <p:ph idx="1"/>
          </p:nvPr>
        </p:nvSpPr>
        <p:spPr/>
        <p:txBody>
          <a:bodyPr/>
          <a:lstStyle/>
          <a:p>
            <a:endParaRPr lang="en-US" dirty="0"/>
          </a:p>
          <a:p>
            <a:r>
              <a:rPr lang="en-US" dirty="0">
                <a:solidFill>
                  <a:schemeClr val="tx1"/>
                </a:solidFill>
              </a:rPr>
              <a:t>Wipes function the same way as the cut, transitioning from one shot to the next, but here it pushes one image off the screen with another image. </a:t>
            </a:r>
          </a:p>
          <a:p>
            <a:r>
              <a:rPr lang="en-US" dirty="0">
                <a:solidFill>
                  <a:schemeClr val="tx1"/>
                </a:solidFill>
              </a:rPr>
              <a:t>This showy technique was quite popular during the 1930s and 40s, but went out of fashion shortly after World War II. </a:t>
            </a:r>
          </a:p>
          <a:p>
            <a:r>
              <a:rPr lang="en-US" dirty="0">
                <a:solidFill>
                  <a:schemeClr val="tx1"/>
                </a:solidFill>
              </a:rPr>
              <a:t>The wipe made a Resurgence in the 1970s with the release of Star Wars, and can be seen in a handful of films today. </a:t>
            </a:r>
          </a:p>
          <a:p>
            <a:endParaRPr lang="en-US" dirty="0"/>
          </a:p>
          <a:p>
            <a:endParaRPr lang="en-US" dirty="0"/>
          </a:p>
          <a:p>
            <a:endParaRPr lang="en-US" dirty="0"/>
          </a:p>
        </p:txBody>
      </p:sp>
    </p:spTree>
    <p:extLst>
      <p:ext uri="{BB962C8B-B14F-4D97-AF65-F5344CB8AC3E}">
        <p14:creationId xmlns:p14="http://schemas.microsoft.com/office/powerpoint/2010/main" val="5250800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86C61-E2FD-44AF-B478-6BF0F152AF52}"/>
              </a:ext>
            </a:extLst>
          </p:cNvPr>
          <p:cNvSpPr>
            <a:spLocks noGrp="1"/>
          </p:cNvSpPr>
          <p:nvPr>
            <p:ph type="title"/>
          </p:nvPr>
        </p:nvSpPr>
        <p:spPr/>
        <p:txBody>
          <a:bodyPr/>
          <a:lstStyle/>
          <a:p>
            <a:r>
              <a:rPr lang="en-US" dirty="0"/>
              <a:t>Jump Cuts</a:t>
            </a:r>
          </a:p>
        </p:txBody>
      </p:sp>
      <p:sp>
        <p:nvSpPr>
          <p:cNvPr id="3" name="Content Placeholder 2">
            <a:extLst>
              <a:ext uri="{FF2B5EF4-FFF2-40B4-BE49-F238E27FC236}">
                <a16:creationId xmlns:a16="http://schemas.microsoft.com/office/drawing/2014/main" id="{91F6BC23-094B-423C-900C-9AE9219D40BA}"/>
              </a:ext>
            </a:extLst>
          </p:cNvPr>
          <p:cNvSpPr>
            <a:spLocks noGrp="1"/>
          </p:cNvSpPr>
          <p:nvPr>
            <p:ph idx="1"/>
          </p:nvPr>
        </p:nvSpPr>
        <p:spPr/>
        <p:txBody>
          <a:bodyPr>
            <a:normAutofit/>
          </a:bodyPr>
          <a:lstStyle/>
          <a:p>
            <a:r>
              <a:rPr lang="en-US" dirty="0">
                <a:solidFill>
                  <a:schemeClr val="tx1"/>
                </a:solidFill>
              </a:rPr>
              <a:t>Jump cuts are the opposite of continuity shots, using abrupt changes in movement to disrupt the illusion of a continuous flow of action .  </a:t>
            </a:r>
          </a:p>
          <a:p>
            <a:r>
              <a:rPr lang="en-US" dirty="0">
                <a:solidFill>
                  <a:schemeClr val="tx1"/>
                </a:solidFill>
              </a:rPr>
              <a:t>A jump can be achieved between Shots by maintaining the background and abruptly changing a character's position.  </a:t>
            </a:r>
          </a:p>
          <a:p>
            <a:r>
              <a:rPr lang="en-US" dirty="0">
                <a:solidFill>
                  <a:schemeClr val="tx1"/>
                </a:solidFill>
              </a:rPr>
              <a:t>Jump cuts are also achieved when character framing is the same from one shot to the next, but the camera has moved its position. </a:t>
            </a:r>
          </a:p>
          <a:p>
            <a:endParaRPr lang="en-US" dirty="0"/>
          </a:p>
          <a:p>
            <a:endParaRPr lang="en-US" dirty="0"/>
          </a:p>
        </p:txBody>
      </p:sp>
    </p:spTree>
    <p:extLst>
      <p:ext uri="{BB962C8B-B14F-4D97-AF65-F5344CB8AC3E}">
        <p14:creationId xmlns:p14="http://schemas.microsoft.com/office/powerpoint/2010/main" val="3089223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21A0-BB46-4705-8F46-89738D9DBFDC}"/>
              </a:ext>
            </a:extLst>
          </p:cNvPr>
          <p:cNvSpPr>
            <a:spLocks noGrp="1"/>
          </p:cNvSpPr>
          <p:nvPr>
            <p:ph type="title"/>
          </p:nvPr>
        </p:nvSpPr>
        <p:spPr/>
        <p:txBody>
          <a:bodyPr/>
          <a:lstStyle/>
          <a:p>
            <a:r>
              <a:rPr lang="en-US" dirty="0"/>
              <a:t>Montage</a:t>
            </a:r>
          </a:p>
        </p:txBody>
      </p:sp>
      <p:sp>
        <p:nvSpPr>
          <p:cNvPr id="3" name="Content Placeholder 2">
            <a:extLst>
              <a:ext uri="{FF2B5EF4-FFF2-40B4-BE49-F238E27FC236}">
                <a16:creationId xmlns:a16="http://schemas.microsoft.com/office/drawing/2014/main" id="{DEC16AA6-B58B-4D32-9CF5-6757FC0A83C0}"/>
              </a:ext>
            </a:extLst>
          </p:cNvPr>
          <p:cNvSpPr>
            <a:spLocks noGrp="1"/>
          </p:cNvSpPr>
          <p:nvPr>
            <p:ph idx="1"/>
          </p:nvPr>
        </p:nvSpPr>
        <p:spPr/>
        <p:txBody>
          <a:bodyPr/>
          <a:lstStyle/>
          <a:p>
            <a:r>
              <a:rPr lang="en-US" dirty="0">
                <a:solidFill>
                  <a:schemeClr val="tx1"/>
                </a:solidFill>
              </a:rPr>
              <a:t>Cinematic montage is a series of images that can be juxtaposed to create  meaning by evoking an emotional response. </a:t>
            </a:r>
          </a:p>
          <a:p>
            <a:r>
              <a:rPr lang="en-US" dirty="0">
                <a:solidFill>
                  <a:schemeClr val="tx1"/>
                </a:solidFill>
              </a:rPr>
              <a:t>The shots maintained information relating to a single idea or theme. Music videos are often assembled around the Montage sequence of a band or singer.  </a:t>
            </a:r>
          </a:p>
          <a:p>
            <a:r>
              <a:rPr lang="en-US" dirty="0">
                <a:solidFill>
                  <a:schemeClr val="tx1"/>
                </a:solidFill>
              </a:rPr>
              <a:t>In such scenarios, the rhythm and pacing of the video depends on the structure of the song.</a:t>
            </a:r>
          </a:p>
          <a:p>
            <a:endParaRPr lang="en-US" dirty="0"/>
          </a:p>
        </p:txBody>
      </p:sp>
    </p:spTree>
    <p:extLst>
      <p:ext uri="{BB962C8B-B14F-4D97-AF65-F5344CB8AC3E}">
        <p14:creationId xmlns:p14="http://schemas.microsoft.com/office/powerpoint/2010/main" val="36162742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21A0-BB46-4705-8F46-89738D9DBFDC}"/>
              </a:ext>
            </a:extLst>
          </p:cNvPr>
          <p:cNvSpPr>
            <a:spLocks noGrp="1"/>
          </p:cNvSpPr>
          <p:nvPr>
            <p:ph type="title"/>
          </p:nvPr>
        </p:nvSpPr>
        <p:spPr/>
        <p:txBody>
          <a:bodyPr/>
          <a:lstStyle/>
          <a:p>
            <a:r>
              <a:rPr lang="en-US" dirty="0"/>
              <a:t>Montage</a:t>
            </a:r>
          </a:p>
        </p:txBody>
      </p:sp>
      <p:pic>
        <p:nvPicPr>
          <p:cNvPr id="17410" name="Picture 2" descr="Image result for students exam">
            <a:extLst>
              <a:ext uri="{FF2B5EF4-FFF2-40B4-BE49-F238E27FC236}">
                <a16:creationId xmlns:a16="http://schemas.microsoft.com/office/drawing/2014/main" id="{C9F023E6-C609-4622-8476-D7B6D30159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128"/>
          <a:stretch/>
        </p:blipFill>
        <p:spPr bwMode="auto">
          <a:xfrm>
            <a:off x="978795" y="2556932"/>
            <a:ext cx="4448086" cy="3318937"/>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Image result for girl sleeping">
            <a:extLst>
              <a:ext uri="{FF2B5EF4-FFF2-40B4-BE49-F238E27FC236}">
                <a16:creationId xmlns:a16="http://schemas.microsoft.com/office/drawing/2014/main" id="{80488CED-29F8-4E10-927D-5BF745D48B1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557"/>
          <a:stretch/>
        </p:blipFill>
        <p:spPr bwMode="auto">
          <a:xfrm>
            <a:off x="5426881" y="2556932"/>
            <a:ext cx="5786324" cy="3311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8773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21A0-BB46-4705-8F46-89738D9DBFDC}"/>
              </a:ext>
            </a:extLst>
          </p:cNvPr>
          <p:cNvSpPr>
            <a:spLocks noGrp="1"/>
          </p:cNvSpPr>
          <p:nvPr>
            <p:ph type="title"/>
          </p:nvPr>
        </p:nvSpPr>
        <p:spPr/>
        <p:txBody>
          <a:bodyPr/>
          <a:lstStyle/>
          <a:p>
            <a:r>
              <a:rPr lang="en-US" dirty="0"/>
              <a:t>Montage</a:t>
            </a:r>
          </a:p>
        </p:txBody>
      </p:sp>
      <p:sp>
        <p:nvSpPr>
          <p:cNvPr id="3" name="Content Placeholder 2">
            <a:extLst>
              <a:ext uri="{FF2B5EF4-FFF2-40B4-BE49-F238E27FC236}">
                <a16:creationId xmlns:a16="http://schemas.microsoft.com/office/drawing/2014/main" id="{DEC16AA6-B58B-4D32-9CF5-6757FC0A83C0}"/>
              </a:ext>
            </a:extLst>
          </p:cNvPr>
          <p:cNvSpPr>
            <a:spLocks noGrp="1"/>
          </p:cNvSpPr>
          <p:nvPr>
            <p:ph idx="1"/>
          </p:nvPr>
        </p:nvSpPr>
        <p:spPr>
          <a:xfrm>
            <a:off x="5344733" y="2697162"/>
            <a:ext cx="5551864" cy="3178706"/>
          </a:xfrm>
        </p:spPr>
        <p:txBody>
          <a:bodyPr>
            <a:normAutofit/>
          </a:bodyPr>
          <a:lstStyle/>
          <a:p>
            <a:r>
              <a:rPr lang="en-US" dirty="0">
                <a:solidFill>
                  <a:schemeClr val="tx1"/>
                </a:solidFill>
              </a:rPr>
              <a:t>The Montage Style  was developed in the 1920s by Soviet filmmakers such as </a:t>
            </a:r>
            <a:r>
              <a:rPr lang="en-US" dirty="0" err="1">
                <a:solidFill>
                  <a:schemeClr val="tx1"/>
                </a:solidFill>
              </a:rPr>
              <a:t>Sergi</a:t>
            </a:r>
            <a:r>
              <a:rPr lang="en-US" dirty="0">
                <a:solidFill>
                  <a:schemeClr val="tx1"/>
                </a:solidFill>
              </a:rPr>
              <a:t> Eisenstein and </a:t>
            </a:r>
            <a:r>
              <a:rPr lang="en-US" dirty="0" err="1">
                <a:solidFill>
                  <a:schemeClr val="tx1"/>
                </a:solidFill>
              </a:rPr>
              <a:t>Dziga</a:t>
            </a:r>
            <a:r>
              <a:rPr lang="en-US" dirty="0">
                <a:solidFill>
                  <a:schemeClr val="tx1"/>
                </a:solidFill>
              </a:rPr>
              <a:t> </a:t>
            </a:r>
            <a:r>
              <a:rPr lang="en-US" dirty="0" err="1">
                <a:solidFill>
                  <a:schemeClr val="tx1"/>
                </a:solidFill>
              </a:rPr>
              <a:t>Vertov</a:t>
            </a:r>
            <a:r>
              <a:rPr lang="en-US" dirty="0">
                <a:solidFill>
                  <a:schemeClr val="tx1"/>
                </a:solidFill>
              </a:rPr>
              <a:t>.</a:t>
            </a:r>
          </a:p>
          <a:p>
            <a:r>
              <a:rPr lang="en-US" dirty="0">
                <a:solidFill>
                  <a:schemeClr val="tx1"/>
                </a:solidFill>
              </a:rPr>
              <a:t>One of the most famous Montage sequences is the Odessa steps from Einstein's Battleship Potemkin. </a:t>
            </a:r>
          </a:p>
          <a:p>
            <a:endParaRPr lang="en-US" dirty="0"/>
          </a:p>
          <a:p>
            <a:endParaRPr lang="en-US" dirty="0"/>
          </a:p>
        </p:txBody>
      </p:sp>
      <p:pic>
        <p:nvPicPr>
          <p:cNvPr id="18434" name="Picture 2" descr="Image result for battleship potemkin odessa steps">
            <a:extLst>
              <a:ext uri="{FF2B5EF4-FFF2-40B4-BE49-F238E27FC236}">
                <a16:creationId xmlns:a16="http://schemas.microsoft.com/office/drawing/2014/main" id="{26E154F6-1F2D-42DB-B3EB-18A346A59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9748" y="2697162"/>
            <a:ext cx="3810000" cy="3038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7691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B990C-D13E-4405-AA5B-6CA2633ABDE6}"/>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BF87E536-E4A8-43C8-87C3-F1353963A890}"/>
              </a:ext>
            </a:extLst>
          </p:cNvPr>
          <p:cNvSpPr>
            <a:spLocks noGrp="1"/>
          </p:cNvSpPr>
          <p:nvPr>
            <p:ph idx="1"/>
          </p:nvPr>
        </p:nvSpPr>
        <p:spPr/>
        <p:txBody>
          <a:bodyPr/>
          <a:lstStyle/>
          <a:p>
            <a:r>
              <a:rPr lang="en-US" dirty="0">
                <a:solidFill>
                  <a:schemeClr val="tx1"/>
                </a:solidFill>
              </a:rPr>
              <a:t>Continuity editing works to join shots together to create </a:t>
            </a:r>
            <a:r>
              <a:rPr lang="en-US" b="1" dirty="0">
                <a:solidFill>
                  <a:schemeClr val="tx1"/>
                </a:solidFill>
              </a:rPr>
              <a:t>dynamic meaning</a:t>
            </a:r>
            <a:r>
              <a:rPr lang="en-US" dirty="0">
                <a:solidFill>
                  <a:schemeClr val="tx1"/>
                </a:solidFill>
              </a:rPr>
              <a:t>.</a:t>
            </a:r>
          </a:p>
          <a:p>
            <a:r>
              <a:rPr lang="en-US" dirty="0">
                <a:solidFill>
                  <a:schemeClr val="tx1"/>
                </a:solidFill>
              </a:rPr>
              <a:t>If an editor has done  their job well, the audience </a:t>
            </a:r>
            <a:r>
              <a:rPr lang="en-US" b="1" dirty="0">
                <a:solidFill>
                  <a:schemeClr val="tx1"/>
                </a:solidFill>
              </a:rPr>
              <a:t>will not notice how shots of various frame sizes and angles are spliced together to tell a story</a:t>
            </a:r>
            <a:r>
              <a:rPr lang="en-US" dirty="0">
                <a:solidFill>
                  <a:schemeClr val="tx1"/>
                </a:solidFill>
              </a:rPr>
              <a:t>. </a:t>
            </a:r>
          </a:p>
          <a:p>
            <a:r>
              <a:rPr lang="en-US" dirty="0">
                <a:solidFill>
                  <a:schemeClr val="tx1"/>
                </a:solidFill>
              </a:rPr>
              <a:t>Instead the audience will see the story as a c</a:t>
            </a:r>
            <a:r>
              <a:rPr lang="en-US" b="1" dirty="0">
                <a:solidFill>
                  <a:schemeClr val="tx1"/>
                </a:solidFill>
              </a:rPr>
              <a:t>ontinuous whole of uninterrupted action</a:t>
            </a:r>
            <a:r>
              <a:rPr lang="en-US" dirty="0">
                <a:solidFill>
                  <a:schemeClr val="tx1"/>
                </a:solidFill>
              </a:rPr>
              <a:t>.</a:t>
            </a:r>
          </a:p>
          <a:p>
            <a:r>
              <a:rPr lang="en-US" dirty="0">
                <a:solidFill>
                  <a:schemeClr val="tx1"/>
                </a:solidFill>
              </a:rPr>
              <a:t>That is what we refer to as </a:t>
            </a:r>
            <a:r>
              <a:rPr lang="en-US" b="1" dirty="0">
                <a:solidFill>
                  <a:schemeClr val="tx1"/>
                </a:solidFill>
              </a:rPr>
              <a:t>CONTINUITY</a:t>
            </a:r>
            <a:r>
              <a:rPr lang="en-US" dirty="0">
                <a:solidFill>
                  <a:schemeClr val="tx1"/>
                </a:solidFill>
              </a:rPr>
              <a:t>.</a:t>
            </a:r>
          </a:p>
          <a:p>
            <a:endParaRPr lang="en-US" dirty="0"/>
          </a:p>
          <a:p>
            <a:endParaRPr lang="en-US" dirty="0"/>
          </a:p>
        </p:txBody>
      </p:sp>
    </p:spTree>
    <p:extLst>
      <p:ext uri="{BB962C8B-B14F-4D97-AF65-F5344CB8AC3E}">
        <p14:creationId xmlns:p14="http://schemas.microsoft.com/office/powerpoint/2010/main" val="215851507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7742</TotalTime>
  <Words>5490</Words>
  <Application>Microsoft Office PowerPoint</Application>
  <PresentationFormat>Widescreen</PresentationFormat>
  <Paragraphs>372</Paragraphs>
  <Slides>45</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Adobe Gothic Std B</vt:lpstr>
      <vt:lpstr>Arial</vt:lpstr>
      <vt:lpstr>Calibri</vt:lpstr>
      <vt:lpstr>Garamond</vt:lpstr>
      <vt:lpstr>Game Design Theme</vt:lpstr>
      <vt:lpstr>Continuity</vt:lpstr>
      <vt:lpstr>Continuity</vt:lpstr>
      <vt:lpstr>Continuity</vt:lpstr>
      <vt:lpstr>Continuity</vt:lpstr>
      <vt:lpstr>Basic Principle of Continuity</vt:lpstr>
      <vt:lpstr>Basic Principle of Continuity</vt:lpstr>
      <vt:lpstr>Basic Principle of Continuity</vt:lpstr>
      <vt:lpstr>Basic Principle of Continuity</vt:lpstr>
      <vt:lpstr>Basic Principle of Continuity</vt:lpstr>
      <vt:lpstr>Other techniques that can affect Continuity</vt:lpstr>
      <vt:lpstr>The Line of Action (180 degree rule)</vt:lpstr>
      <vt:lpstr>The Line of Action</vt:lpstr>
      <vt:lpstr>The Line of Action</vt:lpstr>
      <vt:lpstr>The Line of Action</vt:lpstr>
      <vt:lpstr>The Line of Action</vt:lpstr>
      <vt:lpstr>Crossing the Line of Action</vt:lpstr>
      <vt:lpstr>Crossing the Line of Action</vt:lpstr>
      <vt:lpstr>Crossing the Line of Action</vt:lpstr>
      <vt:lpstr>Crossing the Line of Action</vt:lpstr>
      <vt:lpstr>Screen Direction</vt:lpstr>
      <vt:lpstr>Neutral Screen Direction</vt:lpstr>
      <vt:lpstr>Constant Screen Direction</vt:lpstr>
      <vt:lpstr>Constant Screen Direction</vt:lpstr>
      <vt:lpstr>Contrasting Screen Direction</vt:lpstr>
      <vt:lpstr>Contrasting Screen Direction</vt:lpstr>
      <vt:lpstr>Shot/Reverse Shot</vt:lpstr>
      <vt:lpstr>Shot/Reverse Shot</vt:lpstr>
      <vt:lpstr>Match on Action</vt:lpstr>
      <vt:lpstr>Match on Action</vt:lpstr>
      <vt:lpstr>Eyeline Match</vt:lpstr>
      <vt:lpstr>Cutaways</vt:lpstr>
      <vt:lpstr>Cutaways</vt:lpstr>
      <vt:lpstr>Cut-ins</vt:lpstr>
      <vt:lpstr>Cross-cut</vt:lpstr>
      <vt:lpstr>Cross-cut</vt:lpstr>
      <vt:lpstr>Transitions</vt:lpstr>
      <vt:lpstr>Dissolve</vt:lpstr>
      <vt:lpstr>Cuts</vt:lpstr>
      <vt:lpstr>Fades</vt:lpstr>
      <vt:lpstr>Wipes</vt:lpstr>
      <vt:lpstr>Jump Cuts</vt:lpstr>
      <vt:lpstr>Montage</vt:lpstr>
      <vt:lpstr>Montage</vt:lpstr>
      <vt:lpstr>Montage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318</cp:revision>
  <dcterms:created xsi:type="dcterms:W3CDTF">2016-05-07T19:16:27Z</dcterms:created>
  <dcterms:modified xsi:type="dcterms:W3CDTF">2026-08-10T08:10:16Z</dcterms:modified>
</cp:coreProperties>
</file>