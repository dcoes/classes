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5.xml" ContentType="application/vnd.openxmlformats-officedocument.presentationml.slide+xml"/>
  <Override PartName="/ppt/slides/slide17.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9.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5.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9.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5.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30" r:id="rId1"/>
  </p:sldMasterIdLst>
  <p:notesMasterIdLst>
    <p:notesMasterId r:id="rId49"/>
  </p:notesMasterIdLst>
  <p:sldIdLst>
    <p:sldId id="256" r:id="rId2"/>
    <p:sldId id="257" r:id="rId5"/>
    <p:sldId id="258" r:id="rId6"/>
    <p:sldId id="259" r:id="rId11"/>
    <p:sldId id="260" r:id="rId12"/>
    <p:sldId id="261" r:id="rId16"/>
    <p:sldId id="262" r:id="rId18"/>
    <p:sldId id="263" r:id="rId21"/>
    <p:sldId id="264" r:id="rId22"/>
    <p:sldId id="265" r:id="rId23"/>
    <p:sldId id="266" r:id="rId48"/>
    <p:sldId id="267" r:id="rId24"/>
    <p:sldId id="268" r:id="rId25"/>
    <p:sldId id="269" r:id="rId26"/>
    <p:sldId id="270" r:id="rId54"/>
    <p:sldId id="271" r:id="rId27"/>
    <p:sldId id="272" r:id="rId28"/>
    <p:sldId id="273" r:id="rId30"/>
    <p:sldId id="274" r:id="rId32"/>
    <p:sldId id="275" r:id="rId33"/>
    <p:sldId id="276" r:id="rId36"/>
    <p:sldId id="277" r:id="rId38"/>
    <p:sldId id="278" r:id="rId39"/>
    <p:sldId id="279" r:id="rId40"/>
    <p:sldId id="280" r:id="rId41"/>
    <p:sldId id="281" r:id="rId55"/>
    <p:sldId id="282" r:id="rId56"/>
    <p:sldId id="283" r:id="rId57"/>
    <p:sldId id="284" r:id="rId42"/>
    <p:sldId id="285" r:id="rId58"/>
    <p:sldId id="286" r:id="rId43"/>
    <p:sldId id="287" r:id="rId59"/>
    <p:sldId id="288" r:id="rId60"/>
    <p:sldId id="289" r:id="rId61"/>
    <p:sldId id="290" r:id="rId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5822"/>
    <a:srgbClr val="828282"/>
    <a:srgbClr val="E9E9E9"/>
    <a:srgbClr val="FFC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824" autoAdjust="0"/>
    <p:restoredTop sz="80226" autoAdjust="0"/>
  </p:normalViewPr>
  <p:slideViewPr>
    <p:cSldViewPr snapToGrid="0">
      <p:cViewPr varScale="1">
        <p:scale>
          <a:sx n="104" d="100"/>
          <a:sy n="104" d="100"/>
        </p:scale>
        <p:origin x="1552" y="192"/>
      </p:cViewPr>
      <p:guideLst/>
    </p:cSldViewPr>
  </p:slideViewPr>
  <p:notesTextViewPr>
    <p:cViewPr>
      <p:scale>
        <a:sx n="150" d="100"/>
        <a:sy n="150" d="100"/>
      </p:scale>
      <p:origin x="0" y="0"/>
    </p:cViewPr>
  </p:notesTextViewPr>
  <p:gridSpacing cx="76200" cy="76200"/>
</p:viewPr>
</file>

<file path=ppt/_rels/presentation.xml.rels><?xml version="1.0" encoding="utf-8"?><Relationships xmlns="http://schemas.openxmlformats.org/package/2006/relationships"><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42" Type="http://schemas.openxmlformats.org/officeDocument/2006/relationships/slide" Target="slides/slide41.xml"/><Relationship Id="rId50"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40" Type="http://schemas.openxmlformats.org/officeDocument/2006/relationships/slide" Target="slides/slide39.xml"/><Relationship Id="rId53" Type="http://schemas.openxmlformats.org/officeDocument/2006/relationships/tableStyles" Target="tableStyles.xml"/><Relationship Id="rId5" Type="http://schemas.openxmlformats.org/officeDocument/2006/relationships/slide" Target="slides/slide4.xml"/><Relationship Id="rId44" Type="http://schemas.openxmlformats.org/officeDocument/2006/relationships/slide" Target="slides/slide43.xml"/><Relationship Id="rId52" Type="http://schemas.openxmlformats.org/officeDocument/2006/relationships/theme" Target="theme/theme1.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43" Type="http://schemas.openxmlformats.org/officeDocument/2006/relationships/slide" Target="slides/slide42.xml"/><Relationship Id="rId48" Type="http://schemas.openxmlformats.org/officeDocument/2006/relationships/slide" Target="slides/slide47.xml"/><Relationship Id="rId51" Type="http://schemas.openxmlformats.org/officeDocument/2006/relationships/viewProps" Target="viewProps.xml"/><Relationship Id="rId12" Type="http://schemas.openxmlformats.org/officeDocument/2006/relationships/slide" Target="slides/slide11.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  <Relationship Id="rId54" Type="http://schemas.openxmlformats.org/officeDocument/2006/relationships/slide" Target="slides/slide48.xml"/>
  <Relationship Id="rId55" Type="http://schemas.openxmlformats.org/officeDocument/2006/relationships/slide" Target="slides/slide49.xml"/>
  <Relationship Id="rId56" Type="http://schemas.openxmlformats.org/officeDocument/2006/relationships/slide" Target="slides/slide50.xml"/>
  <Relationship Id="rId57" Type="http://schemas.openxmlformats.org/officeDocument/2006/relationships/slide" Target="slides/slide51.xml"/>
  <Relationship Id="rId58" Type="http://schemas.openxmlformats.org/officeDocument/2006/relationships/slide" Target="slides/slide52.xml"/>
  <Relationship Id="rId59" Type="http://schemas.openxmlformats.org/officeDocument/2006/relationships/slide" Target="slides/slide53.xml"/>
  <Relationship Id="rId60" Type="http://schemas.openxmlformats.org/officeDocument/2006/relationships/slide" Target="slides/slide54.xml"/>
  <Relationship Id="rId61" Type="http://schemas.openxmlformats.org/officeDocument/2006/relationships/slide" Target="slides/slide55.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D28734-3244-491E-AA24-C884C7595C08}" type="datetimeFigureOut">
              <a:rPr lang="en-US" smtClean="0"/>
              <a:t>1/31/20</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96D361-B4A4-4CC2-BE3E-6B169444DAA7}" type="slidenum">
              <a:rPr lang="en-US" smtClean="0"/>
              <a:t>‹#›</a:t>
            </a:fld>
            <a:endParaRPr lang="en-US"/>
          </a:p>
        </p:txBody>
      </p:sp>
    </p:spTree>
    <p:extLst>
      <p:ext uri="{BB962C8B-B14F-4D97-AF65-F5344CB8AC3E}">
        <p14:creationId xmlns:p14="http://schemas.microsoft.com/office/powerpoint/2010/main" val="20664649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Do not start with a definition. Start with the card everybody has seen and nobody has read - that comes up on slide 9, and the first eight slides are the run-up to it.</a:t>
            </a:r>
          </a:p>
          <a:p>
            <a:pPr marL="0" marR="0" indent="0" algn="l" defTabSz="914400" rtl="0" eaLnBrk="1" fontAlgn="auto" latinLnBrk="0" hangingPunct="1">
              <a:lnSpc>
                <a:spcPct val="100000"/>
              </a:lnSpc>
              <a:spcBef>
                <a:spcPts val="0"/>
              </a:spcBef>
              <a:spcAft>
                <a:spcPts val="0"/>
              </a:spcAft>
              <a:buClrTx/>
              <a:buSzTx/>
              <a:buFontTx/>
              <a:buNone/>
              <a:tabLst/>
              <a:defRPr/>
            </a:pPr>
          </a:p>
          <a:p>
            <a:pPr marL="0" marR="0" indent="0" algn="l" defTabSz="914400" rtl="0" eaLnBrk="1" fontAlgn="auto" latinLnBrk="0" hangingPunct="1">
              <a:lnSpc>
                <a:spcPct val="100000"/>
              </a:lnSpc>
              <a:spcBef>
                <a:spcPts val="0"/>
              </a:spcBef>
              <a:spcAft>
                <a:spcPts val="0"/>
              </a:spcAft>
              <a:buClrTx/>
              <a:buSzTx/>
              <a:buFontTx/>
              <a:buNone/>
              <a:tabLst/>
              <a:defRPr/>
            </a:pPr>
            <a:r>
              <a:rPr lang="en-US" dirty="0"/>
              <a:t>Today has two halves. The first is where boards came from, fast, because it explains why the job exists. The second is the shape of the frame, which is the actual subject and which walks straight into your first assignment.</a:t>
            </a:r>
          </a:p>
          <a:p>
            <a:pPr marL="0" marR="0" indent="0" algn="l" defTabSz="914400" rtl="0" eaLnBrk="1" fontAlgn="auto" latinLnBrk="0" hangingPunct="1">
              <a:lnSpc>
                <a:spcPct val="100000"/>
              </a:lnSpc>
              <a:spcBef>
                <a:spcPts val="0"/>
              </a:spcBef>
              <a:spcAft>
                <a:spcPts val="0"/>
              </a:spcAft>
              <a:buClrTx/>
              <a:buSzTx/>
              <a:buFontTx/>
              <a:buNone/>
              <a:tabLst/>
              <a:defRPr/>
            </a:pPr>
          </a:p>
          <a:p>
            <a:pPr marL="0" marR="0" indent="0" algn="l" defTabSz="914400" rtl="0" eaLnBrk="1" fontAlgn="auto" latinLnBrk="0" hangingPunct="1">
              <a:lnSpc>
                <a:spcPct val="100000"/>
              </a:lnSpc>
              <a:spcBef>
                <a:spcPts val="0"/>
              </a:spcBef>
              <a:spcAft>
                <a:spcPts val="0"/>
              </a:spcAft>
              <a:buClrTx/>
              <a:buSzTx/>
              <a:buFontTx/>
              <a:buNone/>
              <a:tabLst/>
              <a:defRPr/>
            </a:pPr>
            <a:r>
              <a:rPr lang="en-US" dirty="0"/>
              <a:t>By the end of this session you will build a storyboard template. That is assignment A1 and it is fifty points for getting a rectangle right.</a:t>
            </a:r>
          </a:p>
        </p:txBody>
      </p:sp>
      <p:sp>
        <p:nvSpPr>
          <p:cNvPr id="4" name="Slide Number Placeholder 3"/>
          <p:cNvSpPr>
            <a:spLocks noGrp="1"/>
          </p:cNvSpPr>
          <p:nvPr>
            <p:ph type="sldNum" sz="quarter" idx="10"/>
          </p:nvPr>
        </p:nvSpPr>
        <p:spPr/>
        <p:txBody>
          <a:bodyPr/>
          <a:lstStyle/>
          <a:p>
            <a:fld id="{1796D361-B4A4-4CC2-BE3E-6B169444DAA7}" type="slidenum">
              <a:rPr lang="en-US" smtClean="0"/>
              <a:t>1</a:t>
            </a:fld>
            <a:endParaRPr lang="en-US"/>
          </a:p>
        </p:txBody>
      </p:sp>
    </p:spTree>
    <p:extLst>
      <p:ext uri="{BB962C8B-B14F-4D97-AF65-F5344CB8AC3E}">
        <p14:creationId xmlns:p14="http://schemas.microsoft.com/office/powerpoint/2010/main" val="18738935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very first split in cinema is documentation versus fiction, and it happens inside seven years.</a:t>
            </a:r>
          </a:p>
          <a:p/>
          <a:p>
            <a:r>
              <a:rPr lang="en-US" sz="1200" kern="1200" dirty="0">
                <a:solidFill>
                  <a:schemeClr val="tx1"/>
                </a:solidFill>
                <a:effectLst/>
                <a:latin typeface="+mn-lt"/>
                <a:ea typeface="+mn-ea"/>
                <a:cs typeface="+mn-cs"/>
              </a:rPr>
              <a:t>The Lumiere brothers screened workers leaving their factory and a train arriving at a station. Audiences were astonished, but what they were astonished by was the recording. The Lumieres themselves thought of it as a scientific instrument.</a:t>
            </a:r>
          </a:p>
          <a:p/>
          <a:p>
            <a:r>
              <a:rPr lang="en-US" sz="1200" kern="1200" dirty="0">
                <a:solidFill>
                  <a:schemeClr val="tx1"/>
                </a:solidFill>
                <a:effectLst/>
                <a:latin typeface="+mn-lt"/>
                <a:ea typeface="+mn-ea"/>
                <a:cs typeface="+mn-cs"/>
              </a:rPr>
              <a:t>Georges Melies was a stage magician who owned a theatre. He looked at the same machine and saw a way to do a trick. A Trip to the Moon, 1902, is a made-up story with built sets and effects.</a:t>
            </a:r>
          </a:p>
          <a:p/>
          <a:p>
            <a:r>
              <a:rPr lang="en-US" sz="1200" kern="1200" dirty="0">
                <a:solidFill>
                  <a:schemeClr val="tx1"/>
                </a:solidFill>
                <a:effectLst/>
                <a:latin typeface="+mn-lt"/>
                <a:ea typeface="+mn-ea"/>
                <a:cs typeface="+mn-cs"/>
              </a:rPr>
              <a:t>Say: the moment film stopped recording and started inventing is the moment somebody had to plan a shot in advance. That is the whole reason this job exists.</a:t>
            </a:r>
          </a:p>
          <a:p/>
          <a:p>
            <a:r>
              <a:rPr lang="en-US" sz="1200" kern="1200" dirty="0">
                <a:solidFill>
                  <a:schemeClr val="tx1"/>
                </a:solidFill>
                <a:effectLst/>
                <a:latin typeface="+mn-lt"/>
                <a:ea typeface="+mn-ea"/>
                <a:cs typeface="+mn-cs"/>
              </a:rPr>
              <a:t>Hold on to the magician. He comes back in the composition lecture, where the thesis is that design is misdirection.</a:t>
            </a:r>
          </a:p>
        </p:txBody>
      </p:sp>
      <p:sp>
        <p:nvSpPr>
          <p:cNvPr id="4" name="Slide Number Placeholder 3"/>
          <p:cNvSpPr>
            <a:spLocks noGrp="1"/>
          </p:cNvSpPr>
          <p:nvPr>
            <p:ph type="sldNum" sz="quarter" idx="10"/>
          </p:nvPr>
        </p:nvSpPr>
        <p:spPr/>
        <p:txBody>
          <a:bodyPr/>
          <a:lstStyle/>
          <a:p>
            <a:fld id="{1796D361-B4A4-4CC2-BE3E-6B169444DAA7}" type="slidenum">
              <a:rPr lang="en-US" smtClean="0"/>
              <a:t>4</a:t>
            </a:fld>
            <a:endParaRPr lang="en-US"/>
          </a:p>
        </p:txBody>
      </p:sp>
    </p:spTree>
    <p:extLst>
      <p:ext uri="{BB962C8B-B14F-4D97-AF65-F5344CB8AC3E}">
        <p14:creationId xmlns:p14="http://schemas.microsoft.com/office/powerpoint/2010/main" val="30970816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US" sz="1200" kern="1200" dirty="0">
                <a:solidFill>
                  <a:schemeClr val="tx1"/>
                </a:solidFill>
                <a:effectLst/>
                <a:latin typeface="+mn-lt"/>
                <a:ea typeface="+mn-ea"/>
                <a:cs typeface="+mn-cs"/>
              </a:rPr>
              <a:t>Neither of these men had the word storyboard. Both were doing a version of the thing.</a:t>
            </a:r>
          </a:p>
          <a:p>
            <a:pPr latinLnBrk="1"/>
          </a:p>
          <a:p>
            <a:pPr latinLnBrk="1"/>
            <a:r>
              <a:rPr lang="en-US" sz="1200" kern="1200" dirty="0">
                <a:solidFill>
                  <a:schemeClr val="tx1"/>
                </a:solidFill>
                <a:effectLst/>
                <a:latin typeface="+mn-lt"/>
                <a:ea typeface="+mn-ea"/>
                <a:cs typeface="+mn-cs"/>
              </a:rPr>
              <a:t>Eisenstein drew his own sketches to work out how action would move inside a frame and across a cut. DeMille hired an illustrator to show him what a sequence would look like before he committed a budget to it.</a:t>
            </a:r>
          </a:p>
          <a:p>
            <a:pPr latinLnBrk="1"/>
          </a:p>
          <a:p>
            <a:pPr latinLnBrk="1"/>
            <a:r>
              <a:rPr lang="en-US" sz="1200" kern="1200" dirty="0">
                <a:solidFill>
                  <a:schemeClr val="tx1"/>
                </a:solidFill>
                <a:effectLst/>
                <a:latin typeface="+mn-lt"/>
                <a:ea typeface="+mn-ea"/>
                <a:cs typeface="+mn-cs"/>
              </a:rPr>
              <a:t>Say: the practice existed before the word did. Which tells you the job was invented because somebody needed it, not because somebody theorised it. That is worth noticing, because almost everything in this course was invented by a person with a problem.</a:t>
            </a:r>
          </a:p>
        </p:txBody>
      </p:sp>
      <p:sp>
        <p:nvSpPr>
          <p:cNvPr id="4" name="Slide Number Placeholder 3"/>
          <p:cNvSpPr>
            <a:spLocks noGrp="1"/>
          </p:cNvSpPr>
          <p:nvPr>
            <p:ph type="sldNum" sz="quarter" idx="10"/>
          </p:nvPr>
        </p:nvSpPr>
        <p:spPr/>
        <p:txBody>
          <a:bodyPr/>
          <a:lstStyle/>
          <a:p>
            <a:fld id="{1796D361-B4A4-4CC2-BE3E-6B169444DAA7}" type="slidenum">
              <a:rPr lang="en-US" smtClean="0"/>
              <a:t>5</a:t>
            </a:fld>
            <a:endParaRPr lang="en-US"/>
          </a:p>
        </p:txBody>
      </p:sp>
    </p:spTree>
    <p:extLst>
      <p:ext uri="{BB962C8B-B14F-4D97-AF65-F5344CB8AC3E}">
        <p14:creationId xmlns:p14="http://schemas.microsoft.com/office/powerpoint/2010/main" val="4850953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lnSpc>
                <a:spcPct val="107000"/>
              </a:lnSpc>
              <a:spcBef>
                <a:spcPts val="0"/>
              </a:spcBef>
              <a:spcAft>
                <a:spcPts val="0"/>
              </a:spcAft>
            </a:pPr>
            <a:r>
              <a:rPr lang="en-US" sz="1200" dirty="0">
                <a:solidFill>
                  <a:srgbClr val="40403F"/>
                </a:solidFill>
                <a:effectLst/>
                <a:latin typeface="Helvetica" panose="020B0604020202020204" pitchFamily="34" charset="0"/>
                <a:ea typeface="Times New Roman" panose="02020603050405020304" pitchFamily="18" charset="0"/>
                <a:cs typeface="Times New Roman" panose="02020603050405020304" pitchFamily="18" charset="0"/>
              </a:rPr>
              <a:t>Winsor McCay - McCay, not McKay - was already famous for the newspaper strip Little Nemo in Slumberland.</a:t>
            </a:r>
          </a:p>
          <a:p>
            <a:pPr marL="0" marR="0">
              <a:lnSpc>
                <a:spcPct val="107000"/>
              </a:lnSpc>
              <a:spcBef>
                <a:spcPts val="0"/>
              </a:spcBef>
              <a:spcAft>
                <a:spcPts val="0"/>
              </a:spcAft>
            </a:pPr>
          </a:p>
          <a:p>
            <a:pPr marL="0" marR="0">
              <a:lnSpc>
                <a:spcPct val="107000"/>
              </a:lnSpc>
              <a:spcBef>
                <a:spcPts val="0"/>
              </a:spcBef>
              <a:spcAft>
                <a:spcPts val="0"/>
              </a:spcAft>
            </a:pPr>
            <a:r>
              <a:rPr lang="en-US" sz="1200" dirty="0">
                <a:solidFill>
                  <a:srgbClr val="40403F"/>
                </a:solidFill>
                <a:effectLst/>
                <a:latin typeface="Helvetica" panose="020B0604020202020204" pitchFamily="34" charset="0"/>
                <a:ea typeface="Times New Roman" panose="02020603050405020304" pitchFamily="18" charset="0"/>
                <a:cs typeface="Times New Roman" panose="02020603050405020304" pitchFamily="18" charset="0"/>
              </a:rPr>
              <a:t>Here is the part that matters for this course, and it is not the animation. Gertie was a stage act. McCay stood at the front of the stage in a tuxedo holding a bullwhip like an animal trainer, did some patter with the audience, and introduced the only dinosaur in captivity. Then he gave her instructions and she obeyed them. At the end he appears to walk into the frame and ride off on her.</a:t>
            </a:r>
          </a:p>
          <a:p>
            <a:pPr marL="0" marR="0">
              <a:lnSpc>
                <a:spcPct val="107000"/>
              </a:lnSpc>
              <a:spcBef>
                <a:spcPts val="0"/>
              </a:spcBef>
              <a:spcAft>
                <a:spcPts val="0"/>
              </a:spcAft>
            </a:pPr>
          </a:p>
          <a:p>
            <a:pPr marL="0" marR="0">
              <a:lnSpc>
                <a:spcPct val="107000"/>
              </a:lnSpc>
              <a:spcBef>
                <a:spcPts val="0"/>
              </a:spcBef>
              <a:spcAft>
                <a:spcPts val="0"/>
              </a:spcAft>
            </a:pPr>
            <a:r>
              <a:rPr lang="en-US" sz="1200" dirty="0">
                <a:solidFill>
                  <a:srgbClr val="40403F"/>
                </a:solidFill>
                <a:effectLst/>
                <a:latin typeface="Helvetica" panose="020B0604020202020204" pitchFamily="34" charset="0"/>
                <a:ea typeface="Times New Roman" panose="02020603050405020304" pitchFamily="18" charset="0"/>
                <a:cs typeface="Times New Roman" panose="02020603050405020304" pitchFamily="18" charset="0"/>
              </a:rPr>
              <a:t>Say: remember this one. In a few weeks you are going to stand beside your own work and perform it for a room. This man did it first, in 1914, with a dinosaur, and he understood that the performance was the point.</a:t>
            </a:r>
          </a:p>
          <a:p>
            <a:pPr marL="0" marR="0">
              <a:lnSpc>
                <a:spcPct val="107000"/>
              </a:lnSpc>
              <a:spcBef>
                <a:spcPts val="0"/>
              </a:spcBef>
              <a:spcAft>
                <a:spcPts val="0"/>
              </a:spcAft>
            </a:pPr>
          </a:p>
          <a:p>
            <a:pPr marL="0" marR="0">
              <a:lnSpc>
                <a:spcPct val="107000"/>
              </a:lnSpc>
              <a:spcBef>
                <a:spcPts val="0"/>
              </a:spcBef>
              <a:spcAft>
                <a:spcPts val="0"/>
              </a:spcAft>
            </a:pPr>
            <a:r>
              <a:rPr lang="en-US" sz="1200" dirty="0">
                <a:solidFill>
                  <a:srgbClr val="40403F"/>
                </a:solidFill>
                <a:effectLst/>
                <a:latin typeface="Helvetica" panose="020B0604020202020204" pitchFamily="34" charset="0"/>
                <a:ea typeface="Times New Roman" panose="02020603050405020304" pitchFamily="18" charset="0"/>
                <a:cs typeface="Times New Roman" panose="02020603050405020304" pitchFamily="18" charset="0"/>
              </a:rPr>
              <a:t>A correction to what you may have read, including in older versions of this lecture. There is a bet in Gertie - in the live-action prologue, McCay and some cartoonist friends visit a museum and he wagers that he can make a dinosaur live. Two things about it. First, that prologue was added later in 1914 for general cinema release; the February vaudeville premiere did not have it, because McCay was there in person instead. Second, the friends include George McManus, who drew Bringing Up Father - it was never Ed McMahon, who was born in 1923, nine years after this film came out. If you see McMahon's name attached to this story anywhere, it is wrong.</a:t>
            </a:r>
          </a:p>
        </p:txBody>
      </p:sp>
      <p:sp>
        <p:nvSpPr>
          <p:cNvPr id="4" name="Slide Number Placeholder 3"/>
          <p:cNvSpPr>
            <a:spLocks noGrp="1"/>
          </p:cNvSpPr>
          <p:nvPr>
            <p:ph type="sldNum" sz="quarter" idx="10"/>
          </p:nvPr>
        </p:nvSpPr>
        <p:spPr/>
        <p:txBody>
          <a:bodyPr/>
          <a:lstStyle/>
          <a:p>
            <a:fld id="{1796D361-B4A4-4CC2-BE3E-6B169444DAA7}" type="slidenum">
              <a:rPr lang="en-US" smtClean="0"/>
              <a:t>10</a:t>
            </a:fld>
            <a:endParaRPr lang="en-US"/>
          </a:p>
        </p:txBody>
      </p:sp>
    </p:spTree>
    <p:extLst>
      <p:ext uri="{BB962C8B-B14F-4D97-AF65-F5344CB8AC3E}">
        <p14:creationId xmlns:p14="http://schemas.microsoft.com/office/powerpoint/2010/main" val="7093707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US" sz="1200" kern="1200" dirty="0">
                <a:solidFill>
                  <a:schemeClr val="tx1"/>
                </a:solidFill>
                <a:effectLst/>
                <a:latin typeface="+mn-lt"/>
                <a:ea typeface="+mn-ea"/>
                <a:cs typeface="+mn-cs"/>
              </a:rPr>
              <a:t>The Fleischers were not a minor studio. In the 1920s they were arguably the most successful animation house in America, and they ran with no written plan of any kind.</a:t>
            </a:r>
          </a:p>
          <a:p>
            <a:pPr latinLnBrk="1"/>
          </a:p>
          <a:p>
            <a:pPr latinLnBrk="1"/>
            <a:r>
              <a:rPr lang="en-US" sz="1200" kern="1200" dirty="0">
                <a:solidFill>
                  <a:schemeClr val="tx1"/>
                </a:solidFill>
                <a:effectLst/>
                <a:latin typeface="+mn-lt"/>
                <a:ea typeface="+mn-ea"/>
                <a:cs typeface="+mn-cs"/>
              </a:rPr>
              <a:t>There was no script. There was no story department. Dave Fleischer would come round each morning, ask the animators what they had, and the film accumulated.</a:t>
            </a:r>
          </a:p>
          <a:p>
            <a:pPr latinLnBrk="1"/>
          </a:p>
          <a:p>
            <a:pPr latinLnBrk="1"/>
            <a:r>
              <a:rPr lang="en-US" sz="1200" kern="1200" dirty="0">
                <a:solidFill>
                  <a:schemeClr val="tx1"/>
                </a:solidFill>
                <a:effectLst/>
                <a:latin typeface="+mn-lt"/>
                <a:ea typeface="+mn-ea"/>
                <a:cs typeface="+mn-cs"/>
              </a:rPr>
              <a:t>Say: this is what no plan actually looks like. And be fair about it - it worked. It worked for five-minute shorts built out of gags, where nothing has to pay off later because there is no later.</a:t>
            </a:r>
          </a:p>
          <a:p>
            <a:pPr latinLnBrk="1"/>
          </a:p>
          <a:p>
            <a:pPr latinLnBrk="1"/>
            <a:r>
              <a:rPr lang="en-US" sz="1200" kern="1200" dirty="0">
                <a:solidFill>
                  <a:schemeClr val="tx1"/>
                </a:solidFill>
                <a:effectLst/>
                <a:latin typeface="+mn-lt"/>
                <a:ea typeface="+mn-ea"/>
                <a:cs typeface="+mn-cs"/>
              </a:rPr>
              <a:t>Then ask: what happens when the film is eighty minutes long and a thing in reel one has to pay off in reel six? That is the question that produces the storyboard, and it gets answered on the next slide.</a:t>
            </a:r>
          </a:p>
        </p:txBody>
      </p:sp>
      <p:sp>
        <p:nvSpPr>
          <p:cNvPr id="4" name="Slide Number Placeholder 3"/>
          <p:cNvSpPr>
            <a:spLocks noGrp="1"/>
          </p:cNvSpPr>
          <p:nvPr>
            <p:ph type="sldNum" sz="quarter" idx="10"/>
          </p:nvPr>
        </p:nvSpPr>
        <p:spPr/>
        <p:txBody>
          <a:bodyPr/>
          <a:lstStyle/>
          <a:p>
            <a:fld id="{1796D361-B4A4-4CC2-BE3E-6B169444DAA7}" type="slidenum">
              <a:rPr lang="en-US" smtClean="0"/>
              <a:t>11</a:t>
            </a:fld>
            <a:endParaRPr lang="en-US"/>
          </a:p>
        </p:txBody>
      </p:sp>
    </p:spTree>
    <p:extLst>
      <p:ext uri="{BB962C8B-B14F-4D97-AF65-F5344CB8AC3E}">
        <p14:creationId xmlns:p14="http://schemas.microsoft.com/office/powerpoint/2010/main" val="32943871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US" sz="1200" kern="1200" dirty="0">
                <a:solidFill>
                  <a:schemeClr val="tx1"/>
                </a:solidFill>
                <a:effectLst/>
                <a:latin typeface="+mn-lt"/>
                <a:ea typeface="+mn-ea"/>
                <a:cs typeface="+mn-cs"/>
              </a:rPr>
              <a:t>This is the single most important slide in the first half of this lecture.</a:t>
            </a:r>
          </a:p>
          <a:p>
            <a:pPr latinLnBrk="1"/>
          </a:p>
          <a:p>
            <a:pPr latinLnBrk="1"/>
            <a:r>
              <a:rPr lang="en-US" sz="1200" kern="1200" dirty="0">
                <a:solidFill>
                  <a:schemeClr val="tx1"/>
                </a:solidFill>
                <a:effectLst/>
                <a:latin typeface="+mn-lt"/>
                <a:ea typeface="+mn-ea"/>
                <a:cs typeface="+mn-cs"/>
              </a:rPr>
              <a:t>Disney's first move was to separate the two jobs. Animators had been generating stories and animating them; Walt split story development into its own department under Ted Sears. That alone changed what was possible.</a:t>
            </a:r>
          </a:p>
          <a:p>
            <a:pPr latinLnBrk="1"/>
          </a:p>
          <a:p>
            <a:pPr latinLnBrk="1"/>
            <a:r>
              <a:rPr lang="en-US" sz="1200" kern="1200" dirty="0">
                <a:solidFill>
                  <a:schemeClr val="tx1"/>
                </a:solidFill>
                <a:effectLst/>
                <a:latin typeface="+mn-lt"/>
                <a:ea typeface="+mn-ea"/>
                <a:cs typeface="+mn-cs"/>
              </a:rPr>
              <a:t>But the sketches piled up faster than anyone could follow. Webb Smith's solution was almost stupidly simple: pin every sketch to the wall, in order, beginning to end. Then stand back and look at the whole thing at once. Then move them around until it works.</a:t>
            </a:r>
          </a:p>
          <a:p>
            <a:pPr latinLnBrk="1"/>
          </a:p>
          <a:p>
            <a:pPr latinLnBrk="1"/>
            <a:r>
              <a:rPr lang="en-US" sz="1200" kern="1200" dirty="0">
                <a:solidFill>
                  <a:schemeClr val="tx1"/>
                </a:solidFill>
                <a:effectLst/>
                <a:latin typeface="+mn-lt"/>
                <a:ea typeface="+mn-ea"/>
                <a:cs typeface="+mn-cs"/>
              </a:rPr>
              <a:t>Say: that is the invention. Not a drawing technique - a way of seeing a sequence all at once, laid out in space, so you can rearrange it before you have spent money on it. Everything since is a refinement of that one idea, including the software you will use.</a:t>
            </a:r>
          </a:p>
          <a:p>
            <a:pPr latinLnBrk="1"/>
          </a:p>
          <a:p>
            <a:pPr latinLnBrk="1"/>
            <a:r>
              <a:rPr lang="en-US" sz="1200" kern="1200" dirty="0">
                <a:solidFill>
                  <a:schemeClr val="tx1"/>
                </a:solidFill>
                <a:effectLst/>
                <a:latin typeface="+mn-lt"/>
                <a:ea typeface="+mn-ea"/>
                <a:cs typeface="+mn-cs"/>
              </a:rPr>
              <a:t>And say this part too, because a later session depends on it: pinning your work to a wall so a room can walk along it and you can talk them through it is still exactly how this is done. When we get to the pitch, that is what you will be doing.</a:t>
            </a:r>
          </a:p>
          <a:p>
            <a:pPr latinLnBrk="1"/>
          </a:p>
          <a:p>
            <a:pPr latinLnBrk="1"/>
            <a:r>
              <a:rPr lang="en-US" sz="1200" kern="1200" dirty="0">
                <a:solidFill>
                  <a:schemeClr val="tx1"/>
                </a:solidFill>
                <a:effectLst/>
                <a:latin typeface="+mn-lt"/>
                <a:ea typeface="+mn-ea"/>
                <a:cs typeface="+mn-cs"/>
              </a:rPr>
              <a:t>The image on the right is a page of story sketches from Plane Crazy, 1928 - the first Mickey cartoon - which was already being built from sketches that looked like a comic strip, with the action described on separate sheets.</a:t>
            </a:r>
          </a:p>
        </p:txBody>
      </p:sp>
      <p:sp>
        <p:nvSpPr>
          <p:cNvPr id="4" name="Slide Number Placeholder 3"/>
          <p:cNvSpPr>
            <a:spLocks noGrp="1"/>
          </p:cNvSpPr>
          <p:nvPr>
            <p:ph type="sldNum" sz="quarter" idx="10"/>
          </p:nvPr>
        </p:nvSpPr>
        <p:spPr/>
        <p:txBody>
          <a:bodyPr/>
          <a:lstStyle/>
          <a:p>
            <a:fld id="{1796D361-B4A4-4CC2-BE3E-6B169444DAA7}" type="slidenum">
              <a:rPr lang="en-US" smtClean="0"/>
              <a:t>15</a:t>
            </a:fld>
            <a:endParaRPr lang="en-US"/>
          </a:p>
        </p:txBody>
      </p:sp>
    </p:spTree>
    <p:extLst>
      <p:ext uri="{BB962C8B-B14F-4D97-AF65-F5344CB8AC3E}">
        <p14:creationId xmlns:p14="http://schemas.microsoft.com/office/powerpoint/2010/main" val="42276524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lnSpc>
                <a:spcPct val="107000"/>
              </a:lnSpc>
              <a:spcBef>
                <a:spcPts val="0"/>
              </a:spcBef>
              <a:spcAft>
                <a:spcPts val="0"/>
              </a:spcAft>
            </a:pPr>
            <a:r>
              <a:rPr lang="en-US" sz="1200" dirty="0">
                <a:solidFill>
                  <a:srgbClr val="40403F"/>
                </a:solidFill>
                <a:effectLst/>
                <a:latin typeface="Helvetica" panose="020B0604020202020204" pitchFamily="34" charset="0"/>
                <a:ea typeface="Times New Roman" panose="02020603050405020304" pitchFamily="18" charset="0"/>
                <a:cs typeface="Times New Roman" panose="02020603050405020304" pitchFamily="18" charset="0"/>
              </a:rPr>
              <a:t>Once the animation studios proved it, live action took it up - but selectively. For decades, live-action films only boarded the expensive parts: effects, stunts, complex action.</a:t>
            </a:r>
          </a:p>
          <a:p>
            <a:pPr marL="0" marR="0">
              <a:lnSpc>
                <a:spcPct val="107000"/>
              </a:lnSpc>
              <a:spcBef>
                <a:spcPts val="0"/>
              </a:spcBef>
              <a:spcAft>
                <a:spcPts val="0"/>
              </a:spcAft>
            </a:pPr>
          </a:p>
          <a:p>
            <a:pPr marL="0" marR="0">
              <a:lnSpc>
                <a:spcPct val="107000"/>
              </a:lnSpc>
              <a:spcBef>
                <a:spcPts val="0"/>
              </a:spcBef>
              <a:spcAft>
                <a:spcPts val="0"/>
              </a:spcAft>
            </a:pPr>
            <a:r>
              <a:rPr lang="en-US" sz="1200" dirty="0">
                <a:solidFill>
                  <a:srgbClr val="40403F"/>
                </a:solidFill>
                <a:effectLst/>
                <a:latin typeface="Helvetica" panose="020B0604020202020204" pitchFamily="34" charset="0"/>
                <a:ea typeface="Times New Roman" panose="02020603050405020304" pitchFamily="18" charset="0"/>
                <a:cs typeface="Times New Roman" panose="02020603050405020304" pitchFamily="18" charset="0"/>
              </a:rPr>
              <a:t>Citizen Kane is the famous early case. Hitchcock is the famous evangelist; he said he found the actual shooting boring because the film was already finished in his head and on paper.</a:t>
            </a:r>
          </a:p>
          <a:p>
            <a:pPr marL="0" marR="0">
              <a:lnSpc>
                <a:spcPct val="107000"/>
              </a:lnSpc>
              <a:spcBef>
                <a:spcPts val="0"/>
              </a:spcBef>
              <a:spcAft>
                <a:spcPts val="0"/>
              </a:spcAft>
            </a:pPr>
          </a:p>
          <a:p>
            <a:pPr marL="0" marR="0">
              <a:lnSpc>
                <a:spcPct val="107000"/>
              </a:lnSpc>
              <a:spcBef>
                <a:spcPts val="0"/>
              </a:spcBef>
              <a:spcAft>
                <a:spcPts val="0"/>
              </a:spcAft>
            </a:pPr>
            <a:r>
              <a:rPr lang="en-US" sz="1200" dirty="0">
                <a:solidFill>
                  <a:srgbClr val="40403F"/>
                </a:solidFill>
                <a:effectLst/>
                <a:latin typeface="Helvetica" panose="020B0604020202020204" pitchFamily="34" charset="0"/>
                <a:ea typeface="Times New Roman" panose="02020603050405020304" pitchFamily="18" charset="0"/>
                <a:cs typeface="Times New Roman" panose="02020603050405020304" pitchFamily="18" charset="0"/>
              </a:rPr>
              <a:t>The Psycho shower scene is the one to know, and here are the real numbers. Saul Bass drew 48 storyboard panels. The finished scene is usually counted at around 78 camera setups and about 52 cuts, and it runs roughly 45 seconds. That is a lot of decisions for 45 seconds, and every one of them was made on paper first.</a:t>
            </a:r>
          </a:p>
          <a:p>
            <a:pPr marL="0" marR="0">
              <a:lnSpc>
                <a:spcPct val="107000"/>
              </a:lnSpc>
              <a:spcBef>
                <a:spcPts val="0"/>
              </a:spcBef>
              <a:spcAft>
                <a:spcPts val="0"/>
              </a:spcAft>
            </a:pPr>
          </a:p>
          <a:p>
            <a:pPr marL="0" marR="0">
              <a:lnSpc>
                <a:spcPct val="107000"/>
              </a:lnSpc>
              <a:spcBef>
                <a:spcPts val="0"/>
              </a:spcBef>
              <a:spcAft>
                <a:spcPts val="0"/>
              </a:spcAft>
            </a:pPr>
            <a:r>
              <a:rPr lang="en-US" sz="1200" dirty="0">
                <a:solidFill>
                  <a:srgbClr val="40403F"/>
                </a:solidFill>
                <a:effectLst/>
                <a:latin typeface="Helvetica" panose="020B0604020202020204" pitchFamily="34" charset="0"/>
                <a:ea typeface="Times New Roman" panose="02020603050405020304" pitchFamily="18" charset="0"/>
                <a:cs typeface="Times New Roman" panose="02020603050405020304" pitchFamily="18" charset="0"/>
              </a:rPr>
              <a:t>Worth telling them, because it is a storyboard-artist story: Bass later implied he had directed the scene, not just boarded it. Janet Leigh, who was in it, and Hilton Green, the assistant director, both said Hitchcock directed every frame. Nobody disputes that Bass drew the boards. The dispute is about how much authorship drawing the boards gives you - which is a real question in this job and one you will have opinions about eventually.</a:t>
            </a:r>
          </a:p>
        </p:txBody>
      </p:sp>
      <p:sp>
        <p:nvSpPr>
          <p:cNvPr id="4" name="Slide Number Placeholder 3"/>
          <p:cNvSpPr>
            <a:spLocks noGrp="1"/>
          </p:cNvSpPr>
          <p:nvPr>
            <p:ph type="sldNum" sz="quarter" idx="10"/>
          </p:nvPr>
        </p:nvSpPr>
        <p:spPr/>
        <p:txBody>
          <a:bodyPr/>
          <a:lstStyle/>
          <a:p>
            <a:fld id="{1796D361-B4A4-4CC2-BE3E-6B169444DAA7}" type="slidenum">
              <a:rPr lang="en-US" smtClean="0"/>
              <a:t>17</a:t>
            </a:fld>
            <a:endParaRPr lang="en-US"/>
          </a:p>
        </p:txBody>
      </p:sp>
    </p:spTree>
    <p:extLst>
      <p:ext uri="{BB962C8B-B14F-4D97-AF65-F5344CB8AC3E}">
        <p14:creationId xmlns:p14="http://schemas.microsoft.com/office/powerpoint/2010/main" val="28561099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US" sz="1200" kern="1200" dirty="0">
                <a:solidFill>
                  <a:schemeClr val="tx1"/>
                </a:solidFill>
                <a:effectLst/>
                <a:latin typeface="+mn-lt"/>
                <a:ea typeface="+mn-ea"/>
                <a:cs typeface="+mn-cs"/>
              </a:rPr>
              <a:t>This is the honest answer and students should hear it early.</a:t>
            </a:r>
          </a:p>
          <a:p>
            <a:pPr latinLnBrk="1"/>
          </a:p>
          <a:p>
            <a:pPr latinLnBrk="1"/>
            <a:r>
              <a:rPr lang="en-US" sz="1200" kern="1200" dirty="0">
                <a:solidFill>
                  <a:schemeClr val="tx1"/>
                </a:solidFill>
                <a:effectLst/>
                <a:latin typeface="+mn-lt"/>
                <a:ea typeface="+mn-ea"/>
                <a:cs typeface="+mn-cs"/>
              </a:rPr>
              <a:t>Boards did not spread through the industry because they are an art form. They spread because a big film has several units shooting simultaneously in different places, and somebody has to guarantee that the footage will cut together. A board is the cheapest available guarantee.</a:t>
            </a:r>
          </a:p>
          <a:p>
            <a:pPr latinLnBrk="1"/>
          </a:p>
          <a:p>
            <a:pPr latinLnBrk="1"/>
            <a:r>
              <a:rPr lang="en-US" sz="1200" kern="1200" dirty="0">
                <a:solidFill>
                  <a:schemeClr val="tx1"/>
                </a:solidFill>
                <a:effectLst/>
                <a:latin typeface="+mn-lt"/>
                <a:ea typeface="+mn-ea"/>
                <a:cs typeface="+mn-cs"/>
              </a:rPr>
              <a:t>Say: not because it is beautiful. Because it is cheaper than fixing it later, and because it keeps two hundred people making the same movie instead of five different ones.</a:t>
            </a:r>
          </a:p>
          <a:p>
            <a:pPr latinLnBrk="1"/>
          </a:p>
          <a:p>
            <a:pPr latinLnBrk="1"/>
            <a:r>
              <a:rPr lang="en-US" sz="1200" kern="1200" dirty="0">
                <a:solidFill>
                  <a:schemeClr val="tx1"/>
                </a:solidFill>
                <a:effectLst/>
                <a:latin typeface="+mn-lt"/>
                <a:ea typeface="+mn-ea"/>
                <a:cs typeface="+mn-cs"/>
              </a:rPr>
              <a:t>That is still the argument. It is the argument you will use when a producer asks why you are being paid, and it is a good argument - the whole value of the document is that it prevents expensive mistakes while they are still cheap.</a:t>
            </a:r>
          </a:p>
          <a:p>
            <a:pPr latinLnBrk="1"/>
          </a:p>
          <a:p>
            <a:pPr latinLnBrk="1"/>
            <a:r>
              <a:rPr lang="en-US" sz="1200" kern="1200" dirty="0">
                <a:solidFill>
                  <a:schemeClr val="tx1"/>
                </a:solidFill>
                <a:effectLst/>
                <a:latin typeface="+mn-lt"/>
                <a:ea typeface="+mn-ea"/>
                <a:cs typeface="+mn-cs"/>
              </a:rPr>
              <a:t>That is the end of the history. From here on, the subject is the shape of the frame.</a:t>
            </a:r>
          </a:p>
        </p:txBody>
      </p:sp>
      <p:sp>
        <p:nvSpPr>
          <p:cNvPr id="4" name="Slide Number Placeholder 3"/>
          <p:cNvSpPr>
            <a:spLocks noGrp="1"/>
          </p:cNvSpPr>
          <p:nvPr>
            <p:ph type="sldNum" sz="quarter" idx="10"/>
          </p:nvPr>
        </p:nvSpPr>
        <p:spPr/>
        <p:txBody>
          <a:bodyPr/>
          <a:lstStyle/>
          <a:p>
            <a:fld id="{1796D361-B4A4-4CC2-BE3E-6B169444DAA7}" type="slidenum">
              <a:rPr lang="en-US" smtClean="0"/>
              <a:t>20</a:t>
            </a:fld>
            <a:endParaRPr lang="en-US"/>
          </a:p>
        </p:txBody>
      </p:sp>
    </p:spTree>
    <p:extLst>
      <p:ext uri="{BB962C8B-B14F-4D97-AF65-F5344CB8AC3E}">
        <p14:creationId xmlns:p14="http://schemas.microsoft.com/office/powerpoint/2010/main" val="309042462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US" sz="1200" kern="1200" dirty="0">
                <a:solidFill>
                  <a:schemeClr val="tx1"/>
                </a:solidFill>
                <a:effectLst/>
                <a:latin typeface="+mn-lt"/>
                <a:ea typeface="+mn-ea"/>
                <a:cs typeface="+mn-cs"/>
              </a:rPr>
              <a:t>Do this one as a question, not a statement. Put the card up and ask if anyone can tell you what was modified. Let them guess. Somebody will say the picture was made smaller, somebody will say it was cut for content.</a:t>
            </a:r>
          </a:p>
          <a:p>
            <a:pPr latinLnBrk="1"/>
          </a:p>
          <a:p>
            <a:pPr latinLnBrk="1"/>
            <a:r>
              <a:rPr lang="en-US" sz="1200" kern="1200" dirty="0">
                <a:solidFill>
                  <a:schemeClr val="tx1"/>
                </a:solidFill>
                <a:effectLst/>
                <a:latin typeface="+mn-lt"/>
                <a:ea typeface="+mn-ea"/>
                <a:cs typeface="+mn-cs"/>
              </a:rPr>
              <a:t>The answer is that the shape was changed, and to change the shape somebody had to throw away part of every single frame in the film.</a:t>
            </a:r>
          </a:p>
          <a:p>
            <a:pPr latinLnBrk="1"/>
          </a:p>
          <a:p>
            <a:pPr latinLnBrk="1"/>
            <a:r>
              <a:rPr lang="en-US" sz="1200" kern="1200" dirty="0">
                <a:solidFill>
                  <a:schemeClr val="tx1"/>
                </a:solidFill>
                <a:effectLst/>
                <a:latin typeface="+mn-lt"/>
                <a:ea typeface="+mn-ea"/>
                <a:cs typeface="+mn-cs"/>
              </a:rPr>
              <a:t>Say: that card is a legal disclaimer that reads like a shrug, and it is describing an act of vandalism that the industry performed on itself for about forty years. Today you find out how it happened and why it stopped.</a:t>
            </a:r>
          </a:p>
        </p:txBody>
      </p:sp>
      <p:sp>
        <p:nvSpPr>
          <p:cNvPr id="4" name="Slide Number Placeholder 3"/>
          <p:cNvSpPr>
            <a:spLocks noGrp="1"/>
          </p:cNvSpPr>
          <p:nvPr>
            <p:ph type="sldNum" sz="quarter" idx="10"/>
          </p:nvPr>
        </p:nvSpPr>
        <p:spPr/>
        <p:txBody>
          <a:bodyPr/>
          <a:lstStyle/>
          <a:p>
            <a:fld id="{1796D361-B4A4-4CC2-BE3E-6B169444DAA7}" type="slidenum">
              <a:rPr lang="en-US" smtClean="0"/>
              <a:t>21</a:t>
            </a:fld>
            <a:endParaRPr lang="en-US"/>
          </a:p>
        </p:txBody>
      </p:sp>
    </p:spTree>
    <p:extLst>
      <p:ext uri="{BB962C8B-B14F-4D97-AF65-F5344CB8AC3E}">
        <p14:creationId xmlns:p14="http://schemas.microsoft.com/office/powerpoint/2010/main" val="14086951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US" sz="1200" kern="1200" dirty="0">
                <a:solidFill>
                  <a:schemeClr val="tx1"/>
                </a:solidFill>
                <a:effectLst/>
                <a:latin typeface="+mn-lt"/>
                <a:ea typeface="+mn-ea"/>
                <a:cs typeface="+mn-cs"/>
              </a:rPr>
              <a:t>Keep this simple and do it on the board with your hands.</a:t>
            </a:r>
          </a:p>
          <a:p>
            <a:pPr latinLnBrk="1"/>
          </a:p>
          <a:p>
            <a:pPr latinLnBrk="1"/>
            <a:r>
              <a:rPr lang="en-US" sz="1200" kern="1200" dirty="0">
                <a:solidFill>
                  <a:schemeClr val="tx1"/>
                </a:solidFill>
                <a:effectLst/>
                <a:latin typeface="+mn-lt"/>
                <a:ea typeface="+mn-ea"/>
                <a:cs typeface="+mn-cs"/>
              </a:rPr>
              <a:t>An aspect ratio is a proportion. The first number is the width, the second is the height, and the height is almost always normalised to 1. So 1.85:1 is a rectangle 1.85 units wide and 1 unit tall.</a:t>
            </a:r>
          </a:p>
          <a:p>
            <a:pPr latinLnBrk="1"/>
          </a:p>
          <a:p>
            <a:pPr latinLnBrk="1"/>
            <a:r>
              <a:rPr lang="en-US" sz="1200" kern="1200" dirty="0">
                <a:solidFill>
                  <a:schemeClr val="tx1"/>
                </a:solidFill>
                <a:effectLst/>
                <a:latin typeface="+mn-lt"/>
                <a:ea typeface="+mn-ea"/>
                <a:cs typeface="+mn-cs"/>
              </a:rPr>
              <a:t>The point students miss: it is a shape, not a size. Scaling a frame up or down does not change its aspect ratio. A 1.85:1 image is the same shape on a phone as it is on an IMAX screen, and a panel you draw at four inches tall is the same shape as the projected image.</a:t>
            </a:r>
          </a:p>
          <a:p>
            <a:pPr latinLnBrk="1"/>
          </a:p>
          <a:p>
            <a:pPr latinLnBrk="1"/>
            <a:r>
              <a:rPr lang="en-US" sz="1200" kern="1200" dirty="0">
                <a:solidFill>
                  <a:schemeClr val="tx1"/>
                </a:solidFill>
                <a:effectLst/>
                <a:latin typeface="+mn-lt"/>
                <a:ea typeface="+mn-ea"/>
                <a:cs typeface="+mn-cs"/>
              </a:rPr>
              <a:t>That is what makes it useful to you. You are not drawing at the size of the film. You are drawing at the shape of it.</a:t>
            </a:r>
          </a:p>
        </p:txBody>
      </p:sp>
      <p:sp>
        <p:nvSpPr>
          <p:cNvPr id="4" name="Slide Number Placeholder 3"/>
          <p:cNvSpPr>
            <a:spLocks noGrp="1"/>
          </p:cNvSpPr>
          <p:nvPr>
            <p:ph type="sldNum" sz="quarter" idx="10"/>
          </p:nvPr>
        </p:nvSpPr>
        <p:spPr/>
        <p:txBody>
          <a:bodyPr/>
          <a:lstStyle/>
          <a:p>
            <a:fld id="{1796D361-B4A4-4CC2-BE3E-6B169444DAA7}" type="slidenum">
              <a:rPr lang="en-US" smtClean="0"/>
              <a:t>22</a:t>
            </a:fld>
            <a:endParaRPr lang="en-US"/>
          </a:p>
        </p:txBody>
      </p:sp>
    </p:spTree>
    <p:extLst>
      <p:ext uri="{BB962C8B-B14F-4D97-AF65-F5344CB8AC3E}">
        <p14:creationId xmlns:p14="http://schemas.microsoft.com/office/powerpoint/2010/main" val="80596821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US" sz="1200" kern="1200" dirty="0">
                <a:solidFill>
                  <a:schemeClr val="tx1"/>
                </a:solidFill>
                <a:effectLst/>
                <a:latin typeface="+mn-lt"/>
                <a:ea typeface="+mn-ea"/>
                <a:cs typeface="+mn-cs"/>
              </a:rPr>
              <a:t>1.33:1 is not a designed choice. It is what you get from the film stock Edison and Dickson settled on, with four perforations per frame. The shape of nearly every film for thirty-five years was determined by a piece of hardware.</a:t>
            </a:r>
          </a:p>
          <a:p>
            <a:pPr latinLnBrk="1"/>
          </a:p>
          <a:p>
            <a:pPr latinLnBrk="1"/>
            <a:r>
              <a:rPr lang="en-US" sz="1200" kern="1200" dirty="0">
                <a:solidFill>
                  <a:schemeClr val="tx1"/>
                </a:solidFill>
                <a:effectLst/>
                <a:latin typeface="+mn-lt"/>
                <a:ea typeface="+mn-ea"/>
                <a:cs typeface="+mn-cs"/>
              </a:rPr>
              <a:t>Four wide by three tall - which is why you will also see it written 4:3, and why it is the same shape as an old television and an old computer monitor.</a:t>
            </a:r>
          </a:p>
          <a:p>
            <a:pPr latinLnBrk="1"/>
          </a:p>
          <a:p>
            <a:pPr latinLnBrk="1"/>
            <a:r>
              <a:rPr lang="en-US" sz="1200" kern="1200" dirty="0">
                <a:solidFill>
                  <a:schemeClr val="tx1"/>
                </a:solidFill>
                <a:effectLst/>
                <a:latin typeface="+mn-lt"/>
                <a:ea typeface="+mn-ea"/>
                <a:cs typeface="+mn-cs"/>
              </a:rPr>
              <a:t>Worth flagging now, because it becomes the whole plot in about four slides: this ratio is the one television is going to take.</a:t>
            </a:r>
          </a:p>
        </p:txBody>
      </p:sp>
      <p:sp>
        <p:nvSpPr>
          <p:cNvPr id="4" name="Slide Number Placeholder 3"/>
          <p:cNvSpPr>
            <a:spLocks noGrp="1"/>
          </p:cNvSpPr>
          <p:nvPr>
            <p:ph type="sldNum" sz="quarter" idx="10"/>
          </p:nvPr>
        </p:nvSpPr>
        <p:spPr/>
        <p:txBody>
          <a:bodyPr/>
          <a:lstStyle/>
          <a:p>
            <a:fld id="{1796D361-B4A4-4CC2-BE3E-6B169444DAA7}" type="slidenum">
              <a:rPr lang="en-US" smtClean="0"/>
              <a:t>23</a:t>
            </a:fld>
            <a:endParaRPr lang="en-US"/>
          </a:p>
        </p:txBody>
      </p:sp>
    </p:spTree>
    <p:extLst>
      <p:ext uri="{BB962C8B-B14F-4D97-AF65-F5344CB8AC3E}">
        <p14:creationId xmlns:p14="http://schemas.microsoft.com/office/powerpoint/2010/main" val="219978490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US" sz="1200" kern="1200" dirty="0">
                <a:solidFill>
                  <a:schemeClr val="tx1"/>
                </a:solidFill>
                <a:effectLst/>
                <a:latin typeface="+mn-lt"/>
                <a:ea typeface="+mn-ea"/>
                <a:cs typeface="+mn-cs"/>
              </a:rPr>
              <a:t>This is a two-step story and the middle step is the interesting one, so do not skip it.</a:t>
            </a:r>
          </a:p>
          <a:p>
            <a:pPr latinLnBrk="1"/>
          </a:p>
          <a:p>
            <a:pPr latinLnBrk="1"/>
            <a:r>
              <a:rPr lang="en-US" sz="1200" kern="1200" dirty="0">
                <a:solidFill>
                  <a:schemeClr val="tx1"/>
                </a:solidFill>
                <a:effectLst/>
                <a:latin typeface="+mn-lt"/>
                <a:ea typeface="+mn-ea"/>
                <a:cs typeface="+mn-cs"/>
              </a:rPr>
              <a:t>When sound came in, the soundtrack was printed optically down the side of the film. It had to go somewhere, and where it went was into the picture. That narrowed the image and left a frame of roughly 1.19:1 - nearly square. It looked bad and everyone knew it looked bad.</a:t>
            </a:r>
          </a:p>
          <a:p>
            <a:pPr latinLnBrk="1"/>
          </a:p>
          <a:p>
            <a:pPr latinLnBrk="1"/>
            <a:r>
              <a:rPr lang="en-US" sz="1200" kern="1200" dirty="0">
                <a:solidFill>
                  <a:schemeClr val="tx1"/>
                </a:solidFill>
                <a:effectLst/>
                <a:latin typeface="+mn-lt"/>
                <a:ea typeface="+mn-ea"/>
                <a:cs typeface="+mn-cs"/>
              </a:rPr>
              <a:t>So in 1932 the Academy standardised a fix: shave the frame height, restore a sensible proportion, and call it 1.37:1. Close enough to the old 1.33 that nobody had to rebuild a theatre.</a:t>
            </a:r>
          </a:p>
          <a:p>
            <a:pPr latinLnBrk="1"/>
          </a:p>
          <a:p>
            <a:pPr latinLnBrk="1"/>
            <a:r>
              <a:rPr lang="en-US" sz="1200" kern="1200" dirty="0">
                <a:solidFill>
                  <a:schemeClr val="tx1"/>
                </a:solidFill>
                <a:effectLst/>
                <a:latin typeface="+mn-lt"/>
                <a:ea typeface="+mn-ea"/>
                <a:cs typeface="+mn-cs"/>
              </a:rPr>
              <a:t>Say: notice what just happened. The shape of every film for the next twenty years was set by where they decided to put the audio. A storytelling format changed because of an engineering constraint. That happens constantly in this industry and it is worth learning to spot, because it is happening to you right now with phones.</a:t>
            </a:r>
          </a:p>
        </p:txBody>
      </p:sp>
      <p:sp>
        <p:nvSpPr>
          <p:cNvPr id="4" name="Slide Number Placeholder 3"/>
          <p:cNvSpPr>
            <a:spLocks noGrp="1"/>
          </p:cNvSpPr>
          <p:nvPr>
            <p:ph type="sldNum" sz="quarter" idx="10"/>
          </p:nvPr>
        </p:nvSpPr>
        <p:spPr/>
        <p:txBody>
          <a:bodyPr/>
          <a:lstStyle/>
          <a:p>
            <a:fld id="{1796D361-B4A4-4CC2-BE3E-6B169444DAA7}" type="slidenum">
              <a:rPr lang="en-US" smtClean="0"/>
              <a:t>24</a:t>
            </a:fld>
            <a:endParaRPr lang="en-US"/>
          </a:p>
        </p:txBody>
      </p:sp>
    </p:spTree>
    <p:extLst>
      <p:ext uri="{BB962C8B-B14F-4D97-AF65-F5344CB8AC3E}">
        <p14:creationId xmlns:p14="http://schemas.microsoft.com/office/powerpoint/2010/main" val="317981701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Get the scale right, because the collapse only means something if the peak does.</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Around 100 million tickets a week at the end of the 1920s, in a country of about 123 million people. That is not a hobby, it is a habit - closer to what television became than to what cinema is now.</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One correction if you have seen this taught before: you will sometimes hear that families went three or four times a week. Do the arithmetic and that cannot be right - the numbers give you roughly one visit per person per week on average. The true version is impressive enough. Most of the country, most weeks.</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Attendance stayed enormous through the war - about 90 million a week in 1946. Then something arrives in the living room.</a:t>
            </a:r>
          </a:p>
        </p:txBody>
      </p:sp>
      <p:sp>
        <p:nvSpPr>
          <p:cNvPr id="4" name="Slide Number Placeholder 3"/>
          <p:cNvSpPr>
            <a:spLocks noGrp="1"/>
          </p:cNvSpPr>
          <p:nvPr>
            <p:ph type="sldNum" sz="quarter" idx="10"/>
          </p:nvPr>
        </p:nvSpPr>
        <p:spPr/>
        <p:txBody>
          <a:bodyPr/>
          <a:lstStyle/>
          <a:p>
            <a:fld id="{1796D361-B4A4-4CC2-BE3E-6B169444DAA7}" type="slidenum">
              <a:rPr lang="en-US" smtClean="0"/>
              <a:t>25</a:t>
            </a:fld>
            <a:endParaRPr lang="en-US"/>
          </a:p>
        </p:txBody>
      </p:sp>
    </p:spTree>
    <p:extLst>
      <p:ext uri="{BB962C8B-B14F-4D97-AF65-F5344CB8AC3E}">
        <p14:creationId xmlns:p14="http://schemas.microsoft.com/office/powerpoint/2010/main" val="3023413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Read the numbers out loud in order. The arc does the work: 100 million a week, then 90, then 60, then 45, then 20. Eighty per cent of the audience gone in forty years.</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By 1960 there is a set in about nine out of ten American homes. That is close to total saturation inside a single generation.</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Say: so Hollywood needs to offer something a television physically cannot do. Not better writing - a television can carry good writing. Something the hardware in the living room is incapable of reproducing.</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Then ask the room what they would do. Somebody will say make it bigger. That is right, and it is the answer the industry reached too - but bigger in which direction? That is the next three slides.</a:t>
            </a:r>
          </a:p>
        </p:txBody>
      </p:sp>
      <p:sp>
        <p:nvSpPr>
          <p:cNvPr id="4" name="Slide Number Placeholder 3"/>
          <p:cNvSpPr>
            <a:spLocks noGrp="1"/>
          </p:cNvSpPr>
          <p:nvPr>
            <p:ph type="sldNum" sz="quarter" idx="10"/>
          </p:nvPr>
        </p:nvSpPr>
        <p:spPr/>
        <p:txBody>
          <a:bodyPr/>
          <a:lstStyle/>
          <a:p>
            <a:fld id="{1796D361-B4A4-4CC2-BE3E-6B169444DAA7}" type="slidenum">
              <a:rPr lang="en-US" smtClean="0"/>
              <a:t>26</a:t>
            </a:fld>
            <a:endParaRPr lang="en-US"/>
          </a:p>
        </p:txBody>
      </p:sp>
    </p:spTree>
    <p:extLst>
      <p:ext uri="{BB962C8B-B14F-4D97-AF65-F5344CB8AC3E}">
        <p14:creationId xmlns:p14="http://schemas.microsoft.com/office/powerpoint/2010/main" val="20520458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Cinerama is the maximalist answer: if a television cannot be wide, be enormously wide.</a:t>
            </a:r>
          </a:p>
          <a:p/>
          <a:p>
            <a:r>
              <a:rPr lang="en-US" sz="1200" kern="1200" dirty="0">
                <a:solidFill>
                  <a:schemeClr val="tx1"/>
                </a:solidFill>
                <a:effectLst/>
                <a:latin typeface="+mn-lt"/>
                <a:ea typeface="+mn-ea"/>
                <a:cs typeface="+mn-cs"/>
              </a:rPr>
              <a:t>Three synchronised cameras shooting side by side, three projectors throwing onto a deeply curved screen that wrapped past the edge of your peripheral vision. About 2.6:1 overall.</a:t>
            </a:r>
          </a:p>
          <a:p/>
          <a:p>
            <a:r>
              <a:rPr lang="en-US" sz="1200" kern="1200" dirty="0">
                <a:solidFill>
                  <a:schemeClr val="tx1"/>
                </a:solidFill>
                <a:effectLst/>
                <a:latin typeface="+mn-lt"/>
                <a:ea typeface="+mn-ea"/>
                <a:cs typeface="+mn-cs"/>
              </a:rPr>
              <a:t>The opening film was not a story. It was a demonstration, and the first sequence was a roller coaster shot from the front car. People screamed and some of them were sick. That was the selling point: your television cannot do this to you.</a:t>
            </a:r>
          </a:p>
          <a:p/>
          <a:p>
            <a:r>
              <a:rPr lang="en-US" sz="1200" kern="1200" dirty="0">
                <a:solidFill>
                  <a:schemeClr val="tx1"/>
                </a:solidFill>
                <a:effectLst/>
                <a:latin typeface="+mn-lt"/>
                <a:ea typeface="+mn-ea"/>
                <a:cs typeface="+mn-cs"/>
              </a:rPr>
              <a:t>It died of economics. Every theatre needed three projectors, three operators in sync, and a new screen. And you could see the two vertical seams where the panels met.</a:t>
            </a:r>
          </a:p>
          <a:p/>
          <a:p>
            <a:r>
              <a:rPr lang="en-US" sz="1200" kern="1200" dirty="0">
                <a:solidFill>
                  <a:schemeClr val="tx1"/>
                </a:solidFill>
                <a:effectLst/>
                <a:latin typeface="+mn-lt"/>
                <a:ea typeface="+mn-ea"/>
                <a:cs typeface="+mn-cs"/>
              </a:rPr>
              <a:t>Say: hold on to the failure mode, because it is a pattern. The technically spectacular format loses to the cheap one that is nearly as good. It happens again with 3D, twice.</a:t>
            </a:r>
          </a:p>
        </p:txBody>
      </p:sp>
      <p:sp>
        <p:nvSpPr>
          <p:cNvPr id="4" name="Slide Number Placeholder 3"/>
          <p:cNvSpPr>
            <a:spLocks noGrp="1"/>
          </p:cNvSpPr>
          <p:nvPr>
            <p:ph type="sldNum" sz="quarter" idx="10"/>
          </p:nvPr>
        </p:nvSpPr>
        <p:spPr/>
        <p:txBody>
          <a:bodyPr/>
          <a:lstStyle/>
          <a:p>
            <a:fld id="{1796D361-B4A4-4CC2-BE3E-6B169444DAA7}" type="slidenum">
              <a:rPr lang="en-US" smtClean="0"/>
              <a:t>27</a:t>
            </a:fld>
            <a:endParaRPr lang="en-US"/>
          </a:p>
        </p:txBody>
      </p:sp>
    </p:spTree>
    <p:extLst>
      <p:ext uri="{BB962C8B-B14F-4D97-AF65-F5344CB8AC3E}">
        <p14:creationId xmlns:p14="http://schemas.microsoft.com/office/powerpoint/2010/main" val="139138706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This is the clever one, and the cleverness is worth explaining because it is a great example of solving a problem sideways.</a:t>
            </a:r>
          </a:p>
          <a:p/>
          <a:p>
            <a:r>
              <a:rPr lang="en-US" sz="1200" kern="1200" dirty="0">
                <a:solidFill>
                  <a:schemeClr val="tx1"/>
                </a:solidFill>
                <a:effectLst/>
                <a:latin typeface="+mn-lt"/>
                <a:ea typeface="+mn-ea"/>
                <a:cs typeface="+mn-cs"/>
              </a:rPr>
              <a:t>Cinerama needed new cameras, new projectors and a new screen. CinemaScope needed two pieces of glass. An anamorphic lens optically squeezes a wide field of view onto a standard 35mm frame - everything looks tall and thin on the negative. A matching lens on the projector stretches it back out.</a:t>
            </a:r>
          </a:p>
          <a:p/>
          <a:p>
            <a:r>
              <a:rPr lang="en-US" sz="1200" kern="1200" dirty="0">
                <a:solidFill>
                  <a:schemeClr val="tx1"/>
                </a:solidFill>
                <a:effectLst/>
                <a:latin typeface="+mn-lt"/>
                <a:ea typeface="+mn-ea"/>
                <a:cs typeface="+mn-cs"/>
              </a:rPr>
              <a:t>Same film stock. Same projector body. Same theatre. Two lenses.</a:t>
            </a:r>
          </a:p>
          <a:p/>
          <a:p>
            <a:r>
              <a:rPr lang="en-US" sz="1200" kern="1200" dirty="0">
                <a:solidFill>
                  <a:schemeClr val="tx1"/>
                </a:solidFill>
                <a:effectLst/>
                <a:latin typeface="+mn-lt"/>
                <a:ea typeface="+mn-ea"/>
                <a:cs typeface="+mn-cs"/>
              </a:rPr>
              <a:t>Say: that is the difference between a format that dies in five years and a format that is still in use seventy years later. Ask them which constraint each solution respected.</a:t>
            </a:r>
          </a:p>
          <a:p/>
          <a:p>
            <a:r>
              <a:rPr lang="en-US" sz="1200" kern="1200" dirty="0">
                <a:solidFill>
                  <a:schemeClr val="tx1"/>
                </a:solidFill>
                <a:effectLst/>
                <a:latin typeface="+mn-lt"/>
                <a:ea typeface="+mn-ea"/>
                <a:cs typeface="+mn-cs"/>
              </a:rPr>
              <a:t>The Robe was the first feature out, in 1953. Lady and the Tramp is the one worth naming for this room - the first animated feature made in the format, which meant Disney's board artists had to learn to compose for a shape more than twice as wide as tall, having spent twenty years in 1.37.</a:t>
            </a:r>
          </a:p>
        </p:txBody>
      </p:sp>
      <p:sp>
        <p:nvSpPr>
          <p:cNvPr id="4" name="Slide Number Placeholder 3"/>
          <p:cNvSpPr>
            <a:spLocks noGrp="1"/>
          </p:cNvSpPr>
          <p:nvPr>
            <p:ph type="sldNum" sz="quarter" idx="10"/>
          </p:nvPr>
        </p:nvSpPr>
        <p:spPr/>
        <p:txBody>
          <a:bodyPr/>
          <a:lstStyle/>
          <a:p>
            <a:fld id="{1796D361-B4A4-4CC2-BE3E-6B169444DAA7}" type="slidenum">
              <a:rPr lang="en-US" smtClean="0"/>
              <a:t>29</a:t>
            </a:fld>
            <a:endParaRPr lang="en-US"/>
          </a:p>
        </p:txBody>
      </p:sp>
    </p:spTree>
    <p:extLst>
      <p:ext uri="{BB962C8B-B14F-4D97-AF65-F5344CB8AC3E}">
        <p14:creationId xmlns:p14="http://schemas.microsoft.com/office/powerpoint/2010/main" val="33487786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CinemaScope's lenses had real problems. Faces near the edge of frame stretched, and there was a focus artefact bad enough that cinematographers called it the CinemaScope mumps.</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Panavision built better anamorphics, licensed them, and took the market. The name survives as a rental house that is still supplying anamorphic lenses today.</a:t>
            </a:r>
          </a:p>
          <a:p>
            <a:pPr marL="0" marR="0" lvl="0" indent="0" algn="l" defTabSz="914400" rtl="0" eaLnBrk="1" fontAlgn="auto" latinLnBrk="0" hangingPunct="1">
              <a:lnSpc>
                <a:spcPct val="100000"/>
              </a:lnSpc>
              <a:spcBef>
                <a:spcPts val="0"/>
              </a:spcBef>
              <a:spcAft>
                <a:spcPts val="0"/>
              </a:spcAft>
              <a:buClrTx/>
              <a:buSzTx/>
              <a:buFontTx/>
              <a:buNone/>
              <a:tabLst/>
              <a:defRPr/>
            </a:p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One number to be precise about, because you will see both and they look like a contradiction. The anamorphic standard was 2.35:1 until 1970, when a change to the projection aperture made it 2.39:1. Films from before 1970 are genuinely 2.35; films after are 2.39. Almost everyone in the industry still says two-three-five for both. If you write 2.39 on a modern project you are correct, and if a supervisor says 2.35 they mean the same thing.</a:t>
            </a:r>
          </a:p>
        </p:txBody>
      </p:sp>
      <p:sp>
        <p:nvSpPr>
          <p:cNvPr id="4" name="Slide Number Placeholder 3"/>
          <p:cNvSpPr>
            <a:spLocks noGrp="1"/>
          </p:cNvSpPr>
          <p:nvPr>
            <p:ph type="sldNum" sz="quarter" idx="10"/>
          </p:nvPr>
        </p:nvSpPr>
        <p:spPr/>
        <p:txBody>
          <a:bodyPr/>
          <a:lstStyle/>
          <a:p>
            <a:fld id="{1796D361-B4A4-4CC2-BE3E-6B169444DAA7}" type="slidenum">
              <a:rPr lang="en-US" smtClean="0"/>
              <a:t>31</a:t>
            </a:fld>
            <a:endParaRPr lang="en-US"/>
          </a:p>
        </p:txBody>
      </p:sp>
    </p:spTree>
    <p:extLst>
      <p:ext uri="{BB962C8B-B14F-4D97-AF65-F5344CB8AC3E}">
        <p14:creationId xmlns:p14="http://schemas.microsoft.com/office/powerpoint/2010/main" val="242794175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two images on the right are the same height and different widths, which is the entire point. Let them look at it for a second before you talk.</a:t>
            </a:r>
          </a:p>
          <a:p/>
          <a:p>
            <a:r>
              <a:rPr lang="en-US" sz="1200" kern="1200" dirty="0">
                <a:solidFill>
                  <a:schemeClr val="tx1"/>
                </a:solidFill>
                <a:effectLst/>
                <a:latin typeface="+mn-lt"/>
                <a:ea typeface="+mn-ea"/>
                <a:cs typeface="+mn-cs"/>
              </a:rPr>
              <a:t>1.85 is the workhorse. Comedy, drama, most animated features, most of what you will ever be asked to board.</a:t>
            </a:r>
          </a:p>
          <a:p/>
          <a:p>
            <a:r>
              <a:rPr lang="en-US" sz="1200" kern="1200" dirty="0">
                <a:solidFill>
                  <a:schemeClr val="tx1"/>
                </a:solidFill>
                <a:effectLst/>
                <a:latin typeface="+mn-lt"/>
                <a:ea typeface="+mn-ea"/>
                <a:cs typeface="+mn-cs"/>
              </a:rPr>
              <a:t>2.39 is the wide one, and it is not just decoration. It changes what is possible in a single frame. You can hold two people at opposite ends of a composition with landscape between them and never cut. You can put a figure in the far corner and let the emptiness carry the meaning. What you lose is height, which is why 2.39 is bad at tall things - staircases, towers, anyone standing up quickly.</a:t>
            </a:r>
          </a:p>
          <a:p/>
          <a:p>
            <a:r>
              <a:rPr lang="en-US" sz="1200" kern="1200" dirty="0">
                <a:solidFill>
                  <a:schemeClr val="tx1"/>
                </a:solidFill>
                <a:effectLst/>
                <a:latin typeface="+mn-lt"/>
                <a:ea typeface="+mn-ea"/>
                <a:cs typeface="+mn-cs"/>
              </a:rPr>
              <a:t>Do this live: ask the room which ratio a horror film wants, and make them argue it. There is no correct answer. The good arguments go both ways - wide gives you space beside a character for something to be in, and narrow gives you a frame the character cannot escape. Whichever way they go, they are now thinking about ratio as a storytelling decision, which is the objective.</a:t>
            </a:r>
          </a:p>
        </p:txBody>
      </p:sp>
      <p:sp>
        <p:nvSpPr>
          <p:cNvPr id="4" name="Slide Number Placeholder 3"/>
          <p:cNvSpPr>
            <a:spLocks noGrp="1"/>
          </p:cNvSpPr>
          <p:nvPr>
            <p:ph type="sldNum" sz="quarter" idx="10"/>
          </p:nvPr>
        </p:nvSpPr>
        <p:spPr/>
        <p:txBody>
          <a:bodyPr/>
          <a:lstStyle/>
          <a:p>
            <a:fld id="{1796D361-B4A4-4CC2-BE3E-6B169444DAA7}" type="slidenum">
              <a:rPr lang="en-US" smtClean="0"/>
              <a:t>32</a:t>
            </a:fld>
            <a:endParaRPr lang="en-US"/>
          </a:p>
        </p:txBody>
      </p:sp>
    </p:spTree>
    <p:extLst>
      <p:ext uri="{BB962C8B-B14F-4D97-AF65-F5344CB8AC3E}">
        <p14:creationId xmlns:p14="http://schemas.microsoft.com/office/powerpoint/2010/main" val="29659514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State the problem plainly before you give either solution, because the two solutions are opposite answers to the same question.</a:t>
            </a:r>
          </a:p>
          <a:p/>
          <a:p>
            <a:r>
              <a:rPr lang="en-US" sz="1200" kern="1200" dirty="0">
                <a:solidFill>
                  <a:schemeClr val="tx1"/>
                </a:solidFill>
                <a:effectLst/>
                <a:latin typeface="+mn-lt"/>
                <a:ea typeface="+mn-ea"/>
                <a:cs typeface="+mn-cs"/>
              </a:rPr>
              <a:t>You have an image that is much wider than the screen it now has to live on. There are exactly two things you can do. You can throw away the parts that do not fit, or you can shrink the whole image until it does and accept empty space above and below.</a:t>
            </a:r>
          </a:p>
          <a:p/>
          <a:p>
            <a:r>
              <a:rPr lang="en-US" sz="1200" kern="1200" dirty="0">
                <a:solidFill>
                  <a:schemeClr val="tx1"/>
                </a:solidFill>
                <a:effectLst/>
                <a:latin typeface="+mn-lt"/>
                <a:ea typeface="+mn-ea"/>
                <a:cs typeface="+mn-cs"/>
              </a:rPr>
              <a:t>That is it. Those are the only options, and the industry tried both. The interesting part is that the choice between them is not technical - it is a question about whose judgement counts.</a:t>
            </a:r>
          </a:p>
        </p:txBody>
      </p:sp>
      <p:sp>
        <p:nvSpPr>
          <p:cNvPr id="4" name="Slide Number Placeholder 3"/>
          <p:cNvSpPr>
            <a:spLocks noGrp="1"/>
          </p:cNvSpPr>
          <p:nvPr>
            <p:ph type="sldNum" sz="quarter" idx="10"/>
          </p:nvPr>
        </p:nvSpPr>
        <p:spPr/>
        <p:txBody>
          <a:bodyPr/>
          <a:lstStyle/>
          <a:p>
            <a:fld id="{1796D361-B4A4-4CC2-BE3E-6B169444DAA7}" type="slidenum">
              <a:rPr lang="en-US" smtClean="0"/>
              <a:t>35</a:t>
            </a:fld>
            <a:endParaRPr lang="en-US"/>
          </a:p>
        </p:txBody>
      </p:sp>
    </p:spTree>
    <p:extLst>
      <p:ext uri="{BB962C8B-B14F-4D97-AF65-F5344CB8AC3E}">
        <p14:creationId xmlns:p14="http://schemas.microsoft.com/office/powerpoint/2010/main" val="185935379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Pan and scan works exactly as described: an operator watches the film, decides where the important thing is in each shot, and crops a 1.33 window around it. When the important thing moves, or when the film cuts between two people at opposite edges, the window slides across - which invents a camera move that was never shot.</a:t>
            </a:r>
          </a:p>
          <a:p/>
          <a:p>
            <a:r>
              <a:rPr lang="en-US" sz="1200" kern="1200" dirty="0">
                <a:solidFill>
                  <a:schemeClr val="tx1"/>
                </a:solidFill>
                <a:effectLst/>
                <a:latin typeface="+mn-lt"/>
                <a:ea typeface="+mn-ea"/>
                <a:cs typeface="+mn-cs"/>
              </a:rPr>
              <a:t>Say that last part twice. Pan and scan can add camera movement to a locked-off shot. It can turn a single composition holding two actors into what looks like a cut between them.</a:t>
            </a:r>
          </a:p>
          <a:p/>
          <a:p>
            <a:r>
              <a:rPr lang="en-US" sz="1200" kern="1200" dirty="0">
                <a:solidFill>
                  <a:schemeClr val="tx1"/>
                </a:solidFill>
                <a:effectLst/>
                <a:latin typeface="+mn-lt"/>
                <a:ea typeface="+mn-ea"/>
                <a:cs typeface="+mn-cs"/>
              </a:rPr>
              <a:t>It was not done out of malice. It filled the screen, and audiences at home preferred a full screen. But the person making those decisions was a technician on a deadline, not the director, and they were making a compositional decision in every single shot of the film.</a:t>
            </a:r>
          </a:p>
        </p:txBody>
      </p:sp>
      <p:sp>
        <p:nvSpPr>
          <p:cNvPr id="4" name="Slide Number Placeholder 3"/>
          <p:cNvSpPr>
            <a:spLocks noGrp="1"/>
          </p:cNvSpPr>
          <p:nvPr>
            <p:ph type="sldNum" sz="quarter" idx="10"/>
          </p:nvPr>
        </p:nvSpPr>
        <p:spPr/>
        <p:txBody>
          <a:bodyPr/>
          <a:lstStyle/>
          <a:p>
            <a:fld id="{1796D361-B4A4-4CC2-BE3E-6B169444DAA7}" type="slidenum">
              <a:rPr lang="en-US" smtClean="0"/>
              <a:t>37</a:t>
            </a:fld>
            <a:endParaRPr lang="en-US"/>
          </a:p>
        </p:txBody>
      </p:sp>
    </p:spTree>
    <p:extLst>
      <p:ext uri="{BB962C8B-B14F-4D97-AF65-F5344CB8AC3E}">
        <p14:creationId xmlns:p14="http://schemas.microsoft.com/office/powerpoint/2010/main" val="207208872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Give them the arithmetic, because the arithmetic is more persuasive than the complaint.</a:t>
            </a:r>
          </a:p>
          <a:p/>
          <a:p>
            <a:r>
              <a:rPr lang="en-US" sz="1200" kern="1200" dirty="0">
                <a:solidFill>
                  <a:schemeClr val="tx1"/>
                </a:solidFill>
                <a:effectLst/>
                <a:latin typeface="+mn-lt"/>
                <a:ea typeface="+mn-ea"/>
                <a:cs typeface="+mn-cs"/>
              </a:rPr>
              <a:t>Going from 1.85 to 1.33 you keep 1.33 of 1.85 - about 72%, so you lose 28 per cent of the width. From 2.35 you keep 1.33 of 2.35, which is 57%: you lose 43 per cent. Nearly half the picture.</a:t>
            </a:r>
          </a:p>
          <a:p/>
          <a:p>
            <a:r>
              <a:rPr lang="en-US" sz="1200" kern="1200" dirty="0">
                <a:solidFill>
                  <a:schemeClr val="tx1"/>
                </a:solidFill>
                <a:effectLst/>
                <a:latin typeface="+mn-lt"/>
                <a:ea typeface="+mn-ea"/>
                <a:cs typeface="+mn-cs"/>
              </a:rPr>
              <a:t>Now make it concrete. Put up any wide two-shot with people at both edges and ask what a 1.33 window can hold. It can hold one of them. So either the technician picks a favourite, or the window slides back and forth, or the film cuts - and none of those three was the director's decision.</a:t>
            </a:r>
          </a:p>
          <a:p/>
          <a:p>
            <a:r>
              <a:rPr lang="en-US" sz="1200" kern="1200" dirty="0">
                <a:solidFill>
                  <a:schemeClr val="tx1"/>
                </a:solidFill>
                <a:effectLst/>
                <a:latin typeface="+mn-lt"/>
                <a:ea typeface="+mn-ea"/>
                <a:cs typeface="+mn-cs"/>
              </a:rPr>
              <a:t>Say: someone composed that frame on purpose and somebody else re-composed it later, for a rectangle it was never made for. That should bother you a little. If it does not yet, it will after you have spent a month composing your own.</a:t>
            </a:r>
          </a:p>
        </p:txBody>
      </p:sp>
      <p:sp>
        <p:nvSpPr>
          <p:cNvPr id="4" name="Slide Number Placeholder 3"/>
          <p:cNvSpPr>
            <a:spLocks noGrp="1"/>
          </p:cNvSpPr>
          <p:nvPr>
            <p:ph type="sldNum" sz="quarter" idx="10"/>
          </p:nvPr>
        </p:nvSpPr>
        <p:spPr/>
        <p:txBody>
          <a:bodyPr/>
          <a:lstStyle/>
          <a:p>
            <a:fld id="{1796D361-B4A4-4CC2-BE3E-6B169444DAA7}" type="slidenum">
              <a:rPr lang="en-US" smtClean="0"/>
              <a:t>38</a:t>
            </a:fld>
            <a:endParaRPr lang="en-US"/>
          </a:p>
        </p:txBody>
      </p:sp>
    </p:spTree>
    <p:extLst>
      <p:ext uri="{BB962C8B-B14F-4D97-AF65-F5344CB8AC3E}">
        <p14:creationId xmlns:p14="http://schemas.microsoft.com/office/powerpoint/2010/main" val="366432560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Letterboxing is the opposite trade. Instead of discarding picture to fill the screen, you preserve the picture and give up screen.</a:t>
            </a:r>
          </a:p>
          <a:p/>
          <a:p>
            <a:r>
              <a:rPr lang="en-US" sz="1200" kern="1200" dirty="0">
                <a:solidFill>
                  <a:schemeClr val="tx1"/>
                </a:solidFill>
                <a:effectLst/>
                <a:latin typeface="+mn-lt"/>
                <a:ea typeface="+mn-ea"/>
                <a:cs typeface="+mn-cs"/>
              </a:rPr>
              <a:t>It was unpopular for years. People had paid for a big television and felt cheated by the empty strips. Video labels who released letterboxed editions had to put explanations on the packaging.</a:t>
            </a:r>
          </a:p>
          <a:p/>
          <a:p>
            <a:r>
              <a:rPr lang="en-US" sz="1200" kern="1200" dirty="0">
                <a:solidFill>
                  <a:schemeClr val="tx1"/>
                </a:solidFill>
                <a:effectLst/>
                <a:latin typeface="+mn-lt"/>
                <a:ea typeface="+mn-ea"/>
                <a:cs typeface="+mn-cs"/>
              </a:rPr>
              <a:t>Directors pushed hard for it anyway, and eventually won - helped enormously by widescreen sets arriving, which made the bars smaller and the argument easier.</a:t>
            </a:r>
          </a:p>
          <a:p/>
          <a:p>
            <a:r>
              <a:rPr lang="en-US" sz="1200" kern="1200" dirty="0">
                <a:solidFill>
                  <a:schemeClr val="tx1"/>
                </a:solidFill>
                <a:effectLst/>
                <a:latin typeface="+mn-lt"/>
                <a:ea typeface="+mn-ea"/>
                <a:cs typeface="+mn-cs"/>
              </a:rPr>
              <a:t>Say: the bars are not a defect and they are not a border. They are the film declining to be re-cropped. That is a nice line to end on, and it sets up the next slide.</a:t>
            </a:r>
          </a:p>
        </p:txBody>
      </p:sp>
      <p:sp>
        <p:nvSpPr>
          <p:cNvPr id="4" name="Slide Number Placeholder 3"/>
          <p:cNvSpPr>
            <a:spLocks noGrp="1"/>
          </p:cNvSpPr>
          <p:nvPr>
            <p:ph type="sldNum" sz="quarter" idx="10"/>
          </p:nvPr>
        </p:nvSpPr>
        <p:spPr/>
        <p:txBody>
          <a:bodyPr/>
          <a:lstStyle/>
          <a:p>
            <a:fld id="{1796D361-B4A4-4CC2-BE3E-6B169444DAA7}" type="slidenum">
              <a:rPr lang="en-US" smtClean="0"/>
              <a:t>39</a:t>
            </a:fld>
            <a:endParaRPr lang="en-US"/>
          </a:p>
        </p:txBody>
      </p:sp>
    </p:spTree>
    <p:extLst>
      <p:ext uri="{BB962C8B-B14F-4D97-AF65-F5344CB8AC3E}">
        <p14:creationId xmlns:p14="http://schemas.microsoft.com/office/powerpoint/2010/main" val="133958820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Pull the thread together here, because this is the takeaway rather than the trivia.</a:t>
            </a:r>
          </a:p>
          <a:p/>
          <a:p>
            <a:r>
              <a:rPr lang="en-US" sz="1200" kern="1200" dirty="0">
                <a:solidFill>
                  <a:schemeClr val="tx1"/>
                </a:solidFill>
                <a:effectLst/>
                <a:latin typeface="+mn-lt"/>
                <a:ea typeface="+mn-ea"/>
                <a:cs typeface="+mn-cs"/>
              </a:rPr>
              <a:t>Cinema invents a shape. Television takes it. Cinema changes shape to escape. Television takes that shape too, eventually. At every step, somebody is deciding what happens to a picture composed for a different rectangle.</a:t>
            </a:r>
          </a:p>
          <a:p/>
          <a:p>
            <a:r>
              <a:rPr lang="en-US" sz="1200" kern="1200" dirty="0">
                <a:solidFill>
                  <a:schemeClr val="tx1"/>
                </a:solidFill>
                <a:effectLst/>
                <a:latin typeface="+mn-lt"/>
                <a:ea typeface="+mn-ea"/>
                <a:cs typeface="+mn-cs"/>
              </a:rPr>
              <a:t>Say: that never ended, it just moved. The screen your work gets watched on now is a phone held vertically, or a laptop, or an ultrawide monitor, or a television twice the size of the ones in this story. Your composition will be re-cropped by an algorithm instead of a technician, and nobody will send you a card apologising for it.</a:t>
            </a:r>
          </a:p>
          <a:p/>
          <a:p>
            <a:r>
              <a:rPr lang="en-US" sz="1200" kern="1200" dirty="0">
                <a:solidFill>
                  <a:schemeClr val="tx1"/>
                </a:solidFill>
                <a:effectLst/>
                <a:latin typeface="+mn-lt"/>
                <a:ea typeface="+mn-ea"/>
                <a:cs typeface="+mn-cs"/>
              </a:rPr>
              <a:t>Which is the argument for the next three slides.</a:t>
            </a:r>
          </a:p>
        </p:txBody>
      </p:sp>
      <p:sp>
        <p:nvSpPr>
          <p:cNvPr id="4" name="Slide Number Placeholder 3"/>
          <p:cNvSpPr>
            <a:spLocks noGrp="1"/>
          </p:cNvSpPr>
          <p:nvPr>
            <p:ph type="sldNum" sz="quarter" idx="10"/>
          </p:nvPr>
        </p:nvSpPr>
        <p:spPr/>
        <p:txBody>
          <a:bodyPr/>
          <a:lstStyle/>
          <a:p>
            <a:fld id="{1796D361-B4A4-4CC2-BE3E-6B169444DAA7}" type="slidenum">
              <a:rPr lang="en-US" smtClean="0"/>
              <a:t>40</a:t>
            </a:fld>
            <a:endParaRPr lang="en-US"/>
          </a:p>
        </p:txBody>
      </p:sp>
    </p:spTree>
    <p:extLst>
      <p:ext uri="{BB962C8B-B14F-4D97-AF65-F5344CB8AC3E}">
        <p14:creationId xmlns:p14="http://schemas.microsoft.com/office/powerpoint/2010/main" val="195939584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Slow down for this section. This is where the students who are quietly lost will fall behind, and it is genuinely easy, which makes falling behind here especially unfair.</a:t>
            </a:r>
          </a:p>
          <a:p/>
          <a:p>
            <a:r>
              <a:rPr lang="en-US" sz="1200" kern="1200" dirty="0">
                <a:solidFill>
                  <a:schemeClr val="tx1"/>
                </a:solidFill>
                <a:effectLst/>
                <a:latin typeface="+mn-lt"/>
                <a:ea typeface="+mn-ea"/>
                <a:cs typeface="+mn-cs"/>
              </a:rPr>
              <a:t>There are two directions. Going out from a ratio to a size, you multiply. Going from a size back to a ratio, you divide. That is it. There is no third case.</a:t>
            </a:r>
          </a:p>
          <a:p/>
          <a:p>
            <a:r>
              <a:rPr lang="en-US" sz="1200" kern="1200" dirty="0">
                <a:solidFill>
                  <a:schemeClr val="tx1"/>
                </a:solidFill>
                <a:effectLst/>
                <a:latin typeface="+mn-lt"/>
                <a:ea typeface="+mn-ea"/>
                <a:cs typeface="+mn-cs"/>
              </a:rPr>
              <a:t>Do both on the board. Do not just show the slides.</a:t>
            </a:r>
          </a:p>
        </p:txBody>
      </p:sp>
      <p:sp>
        <p:nvSpPr>
          <p:cNvPr id="4" name="Slide Number Placeholder 3"/>
          <p:cNvSpPr>
            <a:spLocks noGrp="1"/>
          </p:cNvSpPr>
          <p:nvPr>
            <p:ph type="sldNum" sz="quarter" idx="10"/>
          </p:nvPr>
        </p:nvSpPr>
        <p:spPr/>
        <p:txBody>
          <a:bodyPr/>
          <a:lstStyle/>
          <a:p>
            <a:fld id="{1796D361-B4A4-4CC2-BE3E-6B169444DAA7}" type="slidenum">
              <a:rPr lang="en-US" smtClean="0"/>
              <a:t>41</a:t>
            </a:fld>
            <a:endParaRPr lang="en-US"/>
          </a:p>
        </p:txBody>
      </p:sp>
    </p:spTree>
    <p:extLst>
      <p:ext uri="{BB962C8B-B14F-4D97-AF65-F5344CB8AC3E}">
        <p14:creationId xmlns:p14="http://schemas.microsoft.com/office/powerpoint/2010/main" val="241747042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reverse direction, and the one you use when somebody hands you something and does not tell you what it is.</a:t>
            </a:r>
          </a:p>
          <a:p/>
          <a:p>
            <a:r>
              <a:rPr lang="en-US" sz="1200" kern="1200" dirty="0">
                <a:solidFill>
                  <a:schemeClr val="tx1"/>
                </a:solidFill>
                <a:effectLst/>
                <a:latin typeface="+mn-lt"/>
                <a:ea typeface="+mn-ea"/>
                <a:cs typeface="+mn-cs"/>
              </a:rPr>
              <a:t>Measure the width, measure the height, divide. Width divided by height, always in that order - if you get a number below 1 you have done it upside down, unless the frame really is taller than it is wide, which now genuinely happens with vertical.</a:t>
            </a:r>
          </a:p>
          <a:p/>
          <a:p>
            <a:r>
              <a:rPr lang="en-US" sz="1200" kern="1200" dirty="0">
                <a:solidFill>
                  <a:schemeClr val="tx1"/>
                </a:solidFill>
                <a:effectLst/>
                <a:latin typeface="+mn-lt"/>
                <a:ea typeface="+mn-ea"/>
                <a:cs typeface="+mn-cs"/>
              </a:rPr>
              <a:t>Worth mentioning: this is how you check a template you have been given rather than trusting its label. On a real production the label is sometimes wrong.</a:t>
            </a:r>
          </a:p>
        </p:txBody>
      </p:sp>
      <p:sp>
        <p:nvSpPr>
          <p:cNvPr id="4" name="Slide Number Placeholder 3"/>
          <p:cNvSpPr>
            <a:spLocks noGrp="1"/>
          </p:cNvSpPr>
          <p:nvPr>
            <p:ph type="sldNum" sz="quarter" idx="10"/>
          </p:nvPr>
        </p:nvSpPr>
        <p:spPr/>
        <p:txBody>
          <a:bodyPr/>
          <a:lstStyle/>
          <a:p>
            <a:fld id="{1796D361-B4A4-4CC2-BE3E-6B169444DAA7}" type="slidenum">
              <a:rPr lang="en-US" smtClean="0"/>
              <a:t>42</a:t>
            </a:fld>
            <a:endParaRPr lang="en-US"/>
          </a:p>
        </p:txBody>
      </p:sp>
    </p:spTree>
    <p:extLst>
      <p:ext uri="{BB962C8B-B14F-4D97-AF65-F5344CB8AC3E}">
        <p14:creationId xmlns:p14="http://schemas.microsoft.com/office/powerpoint/2010/main" val="250619732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One sentence, then stop talking. Do not add a second summary slide - the exit ticket does the retention work.</a:t>
            </a:r>
          </a:p>
          <a:p/>
          <a:p>
            <a:r>
              <a:rPr lang="en-US" sz="1200" kern="1200" dirty="0">
                <a:solidFill>
                  <a:schemeClr val="tx1"/>
                </a:solidFill>
                <a:effectLst/>
                <a:latin typeface="+mn-lt"/>
                <a:ea typeface="+mn-ea"/>
                <a:cs typeface="+mn-cs"/>
              </a:rPr>
              <a:t>Exit ticket: post your ratio calculation for the template you are about to build, showing the arithmetic. Not the finished template - just the working. One line. Graded on existing, not on being right, and if it is wrong I would rather find out tonight than in week four.</a:t>
            </a:r>
          </a:p>
        </p:txBody>
      </p:sp>
      <p:sp>
        <p:nvSpPr>
          <p:cNvPr id="4" name="Slide Number Placeholder 3"/>
          <p:cNvSpPr>
            <a:spLocks noGrp="1"/>
          </p:cNvSpPr>
          <p:nvPr>
            <p:ph type="sldNum" sz="quarter" idx="10"/>
          </p:nvPr>
        </p:nvSpPr>
        <p:spPr/>
        <p:txBody>
          <a:bodyPr/>
          <a:lstStyle/>
          <a:p>
            <a:fld id="{1796D361-B4A4-4CC2-BE3E-6B169444DAA7}" type="slidenum">
              <a:rPr lang="en-US" smtClean="0"/>
              <a:t>43</a:t>
            </a:fld>
            <a:endParaRPr lang="en-US"/>
          </a:p>
        </p:txBody>
      </p:sp>
    </p:spTree>
    <p:extLst>
      <p:ext uri="{BB962C8B-B14F-4D97-AF65-F5344CB8AC3E}">
        <p14:creationId xmlns:p14="http://schemas.microsoft.com/office/powerpoint/2010/main" val="166640405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This is the slide that justifies the assignment, so land it properly.</a:t>
            </a:r>
          </a:p>
          <a:p/>
          <a:p>
            <a:r>
              <a:rPr lang="en-US" sz="1200" kern="1200" dirty="0">
                <a:solidFill>
                  <a:schemeClr val="tx1"/>
                </a:solidFill>
                <a:effectLst/>
                <a:latin typeface="+mn-lt"/>
                <a:ea typeface="+mn-ea"/>
                <a:cs typeface="+mn-cs"/>
              </a:rPr>
              <a:t>Every compositional decision you make is a decision about a relationship between something and an edge. Headroom is a relationship to the top edge. Lead room is a relationship to the leading edge. A rule-of-thirds intersection is a point defined entirely by where the edges are.</a:t>
            </a:r>
          </a:p>
          <a:p/>
          <a:p>
            <a:r>
              <a:rPr lang="en-US" sz="1200" kern="1200" dirty="0">
                <a:solidFill>
                  <a:schemeClr val="tx1"/>
                </a:solidFill>
                <a:effectLst/>
                <a:latin typeface="+mn-lt"/>
                <a:ea typeface="+mn-ea"/>
                <a:cs typeface="+mn-cs"/>
              </a:rPr>
              <a:t>Change the shape and every one of those relationships moves. So if you draw twenty panels and then discover the ratio was wrong, you have not made a small error - you have composed twenty frames for a rectangle that does not exist.</a:t>
            </a:r>
          </a:p>
          <a:p/>
          <a:p>
            <a:r>
              <a:rPr lang="en-US" sz="1200" kern="1200" dirty="0">
                <a:solidFill>
                  <a:schemeClr val="tx1"/>
                </a:solidFill>
                <a:effectLst/>
                <a:latin typeface="+mn-lt"/>
                <a:ea typeface="+mn-ea"/>
                <a:cs typeface="+mn-cs"/>
              </a:rPr>
              <a:t>Say: you cannot compose for a shape you have not chosen. That is why this session comes before the template build, and it is why the template build is an assignment instead of a footnote.</a:t>
            </a:r>
          </a:p>
        </p:txBody>
      </p:sp>
      <p:sp>
        <p:nvSpPr>
          <p:cNvPr id="4" name="Slide Number Placeholder 3"/>
          <p:cNvSpPr>
            <a:spLocks noGrp="1"/>
          </p:cNvSpPr>
          <p:nvPr>
            <p:ph type="sldNum" sz="quarter" idx="10"/>
          </p:nvPr>
        </p:nvSpPr>
        <p:spPr/>
        <p:txBody>
          <a:bodyPr/>
          <a:lstStyle/>
          <a:p>
            <a:fld id="{1796D361-B4A4-4CC2-BE3E-6B169444DAA7}" type="slidenum">
              <a:rPr lang="en-US" smtClean="0"/>
              <a:t>47</a:t>
            </a:fld>
            <a:endParaRPr lang="en-US"/>
          </a:p>
        </p:txBody>
      </p:sp>
    </p:spTree>
    <p:extLst>
      <p:ext uri="{BB962C8B-B14F-4D97-AF65-F5344CB8AC3E}">
        <p14:creationId xmlns:p14="http://schemas.microsoft.com/office/powerpoint/2010/main" val="103991016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the hinge of the entire lecture, so slow down here.</a:t>
            </a:r>
          </a:p>
          <a:p/>
          <a:p>
            <a:r>
              <a:rPr lang="en-US" dirty="0"/>
              <a:t>Television did not compete with the movies on content, at least not at first - early TV was mostly cheap and live. It competed on convenience, and, crucially, it competed in the identical shape. A broadcast picture was 1.33:1, the same rectangle audiences had been watching in theatres since the 1890s.</a:t>
            </a:r>
          </a:p>
          <a:p/>
          <a:p>
            <a:r>
              <a:rPr lang="en-US" dirty="0"/>
              <a:t>Say: think about what that means for the exhibitor. The thing you sell is a rectangle with pictures in it, and somebody has just started giving away the same rectangle, in the customer's house, for nothing.</a:t>
            </a:r>
          </a:p>
          <a:p/>
          <a:p>
            <a:r>
              <a:rPr lang="en-US" dirty="0"/>
              <a:t>Everything that happens to the shape of film for the next twenty years is a response to that one fact. Hollywood cannot compete on price and it cannot compete on convenience. The only axis left is the shape itself.</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old version of this lecture stopped at letterboxing, which puts the end of the story somewhere around 1995. Here is the actual landscape you will deliver into.</a:t>
            </a:r>
          </a:p>
          <a:p/>
          <a:p>
            <a:r>
              <a:rPr lang="en-US" dirty="0"/>
              <a:t>16:9 is the negotiated settlement - close enough to 1.85 that a feature loses almost nothing, wide enough that television stopped being square. It is not a natural shape. Nothing about it is natural. It is a compromise between two industries.</a:t>
            </a:r>
          </a:p>
          <a:p/>
          <a:p>
            <a:r>
              <a:rPr lang="en-US" dirty="0"/>
              <a:t>The genuinely new item on this list is vertical. 9:16 is not a crop of anything; it is a native delivery format with real money behind it, and it inverts almost every assumption in the shot vocabulary you are about to learn. You lose the horizontal, which means you lose most two-shots and most establishing shots. You gain stacking - foreground and background become the axis you compose along.</a:t>
            </a:r>
          </a:p>
          <a:p/>
          <a:p>
            <a:r>
              <a:rPr lang="en-US" dirty="0"/>
              <a:t>And 4:3 is now a choice again. When you see it in a new film it is doing work: period, confinement, a character with no room.</a:t>
            </a:r>
          </a:p>
          <a:p/>
          <a:p>
            <a:r>
              <a:rPr lang="en-US" dirty="0"/>
              <a:t>Say: your generation is the first to grow up composing for a vertical frame, and almost everything written about composition assumes you are not. Somebody in this room is going to be paid to solve that.</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the case where the mismatch problem is permanent rather than occasional.</a:t>
            </a:r>
          </a:p>
          <a:p/>
          <a:p>
            <a:r>
              <a:rPr lang="en-US" dirty="0"/>
              <a:t>A film is finished in one ratio and then adapted. A game ships into a hardware landscape where the player's aspect ratio is genuinely unknown and can change mid-session when they plug into a television.</a:t>
            </a:r>
          </a:p>
          <a:p/>
          <a:p>
            <a:r>
              <a:rPr lang="en-US" dirty="0"/>
              <a:t>So games solve it structurally: safe areas for anything that must be readable, interface anchored to the edges rather than laid out for one rectangle, cameras that adjust field of view by ratio. Cinematics get the film treatment; gameplay does not.</a:t>
            </a:r>
          </a:p>
          <a:p/>
          <a:p>
            <a:r>
              <a:rPr lang="en-US" dirty="0"/>
              <a:t>Say: we will come back to this properly in the games session. For now, notice that it is the same problem from 1953, with the technician replaced by a runtime.</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Close the loop back to slide 9 explicitly - the card at the top of the session was the setup for this.</a:t>
            </a:r>
          </a:p>
          <a:p/>
          <a:p>
            <a:r>
              <a:rPr lang="en-US" dirty="0"/>
              <a:t>There is no correct aspect ratio. There is a shape this thing will be watched in, and either you composed for it or you did not. That is the whole discipline in one question, and it is answerable in about four seconds at the start of a project and expensive to answer at the end.</a:t>
            </a:r>
          </a:p>
          <a:p/>
          <a:p>
            <a:r>
              <a:rPr lang="en-US" dirty="0"/>
              <a:t>Say: from here to the end of the term, the first question I will ask about any panel you show me is what shape it is in. Not because I care about the number - because the number determines whether every other decision on the page makes sense.</a:t>
            </a:r>
          </a:p>
          <a:p/>
          <a:p>
            <a:r>
              <a:rPr lang="en-US" dirty="0"/>
              <a:t>Now we do the arithmetic, and then you build the thing.</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Do the first one on the board while they watch, then do a second one and make them call out the answer before you write it.</a:t>
            </a:r>
          </a:p>
          <a:p/>
          <a:p>
            <a:r>
              <a:rPr lang="en-US" dirty="0"/>
              <a:t>Height first is a practical point worth making. Your page is a fixed size. How many panels fit down a page is a function of panel height, so that is the number you actually control. Width falls out of the ratio.</a:t>
            </a:r>
          </a:p>
          <a:p/>
          <a:p>
            <a:r>
              <a:rPr lang="en-US" dirty="0"/>
              <a:t>A useful sanity check to give them: the answer must always be bigger than the height for anything wider than 1:1. If a student's width comes out smaller than their height, they have divided instead of multiplied, or they have the numbers the wrong way round. That is the single most common error on this assignment and it is catchable in one second.</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table is a reference, not something to memorise. Say that explicitly or somebody will try to learn it.</a:t>
            </a:r>
          </a:p>
          <a:p/>
          <a:p>
            <a:r>
              <a:rPr lang="en-US" dirty="0"/>
              <a:t>What they need is the ability to produce any row of it with a calculator in about ten seconds. The table is here so that during the build they can check themselves without putting a hand up.</a:t>
            </a:r>
          </a:p>
          <a:p/>
          <a:p>
            <a:r>
              <a:rPr lang="en-US" dirty="0"/>
              <a:t>Two things to point out. First, look down the 2.39 column - at five inches tall it is nearly twelve inches wide, which does not fit on a sheet of paper with any margin. That is a real constraint and it is why panel height gets chosen first. Second, notice 1.78 and 1.85 are almost the same number. They are not the same shape, and on a real production using one where the other was specified is a genuine error, but they are close enough that eyeballing will not catch it. Which is the argument for calculating.</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Be blunt here. This is the list, and telling them in advance removes every excuse.</a:t>
            </a:r>
          </a:p>
          <a:p/>
          <a:p>
            <a:r>
              <a:rPr lang="en-US" dirty="0"/>
              <a:t>Eyeballing is the big one. A rectangle that looks about right is between five and fifteen per cent off, which is enough to change every edge relationship on the page.</a:t>
            </a:r>
          </a:p>
          <a:p/>
          <a:p>
            <a:r>
              <a:rPr lang="en-US" dirty="0"/>
              <a:t>Panels not matching each other is what happens when someone draws the first box carefully and then copies it by hand instead of duplicating it. Duplicate. Do not redraw.</a:t>
            </a:r>
          </a:p>
          <a:p/>
          <a:p>
            <a:r>
              <a:rPr lang="en-US" dirty="0"/>
              <a:t>Wrong ratio for the sequence is the expensive one, because it invalidates the drawing rather than the template.</a:t>
            </a:r>
          </a:p>
          <a:p/>
          <a:p>
            <a:r>
              <a:rPr lang="en-US" dirty="0"/>
              <a:t>Too small is the one nobody expects to be a problem. If your panel is two inches wide you cannot get a hand into it, you will draw tighter than you mean to, and every pose will be stiff. Give yourself room.</a:t>
            </a:r>
          </a:p>
          <a:p/>
          <a:p>
            <a:r>
              <a:rPr lang="en-US" dirty="0"/>
              <a:t>Say: all four of these are avoidable in about a minute of arithmetic, which is exactly why the arithmetic is what I am grading.</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Bring the brief up on screen and start the demo. Do not just describe it.</a:t>
            </a:r>
          </a:p>
          <a:p/>
          <a:p>
            <a:r>
              <a:rPr lang="en-US" dirty="0"/>
              <a:t>The assignment sheet is A1 - Template Build, and it has the arithmetic worked on it, so nobody has to remember what you said. Handout H1 has the notation the fields are there to hold, which is why the template needs room for camera notes and not just a picture box.</a:t>
            </a:r>
          </a:p>
          <a:p/>
          <a:p>
            <a:r>
              <a:rPr lang="en-US" dirty="0"/>
              <a:t>If you are assigning a ratio other than 1.85:1, say the number now and make them write it down.</a:t>
            </a:r>
          </a:p>
          <a:p/>
          <a:p>
            <a:r>
              <a:rPr lang="en-US" dirty="0"/>
              <a:t>Say the honest sales pitch out loud: fifty points for a rectangle with the right proportions. Take the free points, then never think about it again, because you will use this file every week for the rest of the term.</a:t>
            </a:r>
          </a:p>
          <a:p/>
          <a:p>
            <a:r>
              <a:rPr lang="en-US" dirty="0"/>
              <a:t>And ask, before you start: has anyone here never opened Photoshop? Ask it in a way that makes it easy to say yes - the prerequisite is not reliably enforced and there will be at least one, usually more. Ten minutes now is cheaper than a lost assignment.</a:t>
            </a: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r:embed="rId2">
            <a:alphaModFix amt="21000"/>
            <a:lum/>
          </a:blip>
          <a:srcRect/>
          <a:tile tx="0" ty="0" sx="100000" sy="100000" flip="none" algn="tl"/>
        </a:blipFill>
        <a:effectLst/>
      </p:bgPr>
    </p:bg>
    <p:spTree>
      <p:nvGrpSpPr>
        <p:cNvPr id="1" name=""/>
        <p:cNvGrpSpPr/>
        <p:nvPr/>
      </p:nvGrpSpPr>
      <p:grpSpPr>
        <a:xfrm>
          <a:off x="0" y="0"/>
          <a:ext cx="0" cy="0"/>
          <a:chOff x="0" y="0"/>
          <a:chExt cx="0" cy="0"/>
        </a:xfrm>
      </p:grpSpPr>
      <p:pic>
        <p:nvPicPr>
          <p:cNvPr id="7" name="Picture 6" descr="HD-PanelTitle-GrommetsCombined.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88825" cy="6856214"/>
          </a:xfrm>
          <a:prstGeom prst="rect">
            <a:avLst/>
          </a:prstGeom>
          <a:noFill/>
        </p:spPr>
      </p:pic>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dirty="0"/>
              <a:t>Click to edit Master title style</a:t>
            </a:r>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228139C1-1262-42B4-8C9D-564A735A2FD1}" type="datetimeFigureOut">
              <a:rPr lang="en-US" smtClean="0"/>
              <a:t>1/31/20</a:t>
            </a:fld>
            <a:endParaRPr lang="en-US"/>
          </a:p>
        </p:txBody>
      </p:sp>
      <p:sp>
        <p:nvSpPr>
          <p:cNvPr id="5" name="Footer Placeholder 4"/>
          <p:cNvSpPr>
            <a:spLocks noGrp="1"/>
          </p:cNvSpPr>
          <p:nvPr>
            <p:ph type="ftr" sz="quarter" idx="11"/>
          </p:nvPr>
        </p:nvSpPr>
        <p:spPr>
          <a:xfrm>
            <a:off x="2692397" y="5037663"/>
            <a:ext cx="5214635" cy="279400"/>
          </a:xfrm>
        </p:spPr>
        <p:txBody>
          <a:bodyPr/>
          <a:lstStyle/>
          <a:p>
            <a:endParaRPr lang="en-US"/>
          </a:p>
        </p:txBody>
      </p:sp>
      <p:sp>
        <p:nvSpPr>
          <p:cNvPr id="6" name="Slide Number Placeholder 5"/>
          <p:cNvSpPr>
            <a:spLocks noGrp="1"/>
          </p:cNvSpPr>
          <p:nvPr>
            <p:ph type="sldNum" sz="quarter" idx="12"/>
          </p:nvPr>
        </p:nvSpPr>
        <p:spPr>
          <a:xfrm>
            <a:off x="8956900" y="5037663"/>
            <a:ext cx="551167" cy="279400"/>
          </a:xfrm>
        </p:spPr>
        <p:txBody>
          <a:bodyPr/>
          <a:lstStyle/>
          <a:p>
            <a:fld id="{837BF610-71BB-45D1-8BAD-DB306F755D9B}" type="slidenum">
              <a:rPr lang="en-US" smtClean="0"/>
              <a:t>‹#›</a:t>
            </a:fld>
            <a:endParaRPr lang="en-US"/>
          </a:p>
        </p:txBody>
      </p:sp>
      <p:cxnSp>
        <p:nvCxnSpPr>
          <p:cNvPr id="15" name="Straight Connector 14"/>
          <p:cNvCxnSpPr/>
          <p:nvPr/>
        </p:nvCxnSpPr>
        <p:spPr>
          <a:xfrm>
            <a:off x="2692399" y="3522131"/>
            <a:ext cx="681566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31222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le Slide">
    <p:bg>
      <p:bgPr>
        <a:blipFill dpi="0" rotWithShape="1">
          <a:blip r:embed="rId2">
            <a:alphaModFix amt="21000"/>
            <a:lum/>
          </a:blip>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2692398" y="626532"/>
            <a:ext cx="6815669" cy="1515533"/>
          </a:xfrm>
        </p:spPr>
        <p:txBody>
          <a:bodyPr anchor="b">
            <a:noAutofit/>
          </a:bodyPr>
          <a:lstStyle>
            <a:lvl1pPr algn="ctr">
              <a:defRPr sz="5400">
                <a:effectLst/>
              </a:defRPr>
            </a:lvl1pPr>
          </a:lstStyle>
          <a:p>
            <a:r>
              <a:rPr lang="en-US" dirty="0"/>
              <a:t>Click to edit Master title style</a:t>
            </a:r>
          </a:p>
        </p:txBody>
      </p:sp>
      <p:sp>
        <p:nvSpPr>
          <p:cNvPr id="11" name="Picture Placeholder 10"/>
          <p:cNvSpPr>
            <a:spLocks noGrp="1"/>
          </p:cNvSpPr>
          <p:nvPr>
            <p:ph type="pic" sz="quarter" idx="10"/>
          </p:nvPr>
        </p:nvSpPr>
        <p:spPr>
          <a:xfrm>
            <a:off x="2692397" y="2254250"/>
            <a:ext cx="6815669" cy="4184650"/>
          </a:xfrm>
          <a:effectLst>
            <a:outerShdw blurRad="50800" dist="50800" dir="5400000" algn="ctr" rotWithShape="0">
              <a:schemeClr val="tx1"/>
            </a:outerShdw>
          </a:effectLst>
        </p:spPr>
        <p:txBody>
          <a:bodyPr/>
          <a:lstStyle/>
          <a:p>
            <a:endParaRPr lang="en-US" dirty="0"/>
          </a:p>
        </p:txBody>
      </p:sp>
    </p:spTree>
    <p:extLst>
      <p:ext uri="{BB962C8B-B14F-4D97-AF65-F5344CB8AC3E}">
        <p14:creationId xmlns:p14="http://schemas.microsoft.com/office/powerpoint/2010/main" val="7929917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alphaModFix amt="20000"/>
            <a:lum/>
          </a:blip>
          <a:srcRect/>
          <a:tile tx="0" ty="0" sx="100000" sy="100000" flip="none" algn="tl"/>
        </a:blipFill>
        <a:effectLst/>
      </p:bgPr>
    </p:bg>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28139C1-1262-42B4-8C9D-564A735A2FD1}" type="datetimeFigureOut">
              <a:rPr lang="en-US" smtClean="0"/>
              <a:t>1/31/20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F610-71BB-45D1-8BAD-DB306F755D9B}" type="slidenum">
              <a:rPr lang="en-US" smtClean="0"/>
              <a:t>‹#›</a:t>
            </a:fld>
            <a:endParaRPr lang="en-US"/>
          </a:p>
        </p:txBody>
      </p:sp>
    </p:spTree>
    <p:extLst>
      <p:ext uri="{BB962C8B-B14F-4D97-AF65-F5344CB8AC3E}">
        <p14:creationId xmlns:p14="http://schemas.microsoft.com/office/powerpoint/2010/main" val="15810211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alphaModFix amt="20000"/>
            <a:lum/>
          </a:blip>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228139C1-1262-42B4-8C9D-564A735A2FD1}" type="datetimeFigureOut">
              <a:rPr lang="en-US" smtClean="0"/>
              <a:t>1/31/20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F610-71BB-45D1-8BAD-DB306F755D9B}" type="slidenum">
              <a:rPr lang="en-US" smtClean="0"/>
              <a:t>‹#›</a:t>
            </a:fld>
            <a:endParaRPr lang="en-US"/>
          </a:p>
        </p:txBody>
      </p:sp>
      <p:cxnSp>
        <p:nvCxnSpPr>
          <p:cNvPr id="16" name="Straight Connector 15"/>
          <p:cNvCxnSpPr/>
          <p:nvPr/>
        </p:nvCxnSpPr>
        <p:spPr>
          <a:xfrm>
            <a:off x="2012723" y="3710585"/>
            <a:ext cx="8163380"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524528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bg>
      <p:bgPr>
        <a:blipFill dpi="0" rotWithShape="1">
          <a:blip r:embed="rId2">
            <a:alphaModFix amt="20000"/>
            <a:lum/>
          </a:blip>
          <a:srcRect/>
          <a:tile tx="0" ty="0" sx="100000" sy="100000" flip="none" algn="tl"/>
        </a:blipFill>
        <a:effectLst/>
      </p:bgPr>
    </p:bg>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28139C1-1262-42B4-8C9D-564A735A2FD1}" type="datetimeFigureOut">
              <a:rPr lang="en-US" smtClean="0"/>
              <a:t>1/31/20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37BF610-71BB-45D1-8BAD-DB306F755D9B}" type="slidenum">
              <a:rPr lang="en-US" smtClean="0"/>
              <a:t>‹#›</a:t>
            </a:fld>
            <a:endParaRPr lang="en-US"/>
          </a:p>
        </p:txBody>
      </p:sp>
    </p:spTree>
    <p:extLst>
      <p:ext uri="{BB962C8B-B14F-4D97-AF65-F5344CB8AC3E}">
        <p14:creationId xmlns:p14="http://schemas.microsoft.com/office/powerpoint/2010/main" val="42766027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bg>
      <p:bgPr>
        <a:blipFill dpi="0" rotWithShape="1">
          <a:blip r:embed="rId2">
            <a:alphaModFix amt="20000"/>
          </a:blip>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0671" y="2658533"/>
            <a:ext cx="4718304" cy="576262"/>
          </a:xfrm>
        </p:spPr>
        <p:txBody>
          <a:bodyPr anchor="b">
            <a:noAutofit/>
          </a:bodyPr>
          <a:lstStyle>
            <a:lvl1pPr marL="0" indent="0">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80671" y="3243262"/>
            <a:ext cx="4718304" cy="2632605"/>
          </a:xfrm>
        </p:spPr>
        <p:txBody>
          <a:bodyPr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28139C1-1262-42B4-8C9D-564A735A2FD1}" type="datetimeFigureOut">
              <a:rPr lang="en-US" smtClean="0"/>
              <a:t>1/31/20</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37BF610-71BB-45D1-8BAD-DB306F755D9B}" type="slidenum">
              <a:rPr lang="en-US" smtClean="0"/>
              <a:t>‹#›</a:t>
            </a:fld>
            <a:endParaRPr lang="en-US"/>
          </a:p>
        </p:txBody>
      </p:sp>
      <p:cxnSp>
        <p:nvCxnSpPr>
          <p:cNvPr id="18" name="Straight Connector 17"/>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629147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bg>
      <p:bgPr>
        <a:blipFill dpi="0" rotWithShape="1">
          <a:blip r:embed="rId2">
            <a:alphaModFix amt="20000"/>
          </a:blip>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28139C1-1262-42B4-8C9D-564A735A2FD1}" type="datetimeFigureOut">
              <a:rPr lang="en-US" smtClean="0"/>
              <a:t>1/31/20</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37BF610-71BB-45D1-8BAD-DB306F755D9B}"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074460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bg>
      <p:bgPr>
        <a:blipFill dpi="0" rotWithShape="1">
          <a:blip r:embed="rId2">
            <a:alphaModFix amt="20000"/>
            <a:lum/>
          </a:blip>
          <a:srcRect/>
          <a:stretch>
            <a:fillRect/>
          </a:stretch>
        </a:blip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8139C1-1262-42B4-8C9D-564A735A2FD1}" type="datetimeFigureOut">
              <a:rPr lang="en-US" smtClean="0"/>
              <a:t>1/31/20</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37BF610-71BB-45D1-8BAD-DB306F755D9B}" type="slidenum">
              <a:rPr lang="en-US" smtClean="0"/>
              <a:t>‹#›</a:t>
            </a:fld>
            <a:endParaRPr lang="en-US"/>
          </a:p>
        </p:txBody>
      </p:sp>
    </p:spTree>
    <p:extLst>
      <p:ext uri="{BB962C8B-B14F-4D97-AF65-F5344CB8AC3E}">
        <p14:creationId xmlns:p14="http://schemas.microsoft.com/office/powerpoint/2010/main" val="26491364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alphaModFix amt="20000"/>
            <a:lum/>
          </a:blip>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228139C1-1262-42B4-8C9D-564A735A2FD1}" type="datetimeFigureOut">
              <a:rPr lang="en-US" smtClean="0"/>
              <a:t>1/31/20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37BF610-71BB-45D1-8BAD-DB306F755D9B}" type="slidenum">
              <a:rPr lang="en-US" smtClean="0"/>
              <a:t>‹#›</a:t>
            </a:fld>
            <a:endParaRPr lang="en-US"/>
          </a:p>
        </p:txBody>
      </p:sp>
      <p:cxnSp>
        <p:nvCxnSpPr>
          <p:cNvPr id="16" name="Straight Connector 15"/>
          <p:cNvCxnSpPr/>
          <p:nvPr/>
        </p:nvCxnSpPr>
        <p:spPr>
          <a:xfrm>
            <a:off x="1396169" y="2912533"/>
            <a:ext cx="35144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682190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1">
          <a:blip r:embed="rId2">
            <a:alphaModFix amt="20000"/>
          </a:blip>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228139C1-1262-42B4-8C9D-564A735A2FD1}" type="datetimeFigureOut">
              <a:rPr lang="en-US" smtClean="0"/>
              <a:t>1/31/20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37BF610-71BB-45D1-8BAD-DB306F755D9B}" type="slidenum">
              <a:rPr lang="en-US" smtClean="0"/>
              <a:t>‹#›</a:t>
            </a:fld>
            <a:endParaRPr lang="en-US"/>
          </a:p>
        </p:txBody>
      </p:sp>
    </p:spTree>
    <p:extLst>
      <p:ext uri="{BB962C8B-B14F-4D97-AF65-F5344CB8AC3E}">
        <p14:creationId xmlns:p14="http://schemas.microsoft.com/office/powerpoint/2010/main" val="40337910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Panoramic Picture with Caption">
    <p:bg>
      <p:bgPr>
        <a:blipFill dpi="0" rotWithShape="1">
          <a:blip r:embed="rId2">
            <a:alphaModFix amt="20000"/>
          </a:blip>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228139C1-1262-42B4-8C9D-564A735A2FD1}" type="datetimeFigureOut">
              <a:rPr lang="en-US" smtClean="0"/>
              <a:t>1/31/20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37BF610-71BB-45D1-8BAD-DB306F755D9B}" type="slidenum">
              <a:rPr lang="en-US" smtClean="0"/>
              <a:t>‹#›</a:t>
            </a:fld>
            <a:endParaRPr lang="en-US"/>
          </a:p>
        </p:txBody>
      </p:sp>
    </p:spTree>
    <p:extLst>
      <p:ext uri="{BB962C8B-B14F-4D97-AF65-F5344CB8AC3E}">
        <p14:creationId xmlns:p14="http://schemas.microsoft.com/office/powerpoint/2010/main" val="1793055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tle and Caption">
    <p:bg>
      <p:bgPr>
        <a:blipFill dpi="0" rotWithShape="1">
          <a:blip r:embed="rId2">
            <a:alphaModFix amt="20000"/>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228139C1-1262-42B4-8C9D-564A735A2FD1}" type="datetimeFigureOut">
              <a:rPr lang="en-US" smtClean="0"/>
              <a:t>1/31/20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F610-71BB-45D1-8BAD-DB306F755D9B}" type="slidenum">
              <a:rPr lang="en-US" smtClean="0"/>
              <a:t>‹#›</a:t>
            </a:fld>
            <a:endParaRPr lang="en-US"/>
          </a:p>
        </p:txBody>
      </p:sp>
      <p:cxnSp>
        <p:nvCxnSpPr>
          <p:cNvPr id="15" name="Straight Connector 14"/>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3488583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with Caption">
    <p:bg>
      <p:bgPr>
        <a:blipFill dpi="0" rotWithShape="1">
          <a:blip r:embed="rId2">
            <a:alphaModFix amt="20000"/>
          </a:blip>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228139C1-1262-42B4-8C9D-564A735A2FD1}" type="datetimeFigureOut">
              <a:rPr lang="en-US" smtClean="0"/>
              <a:t>1/31/20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F610-71BB-45D1-8BAD-DB306F755D9B}" type="slidenum">
              <a:rPr lang="en-US" smtClean="0"/>
              <a:t>‹#›</a:t>
            </a:fld>
            <a:endParaRPr lang="en-US"/>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19" name="Straight Connector 18"/>
          <p:cNvCxnSpPr/>
          <p:nvPr/>
        </p:nvCxnSpPr>
        <p:spPr>
          <a:xfrm>
            <a:off x="1396169" y="4140199"/>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262376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Name Card">
    <p:bg>
      <p:bgPr>
        <a:blipFill dpi="0" rotWithShape="1">
          <a:blip r:embed="rId2">
            <a:alphaModFix amt="20000"/>
            <a:lum/>
          </a:blip>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228139C1-1262-42B4-8C9D-564A735A2FD1}" type="datetimeFigureOut">
              <a:rPr lang="en-US" smtClean="0"/>
              <a:t>1/31/20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F610-71BB-45D1-8BAD-DB306F755D9B}" type="slidenum">
              <a:rPr lang="en-US" smtClean="0"/>
              <a:t>‹#›</a:t>
            </a:fld>
            <a:endParaRPr lang="en-US"/>
          </a:p>
        </p:txBody>
      </p:sp>
    </p:spTree>
    <p:extLst>
      <p:ext uri="{BB962C8B-B14F-4D97-AF65-F5344CB8AC3E}">
        <p14:creationId xmlns:p14="http://schemas.microsoft.com/office/powerpoint/2010/main" val="482829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Quote Name Card">
    <p:bg>
      <p:bgPr>
        <a:blipFill dpi="0" rotWithShape="1">
          <a:blip r:embed="rId2">
            <a:alphaModFix amt="20000"/>
          </a:blip>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4"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228139C1-1262-42B4-8C9D-564A735A2FD1}" type="datetimeFigureOut">
              <a:rPr lang="en-US" smtClean="0"/>
              <a:t>1/31/20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F610-71BB-45D1-8BAD-DB306F755D9B}" type="slidenum">
              <a:rPr lang="en-US" smtClean="0"/>
              <a:t>‹#›</a:t>
            </a:fld>
            <a:endParaRPr lang="en-US"/>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26" name="Straight Connector 25"/>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1178883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rue or False">
    <p:bg>
      <p:bgPr>
        <a:blipFill dpi="0" rotWithShape="1">
          <a:blip r:embed="rId2">
            <a:alphaModFix amt="20000"/>
          </a:blip>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1"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228139C1-1262-42B4-8C9D-564A735A2FD1}" type="datetimeFigureOut">
              <a:rPr lang="en-US" smtClean="0"/>
              <a:t>1/31/20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F610-71BB-45D1-8BAD-DB306F755D9B}" type="slidenum">
              <a:rPr lang="en-US" smtClean="0"/>
              <a:t>‹#›</a:t>
            </a:fld>
            <a:endParaRPr lang="en-US"/>
          </a:p>
        </p:txBody>
      </p:sp>
      <p:cxnSp>
        <p:nvCxnSpPr>
          <p:cNvPr id="15" name="Straight Connector 14"/>
          <p:cNvCxnSpPr/>
          <p:nvPr/>
        </p:nvCxnSpPr>
        <p:spPr>
          <a:xfrm>
            <a:off x="1396169" y="3429000"/>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826996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blipFill dpi="0" rotWithShape="1">
          <a:blip r:embed="rId2">
            <a:alphaModFix amt="20000"/>
          </a:blip>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28139C1-1262-42B4-8C9D-564A735A2FD1}" type="datetimeFigureOut">
              <a:rPr lang="en-US" smtClean="0"/>
              <a:t>1/31/20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F610-71BB-45D1-8BAD-DB306F755D9B}" type="slidenum">
              <a:rPr lang="en-US" smtClean="0"/>
              <a:t>‹#›</a:t>
            </a:fld>
            <a:endParaRPr lang="en-US"/>
          </a:p>
        </p:txBody>
      </p:sp>
      <p:cxnSp>
        <p:nvCxnSpPr>
          <p:cNvPr id="14" name="Straight Connector 13"/>
          <p:cNvCxnSpPr/>
          <p:nvPr/>
        </p:nvCxnSpPr>
        <p:spPr>
          <a:xfrm>
            <a:off x="1396169" y="2421466"/>
            <a:ext cx="9407298" cy="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285491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blipFill dpi="0" rotWithShape="1">
          <a:blip r:embed="rId2">
            <a:alphaModFix amt="20000"/>
          </a:blip>
          <a:srcRect/>
          <a:tile tx="0" ty="0" sx="100000" sy="100000" flip="none" algn="tl"/>
        </a:blipFill>
        <a:effectLst/>
      </p:bgPr>
    </p:bg>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28139C1-1262-42B4-8C9D-564A735A2FD1}" type="datetimeFigureOut">
              <a:rPr lang="en-US" smtClean="0"/>
              <a:t>1/31/20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37BF610-71BB-45D1-8BAD-DB306F755D9B}" type="slidenum">
              <a:rPr lang="en-US" smtClean="0"/>
              <a:t>‹#›</a:t>
            </a:fld>
            <a:endParaRPr lang="en-US"/>
          </a:p>
        </p:txBody>
      </p:sp>
      <p:cxnSp>
        <p:nvCxnSpPr>
          <p:cNvPr id="14" name="Straight Connector 13"/>
          <p:cNvCxnSpPr/>
          <p:nvPr/>
        </p:nvCxnSpPr>
        <p:spPr>
          <a:xfrm>
            <a:off x="8863890" y="990600"/>
            <a:ext cx="0" cy="4876800"/>
          </a:xfrm>
          <a:prstGeom prst="line">
            <a:avLst/>
          </a:prstGeom>
          <a:ln w="15875">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059491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20">
            <a:alphaModFix amt="20000"/>
          </a:blip>
          <a:srcRect/>
          <a:tile tx="0" ty="0" sx="100000" sy="100000" flip="none" algn="tl"/>
        </a:blipFill>
        <a:effectLst/>
      </p:bgPr>
    </p:bg>
    <p:spTree>
      <p:nvGrpSpPr>
        <p:cNvPr id="1" name=""/>
        <p:cNvGrpSpPr/>
        <p:nvPr/>
      </p:nvGrpSpPr>
      <p:grpSpPr>
        <a:xfrm>
          <a:off x="0" y="0"/>
          <a:ext cx="0" cy="0"/>
          <a:chOff x="0" y="0"/>
          <a:chExt cx="0" cy="0"/>
        </a:xfrm>
      </p:grpSpPr>
      <p:pic>
        <p:nvPicPr>
          <p:cNvPr id="7" name="Picture 6" descr="HD-PanelContent-GrommetsCombined.png"/>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228139C1-1262-42B4-8C9D-564A735A2FD1}" type="datetimeFigureOut">
              <a:rPr lang="en-US" smtClean="0"/>
              <a:t>1/31/20</a:t>
            </a:fld>
            <a:endParaRPr lang="en-US"/>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837BF610-71BB-45D1-8BAD-DB306F755D9B}" type="slidenum">
              <a:rPr lang="en-US" smtClean="0"/>
              <a:t>‹#›</a:t>
            </a:fld>
            <a:endParaRPr lang="en-US"/>
          </a:p>
        </p:txBody>
      </p:sp>
    </p:spTree>
    <p:extLst>
      <p:ext uri="{BB962C8B-B14F-4D97-AF65-F5344CB8AC3E}">
        <p14:creationId xmlns:p14="http://schemas.microsoft.com/office/powerpoint/2010/main" val="1164824427"/>
      </p:ext>
    </p:extLst>
  </p:cSld>
  <p:clrMap bg1="lt1" tx1="dk1" bg2="lt2" tx2="dk2" accent1="accent1" accent2="accent2" accent3="accent3" accent4="accent4" accent5="accent5" accent6="accent6" hlink="hlink" folHlink="folHlink"/>
  <p:sldLayoutIdLst>
    <p:sldLayoutId id="2147483931" r:id="rId1"/>
    <p:sldLayoutId id="2147483948" r:id="rId2"/>
    <p:sldLayoutId id="2147483932" r:id="rId3"/>
    <p:sldLayoutId id="2147483933" r:id="rId4"/>
    <p:sldLayoutId id="2147483934" r:id="rId5"/>
    <p:sldLayoutId id="2147483935" r:id="rId6"/>
    <p:sldLayoutId id="2147483936" r:id="rId7"/>
    <p:sldLayoutId id="2147483937" r:id="rId8"/>
    <p:sldLayoutId id="2147483938" r:id="rId9"/>
    <p:sldLayoutId id="2147483939" r:id="rId10"/>
    <p:sldLayoutId id="2147483940" r:id="rId11"/>
    <p:sldLayoutId id="2147483941" r:id="rId12"/>
    <p:sldLayoutId id="2147483942" r:id="rId13"/>
    <p:sldLayoutId id="2147483943" r:id="rId14"/>
    <p:sldLayoutId id="2147483944" r:id="rId15"/>
    <p:sldLayoutId id="2147483945" r:id="rId16"/>
    <p:sldLayoutId id="2147483946" r:id="rId17"/>
    <p:sldLayoutId id="2147483947" r:id="rId18"/>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7.jpeg"/></Relationships>
</file>

<file path=ppt/slides/_rels/slide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10.jpeg"/></Relationships>
</file>

<file path=ppt/slides/_rels/slide1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image" Target="../media/image17.jpeg"/></Relationships>
</file>

<file path=ppt/slides/_rels/slide2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image" Target="../media/image18.jpeg"/></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5.xml"/><Relationship Id="rId1" Type="http://schemas.openxmlformats.org/officeDocument/2006/relationships/slideLayout" Target="../slideLayouts/slideLayout3.xml"/><Relationship Id="rId5" Type="http://schemas.openxmlformats.org/officeDocument/2006/relationships/image" Target="../media/image22.jpeg"/><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6.xml"/><Relationship Id="rId1" Type="http://schemas.openxmlformats.org/officeDocument/2006/relationships/slideLayout" Target="../slideLayouts/slideLayout3.xml"/><Relationship Id="rId5" Type="http://schemas.openxmlformats.org/officeDocument/2006/relationships/image" Target="../media/image22.jpeg"/><Relationship Id="rId4" Type="http://schemas.openxmlformats.org/officeDocument/2006/relationships/image" Target="../media/image4.png"/></Relationships>
</file>

<file path=ppt/slides/_rels/slide27.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jpeg"/><Relationship Id="rId7" Type="http://schemas.openxmlformats.org/officeDocument/2006/relationships/image" Target="../media/image25.jpe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24.jpeg"/><Relationship Id="rId5" Type="http://schemas.openxmlformats.org/officeDocument/2006/relationships/image" Target="../media/image23.gif"/><Relationship Id="rId4" Type="http://schemas.openxmlformats.org/officeDocument/2006/relationships/image" Target="../media/image4.png"/></Relationships>
</file>

<file path=ppt/slides/_rels/slide29.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29.xml"/><Relationship Id="rId1" Type="http://schemas.openxmlformats.org/officeDocument/2006/relationships/slideLayout" Target="../slideLayouts/slideLayout3.xml"/><Relationship Id="rId4" Type="http://schemas.openxmlformats.org/officeDocument/2006/relationships/image" Target="../media/image30.jpeg"/><Relationship Id="rId5" Type="http://schemas.openxmlformats.org/officeDocument/2006/relationships/image" Target="../media/image31.jpeg"/><Relationship Id="rId6" Type="http://schemas.openxmlformats.org/officeDocument/2006/relationships/image" Target="../media/image32.jpeg"/></Relationships>
</file>

<file path=ppt/slides/_rels/slide3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32.xml"/><Relationship Id="rId1" Type="http://schemas.openxmlformats.org/officeDocument/2006/relationships/slideLayout" Target="../slideLayouts/slideLayout3.xml"/><Relationship Id="rId4" Type="http://schemas.openxmlformats.org/officeDocument/2006/relationships/image" Target="../media/image35.jpe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3" Type="http://schemas.openxmlformats.org/officeDocument/2006/relationships/image" Target="../media/image2.jpeg"/><Relationship Id="rId1" Type="http://schemas.openxmlformats.org/officeDocument/2006/relationships/slideLayout" Target="../slideLayouts/slideLayout3.xml"/><Relationship Id="rId5" Type="http://schemas.openxmlformats.org/officeDocument/2006/relationships/image" Target="../media/image22.jpeg"/><Relationship Id="rId4" Type="http://schemas.openxmlformats.org/officeDocument/2006/relationships/image" Target="../media/image4.png"/><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Aspect Ratios</a:t>
            </a:r>
          </a:p>
        </p:txBody>
      </p:sp>
      <p:sp>
        <p:nvSpPr>
          <p:cNvPr id="5" name="Subtitle 4">
            <a:extLst>
              <a:ext uri="{FF2B5EF4-FFF2-40B4-BE49-F238E27FC236}">
                <a16:creationId xmlns:a16="http://schemas.microsoft.com/office/drawing/2014/main" id="{9E0DCD0E-30AE-419B-AD7D-A4A00A81707F}"/>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0445220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0E9C1-6701-4245-AD57-0794CC061F92}"/>
              </a:ext>
            </a:extLst>
          </p:cNvPr>
          <p:cNvSpPr>
            <a:spLocks noGrp="1"/>
          </p:cNvSpPr>
          <p:nvPr>
            <p:ph type="title"/>
          </p:nvPr>
        </p:nvSpPr>
        <p:spPr/>
        <p:txBody>
          <a:bodyPr>
            <a:normAutofit/>
          </a:bodyPr>
          <a:lstStyle/>
          <a:p>
            <a:r>
              <a:rPr lang="en-US" dirty="0"/>
              <a:t>Before There Was a Plan</a:t>
            </a:r>
          </a:p>
        </p:txBody>
      </p:sp>
      <p:pic>
        <p:nvPicPr>
          <p:cNvPr id="1026" name="Picture 2" descr="Image result for lumiere brothers">
            <a:extLst>
              <a:ext uri="{FF2B5EF4-FFF2-40B4-BE49-F238E27FC236}">
                <a16:creationId xmlns:a16="http://schemas.microsoft.com/office/drawing/2014/main" id="{E9F6D102-56AE-41C9-A2A1-DE3182B106CE}"/>
              </a:ext>
            </a:extLst>
          </p:cNvPr>
          <p:cNvPicPr>
            <a:picLocks noGrp="1" noChangeAspect="1" noChangeArrowheads="1"/>
          </p:cNvPicPr>
          <p:nvPr>
            <p:ph idx="1"/>
          </p:nvPr>
        </p:nvPicPr>
        <p:blipFill>
          <a:blip r:embed="rId3" cstate="print">
            <a:extLst>
              <a:ext uri="{28A0092B-C50C-407E-A947-70E740481C1C}">
                <a14:useLocalDpi xmlns:a14="http://schemas.microsoft.com/office/drawing/2010/main" val="0"/>
              </a:ext>
            </a:extLst>
          </a:blip>
          <a:srcRect/>
          <a:stretch>
            <a:fillRect/>
          </a:stretch>
        </p:blipFill>
        <p:spPr bwMode="auto">
          <a:xfrm>
            <a:off x="4361688" y="2926080"/>
            <a:ext cx="2834640" cy="159471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A25538E9-5B1C-4EE2-A577-10786CD63BF5}"/>
              </a:ext>
            </a:extLst>
          </p:cNvPr>
          <p:cNvSpPr txBox="1"/>
          <p:nvPr/>
        </p:nvSpPr>
        <p:spPr>
          <a:xfrm>
            <a:off x="7460672" y="2568384"/>
            <a:ext cx="3761509" cy="3139321"/>
          </a:xfrm>
          <a:prstGeom prst="rect">
            <a:avLst/>
          </a:prstGeom>
          <a:noFill/>
        </p:spPr>
        <p:txBody>
          <a:bodyPr wrap="square" rtlCol="0">
            <a:spAutoFit/>
          </a:bodyPr>
          <a:lstStyle/>
          <a:p>
            <a:pPr marL="285750" indent="-285750">
              <a:buFont typeface="Arial" panose="020B0604020202020204" pitchFamily="34" charset="0"/>
              <a:buChar char="•"/>
            </a:pPr>
            <a:r>
              <a:rPr lang="en-US" b="1" dirty="0"/>
              <a:t>Lumiere, 1895 - film as record. Workers leaving a factory. A train pulling in.</a:t>
            </a:r>
          </a:p>
          <a:p>
            <a:pPr marL="285750" indent="-285750">
              <a:buFont typeface="Arial" panose="020B0604020202020204" pitchFamily="34" charset="0"/>
              <a:buChar char="•"/>
            </a:pPr>
            <a:r>
              <a:rPr lang="en-US" b="1" dirty="0"/>
              <a:t>Melies, 1902 - film as invention. A Trip to the Moon.</a:t>
            </a:r>
          </a:p>
          <a:p>
            <a:pPr marL="285750" indent="-285750">
              <a:buFont typeface="Arial" panose="020B0604020202020204" pitchFamily="34" charset="0"/>
              <a:buChar char="•"/>
            </a:pPr>
            <a:r>
              <a:rPr lang="en-US" b="1" dirty="0"/>
              <a:t>A stage magician by trade. He used a camera to tell a lie on purpose.</a:t>
            </a:r>
          </a:p>
        </p:txBody>
      </p:sp>
      <p:pic>
        <p:nvPicPr>
          <p:cNvPr id="1027" name="Lumiere"/>
          <p:cNvPicPr>
            <a:picLocks noChangeAspect="1"/>
          </p:cNvPicPr>
          <p:nvPr/>
        </p:nvPicPr>
        <p:blipFill>
          <a:blip r:embed="rId4"/>
          <a:stretch>
            <a:fillRect/>
          </a:stretch>
        </p:blipFill>
        <p:spPr>
          <a:xfrm>
            <a:off x="1298448" y="2926080"/>
            <a:ext cx="2834640" cy="1594714"/>
          </a:xfrm>
          <a:prstGeom prst="rect">
            <a:avLst/>
          </a:prstGeom>
        </p:spPr>
      </p:pic>
    </p:spTree>
    <p:extLst>
      <p:ext uri="{BB962C8B-B14F-4D97-AF65-F5344CB8AC3E}">
        <p14:creationId xmlns:p14="http://schemas.microsoft.com/office/powerpoint/2010/main" val="15699771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0E9C1-6701-4245-AD57-0794CC061F92}"/>
              </a:ext>
            </a:extLst>
          </p:cNvPr>
          <p:cNvSpPr>
            <a:spLocks noGrp="1"/>
          </p:cNvSpPr>
          <p:nvPr>
            <p:ph type="title"/>
          </p:nvPr>
        </p:nvSpPr>
        <p:spPr/>
        <p:txBody>
          <a:bodyPr>
            <a:normAutofit/>
          </a:bodyPr>
          <a:lstStyle/>
          <a:p>
            <a:r>
              <a:rPr lang="en-US" dirty="0"/>
              <a:t>Directors Who Drew First</a:t>
            </a:r>
          </a:p>
        </p:txBody>
      </p:sp>
      <p:sp>
        <p:nvSpPr>
          <p:cNvPr id="4" name="TextBox 3">
            <a:extLst>
              <a:ext uri="{FF2B5EF4-FFF2-40B4-BE49-F238E27FC236}">
                <a16:creationId xmlns:a16="http://schemas.microsoft.com/office/drawing/2014/main" id="{A25538E9-5B1C-4EE2-A577-10786CD63BF5}"/>
              </a:ext>
            </a:extLst>
          </p:cNvPr>
          <p:cNvSpPr txBox="1"/>
          <p:nvPr/>
        </p:nvSpPr>
        <p:spPr>
          <a:xfrm>
            <a:off x="1298448" y="4663440"/>
            <a:ext cx="9601200" cy="1691640"/>
          </a:xfrm>
          <a:prstGeom prst="rect">
            <a:avLst/>
          </a:prstGeom>
          <a:noFill/>
        </p:spPr>
        <p:txBody>
          <a:bodyPr wrap="square" rtlCol="0">
            <a:spAutoFit/>
          </a:bodyPr>
          <a:lstStyle/>
          <a:p>
            <a:pPr marL="285750" indent="-285750">
              <a:buFont typeface="Arial" panose="020B0604020202020204" pitchFamily="34" charset="0"/>
              <a:buChar char="•"/>
            </a:pPr>
            <a:r>
              <a:rPr lang="en-US" b="1" dirty="0" sz="1600"/>
              <a:t>Sergei Eisenstein sketched sequences before shooting Battleship Potemkin (1925).</a:t>
            </a:r>
          </a:p>
          <a:p>
            <a:pPr marL="285750" indent="-285750">
              <a:buFont typeface="Arial" panose="020B0604020202020204" pitchFamily="34" charset="0"/>
              <a:buChar char="•"/>
            </a:pPr>
            <a:r>
              <a:rPr lang="en-US" b="1" dirty="0" sz="1600"/>
              <a:t>Cecil B. DeMille used artist Dan Sayre Groesbeck to visualise The Ten Commandments (1923).</a:t>
            </a:r>
          </a:p>
          <a:p>
            <a:pPr marL="285750" indent="-285750">
              <a:buFont typeface="Arial" panose="020B0604020202020204" pitchFamily="34" charset="0"/>
              <a:buChar char="•"/>
            </a:pPr>
            <a:r>
              <a:rPr lang="en-US" b="1" dirty="0" sz="1600"/>
              <a:t>The practice existed well before the word did.</a:t>
            </a:r>
          </a:p>
        </p:txBody>
      </p:sp>
      <p:sp>
        <p:nvSpPr>
          <p:cNvPr id="5" name="Content Placeholder 4">
            <a:extLst>
              <a:ext uri="{FF2B5EF4-FFF2-40B4-BE49-F238E27FC236}">
                <a16:creationId xmlns:a16="http://schemas.microsoft.com/office/drawing/2014/main" id="{AB8B7F2F-75AC-48F9-9EBB-9E4E95C3A3AF}"/>
              </a:ext>
            </a:extLst>
          </p:cNvPr>
          <p:cNvSpPr>
            <a:spLocks noGrp="1"/>
          </p:cNvSpPr>
          <p:nvPr>
            <p:ph idx="1"/>
          </p:nvPr>
        </p:nvSpPr>
        <p:spPr>
          <a:xfrm>
            <a:off x="1295401" y="2556932"/>
            <a:ext cx="4112918" cy="3318936"/>
          </a:xfrm>
        </p:spPr>
        <p:txBody>
          <a:bodyPr/>
          <a:lstStyle/>
          <a:p>
            <a:endParaRPr lang="en-US" dirty="0"/>
          </a:p>
        </p:txBody>
      </p:sp>
      <p:pic>
        <p:nvPicPr>
          <p:cNvPr id="5122" name="Picture 2" descr="Image result for sergei eisenstein">
            <a:extLst>
              <a:ext uri="{FF2B5EF4-FFF2-40B4-BE49-F238E27FC236}">
                <a16:creationId xmlns:a16="http://schemas.microsoft.com/office/drawing/2014/main" id="{C7703CB3-1E48-47CF-8139-AF8BBCF8E7F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27832" y="2505456"/>
            <a:ext cx="2606040" cy="2103120"/>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Image result for cecil b. demille storyboarding">
            <a:extLst>
              <a:ext uri="{FF2B5EF4-FFF2-40B4-BE49-F238E27FC236}">
                <a16:creationId xmlns:a16="http://schemas.microsoft.com/office/drawing/2014/main" id="{1DAC5060-937E-4544-895F-63A8DDD8863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444" r="16293"/>
          <a:stretch/>
        </p:blipFill>
        <p:spPr bwMode="auto">
          <a:xfrm>
            <a:off x="6153912" y="2505456"/>
            <a:ext cx="2807208" cy="21031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146891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0E9C1-6701-4245-AD57-0794CC061F92}"/>
              </a:ext>
            </a:extLst>
          </p:cNvPr>
          <p:cNvSpPr>
            <a:spLocks noGrp="1"/>
          </p:cNvSpPr>
          <p:nvPr>
            <p:ph type="title"/>
          </p:nvPr>
        </p:nvSpPr>
        <p:spPr>
          <a:xfrm>
            <a:off x="1295402" y="982132"/>
            <a:ext cx="3660056" cy="1325373"/>
          </a:xfrm>
        </p:spPr>
        <p:txBody>
          <a:bodyPr vert="horz" lIns="91440" tIns="45720" rIns="91440" bIns="45720" rtlCol="0" anchor="b">
            <a:normAutofit/>
          </a:bodyPr>
          <a:lstStyle/>
          <a:p>
            <a:r>
              <a:rPr lang="en-US" sz="2400" dirty="0"/>
              <a:t>McCay and Gertie</a:t>
            </a:r>
          </a:p>
        </p:txBody>
      </p:sp>
      <p:sp>
        <p:nvSpPr>
          <p:cNvPr id="4" name="TextBox 3">
            <a:extLst>
              <a:ext uri="{FF2B5EF4-FFF2-40B4-BE49-F238E27FC236}">
                <a16:creationId xmlns:a16="http://schemas.microsoft.com/office/drawing/2014/main" id="{A25538E9-5B1C-4EE2-A577-10786CD63BF5}"/>
              </a:ext>
            </a:extLst>
          </p:cNvPr>
          <p:cNvSpPr txBox="1"/>
          <p:nvPr/>
        </p:nvSpPr>
        <p:spPr>
          <a:xfrm>
            <a:off x="1295401" y="2493774"/>
            <a:ext cx="4000499" cy="3382094"/>
          </a:xfrm>
          <a:prstGeom prst="rect">
            <a:avLst/>
          </a:prstGeom>
        </p:spPr>
        <p:txBody>
          <a:bodyPr vert="horz" lIns="91440" tIns="45720" rIns="91440" bIns="45720" rtlCol="0" anchor="t">
            <a:normAutofit/>
          </a:bodyPr>
          <a:lstStyle/>
          <a:p>
            <a:pPr marL="285750" indent="-285750">
              <a:spcBef>
                <a:spcPct val="20000"/>
              </a:spcBef>
              <a:spcAft>
                <a:spcPts val="600"/>
              </a:spcAft>
              <a:buClr>
                <a:schemeClr val="accent1"/>
              </a:buClr>
              <a:buSzPct val="115000"/>
              <a:buFont typeface="Arial"/>
              <a:buChar char="•"/>
            </a:pPr>
            <a:r>
              <a:rPr lang="en-US" sz="1600" dirty="0"/>
              <a:t>Gertie the Dinosaur, 1914. Around 10,000 drawings, on rice paper, by hand.</a:t>
            </a:r>
          </a:p>
          <a:p>
            <a:pPr marL="285750" indent="-285750">
              <a:spcBef>
                <a:spcPct val="20000"/>
              </a:spcBef>
              <a:spcAft>
                <a:spcPts val="600"/>
              </a:spcAft>
              <a:buClr>
                <a:schemeClr val="accent1"/>
              </a:buClr>
              <a:buSzPct val="115000"/>
              <a:buFont typeface="Arial"/>
              <a:buChar char="•"/>
            </a:pPr>
            <a:r>
              <a:rPr lang="en-US" sz="1600" dirty="0"/>
              <a:t>It premiered as a vaudeville act - 8 February 1914, the Palace, Chicago.</a:t>
            </a:r>
          </a:p>
          <a:p>
            <a:pPr marL="285750" indent="-285750">
              <a:spcBef>
                <a:spcPct val="20000"/>
              </a:spcBef>
              <a:spcAft>
                <a:spcPts val="600"/>
              </a:spcAft>
              <a:buClr>
                <a:schemeClr val="accent1"/>
              </a:buClr>
              <a:buSzPct val="115000"/>
              <a:buFont typeface="Arial"/>
              <a:buChar char="•"/>
            </a:pPr>
            <a:r>
              <a:rPr lang="en-US" sz="1600" dirty="0"/>
              <a:t>McCay stood beside the screen in evening dress with a bullwhip, spoke to her, and she answered.</a:t>
            </a:r>
          </a:p>
        </p:txBody>
      </p:sp>
      <p:pic>
        <p:nvPicPr>
          <p:cNvPr id="6146" name="Picture 2" descr="Image result for gertie the dinosaur">
            <a:extLst>
              <a:ext uri="{FF2B5EF4-FFF2-40B4-BE49-F238E27FC236}">
                <a16:creationId xmlns:a16="http://schemas.microsoft.com/office/drawing/2014/main" id="{93F83F03-341D-4097-A0C4-56300649CAA6}"/>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5427132" y="1581002"/>
            <a:ext cx="5469466" cy="3076574"/>
          </a:xfrm>
          <a:prstGeom prst="rect">
            <a:avLst/>
          </a:prstGeom>
          <a:noFill/>
          <a:ln w="57150" cmpd="thickThin">
            <a:solidFill>
              <a:schemeClr val="tx1">
                <a:lumMod val="50000"/>
                <a:lumOff val="50000"/>
              </a:schemeClr>
            </a:solidFill>
            <a:miter lim="800000"/>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637305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0E9C1-6701-4245-AD57-0794CC061F92}"/>
              </a:ext>
            </a:extLst>
          </p:cNvPr>
          <p:cNvSpPr>
            <a:spLocks noGrp="1"/>
          </p:cNvSpPr>
          <p:nvPr>
            <p:ph type="title"/>
          </p:nvPr>
        </p:nvSpPr>
        <p:spPr>
          <a:xfrm>
            <a:off x="1295402" y="982132"/>
            <a:ext cx="3660056" cy="1325373"/>
          </a:xfrm>
        </p:spPr>
        <p:txBody>
          <a:bodyPr vert="horz" lIns="91440" tIns="45720" rIns="91440" bIns="45720" rtlCol="0" anchor="b">
            <a:normAutofit/>
          </a:bodyPr>
          <a:lstStyle/>
          <a:p>
            <a:r>
              <a:rPr lang="en-US" sz="2400" dirty="0"/>
              <a:t>The Counterexample: Fleischer</a:t>
            </a:r>
          </a:p>
        </p:txBody>
      </p:sp>
      <p:sp>
        <p:nvSpPr>
          <p:cNvPr id="4" name="TextBox 3">
            <a:extLst>
              <a:ext uri="{FF2B5EF4-FFF2-40B4-BE49-F238E27FC236}">
                <a16:creationId xmlns:a16="http://schemas.microsoft.com/office/drawing/2014/main" id="{A25538E9-5B1C-4EE2-A577-10786CD63BF5}"/>
              </a:ext>
            </a:extLst>
          </p:cNvPr>
          <p:cNvSpPr txBox="1"/>
          <p:nvPr/>
        </p:nvSpPr>
        <p:spPr>
          <a:xfrm>
            <a:off x="1092201" y="2493773"/>
            <a:ext cx="3467099" cy="3602221"/>
          </a:xfrm>
          <a:prstGeom prst="rect">
            <a:avLst/>
          </a:prstGeom>
        </p:spPr>
        <p:txBody>
          <a:bodyPr vert="horz" lIns="91440" tIns="45720" rIns="91440" bIns="45720" rtlCol="0" anchor="t">
            <a:normAutofit/>
          </a:bodyPr>
          <a:lstStyle/>
          <a:p>
            <a:pPr marL="285750" indent="-285750">
              <a:spcBef>
                <a:spcPct val="20000"/>
              </a:spcBef>
              <a:spcAft>
                <a:spcPts val="600"/>
              </a:spcAft>
              <a:buClr>
                <a:schemeClr val="accent1"/>
              </a:buClr>
              <a:buSzPct val="115000"/>
              <a:buFont typeface="Arial"/>
              <a:buChar char="•"/>
            </a:pPr>
            <a:r>
              <a:rPr lang="en-US" sz="1600" b="1" dirty="0"/>
              <a:t>Max and Dave Fleischer - Koko the Clown, Betty Boop.</a:t>
            </a:r>
          </a:p>
          <a:p>
            <a:pPr marL="285750" indent="-285750">
              <a:spcBef>
                <a:spcPct val="20000"/>
              </a:spcBef>
              <a:spcAft>
                <a:spcPts val="600"/>
              </a:spcAft>
              <a:buClr>
                <a:schemeClr val="accent1"/>
              </a:buClr>
              <a:buSzPct val="115000"/>
              <a:buFont typeface="Arial"/>
              <a:buChar char="•"/>
            </a:pPr>
            <a:r>
              <a:rPr lang="en-US" sz="1600" b="1" dirty="0"/>
              <a:t>No script. No story department. Nothing written down.</a:t>
            </a:r>
          </a:p>
          <a:p>
            <a:pPr marL="285750" indent="-285750">
              <a:spcBef>
                <a:spcPct val="20000"/>
              </a:spcBef>
              <a:spcAft>
                <a:spcPts val="600"/>
              </a:spcAft>
              <a:buClr>
                <a:schemeClr val="accent1"/>
              </a:buClr>
              <a:buSzPct val="115000"/>
              <a:buFont typeface="Arial"/>
              <a:buChar char="•"/>
            </a:pPr>
            <a:r>
              <a:rPr lang="en-US" sz="1600" b="1" dirty="0"/>
              <a:t>Dave walked the room every morning and collected gags from the animators.</a:t>
            </a:r>
          </a:p>
        </p:txBody>
      </p:sp>
      <p:pic>
        <p:nvPicPr>
          <p:cNvPr id="1030" name="Picture 6" descr="Image result for max and dave fleischer">
            <a:extLst>
              <a:ext uri="{FF2B5EF4-FFF2-40B4-BE49-F238E27FC236}">
                <a16:creationId xmlns:a16="http://schemas.microsoft.com/office/drawing/2014/main" id="{F361FDC1-268E-4FF2-990A-13A8CB55D5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55458" y="1585190"/>
            <a:ext cx="6224281" cy="3501157"/>
          </a:xfrm>
          <a:prstGeom prst="rect">
            <a:avLst/>
          </a:prstGeom>
          <a:noFill/>
          <a:ln w="57150" cmpd="thickThin">
            <a:solidFill>
              <a:schemeClr val="tx1">
                <a:lumMod val="50000"/>
                <a:lumOff val="50000"/>
              </a:schemeClr>
            </a:solidFill>
            <a:miter lim="800000"/>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091491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0E9C1-6701-4245-AD57-0794CC061F92}"/>
              </a:ext>
            </a:extLst>
          </p:cNvPr>
          <p:cNvSpPr>
            <a:spLocks noGrp="1"/>
          </p:cNvSpPr>
          <p:nvPr>
            <p:ph type="title"/>
          </p:nvPr>
        </p:nvSpPr>
        <p:spPr>
          <a:xfrm>
            <a:off x="1295402" y="982132"/>
            <a:ext cx="3660056" cy="1325373"/>
          </a:xfrm>
        </p:spPr>
        <p:txBody>
          <a:bodyPr vert="horz" lIns="91440" tIns="45720" rIns="91440" bIns="45720" rtlCol="0" anchor="b">
            <a:normAutofit/>
          </a:bodyPr>
          <a:lstStyle/>
          <a:p>
            <a:r>
              <a:rPr lang="en-US" sz="2400" dirty="0"/>
              <a:t>Webb Smith Pins It to a Wall</a:t>
            </a:r>
          </a:p>
        </p:txBody>
      </p:sp>
      <p:sp>
        <p:nvSpPr>
          <p:cNvPr id="4" name="TextBox 3">
            <a:extLst>
              <a:ext uri="{FF2B5EF4-FFF2-40B4-BE49-F238E27FC236}">
                <a16:creationId xmlns:a16="http://schemas.microsoft.com/office/drawing/2014/main" id="{A25538E9-5B1C-4EE2-A577-10786CD63BF5}"/>
              </a:ext>
            </a:extLst>
          </p:cNvPr>
          <p:cNvSpPr txBox="1"/>
          <p:nvPr/>
        </p:nvSpPr>
        <p:spPr>
          <a:xfrm>
            <a:off x="1295401" y="2493774"/>
            <a:ext cx="3660057" cy="3382094"/>
          </a:xfrm>
          <a:prstGeom prst="rect">
            <a:avLst/>
          </a:prstGeom>
        </p:spPr>
        <p:txBody>
          <a:bodyPr vert="horz" lIns="91440" tIns="45720" rIns="91440" bIns="45720" rtlCol="0" anchor="t">
            <a:normAutofit/>
          </a:bodyPr>
          <a:lstStyle/>
          <a:p>
            <a:pPr marL="285750" indent="-285750">
              <a:spcBef>
                <a:spcPct val="20000"/>
              </a:spcBef>
              <a:spcAft>
                <a:spcPts val="600"/>
              </a:spcAft>
              <a:buClr>
                <a:schemeClr val="accent1"/>
              </a:buClr>
              <a:buSzPct val="115000"/>
              <a:buFont typeface="Arial"/>
              <a:buChar char="•"/>
            </a:pPr>
            <a:r>
              <a:rPr lang="en-US" sz="1600" dirty="0">
                <a:solidFill>
                  <a:schemeClr val="tx1">
                    <a:lumMod val="85000"/>
                    <a:lumOff val="15000"/>
                  </a:schemeClr>
                </a:solidFill>
              </a:rPr>
              <a:t>Disney's story department, early 1930s, under Ted Sears.</a:t>
            </a:r>
          </a:p>
          <a:p>
            <a:pPr marL="285750" indent="-285750">
              <a:spcBef>
                <a:spcPct val="20000"/>
              </a:spcBef>
              <a:spcAft>
                <a:spcPts val="600"/>
              </a:spcAft>
              <a:buClr>
                <a:schemeClr val="accent1"/>
              </a:buClr>
              <a:buSzPct val="115000"/>
              <a:buFont typeface="Arial"/>
              <a:buChar char="•"/>
            </a:pPr>
            <a:r>
              <a:rPr lang="en-US" sz="1600" dirty="0">
                <a:solidFill>
                  <a:schemeClr val="tx1">
                    <a:lumMod val="85000"/>
                    <a:lumOff val="15000"/>
                  </a:schemeClr>
                </a:solidFill>
              </a:rPr>
              <a:t>Too many sketches to hold in your head at once.</a:t>
            </a:r>
          </a:p>
          <a:p>
            <a:pPr marL="285750" indent="-285750">
              <a:spcBef>
                <a:spcPct val="20000"/>
              </a:spcBef>
              <a:spcAft>
                <a:spcPts val="600"/>
              </a:spcAft>
              <a:buClr>
                <a:schemeClr val="accent1"/>
              </a:buClr>
              <a:buSzPct val="115000"/>
              <a:buFont typeface="Arial"/>
              <a:buChar char="•"/>
            </a:pPr>
            <a:r>
              <a:rPr lang="en-US" sz="1600" dirty="0">
                <a:solidFill>
                  <a:schemeClr val="tx1">
                    <a:lumMod val="85000"/>
                    <a:lumOff val="15000"/>
                  </a:schemeClr>
                </a:solidFill>
              </a:rPr>
              <a:t>Story man Webb Smith pinned them up in order and reworked the order until the continuity held.</a:t>
            </a:r>
          </a:p>
          <a:p>
            <a:pPr marL="285750" indent="-285750">
              <a:spcBef>
                <a:spcPct val="20000"/>
              </a:spcBef>
              <a:spcAft>
                <a:spcPts val="600"/>
              </a:spcAft>
              <a:buClr>
                <a:schemeClr val="accent1"/>
              </a:buClr>
              <a:buSzPct val="115000"/>
              <a:buFont typeface="Arial"/>
              <a:buChar char="•"/>
            </a:pPr>
            <a:r>
              <a:rPr lang="en-US" sz="1600" dirty="0">
                <a:solidFill>
                  <a:schemeClr val="tx1">
                    <a:lumMod val="85000"/>
                    <a:lumOff val="15000"/>
                  </a:schemeClr>
                </a:solidFill>
              </a:rPr>
              <a:t>First cartoon built this way: Three Little Pigs, 1933.</a:t>
            </a:r>
          </a:p>
        </p:txBody>
      </p:sp>
      <p:pic>
        <p:nvPicPr>
          <p:cNvPr id="3074" name="Picture 2" descr="Image result for early disney storyboarding department">
            <a:extLst>
              <a:ext uri="{FF2B5EF4-FFF2-40B4-BE49-F238E27FC236}">
                <a16:creationId xmlns:a16="http://schemas.microsoft.com/office/drawing/2014/main" id="{EF1B5936-8C68-42A2-99B6-84274C4AF0D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22392" y="2377440"/>
            <a:ext cx="2606040" cy="2047342"/>
          </a:xfrm>
          <a:prstGeom prst="rect">
            <a:avLst/>
          </a:prstGeom>
          <a:noFill/>
          <a:ln w="57150" cmpd="thickThin">
            <a:solidFill>
              <a:schemeClr val="tx1">
                <a:lumMod val="50000"/>
                <a:lumOff val="50000"/>
              </a:schemeClr>
            </a:solidFill>
            <a:miter lim="800000"/>
          </a:ln>
          <a:extLst>
            <a:ext uri="{909E8E84-426E-40DD-AFC4-6F175D3DCCD1}">
              <a14:hiddenFill xmlns:a14="http://schemas.microsoft.com/office/drawing/2010/main">
                <a:solidFill>
                  <a:srgbClr val="FFFFFF"/>
                </a:solidFill>
              </a14:hiddenFill>
            </a:ext>
          </a:extLst>
        </p:spPr>
      </p:pic>
      <p:pic>
        <p:nvPicPr>
          <p:cNvPr id="3075" name="Plane Crazy sketches"/>
          <p:cNvPicPr>
            <a:picLocks noChangeAspect="1"/>
          </p:cNvPicPr>
          <p:nvPr/>
        </p:nvPicPr>
        <p:blipFill>
          <a:blip r:embed="rId4"/>
          <a:stretch>
            <a:fillRect/>
          </a:stretch>
        </p:blipFill>
        <p:spPr>
          <a:xfrm>
            <a:off x="8284464" y="2377440"/>
            <a:ext cx="2606040" cy="2112264"/>
          </a:xfrm>
          <a:prstGeom prst="rect">
            <a:avLst/>
          </a:prstGeom>
        </p:spPr>
      </p:pic>
    </p:spTree>
    <p:extLst>
      <p:ext uri="{BB962C8B-B14F-4D97-AF65-F5344CB8AC3E}">
        <p14:creationId xmlns:p14="http://schemas.microsoft.com/office/powerpoint/2010/main" val="28974707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0E9C1-6701-4245-AD57-0794CC061F92}"/>
              </a:ext>
            </a:extLst>
          </p:cNvPr>
          <p:cNvSpPr>
            <a:spLocks noGrp="1"/>
          </p:cNvSpPr>
          <p:nvPr>
            <p:ph type="title"/>
          </p:nvPr>
        </p:nvSpPr>
        <p:spPr>
          <a:xfrm>
            <a:off x="7535825" y="982132"/>
            <a:ext cx="3360772" cy="1303867"/>
          </a:xfrm>
        </p:spPr>
        <p:txBody>
          <a:bodyPr vert="horz" lIns="91440" tIns="45720" rIns="91440" bIns="45720" rtlCol="0" anchor="ctr">
            <a:normAutofit/>
          </a:bodyPr>
          <a:lstStyle/>
          <a:p>
            <a:pPr>
              <a:lnSpc>
                <a:spcPct val="90000"/>
              </a:lnSpc>
            </a:pPr>
            <a:r>
              <a:rPr lang="en-US" sz="3400" dirty="0"/>
              <a:t>Live Action Takes Notice</a:t>
            </a:r>
          </a:p>
        </p:txBody>
      </p:sp>
      <p:pic>
        <p:nvPicPr>
          <p:cNvPr id="4098" name="Picture 2" descr="William Cameron Menzies William Cameron Menzies and the Clumsy Sublime Graphic">
            <a:extLst>
              <a:ext uri="{FF2B5EF4-FFF2-40B4-BE49-F238E27FC236}">
                <a16:creationId xmlns:a16="http://schemas.microsoft.com/office/drawing/2014/main" id="{5338960B-447E-4791-873D-625C5CB663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970" r="1060" b="2"/>
          <a:stretch/>
        </p:blipFill>
        <p:spPr bwMode="auto">
          <a:xfrm>
            <a:off x="1408176" y="2377440"/>
            <a:ext cx="2514600" cy="167426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A25538E9-5B1C-4EE2-A577-10786CD63BF5}"/>
              </a:ext>
            </a:extLst>
          </p:cNvPr>
          <p:cNvSpPr txBox="1"/>
          <p:nvPr/>
        </p:nvSpPr>
        <p:spPr>
          <a:xfrm>
            <a:off x="7520090" y="2556931"/>
            <a:ext cx="3743656" cy="3646439"/>
          </a:xfrm>
          <a:prstGeom prst="rect">
            <a:avLst/>
          </a:prstGeom>
        </p:spPr>
        <p:txBody>
          <a:bodyPr vert="horz" lIns="91440" tIns="45720" rIns="91440" bIns="45720" rtlCol="0" anchor="t">
            <a:normAutofit lnSpcReduction="10000"/>
          </a:bodyPr>
          <a:lstStyle/>
          <a:p>
            <a:pPr marL="285750" indent="-285750">
              <a:spcBef>
                <a:spcPct val="20000"/>
              </a:spcBef>
              <a:spcAft>
                <a:spcPts val="600"/>
              </a:spcAft>
              <a:buClr>
                <a:schemeClr val="accent1"/>
              </a:buClr>
              <a:buSzPct val="115000"/>
              <a:buFont typeface="Arial"/>
              <a:buChar char="•"/>
            </a:pPr>
            <a:r>
              <a:rPr lang="en-US" dirty="0">
                <a:solidFill>
                  <a:schemeClr val="tx1">
                    <a:lumMod val="85000"/>
                    <a:lumOff val="15000"/>
                  </a:schemeClr>
                </a:solidFill>
              </a:rPr>
              <a:t>Citizen Kane (1941) boarded its complex sequences in advance.</a:t>
            </a:r>
          </a:p>
          <a:p>
            <a:pPr marL="285750" indent="-285750">
              <a:spcBef>
                <a:spcPct val="20000"/>
              </a:spcBef>
              <a:spcAft>
                <a:spcPts val="600"/>
              </a:spcAft>
              <a:buClr>
                <a:schemeClr val="accent1"/>
              </a:buClr>
              <a:buSzPct val="115000"/>
              <a:buFont typeface="Arial"/>
              <a:buChar char="•"/>
            </a:pPr>
            <a:r>
              <a:rPr lang="en-US" dirty="0">
                <a:solidFill>
                  <a:schemeClr val="tx1">
                    <a:lumMod val="85000"/>
                    <a:lumOff val="15000"/>
                  </a:schemeClr>
                </a:solidFill>
              </a:rPr>
              <a:t>Hitchcock called his films storyboards come to life.</a:t>
            </a:r>
          </a:p>
          <a:p>
            <a:pPr marL="285750" indent="-285750">
              <a:spcBef>
                <a:spcPct val="20000"/>
              </a:spcBef>
              <a:spcAft>
                <a:spcPts val="600"/>
              </a:spcAft>
              <a:buClr>
                <a:schemeClr val="accent1"/>
              </a:buClr>
              <a:buSzPct val="115000"/>
              <a:buFont typeface="Arial"/>
              <a:buChar char="•"/>
            </a:pPr>
            <a:r>
              <a:rPr lang="en-US" dirty="0">
                <a:solidFill>
                  <a:schemeClr val="tx1">
                    <a:lumMod val="85000"/>
                    <a:lumOff val="15000"/>
                  </a:schemeClr>
                </a:solidFill>
              </a:rPr>
              <a:t>Saul Bass drew 48 panels for the Psycho shower scene.</a:t>
            </a:r>
          </a:p>
        </p:txBody>
      </p:sp>
      <p:pic>
        <p:nvPicPr>
          <p:cNvPr id="4099" name="Hitchcock"/>
          <p:cNvPicPr>
            <a:picLocks noChangeAspect="1"/>
          </p:cNvPicPr>
          <p:nvPr/>
        </p:nvPicPr>
        <p:blipFill>
          <a:blip r:embed="rId4"/>
          <a:stretch>
            <a:fillRect/>
          </a:stretch>
        </p:blipFill>
        <p:spPr>
          <a:xfrm>
            <a:off x="4169664" y="2377440"/>
            <a:ext cx="2514600" cy="2107692"/>
          </a:xfrm>
          <a:prstGeom prst="rect">
            <a:avLst/>
          </a:prstGeom>
        </p:spPr>
      </p:pic>
    </p:spTree>
    <p:extLst>
      <p:ext uri="{BB962C8B-B14F-4D97-AF65-F5344CB8AC3E}">
        <p14:creationId xmlns:p14="http://schemas.microsoft.com/office/powerpoint/2010/main" val="12894959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0E9C1-6701-4245-AD57-0794CC061F92}"/>
              </a:ext>
            </a:extLst>
          </p:cNvPr>
          <p:cNvSpPr>
            <a:spLocks noGrp="1"/>
          </p:cNvSpPr>
          <p:nvPr>
            <p:ph type="title"/>
          </p:nvPr>
        </p:nvSpPr>
        <p:spPr>
          <a:xfrm>
            <a:off x="1295402" y="982132"/>
            <a:ext cx="3660056" cy="1325373"/>
          </a:xfrm>
        </p:spPr>
        <p:txBody>
          <a:bodyPr vert="horz" lIns="91440" tIns="45720" rIns="91440" bIns="45720" rtlCol="0" anchor="b">
            <a:normAutofit/>
          </a:bodyPr>
          <a:lstStyle/>
          <a:p>
            <a:r>
              <a:rPr lang="en-US" sz="2400" dirty="0"/>
              <a:t>Why the Industry Actually Adopted It</a:t>
            </a:r>
          </a:p>
        </p:txBody>
      </p:sp>
      <p:sp>
        <p:nvSpPr>
          <p:cNvPr id="4" name="TextBox 3">
            <a:extLst>
              <a:ext uri="{FF2B5EF4-FFF2-40B4-BE49-F238E27FC236}">
                <a16:creationId xmlns:a16="http://schemas.microsoft.com/office/drawing/2014/main" id="{A25538E9-5B1C-4EE2-A577-10786CD63BF5}"/>
              </a:ext>
            </a:extLst>
          </p:cNvPr>
          <p:cNvSpPr txBox="1"/>
          <p:nvPr/>
        </p:nvSpPr>
        <p:spPr>
          <a:xfrm>
            <a:off x="1295401" y="2493774"/>
            <a:ext cx="3660057" cy="3382094"/>
          </a:xfrm>
          <a:prstGeom prst="rect">
            <a:avLst/>
          </a:prstGeom>
        </p:spPr>
        <p:txBody>
          <a:bodyPr vert="horz" lIns="91440" tIns="45720" rIns="91440" bIns="45720" rtlCol="0" anchor="t">
            <a:normAutofit/>
          </a:bodyPr>
          <a:lstStyle/>
          <a:p>
            <a:pPr marL="285750" indent="-285750">
              <a:spcBef>
                <a:spcPct val="20000"/>
              </a:spcBef>
              <a:spcAft>
                <a:spcPts val="600"/>
              </a:spcAft>
              <a:buClr>
                <a:schemeClr val="accent1"/>
              </a:buClr>
              <a:buSzPct val="115000"/>
              <a:buFont typeface="Arial"/>
              <a:buChar char="•"/>
            </a:pPr>
            <a:r>
              <a:rPr lang="en-US" sz="1600" dirty="0">
                <a:solidFill>
                  <a:schemeClr val="tx1">
                    <a:lumMod val="85000"/>
                    <a:lumOff val="15000"/>
                  </a:schemeClr>
                </a:solidFill>
              </a:rPr>
              <a:t>Bond. Star Wars. Raiders of the Lost Ark.</a:t>
            </a:r>
          </a:p>
          <a:p>
            <a:pPr marL="285750" indent="-285750">
              <a:spcBef>
                <a:spcPct val="20000"/>
              </a:spcBef>
              <a:spcAft>
                <a:spcPts val="600"/>
              </a:spcAft>
              <a:buClr>
                <a:schemeClr val="accent1"/>
              </a:buClr>
              <a:buSzPct val="115000"/>
              <a:buFont typeface="Arial"/>
              <a:buChar char="•"/>
            </a:pPr>
            <a:r>
              <a:rPr lang="en-US" sz="1600" dirty="0">
                <a:solidFill>
                  <a:schemeClr val="tx1">
                    <a:lumMod val="85000"/>
                    <a:lumOff val="15000"/>
                  </a:schemeClr>
                </a:solidFill>
              </a:rPr>
              <a:t>Multiple units, shooting different things in different countries, all cutting into one film.</a:t>
            </a:r>
          </a:p>
          <a:p>
            <a:pPr marL="285750" indent="-285750">
              <a:spcBef>
                <a:spcPct val="20000"/>
              </a:spcBef>
              <a:spcAft>
                <a:spcPts val="600"/>
              </a:spcAft>
              <a:buClr>
                <a:schemeClr val="accent1"/>
              </a:buClr>
              <a:buSzPct val="115000"/>
              <a:buFont typeface="Arial"/>
              <a:buChar char="•"/>
            </a:pPr>
            <a:r>
              <a:rPr lang="en-US" sz="1600" dirty="0">
                <a:solidFill>
                  <a:schemeClr val="tx1">
                    <a:lumMod val="85000"/>
                    <a:lumOff val="15000"/>
                  </a:schemeClr>
                </a:solidFill>
              </a:rPr>
              <a:t>Not because boards are beautiful. Because they are cheaper, and because they keep two hundred people making the same movie.</a:t>
            </a:r>
          </a:p>
        </p:txBody>
      </p:sp>
      <p:pic>
        <p:nvPicPr>
          <p:cNvPr id="8194" name="Picture 2" descr="A group of storyboards for Raiders of the Lost Ark">
            <a:extLst>
              <a:ext uri="{FF2B5EF4-FFF2-40B4-BE49-F238E27FC236}">
                <a16:creationId xmlns:a16="http://schemas.microsoft.com/office/drawing/2014/main" id="{D592196B-C028-41C8-8A4D-24D228F2D3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12664" y="2194560"/>
            <a:ext cx="2880360" cy="2179930"/>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a:extLst/>
        </p:spPr>
      </p:pic>
      <p:pic>
        <p:nvPicPr>
          <p:cNvPr id="8195" name="Bond"/>
          <p:cNvPicPr>
            <a:picLocks noChangeAspect="1"/>
          </p:cNvPicPr>
          <p:nvPr/>
        </p:nvPicPr>
        <p:blipFill>
          <a:blip r:embed="rId4"/>
          <a:stretch>
            <a:fillRect/>
          </a:stretch>
        </p:blipFill>
        <p:spPr>
          <a:xfrm>
            <a:off x="8467344" y="2194560"/>
            <a:ext cx="2880360" cy="1555394"/>
          </a:xfrm>
          <a:prstGeom prst="rect">
            <a:avLst/>
          </a:prstGeom>
        </p:spPr>
      </p:pic>
    </p:spTree>
    <p:extLst>
      <p:ext uri="{BB962C8B-B14F-4D97-AF65-F5344CB8AC3E}">
        <p14:creationId xmlns:p14="http://schemas.microsoft.com/office/powerpoint/2010/main" val="23571049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0E9C1-6701-4245-AD57-0794CC061F92}"/>
              </a:ext>
            </a:extLst>
          </p:cNvPr>
          <p:cNvSpPr>
            <a:spLocks noGrp="1"/>
          </p:cNvSpPr>
          <p:nvPr>
            <p:ph type="title"/>
          </p:nvPr>
        </p:nvSpPr>
        <p:spPr/>
        <p:txBody>
          <a:bodyPr>
            <a:normAutofit/>
          </a:bodyPr>
          <a:lstStyle/>
          <a:p>
            <a:r>
              <a:rPr lang="en-US" dirty="0"/>
              <a:t>Modified From Its Original Format</a:t>
            </a:r>
          </a:p>
        </p:txBody>
      </p:sp>
      <p:sp>
        <p:nvSpPr>
          <p:cNvPr id="4" name="TextBox 3">
            <a:extLst>
              <a:ext uri="{FF2B5EF4-FFF2-40B4-BE49-F238E27FC236}">
                <a16:creationId xmlns:a16="http://schemas.microsoft.com/office/drawing/2014/main" id="{A25538E9-5B1C-4EE2-A577-10786CD63BF5}"/>
              </a:ext>
            </a:extLst>
          </p:cNvPr>
          <p:cNvSpPr txBox="1"/>
          <p:nvPr/>
        </p:nvSpPr>
        <p:spPr>
          <a:xfrm>
            <a:off x="6296891" y="2900837"/>
            <a:ext cx="4842165" cy="2862322"/>
          </a:xfrm>
          <a:prstGeom prst="rect">
            <a:avLst/>
          </a:prstGeom>
          <a:noFill/>
        </p:spPr>
        <p:txBody>
          <a:bodyPr wrap="square" rtlCol="0">
            <a:spAutoFit/>
          </a:bodyPr>
          <a:lstStyle/>
          <a:p>
            <a:pPr marL="285750" indent="-285750">
              <a:buFont typeface="Arial" panose="020B0604020202020204" pitchFamily="34" charset="0"/>
              <a:buChar char="•"/>
            </a:pPr>
            <a:r>
              <a:rPr lang="en-US" sz="2000" dirty="0"/>
              <a:t>You have read this card a hundred times.</a:t>
            </a:r>
          </a:p>
          <a:p>
            <a:pPr marL="285750" indent="-285750">
              <a:buFont typeface="Arial" panose="020B0604020202020204" pitchFamily="34" charset="0"/>
              <a:buChar char="•"/>
            </a:pPr>
            <a:r>
              <a:rPr lang="en-US" sz="2000" dirty="0"/>
              <a:t>Modified how? From what? Into what?</a:t>
            </a:r>
          </a:p>
          <a:p>
            <a:pPr marL="285750" indent="-285750">
              <a:buFont typeface="Arial" panose="020B0604020202020204" pitchFamily="34" charset="0"/>
              <a:buChar char="•"/>
            </a:pPr>
            <a:r>
              <a:rPr lang="en-US" sz="2000" dirty="0"/>
              <a:t>By the end of today you will know - and know why it is closer to an apology than a disclaimer.</a:t>
            </a:r>
          </a:p>
        </p:txBody>
      </p:sp>
      <p:pic>
        <p:nvPicPr>
          <p:cNvPr id="1026" name="Picture 2" descr="Image result for formatted to fit your screen">
            <a:extLst>
              <a:ext uri="{FF2B5EF4-FFF2-40B4-BE49-F238E27FC236}">
                <a16:creationId xmlns:a16="http://schemas.microsoft.com/office/drawing/2014/main" id="{B2839219-FD46-4159-9C3F-0EA101783A0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43" r="984" b="3150"/>
          <a:stretch/>
        </p:blipFill>
        <p:spPr bwMode="auto">
          <a:xfrm>
            <a:off x="1423553" y="2578775"/>
            <a:ext cx="4547755" cy="33959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045047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3DE3DA1-6771-436D-A739-77EEA9CC59E3}"/>
              </a:ext>
            </a:extLst>
          </p:cNvPr>
          <p:cNvSpPr/>
          <p:nvPr/>
        </p:nvSpPr>
        <p:spPr>
          <a:xfrm>
            <a:off x="1295402" y="3034145"/>
            <a:ext cx="4378034" cy="236912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C70E9C1-6701-4245-AD57-0794CC061F92}"/>
              </a:ext>
            </a:extLst>
          </p:cNvPr>
          <p:cNvSpPr>
            <a:spLocks noGrp="1"/>
          </p:cNvSpPr>
          <p:nvPr>
            <p:ph type="title"/>
          </p:nvPr>
        </p:nvSpPr>
        <p:spPr/>
        <p:txBody>
          <a:bodyPr>
            <a:normAutofit/>
          </a:bodyPr>
          <a:lstStyle/>
          <a:p>
            <a:r>
              <a:rPr lang="en-US" dirty="0"/>
              <a:t>The Shape of the Screen</a:t>
            </a:r>
          </a:p>
        </p:txBody>
      </p:sp>
      <p:sp>
        <p:nvSpPr>
          <p:cNvPr id="4" name="TextBox 3">
            <a:extLst>
              <a:ext uri="{FF2B5EF4-FFF2-40B4-BE49-F238E27FC236}">
                <a16:creationId xmlns:a16="http://schemas.microsoft.com/office/drawing/2014/main" id="{A25538E9-5B1C-4EE2-A577-10786CD63BF5}"/>
              </a:ext>
            </a:extLst>
          </p:cNvPr>
          <p:cNvSpPr txBox="1"/>
          <p:nvPr/>
        </p:nvSpPr>
        <p:spPr>
          <a:xfrm>
            <a:off x="6296891" y="2900837"/>
            <a:ext cx="4842165" cy="1938992"/>
          </a:xfrm>
          <a:prstGeom prst="rect">
            <a:avLst/>
          </a:prstGeom>
          <a:noFill/>
        </p:spPr>
        <p:txBody>
          <a:bodyPr wrap="square" rtlCol="0">
            <a:spAutoFit/>
          </a:bodyPr>
          <a:lstStyle/>
          <a:p>
            <a:pPr marL="285750" indent="-285750">
              <a:buFont typeface="Arial" panose="020B0604020202020204" pitchFamily="34" charset="0"/>
              <a:buChar char="•"/>
            </a:pPr>
            <a:r>
              <a:rPr lang="en-US" sz="2000" b="1" dirty="0"/>
              <a:t>The size relationship between width and height.</a:t>
            </a:r>
          </a:p>
          <a:p>
            <a:pPr marL="285750" indent="-285750">
              <a:buFont typeface="Arial" panose="020B0604020202020204" pitchFamily="34" charset="0"/>
              <a:buChar char="•"/>
            </a:pPr>
            <a:r>
              <a:rPr lang="en-US" sz="2000" b="1" dirty="0"/>
              <a:t>First number: width, relative to a height of 1.</a:t>
            </a:r>
          </a:p>
          <a:p>
            <a:pPr marL="285750" indent="-285750">
              <a:buFont typeface="Arial" panose="020B0604020202020204" pitchFamily="34" charset="0"/>
              <a:buChar char="•"/>
            </a:pPr>
            <a:r>
              <a:rPr lang="en-US" sz="2000" b="1" dirty="0"/>
              <a:t>1.85:1 means 1.85 units across for every 1 unit tall.</a:t>
            </a:r>
          </a:p>
          <a:p>
            <a:pPr marL="285750" indent="-285750">
              <a:buFont typeface="Arial" panose="020B0604020202020204" pitchFamily="34" charset="0"/>
              <a:buChar char="•"/>
            </a:pPr>
            <a:r>
              <a:rPr lang="en-US" sz="2000" b="1" dirty="0"/>
              <a:t>It is a shape, not a size. A 1.85:1 frame is the same shape on a phone and on an IMAX screen.</a:t>
            </a:r>
          </a:p>
        </p:txBody>
      </p:sp>
      <p:sp>
        <p:nvSpPr>
          <p:cNvPr id="5" name="TextBox 4">
            <a:extLst>
              <a:ext uri="{FF2B5EF4-FFF2-40B4-BE49-F238E27FC236}">
                <a16:creationId xmlns:a16="http://schemas.microsoft.com/office/drawing/2014/main" id="{F15E3F63-9C1F-4364-B765-B53852A921CD}"/>
              </a:ext>
            </a:extLst>
          </p:cNvPr>
          <p:cNvSpPr txBox="1"/>
          <p:nvPr/>
        </p:nvSpPr>
        <p:spPr>
          <a:xfrm>
            <a:off x="1737360" y="3703320"/>
            <a:ext cx="3502152" cy="1005840"/>
          </a:xfrm>
          <a:prstGeom prst="rect">
            <a:avLst/>
          </a:prstGeom>
          <a:noFill/>
        </p:spPr>
        <p:txBody>
          <a:bodyPr wrap="square" rtlCol="0">
            <a:spAutoFit/>
          </a:bodyPr>
          <a:lstStyle/>
          <a:p>
            <a:pPr algn="ctr">
              <a:buNone/>
            </a:pPr>
            <a:r>
              <a:rPr lang="en-US" sz="4000" dirty="0">
                <a:solidFill>
                  <a:schemeClr val="tx2">
                    <a:lumMod val="10000"/>
                    <a:lumOff val="90000"/>
                  </a:schemeClr>
                </a:solidFill>
              </a:rPr>
              <a:t>1.85 : 1</a:t>
            </a:r>
          </a:p>
        </p:txBody>
      </p:sp>
    </p:spTree>
    <p:extLst>
      <p:ext uri="{BB962C8B-B14F-4D97-AF65-F5344CB8AC3E}">
        <p14:creationId xmlns:p14="http://schemas.microsoft.com/office/powerpoint/2010/main" val="37828618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0E9C1-6701-4245-AD57-0794CC061F92}"/>
              </a:ext>
            </a:extLst>
          </p:cNvPr>
          <p:cNvSpPr>
            <a:spLocks noGrp="1"/>
          </p:cNvSpPr>
          <p:nvPr>
            <p:ph type="title"/>
          </p:nvPr>
        </p:nvSpPr>
        <p:spPr/>
        <p:txBody>
          <a:bodyPr>
            <a:normAutofit/>
          </a:bodyPr>
          <a:lstStyle/>
          <a:p>
            <a:r>
              <a:rPr lang="en-US" dirty="0"/>
              <a:t>1.33 : 1 - Where It Started</a:t>
            </a:r>
          </a:p>
        </p:txBody>
      </p:sp>
      <p:sp>
        <p:nvSpPr>
          <p:cNvPr id="4" name="TextBox 3">
            <a:extLst>
              <a:ext uri="{FF2B5EF4-FFF2-40B4-BE49-F238E27FC236}">
                <a16:creationId xmlns:a16="http://schemas.microsoft.com/office/drawing/2014/main" id="{A25538E9-5B1C-4EE2-A577-10786CD63BF5}"/>
              </a:ext>
            </a:extLst>
          </p:cNvPr>
          <p:cNvSpPr txBox="1"/>
          <p:nvPr/>
        </p:nvSpPr>
        <p:spPr>
          <a:xfrm>
            <a:off x="6296891" y="2687782"/>
            <a:ext cx="4842165" cy="1631216"/>
          </a:xfrm>
          <a:prstGeom prst="rect">
            <a:avLst/>
          </a:prstGeom>
          <a:noFill/>
        </p:spPr>
        <p:txBody>
          <a:bodyPr wrap="square" rtlCol="0">
            <a:spAutoFit/>
          </a:bodyPr>
          <a:lstStyle/>
          <a:p>
            <a:pPr marL="285750" indent="-285750">
              <a:buFont typeface="Arial" panose="020B0604020202020204" pitchFamily="34" charset="0"/>
              <a:buChar char="•"/>
            </a:pPr>
            <a:r>
              <a:rPr lang="en-US" sz="2000" b="1" dirty="0"/>
              <a:t>The native ratio of 35mm film.</a:t>
            </a:r>
          </a:p>
          <a:p>
            <a:pPr marL="285750" indent="-285750">
              <a:buFont typeface="Arial" panose="020B0604020202020204" pitchFamily="34" charset="0"/>
              <a:buChar char="•"/>
            </a:pPr>
            <a:r>
              <a:rPr lang="en-US" sz="2000" b="1" dirty="0"/>
              <a:t>Four units wide by three tall. Also written 4:3.</a:t>
            </a:r>
          </a:p>
          <a:p>
            <a:pPr marL="285750" indent="-285750">
              <a:buFont typeface="Arial" panose="020B0604020202020204" pitchFamily="34" charset="0"/>
              <a:buChar char="•"/>
            </a:pPr>
            <a:r>
              <a:rPr lang="en-US" sz="2000" b="1" dirty="0"/>
              <a:t>Cinema's default from the 1890s until sound arrived.</a:t>
            </a:r>
          </a:p>
        </p:txBody>
      </p:sp>
      <p:pic>
        <p:nvPicPr>
          <p:cNvPr id="5" name="Picture 2" descr="Image result for wizard of oz">
            <a:extLst>
              <a:ext uri="{FF2B5EF4-FFF2-40B4-BE49-F238E27FC236}">
                <a16:creationId xmlns:a16="http://schemas.microsoft.com/office/drawing/2014/main" id="{B4D99D84-DF7D-4233-B638-A64DDD9B0AC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90600" y="2687782"/>
            <a:ext cx="5105400" cy="2552700"/>
          </a:xfrm>
          <a:prstGeom prst="rect">
            <a:avLst/>
          </a:prstGeom>
          <a:ln w="190500" cap="sq">
            <a:solidFill>
              <a:srgbClr val="C8C6BD"/>
            </a:solidFill>
            <a:prstDash val="solid"/>
            <a:miter lim="800000"/>
          </a:ln>
          <a:effectLst>
            <a:outerShdw blurRad="254000" algn="bl" rotWithShape="0">
              <a:srgbClr val="000000">
                <a:alpha val="43000"/>
              </a:srgbClr>
            </a:outerShdw>
          </a:effectLst>
          <a:scene3d>
            <a:camera prst="perspectiveFront" fov="5400000"/>
            <a:lightRig rig="threePt" dir="t">
              <a:rot lat="0" lon="0" rev="2100000"/>
            </a:lightRig>
          </a:scene3d>
          <a:sp3d extrusionH="25400">
            <a:bevelT w="304800" h="152400" prst="hardEdge"/>
            <a:extrusionClr>
              <a:srgbClr val="000000"/>
            </a:extrusionClr>
          </a:sp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05958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0E9C1-6701-4245-AD57-0794CC061F92}"/>
              </a:ext>
            </a:extLst>
          </p:cNvPr>
          <p:cNvSpPr>
            <a:spLocks noGrp="1"/>
          </p:cNvSpPr>
          <p:nvPr>
            <p:ph type="title"/>
          </p:nvPr>
        </p:nvSpPr>
        <p:spPr/>
        <p:txBody>
          <a:bodyPr>
            <a:normAutofit/>
          </a:bodyPr>
          <a:lstStyle/>
          <a:p>
            <a:r>
              <a:rPr lang="en-US" dirty="0"/>
              <a:t>1.37 : 1 - The Academy Ratio</a:t>
            </a:r>
          </a:p>
        </p:txBody>
      </p:sp>
      <p:sp>
        <p:nvSpPr>
          <p:cNvPr id="4" name="TextBox 3">
            <a:extLst>
              <a:ext uri="{FF2B5EF4-FFF2-40B4-BE49-F238E27FC236}">
                <a16:creationId xmlns:a16="http://schemas.microsoft.com/office/drawing/2014/main" id="{A25538E9-5B1C-4EE2-A577-10786CD63BF5}"/>
              </a:ext>
            </a:extLst>
          </p:cNvPr>
          <p:cNvSpPr txBox="1"/>
          <p:nvPr/>
        </p:nvSpPr>
        <p:spPr>
          <a:xfrm>
            <a:off x="6296891" y="2578485"/>
            <a:ext cx="5226627" cy="3477875"/>
          </a:xfrm>
          <a:prstGeom prst="rect">
            <a:avLst/>
          </a:prstGeom>
          <a:noFill/>
        </p:spPr>
        <p:txBody>
          <a:bodyPr wrap="square" rtlCol="0">
            <a:spAutoFit/>
          </a:bodyPr>
          <a:lstStyle/>
          <a:p>
            <a:pPr marL="285750" indent="-285750">
              <a:buFont typeface="Arial" panose="020B0604020202020204" pitchFamily="34" charset="0"/>
              <a:buChar char="•"/>
            </a:pPr>
            <a:r>
              <a:rPr lang="en-US" sz="2000" b="1" dirty="0"/>
              <a:t>Sound arrives. The optical soundtrack needs room on the film strip.</a:t>
            </a:r>
          </a:p>
          <a:p>
            <a:pPr marL="285750" indent="-285750">
              <a:buFont typeface="Arial" panose="020B0604020202020204" pitchFamily="34" charset="0"/>
              <a:buChar char="•"/>
            </a:pPr>
            <a:r>
              <a:rPr lang="en-US" sz="2000" b="1" dirty="0"/>
              <a:t>The image gets squeezed to about 1.19:1 - almost square, and it looked wrong.</a:t>
            </a:r>
          </a:p>
          <a:p>
            <a:pPr marL="285750" indent="-285750">
              <a:buFont typeface="Arial" panose="020B0604020202020204" pitchFamily="34" charset="0"/>
              <a:buChar char="•"/>
            </a:pPr>
            <a:r>
              <a:rPr lang="en-US" sz="2000" b="1" dirty="0"/>
              <a:t>In 1932 the Academy fixes it at 1.37:1 by adjusting the aperture.</a:t>
            </a:r>
          </a:p>
          <a:p>
            <a:pPr marL="285750" indent="-285750">
              <a:buFont typeface="Arial" panose="020B0604020202020204" pitchFamily="34" charset="0"/>
              <a:buChar char="•"/>
            </a:pPr>
            <a:r>
              <a:rPr lang="en-US" sz="2000" b="1" dirty="0"/>
              <a:t>The Wizard of Oz - Gone with the Wind - Citizen Kane - Casablanca</a:t>
            </a:r>
          </a:p>
        </p:txBody>
      </p:sp>
      <p:pic>
        <p:nvPicPr>
          <p:cNvPr id="2050" name="Picture 2" descr="Image result for wizard of oz">
            <a:extLst>
              <a:ext uri="{FF2B5EF4-FFF2-40B4-BE49-F238E27FC236}">
                <a16:creationId xmlns:a16="http://schemas.microsoft.com/office/drawing/2014/main" id="{732B4447-96E9-481C-A840-D5CC92D537E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90600" y="2687782"/>
            <a:ext cx="5105400" cy="2552700"/>
          </a:xfrm>
          <a:prstGeom prst="rect">
            <a:avLst/>
          </a:prstGeom>
          <a:ln w="190500" cap="sq">
            <a:solidFill>
              <a:srgbClr val="C8C6BD"/>
            </a:solidFill>
            <a:prstDash val="solid"/>
            <a:miter lim="800000"/>
          </a:ln>
          <a:effectLst>
            <a:outerShdw blurRad="254000" algn="bl" rotWithShape="0">
              <a:srgbClr val="000000">
                <a:alpha val="43000"/>
              </a:srgbClr>
            </a:outerShdw>
          </a:effectLst>
          <a:scene3d>
            <a:camera prst="perspectiveFront" fov="5400000"/>
            <a:lightRig rig="threePt" dir="t">
              <a:rot lat="0" lon="0" rev="2100000"/>
            </a:lightRig>
          </a:scene3d>
          <a:sp3d extrusionH="25400">
            <a:bevelT w="304800" h="152400" prst="hardEdge"/>
            <a:extrusionClr>
              <a:srgbClr val="000000"/>
            </a:extrusionClr>
          </a:sp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38616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extLst/>
          </a:blip>
          <a:stretch/>
        </a:blipFill>
        <a:effectLst/>
      </p:bgPr>
    </p:bg>
    <p:spTree>
      <p:nvGrpSpPr>
        <p:cNvPr id="1" name=""/>
        <p:cNvGrpSpPr/>
        <p:nvPr/>
      </p:nvGrpSpPr>
      <p:grpSpPr>
        <a:xfrm>
          <a:off x="0" y="0"/>
          <a:ext cx="0" cy="0"/>
          <a:chOff x="0" y="0"/>
          <a:chExt cx="0" cy="0"/>
        </a:xfrm>
      </p:grpSpPr>
      <p:pic>
        <p:nvPicPr>
          <p:cNvPr id="2052" name="Picture 70">
            <a:extLst>
              <a:ext uri="{FF2B5EF4-FFF2-40B4-BE49-F238E27FC236}">
                <a16:creationId xmlns:a16="http://schemas.microsoft.com/office/drawing/2014/main" id="{EC451D95-F442-41F5-B7F3-ADFF8BF5223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1786"/>
            <a:ext cx="12188825" cy="6856214"/>
          </a:xfrm>
          <a:prstGeom prst="rect">
            <a:avLst/>
          </a:prstGeom>
        </p:spPr>
      </p:pic>
      <p:sp>
        <p:nvSpPr>
          <p:cNvPr id="2" name="Title 1">
            <a:extLst>
              <a:ext uri="{FF2B5EF4-FFF2-40B4-BE49-F238E27FC236}">
                <a16:creationId xmlns:a16="http://schemas.microsoft.com/office/drawing/2014/main" id="{D99EF2C5-E374-412B-8637-AAFB894C40B7}"/>
              </a:ext>
            </a:extLst>
          </p:cNvPr>
          <p:cNvSpPr>
            <a:spLocks noGrp="1"/>
          </p:cNvSpPr>
          <p:nvPr>
            <p:ph type="title"/>
          </p:nvPr>
        </p:nvSpPr>
        <p:spPr>
          <a:xfrm>
            <a:off x="1295402" y="982132"/>
            <a:ext cx="3660056" cy="1325373"/>
          </a:xfrm>
        </p:spPr>
        <p:txBody>
          <a:bodyPr anchor="b">
            <a:normAutofit/>
          </a:bodyPr>
          <a:lstStyle/>
          <a:p>
            <a:r>
              <a:rPr lang="en-US" sz="3200" dirty="0"/>
              <a:t>The Peak</a:t>
            </a:r>
          </a:p>
        </p:txBody>
      </p:sp>
      <p:cxnSp>
        <p:nvCxnSpPr>
          <p:cNvPr id="2053" name="Straight Connector 72">
            <a:extLst>
              <a:ext uri="{FF2B5EF4-FFF2-40B4-BE49-F238E27FC236}">
                <a16:creationId xmlns:a16="http://schemas.microsoft.com/office/drawing/2014/main" id="{3393F3B5-23C9-4DE1-BF93-BBDEE177052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95401" y="2400639"/>
            <a:ext cx="3660057"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1A0CE49C-12C9-4D77-8947-0BE2AA853B6A}"/>
              </a:ext>
            </a:extLst>
          </p:cNvPr>
          <p:cNvSpPr>
            <a:spLocks noGrp="1"/>
          </p:cNvSpPr>
          <p:nvPr>
            <p:ph idx="1"/>
          </p:nvPr>
        </p:nvSpPr>
        <p:spPr>
          <a:xfrm>
            <a:off x="1295401" y="2766314"/>
            <a:ext cx="3660057" cy="3382094"/>
          </a:xfrm>
        </p:spPr>
        <p:txBody>
          <a:bodyPr>
            <a:normAutofit fontScale="92500"/>
          </a:bodyPr>
          <a:lstStyle/>
          <a:p>
            <a:r>
              <a:rPr lang="en-US" sz="1800" dirty="0"/>
              <a:t>1929-30: around 100 million tickets a week.</a:t>
            </a:r>
          </a:p>
          <a:p>
            <a:r>
              <a:rPr lang="en-US" sz="1800" dirty="0"/>
              <a:t>The population of the United States was about 123 million.</a:t>
            </a:r>
          </a:p>
          <a:p>
            <a:r>
              <a:rPr lang="en-US" sz="1800" dirty="0"/>
              <a:t>The average American went to the pictures roughly once a week - some weeks, most of the country was in a cinema.</a:t>
            </a:r>
          </a:p>
        </p:txBody>
      </p:sp>
      <p:pic>
        <p:nvPicPr>
          <p:cNvPr id="2050" name="Picture 2" descr="Image result for early television watching">
            <a:extLst>
              <a:ext uri="{FF2B5EF4-FFF2-40B4-BE49-F238E27FC236}">
                <a16:creationId xmlns:a16="http://schemas.microsoft.com/office/drawing/2014/main" id="{CD956B04-BC35-4A0B-A3B4-AB32A446AC11}"/>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t="3792" r="2" b="2"/>
          <a:stretch/>
        </p:blipFill>
        <p:spPr bwMode="auto">
          <a:xfrm>
            <a:off x="5418668" y="982131"/>
            <a:ext cx="5469466" cy="489373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a:extLst/>
        </p:spPr>
      </p:pic>
    </p:spTree>
    <p:extLst>
      <p:ext uri="{BB962C8B-B14F-4D97-AF65-F5344CB8AC3E}">
        <p14:creationId xmlns:p14="http://schemas.microsoft.com/office/powerpoint/2010/main" val="39961555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extLst/>
          </a:blip>
          <a:stretch/>
        </a:blipFill>
        <a:effectLst/>
      </p:bgPr>
    </p:bg>
    <p:spTree>
      <p:nvGrpSpPr>
        <p:cNvPr id="1" name=""/>
        <p:cNvGrpSpPr/>
        <p:nvPr/>
      </p:nvGrpSpPr>
      <p:grpSpPr>
        <a:xfrm>
          <a:off x="0" y="0"/>
          <a:ext cx="0" cy="0"/>
          <a:chOff x="0" y="0"/>
          <a:chExt cx="0" cy="0"/>
        </a:xfrm>
      </p:grpSpPr>
      <p:pic>
        <p:nvPicPr>
          <p:cNvPr id="2052" name="Picture 70">
            <a:extLst>
              <a:ext uri="{FF2B5EF4-FFF2-40B4-BE49-F238E27FC236}">
                <a16:creationId xmlns:a16="http://schemas.microsoft.com/office/drawing/2014/main" id="{EC451D95-F442-41F5-B7F3-ADFF8BF5223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1786"/>
            <a:ext cx="12188825" cy="6856214"/>
          </a:xfrm>
          <a:prstGeom prst="rect">
            <a:avLst/>
          </a:prstGeom>
        </p:spPr>
      </p:pic>
      <p:sp>
        <p:nvSpPr>
          <p:cNvPr id="2" name="Title 1">
            <a:extLst>
              <a:ext uri="{FF2B5EF4-FFF2-40B4-BE49-F238E27FC236}">
                <a16:creationId xmlns:a16="http://schemas.microsoft.com/office/drawing/2014/main" id="{D99EF2C5-E374-412B-8637-AAFB894C40B7}"/>
              </a:ext>
            </a:extLst>
          </p:cNvPr>
          <p:cNvSpPr>
            <a:spLocks noGrp="1"/>
          </p:cNvSpPr>
          <p:nvPr>
            <p:ph type="title"/>
          </p:nvPr>
        </p:nvSpPr>
        <p:spPr>
          <a:xfrm>
            <a:off x="1295402" y="982132"/>
            <a:ext cx="3660056" cy="1325373"/>
          </a:xfrm>
        </p:spPr>
        <p:txBody>
          <a:bodyPr anchor="b">
            <a:normAutofit/>
          </a:bodyPr>
          <a:lstStyle/>
          <a:p>
            <a:r>
              <a:rPr lang="en-US" sz="3200" dirty="0"/>
              <a:t>The Collapse</a:t>
            </a:r>
          </a:p>
        </p:txBody>
      </p:sp>
      <p:cxnSp>
        <p:nvCxnSpPr>
          <p:cNvPr id="2053" name="Straight Connector 72">
            <a:extLst>
              <a:ext uri="{FF2B5EF4-FFF2-40B4-BE49-F238E27FC236}">
                <a16:creationId xmlns:a16="http://schemas.microsoft.com/office/drawing/2014/main" id="{3393F3B5-23C9-4DE1-BF93-BBDEE177052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95401" y="2400639"/>
            <a:ext cx="3660057"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1A0CE49C-12C9-4D77-8947-0BE2AA853B6A}"/>
              </a:ext>
            </a:extLst>
          </p:cNvPr>
          <p:cNvSpPr>
            <a:spLocks noGrp="1"/>
          </p:cNvSpPr>
          <p:nvPr>
            <p:ph idx="1"/>
          </p:nvPr>
        </p:nvSpPr>
        <p:spPr>
          <a:xfrm>
            <a:off x="1295401" y="2766314"/>
            <a:ext cx="3660057" cy="3382094"/>
          </a:xfrm>
        </p:spPr>
        <p:txBody>
          <a:bodyPr>
            <a:normAutofit/>
          </a:bodyPr>
          <a:lstStyle/>
          <a:p>
            <a:r>
              <a:rPr lang="en-US" sz="1800" dirty="0"/>
              <a:t>1946: about 90 million a week.</a:t>
            </a:r>
          </a:p>
          <a:p>
            <a:r>
              <a:rPr lang="en-US" sz="1800" dirty="0"/>
              <a:t>1950: about 60 million.</a:t>
            </a:r>
          </a:p>
          <a:p>
            <a:r>
              <a:rPr lang="en-US" sz="1800" dirty="0"/>
              <a:t>Mid-1950s: about 45 million.</a:t>
            </a:r>
          </a:p>
          <a:p>
            <a:r>
              <a:rPr lang="en-US" sz="1800" dirty="0"/>
              <a:t>1970: about 20 million.</a:t>
            </a:r>
          </a:p>
          <a:p>
            <a:r>
              <a:rPr lang="en-US" sz="1800" dirty="0"/>
              <a:t>By 1960 there was a television in roughly 90% of American homes.</a:t>
            </a:r>
          </a:p>
        </p:txBody>
      </p:sp>
      <p:pic>
        <p:nvPicPr>
          <p:cNvPr id="2050" name="Picture 2" descr="Image result for early television watching">
            <a:extLst>
              <a:ext uri="{FF2B5EF4-FFF2-40B4-BE49-F238E27FC236}">
                <a16:creationId xmlns:a16="http://schemas.microsoft.com/office/drawing/2014/main" id="{CD956B04-BC35-4A0B-A3B4-AB32A446AC11}"/>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t="3792" r="2" b="2"/>
          <a:stretch/>
        </p:blipFill>
        <p:spPr bwMode="auto">
          <a:xfrm>
            <a:off x="5418668" y="982131"/>
            <a:ext cx="5469466" cy="489373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a:extLst/>
        </p:spPr>
      </p:pic>
    </p:spTree>
    <p:extLst>
      <p:ext uri="{BB962C8B-B14F-4D97-AF65-F5344CB8AC3E}">
        <p14:creationId xmlns:p14="http://schemas.microsoft.com/office/powerpoint/2010/main" val="183579806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extLst/>
          </a:blip>
          <a:stretch/>
        </a:blipFill>
        <a:effectLst/>
      </p:bgPr>
    </p:bg>
    <p:spTree>
      <p:nvGrpSpPr>
        <p:cNvPr id="1" name=""/>
        <p:cNvGrpSpPr/>
        <p:nvPr/>
      </p:nvGrpSpPr>
      <p:grpSpPr>
        <a:xfrm>
          <a:off x="0" y="0"/>
          <a:ext cx="0" cy="0"/>
          <a:chOff x="0" y="0"/>
          <a:chExt cx="0" cy="0"/>
        </a:xfrm>
      </p:grpSpPr>
      <p:sp useBgFill="1">
        <p:nvSpPr>
          <p:cNvPr id="3078" name="Rectangle 191">
            <a:extLst>
              <a:ext uri="{FF2B5EF4-FFF2-40B4-BE49-F238E27FC236}">
                <a16:creationId xmlns:a16="http://schemas.microsoft.com/office/drawing/2014/main" id="{EE1374CC-E745-4BC0-92A0-180B70E3D0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p>
        </p:txBody>
      </p:sp>
      <p:pic>
        <p:nvPicPr>
          <p:cNvPr id="3079" name="Picture 192">
            <a:extLst>
              <a:ext uri="{FF2B5EF4-FFF2-40B4-BE49-F238E27FC236}">
                <a16:creationId xmlns:a16="http://schemas.microsoft.com/office/drawing/2014/main" id="{1CF8A95A-9DEB-454B-92B4-86057447CBB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cxnSp>
        <p:nvCxnSpPr>
          <p:cNvPr id="3080" name="Straight Connector 193">
            <a:extLst>
              <a:ext uri="{FF2B5EF4-FFF2-40B4-BE49-F238E27FC236}">
                <a16:creationId xmlns:a16="http://schemas.microsoft.com/office/drawing/2014/main" id="{DB24AD5B-7E5E-4F3C-82E6-1234F4C5894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477057" y="2400639"/>
            <a:ext cx="576072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1A0CE49C-12C9-4D77-8947-0BE2AA853B6A}"/>
              </a:ext>
            </a:extLst>
          </p:cNvPr>
          <p:cNvSpPr>
            <a:spLocks noGrp="1"/>
          </p:cNvSpPr>
          <p:nvPr>
            <p:ph idx="1"/>
          </p:nvPr>
        </p:nvSpPr>
        <p:spPr>
          <a:xfrm>
            <a:off x="1170432" y="2697480"/>
            <a:ext cx="6035040" cy="3017520"/>
          </a:xfrm>
        </p:spPr>
        <p:txBody>
          <a:bodyPr>
            <a:normAutofit/>
          </a:bodyPr>
          <a:lstStyle/>
          <a:p>
            <a:pPr>
              <a:buNone/>
            </a:pPr>
            <a:r>
              <a:rPr lang="en-US" sz="2200" dirty="0"/>
              <a:t>Three cameras, three projectors, one deeply curved screen.</a:t>
            </a:r>
          </a:p>
          <a:p>
            <a:pPr>
              <a:buNone/>
            </a:pPr>
            <a:r>
              <a:rPr lang="en-US" sz="2200" dirty="0"/>
              <a:t>This Is Cinerama opened 30 September 1952. The first thing the audience saw was a roller coaster.</a:t>
            </a:r>
          </a:p>
          <a:p>
            <a:pPr>
              <a:buNone/>
            </a:pPr>
            <a:r>
              <a:rPr lang="en-US" sz="2200" dirty="0"/>
              <a:t>Abandoned - the cost of re-fitting a theatre was ruinous, and the seams between the three panels showed.</a:t>
            </a:r>
          </a:p>
        </p:txBody>
      </p:sp>
      <p:pic>
        <p:nvPicPr>
          <p:cNvPr id="3076" name="Picture 4" descr="https://upload.wikimedia.org/wikipedia/commons/2/24/How_Cinerama_is_projected.gif">
            <a:extLst>
              <a:ext uri="{FF2B5EF4-FFF2-40B4-BE49-F238E27FC236}">
                <a16:creationId xmlns:a16="http://schemas.microsoft.com/office/drawing/2014/main" id="{434CB4F2-BCDB-4CF0-8941-FC48B4962E4F}"/>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188" r="-5" b="-5"/>
          <a:stretch/>
        </p:blipFill>
        <p:spPr bwMode="auto">
          <a:xfrm>
            <a:off x="7506720" y="1516186"/>
            <a:ext cx="1725985" cy="1666187"/>
          </a:xfrm>
          <a:prstGeom prst="rect">
            <a:avLst/>
          </a:prstGeom>
          <a:solidFill>
            <a:srgbClr val="FFFFFF">
              <a:shade val="85000"/>
            </a:srgbClr>
          </a:solidFill>
          <a:ln w="57150" cmpd="thickThin">
            <a:noFill/>
            <a:miter lim="800000"/>
          </a:ln>
          <a:scene3d>
            <a:camera prst="orthographicFront"/>
            <a:lightRig rig="twoPt" dir="t">
              <a:rot lat="0" lon="0" rev="7200000"/>
            </a:lightRig>
          </a:scene3d>
          <a:sp3d>
            <a:bevelT w="25400" h="19050"/>
            <a:contourClr>
              <a:srgbClr val="FFFFFF"/>
            </a:contourClr>
          </a:sp3d>
          <a:extLst/>
        </p:spPr>
      </p:pic>
      <p:pic>
        <p:nvPicPr>
          <p:cNvPr id="3074" name="Picture 2" descr="Image result for cinerama format">
            <a:extLst>
              <a:ext uri="{FF2B5EF4-FFF2-40B4-BE49-F238E27FC236}">
                <a16:creationId xmlns:a16="http://schemas.microsoft.com/office/drawing/2014/main" id="{A741F4D0-2C94-4424-BB7F-9A71CA234BB8}"/>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t="5348" r="-2" b="-2"/>
          <a:stretch/>
        </p:blipFill>
        <p:spPr bwMode="auto">
          <a:xfrm>
            <a:off x="7506720" y="3416995"/>
            <a:ext cx="3933394" cy="1852210"/>
          </a:xfrm>
          <a:prstGeom prst="rect">
            <a:avLst/>
          </a:prstGeom>
          <a:noFill/>
          <a:ln w="57150" cmpd="thickThin">
            <a:noFill/>
            <a:miter lim="800000"/>
          </a:ln>
          <a:extLst>
            <a:ext uri="{909E8E84-426E-40DD-AFC4-6F175D3DCCD1}">
              <a14:hiddenFill xmlns:a14="http://schemas.microsoft.com/office/drawing/2010/main">
                <a:solidFill>
                  <a:srgbClr val="FFFFFF"/>
                </a:solidFill>
              </a14:hiddenFill>
            </a:ext>
          </a:extLst>
        </p:spPr>
      </p:pic>
      <p:pic>
        <p:nvPicPr>
          <p:cNvPr id="5" name="Picture 8" descr="Image result for cinerama format theater 1960">
            <a:extLst>
              <a:ext uri="{FF2B5EF4-FFF2-40B4-BE49-F238E27FC236}">
                <a16:creationId xmlns:a16="http://schemas.microsoft.com/office/drawing/2014/main" id="{97E228BF-2BB1-4FA4-B59B-AA386168CFC2}"/>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16472" t="95" r="9077" b="9808"/>
          <a:stretch/>
        </p:blipFill>
        <p:spPr bwMode="auto">
          <a:xfrm>
            <a:off x="9519195" y="1516186"/>
            <a:ext cx="1920919" cy="1666192"/>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descr="Image result for cinerama">
            <a:extLst>
              <a:ext uri="{FF2B5EF4-FFF2-40B4-BE49-F238E27FC236}">
                <a16:creationId xmlns:a16="http://schemas.microsoft.com/office/drawing/2014/main" id="{563ED3DC-99AF-4722-97BC-0242F6312F3E}"/>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957828" y="778083"/>
            <a:ext cx="4255943" cy="1284420"/>
          </a:xfrm>
          <a:prstGeom prst="rect">
            <a:avLst/>
          </a:prstGeom>
          <a:noFill/>
          <a:extLst>
            <a:ext uri="{909E8E84-426E-40DD-AFC4-6F175D3DCCD1}">
              <a14:hiddenFill xmlns:a14="http://schemas.microsoft.com/office/drawing/2010/main">
                <a:solidFill>
                  <a:srgbClr val="FFFFFF"/>
                </a:solidFill>
              </a14:hiddenFill>
            </a:ext>
          </a:extLst>
        </p:spPr>
      </p:pic>
      <p:sp>
        <p:nvSpPr>
          <p:cNvPr id="3081" name="TextBox 3081"/>
          <p:cNvSpPr txBox="1"/>
          <p:nvPr/>
        </p:nvSpPr>
        <p:spPr>
          <a:xfrm>
            <a:off x="1298448" y="91440"/>
            <a:ext cx="8229600" cy="566928"/>
          </a:xfrm>
          <a:prstGeom prst="rect">
            <a:avLst/>
          </a:prstGeom>
          <a:noFill/>
        </p:spPr>
        <p:txBody>
          <a:bodyPr wrap="square" lIns="0" tIns="0" rIns="0" bIns="0" anchor="t">
            <a:normAutofit/>
          </a:bodyPr>
          <a:lstStyle/>
          <a:p>
            <a:pPr algn="l">
              <a:buNone/>
            </a:pPr>
            <a:r>
              <a:rPr lang="en-US" sz="3200" b="1" i="0" dirty="0">
                <a:solidFill>
                  <a:srgbClr val="212121"/>
                </a:solidFill>
              </a:rPr>
              <a:t>Cinerama (1952) - 2.60 : 1</a:t>
            </a:r>
          </a:p>
        </p:txBody>
      </p:sp>
    </p:spTree>
    <p:extLst>
      <p:ext uri="{BB962C8B-B14F-4D97-AF65-F5344CB8AC3E}">
        <p14:creationId xmlns:p14="http://schemas.microsoft.com/office/powerpoint/2010/main" val="11622067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F8C1893-B1C7-4ECD-B307-FB91893112B9}"/>
              </a:ext>
            </a:extLst>
          </p:cNvPr>
          <p:cNvSpPr>
            <a:spLocks noGrp="1"/>
          </p:cNvSpPr>
          <p:nvPr>
            <p:ph idx="1"/>
          </p:nvPr>
        </p:nvSpPr>
        <p:spPr>
          <a:xfrm>
            <a:off x="1298448" y="3017520"/>
            <a:ext cx="5394960" cy="2743200"/>
          </a:xfrm>
        </p:spPr>
        <p:txBody>
          <a:bodyPr>
            <a:noAutofit/>
          </a:bodyPr>
          <a:lstStyle/>
          <a:p>
            <a:r>
              <a:rPr lang="en-US" sz="1500" dirty="0"/>
              <a:t>20th Century Fox. An anamorphic lens squeezes a wide image onto ordinary 35mm film; a second lens on the projector unsqueezes it.</a:t>
            </a:r>
          </a:p>
          <a:p>
            <a:r>
              <a:rPr lang="en-US" sz="1500" dirty="0"/>
              <a:t>2.66:1 at launch, settling to 2.55:1.</a:t>
            </a:r>
          </a:p>
          <a:p>
            <a:r>
              <a:rPr lang="en-US" sz="1500" dirty="0"/>
              <a:t>20,000 Leagues Under the Sea - Lady and the Tramp, the first animated feature in the format.</a:t>
            </a:r>
          </a:p>
        </p:txBody>
      </p:sp>
      <p:pic>
        <p:nvPicPr>
          <p:cNvPr id="6148" name="Picture 4" descr="Image result for cinemascope">
            <a:extLst>
              <a:ext uri="{FF2B5EF4-FFF2-40B4-BE49-F238E27FC236}">
                <a16:creationId xmlns:a16="http://schemas.microsoft.com/office/drawing/2014/main" id="{CB63FED6-7446-41A7-8F08-17C2EB84421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248" b="30133"/>
          <a:stretch/>
        </p:blipFill>
        <p:spPr bwMode="auto">
          <a:xfrm>
            <a:off x="1291939" y="675409"/>
            <a:ext cx="9597734" cy="1735282"/>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descr="Image result for cinemascope">
            <a:extLst>
              <a:ext uri="{FF2B5EF4-FFF2-40B4-BE49-F238E27FC236}">
                <a16:creationId xmlns:a16="http://schemas.microsoft.com/office/drawing/2014/main" id="{A070315A-0AB4-4D11-BA4B-1124F497259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086600" y="2724912"/>
            <a:ext cx="1737360" cy="145115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a:extLst/>
        </p:spPr>
      </p:pic>
      <p:pic>
        <p:nvPicPr>
          <p:cNvPr id="6151" name="20000 Leagues"/>
          <p:cNvPicPr>
            <a:picLocks noChangeAspect="1"/>
          </p:cNvPicPr>
          <p:nvPr/>
        </p:nvPicPr>
        <p:blipFill>
          <a:blip r:embed="rId5"/>
          <a:stretch>
            <a:fillRect/>
          </a:stretch>
        </p:blipFill>
        <p:spPr>
          <a:xfrm>
            <a:off x="9052560" y="2724912"/>
            <a:ext cx="1737360" cy="1297534"/>
          </a:xfrm>
          <a:prstGeom prst="rect">
            <a:avLst/>
          </a:prstGeom>
        </p:spPr>
      </p:pic>
      <p:pic>
        <p:nvPicPr>
          <p:cNvPr id="6152" name="Lady and the Tramp"/>
          <p:cNvPicPr>
            <a:picLocks noChangeAspect="1"/>
          </p:cNvPicPr>
          <p:nvPr/>
        </p:nvPicPr>
        <p:blipFill>
          <a:blip r:embed="rId6"/>
          <a:stretch>
            <a:fillRect/>
          </a:stretch>
        </p:blipFill>
        <p:spPr>
          <a:xfrm>
            <a:off x="8183880" y="4389120"/>
            <a:ext cx="960120" cy="1485900"/>
          </a:xfrm>
          <a:prstGeom prst="rect">
            <a:avLst/>
          </a:prstGeom>
        </p:spPr>
      </p:pic>
      <p:sp>
        <p:nvSpPr>
          <p:cNvPr id="6153" name="TextBox 6153"/>
          <p:cNvSpPr txBox="1"/>
          <p:nvPr/>
        </p:nvSpPr>
        <p:spPr>
          <a:xfrm>
            <a:off x="1298448" y="2487168"/>
            <a:ext cx="5120640" cy="457200"/>
          </a:xfrm>
          <a:prstGeom prst="rect">
            <a:avLst/>
          </a:prstGeom>
          <a:noFill/>
        </p:spPr>
        <p:txBody>
          <a:bodyPr wrap="square" lIns="0" tIns="0" rIns="0" bIns="0" anchor="t">
            <a:normAutofit/>
          </a:bodyPr>
          <a:lstStyle/>
          <a:p>
            <a:pPr algn="l">
              <a:buNone/>
            </a:pPr>
            <a:r>
              <a:rPr lang="en-US" sz="3200" b="1" i="0" dirty="0">
                <a:solidFill>
                  <a:srgbClr val="212121"/>
                </a:solidFill>
              </a:rPr>
              <a:t>CinemaScope (1953)</a:t>
            </a:r>
          </a:p>
        </p:txBody>
      </p:sp>
    </p:spTree>
    <p:extLst>
      <p:ext uri="{BB962C8B-B14F-4D97-AF65-F5344CB8AC3E}">
        <p14:creationId xmlns:p14="http://schemas.microsoft.com/office/powerpoint/2010/main" val="681667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EB098C-E5A2-4983-8AA8-A915B41C1EAA}"/>
              </a:ext>
            </a:extLst>
          </p:cNvPr>
          <p:cNvSpPr>
            <a:spLocks noGrp="1"/>
          </p:cNvSpPr>
          <p:nvPr>
            <p:ph idx="1"/>
          </p:nvPr>
        </p:nvSpPr>
        <p:spPr>
          <a:xfrm>
            <a:off x="1295401" y="2784764"/>
            <a:ext cx="9601196" cy="3091104"/>
          </a:xfrm>
        </p:spPr>
        <p:txBody>
          <a:bodyPr/>
          <a:lstStyle/>
          <a:p>
            <a:r>
              <a:rPr lang="en-US" dirty="0"/>
              <a:t>Late 1950s. Fixed CinemaScope's distortion problems and became the industry standard.</a:t>
            </a:r>
          </a:p>
          <a:p>
            <a:r>
              <a:rPr lang="en-US" dirty="0"/>
              <a:t>2.35:1 and 1.85:1 - still the two shapes you will actually work in.</a:t>
            </a:r>
          </a:p>
        </p:txBody>
      </p:sp>
      <p:pic>
        <p:nvPicPr>
          <p:cNvPr id="1026" name="Picture 2" descr="Image result for panavision">
            <a:extLst>
              <a:ext uri="{FF2B5EF4-FFF2-40B4-BE49-F238E27FC236}">
                <a16:creationId xmlns:a16="http://schemas.microsoft.com/office/drawing/2014/main" id="{9D17F1E1-8791-4911-8159-A99143228FF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65719" y="542493"/>
            <a:ext cx="4460562" cy="1847416"/>
          </a:xfrm>
          <a:prstGeom prst="rect">
            <a:avLst/>
          </a:prstGeom>
          <a:noFill/>
          <a:extLst>
            <a:ext uri="{909E8E84-426E-40DD-AFC4-6F175D3DCCD1}">
              <a14:hiddenFill xmlns:a14="http://schemas.microsoft.com/office/drawing/2010/main">
                <a:solidFill>
                  <a:srgbClr val="FFFFFF"/>
                </a:solidFill>
              </a14:hiddenFill>
            </a:ext>
          </a:extLst>
        </p:spPr>
      </p:pic>
      <p:sp>
        <p:nvSpPr>
          <p:cNvPr id="1027" name="TextBox 1027"/>
          <p:cNvSpPr txBox="1"/>
          <p:nvPr/>
        </p:nvSpPr>
        <p:spPr>
          <a:xfrm>
            <a:off x="1298448" y="2450592"/>
            <a:ext cx="5486400" cy="457200"/>
          </a:xfrm>
          <a:prstGeom prst="rect">
            <a:avLst/>
          </a:prstGeom>
          <a:noFill/>
        </p:spPr>
        <p:txBody>
          <a:bodyPr wrap="square" lIns="0" tIns="0" rIns="0" bIns="0" anchor="t">
            <a:normAutofit/>
          </a:bodyPr>
          <a:lstStyle/>
          <a:p>
            <a:pPr algn="l">
              <a:buNone/>
            </a:pPr>
            <a:r>
              <a:rPr lang="en-US" sz="3200" b="1" i="0" dirty="0">
                <a:solidFill>
                  <a:srgbClr val="212121"/>
                </a:solidFill>
              </a:rPr>
              <a:t>Panavision</a:t>
            </a:r>
          </a:p>
        </p:txBody>
      </p:sp>
    </p:spTree>
    <p:extLst>
      <p:ext uri="{BB962C8B-B14F-4D97-AF65-F5344CB8AC3E}">
        <p14:creationId xmlns:p14="http://schemas.microsoft.com/office/powerpoint/2010/main" val="40486948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6E8CA-91BA-4919-B226-7EB4D0803BF7}"/>
              </a:ext>
            </a:extLst>
          </p:cNvPr>
          <p:cNvSpPr>
            <a:spLocks noGrp="1"/>
          </p:cNvSpPr>
          <p:nvPr>
            <p:ph type="title"/>
          </p:nvPr>
        </p:nvSpPr>
        <p:spPr/>
        <p:txBody>
          <a:bodyPr/>
          <a:lstStyle/>
          <a:p>
            <a:r>
              <a:rPr lang="en-US" dirty="0"/>
              <a:t>The Two Ratios You'll Actually Use</a:t>
            </a:r>
          </a:p>
        </p:txBody>
      </p:sp>
      <p:sp>
        <p:nvSpPr>
          <p:cNvPr id="3" name="Content Placeholder 2">
            <a:extLst>
              <a:ext uri="{FF2B5EF4-FFF2-40B4-BE49-F238E27FC236}">
                <a16:creationId xmlns:a16="http://schemas.microsoft.com/office/drawing/2014/main" id="{CE2F37E3-099F-4859-BE23-B91307FF50DA}"/>
              </a:ext>
            </a:extLst>
          </p:cNvPr>
          <p:cNvSpPr>
            <a:spLocks noGrp="1"/>
          </p:cNvSpPr>
          <p:nvPr>
            <p:ph idx="1"/>
          </p:nvPr>
        </p:nvSpPr>
        <p:spPr>
          <a:xfrm>
            <a:off x="1028700" y="2556932"/>
            <a:ext cx="4135540" cy="3318936"/>
          </a:xfrm>
        </p:spPr>
        <p:txBody>
          <a:bodyPr>
            <a:normAutofit fontScale="92500"/>
          </a:bodyPr>
          <a:lstStyle/>
          <a:p>
            <a:r>
              <a:rPr lang="en-US" dirty="0"/>
              <a:t>1.85 : 1 - comedy, drama, most animated features. The default.</a:t>
            </a:r>
          </a:p>
          <a:p>
            <a:r>
              <a:rPr lang="en-US" dirty="0"/>
              <a:t>2.39 : 1 - the epic one. Gladiator, The Lord of the Rings, Braveheart.</a:t>
            </a:r>
          </a:p>
          <a:p>
            <a:r>
              <a:rPr lang="en-US" dirty="0"/>
              <a:t>Same story, different shape - and the shape changes what you can put in frame at once.</a:t>
            </a:r>
          </a:p>
        </p:txBody>
      </p:sp>
      <p:pic>
        <p:nvPicPr>
          <p:cNvPr id="2052" name="Picture 4" descr="http://www.lyberty.com/mediatech/img/185-1_waroftheworlds1.jpg">
            <a:extLst>
              <a:ext uri="{FF2B5EF4-FFF2-40B4-BE49-F238E27FC236}">
                <a16:creationId xmlns:a16="http://schemas.microsoft.com/office/drawing/2014/main" id="{F3D92FB7-B4AA-45CF-A32E-ABE8208C12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69280" y="2331720"/>
            <a:ext cx="3931920" cy="2125066"/>
          </a:xfrm>
          <a:prstGeom prst="rect">
            <a:avLst/>
          </a:prstGeom>
          <a:noFill/>
          <a:extLst>
            <a:ext uri="{909E8E84-426E-40DD-AFC4-6F175D3DCCD1}">
              <a14:hiddenFill xmlns:a14="http://schemas.microsoft.com/office/drawing/2010/main">
                <a:solidFill>
                  <a:srgbClr val="FFFFFF"/>
                </a:solidFill>
              </a14:hiddenFill>
            </a:ext>
          </a:extLst>
        </p:spPr>
      </p:pic>
      <p:pic>
        <p:nvPicPr>
          <p:cNvPr id="2053" name="Epic ratio example"/>
          <p:cNvPicPr>
            <a:picLocks noChangeAspect="1"/>
          </p:cNvPicPr>
          <p:nvPr/>
        </p:nvPicPr>
        <p:blipFill>
          <a:blip r:embed="rId4"/>
          <a:stretch>
            <a:fillRect/>
          </a:stretch>
        </p:blipFill>
        <p:spPr>
          <a:xfrm>
            <a:off x="5669280" y="4572000"/>
            <a:ext cx="3931920" cy="1622146"/>
          </a:xfrm>
          <a:prstGeom prst="rect">
            <a:avLst/>
          </a:prstGeom>
        </p:spPr>
      </p:pic>
    </p:spTree>
    <p:extLst>
      <p:ext uri="{BB962C8B-B14F-4D97-AF65-F5344CB8AC3E}">
        <p14:creationId xmlns:p14="http://schemas.microsoft.com/office/powerpoint/2010/main" val="11338072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6E8CA-91BA-4919-B226-7EB4D0803BF7}"/>
              </a:ext>
            </a:extLst>
          </p:cNvPr>
          <p:cNvSpPr>
            <a:spLocks noGrp="1"/>
          </p:cNvSpPr>
          <p:nvPr>
            <p:ph type="title"/>
          </p:nvPr>
        </p:nvSpPr>
        <p:spPr/>
        <p:txBody>
          <a:bodyPr/>
          <a:lstStyle/>
          <a:p>
            <a:r>
              <a:rPr lang="en-US" dirty="0"/>
              <a:t>The Mismatch</a:t>
            </a:r>
          </a:p>
        </p:txBody>
      </p:sp>
      <p:sp>
        <p:nvSpPr>
          <p:cNvPr id="3" name="Content Placeholder 2">
            <a:extLst>
              <a:ext uri="{FF2B5EF4-FFF2-40B4-BE49-F238E27FC236}">
                <a16:creationId xmlns:a16="http://schemas.microsoft.com/office/drawing/2014/main" id="{CE2F37E3-099F-4859-BE23-B91307FF50DA}"/>
              </a:ext>
            </a:extLst>
          </p:cNvPr>
          <p:cNvSpPr>
            <a:spLocks noGrp="1"/>
          </p:cNvSpPr>
          <p:nvPr>
            <p:ph idx="1"/>
          </p:nvPr>
        </p:nvSpPr>
        <p:spPr>
          <a:xfrm>
            <a:off x="1295401" y="2556932"/>
            <a:ext cx="9601196" cy="3500968"/>
          </a:xfrm>
        </p:spPr>
        <p:txBody>
          <a:bodyPr>
            <a:normAutofit lnSpcReduction="10000"/>
          </a:bodyPr>
          <a:lstStyle/>
          <a:p>
            <a:r>
              <a:rPr lang="en-US" dirty="0"/>
              <a:t>A cinema frame is far wider relative to its height than a 1.33:1 television.</a:t>
            </a:r>
          </a:p>
          <a:p>
            <a:r>
              <a:rPr lang="en-US" dirty="0"/>
              <a:t>Show a 2.39:1 film on a 1.33:1 screen unaltered and most of the picture has nowhere to go.</a:t>
            </a:r>
          </a:p>
          <a:p>
            <a:r>
              <a:rPr lang="en-US" dirty="0"/>
              <a:t>Something has to give. The question is what, and who decides.</a:t>
            </a:r>
          </a:p>
        </p:txBody>
      </p:sp>
    </p:spTree>
    <p:extLst>
      <p:ext uri="{BB962C8B-B14F-4D97-AF65-F5344CB8AC3E}">
        <p14:creationId xmlns:p14="http://schemas.microsoft.com/office/powerpoint/2010/main" val="1054405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5B2E80-FD4E-4BA4-A231-414B39A848D4}"/>
              </a:ext>
            </a:extLst>
          </p:cNvPr>
          <p:cNvSpPr>
            <a:spLocks noGrp="1"/>
          </p:cNvSpPr>
          <p:nvPr>
            <p:ph type="title"/>
          </p:nvPr>
        </p:nvSpPr>
        <p:spPr/>
        <p:txBody>
          <a:bodyPr/>
          <a:lstStyle/>
          <a:p>
            <a:r>
              <a:rPr lang="en-US" dirty="0"/>
              <a:t>Pan &amp; Scan</a:t>
            </a:r>
          </a:p>
        </p:txBody>
      </p:sp>
      <p:sp>
        <p:nvSpPr>
          <p:cNvPr id="3" name="Content Placeholder 2">
            <a:extLst>
              <a:ext uri="{FF2B5EF4-FFF2-40B4-BE49-F238E27FC236}">
                <a16:creationId xmlns:a16="http://schemas.microsoft.com/office/drawing/2014/main" id="{8E8574BE-BFF9-4DE8-807C-7E7A99B31F5A}"/>
              </a:ext>
            </a:extLst>
          </p:cNvPr>
          <p:cNvSpPr>
            <a:spLocks noGrp="1"/>
          </p:cNvSpPr>
          <p:nvPr>
            <p:ph idx="1"/>
          </p:nvPr>
        </p:nvSpPr>
        <p:spPr>
          <a:xfrm>
            <a:off x="670214" y="2720067"/>
            <a:ext cx="4909333" cy="3318936"/>
          </a:xfrm>
        </p:spPr>
        <p:txBody>
          <a:bodyPr>
            <a:noAutofit/>
          </a:bodyPr>
          <a:lstStyle/>
          <a:p>
            <a:r>
              <a:rPr lang="en-US" sz="2000" dirty="0"/>
              <a:t>20th Century Fox, early 1960s.</a:t>
            </a:r>
          </a:p>
          <a:p>
            <a:r>
              <a:rPr lang="en-US" sz="2000" dirty="0"/>
              <a:t>Crop the wide frame down to 1.33:1, and pan within the original image to follow whatever a technician judges to be the subject.</a:t>
            </a:r>
          </a:p>
          <a:p>
            <a:r>
              <a:rPr lang="en-US" sz="2000" dirty="0"/>
              <a:t>Every frame of the film gets re-composed by somebody who was not there.</a:t>
            </a:r>
          </a:p>
        </p:txBody>
      </p:sp>
      <p:pic>
        <p:nvPicPr>
          <p:cNvPr id="4" name="Picture 2" descr="Image result for pan and scan example">
            <a:extLst>
              <a:ext uri="{FF2B5EF4-FFF2-40B4-BE49-F238E27FC236}">
                <a16:creationId xmlns:a16="http://schemas.microsoft.com/office/drawing/2014/main" id="{20958DC7-8F98-48F8-B3A1-9DE089E987E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79547" y="2720067"/>
            <a:ext cx="5724525" cy="24193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416443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5B2E80-FD4E-4BA4-A231-414B39A848D4}"/>
              </a:ext>
            </a:extLst>
          </p:cNvPr>
          <p:cNvSpPr>
            <a:spLocks noGrp="1"/>
          </p:cNvSpPr>
          <p:nvPr>
            <p:ph type="title"/>
          </p:nvPr>
        </p:nvSpPr>
        <p:spPr/>
        <p:txBody>
          <a:bodyPr/>
          <a:lstStyle/>
          <a:p>
            <a:r>
              <a:rPr lang="en-US" dirty="0"/>
              <a:t>What Pan &amp; Scan Costs You</a:t>
            </a:r>
          </a:p>
        </p:txBody>
      </p:sp>
      <p:sp>
        <p:nvSpPr>
          <p:cNvPr id="3" name="Content Placeholder 2">
            <a:extLst>
              <a:ext uri="{FF2B5EF4-FFF2-40B4-BE49-F238E27FC236}">
                <a16:creationId xmlns:a16="http://schemas.microsoft.com/office/drawing/2014/main" id="{8E8574BE-BFF9-4DE8-807C-7E7A99B31F5A}"/>
              </a:ext>
            </a:extLst>
          </p:cNvPr>
          <p:cNvSpPr>
            <a:spLocks noGrp="1"/>
          </p:cNvSpPr>
          <p:nvPr>
            <p:ph idx="1"/>
          </p:nvPr>
        </p:nvSpPr>
        <p:spPr>
          <a:xfrm>
            <a:off x="887928" y="2720067"/>
            <a:ext cx="4649931" cy="3318936"/>
          </a:xfrm>
        </p:spPr>
        <p:txBody>
          <a:bodyPr>
            <a:normAutofit/>
          </a:bodyPr>
          <a:lstStyle/>
          <a:p>
            <a:r>
              <a:rPr lang="en-US" dirty="0">
                <a:solidFill>
                  <a:schemeClr val="tx1"/>
                </a:solidFill>
              </a:rPr>
              <a:t>A 1.85:1 frame cropped to 1.33:1 loses about 28% of its width.</a:t>
            </a:r>
          </a:p>
          <a:p>
            <a:r>
              <a:rPr lang="en-US" dirty="0">
                <a:solidFill>
                  <a:schemeClr val="tx1"/>
                </a:solidFill>
              </a:rPr>
              <a:t>A 2.35:1 frame loses about 43% - close to half the image.</a:t>
            </a:r>
          </a:p>
          <a:p>
            <a:r>
              <a:rPr lang="en-US" dirty="0">
                <a:solidFill>
                  <a:schemeClr val="tx1"/>
                </a:solidFill>
              </a:rPr>
              <a:t>Two characters at opposite edges of a composition: now you can only have one.</a:t>
            </a:r>
          </a:p>
        </p:txBody>
      </p:sp>
      <p:pic>
        <p:nvPicPr>
          <p:cNvPr id="1026" name="Picture 2" descr="Image result for pan and scan example">
            <a:extLst>
              <a:ext uri="{FF2B5EF4-FFF2-40B4-BE49-F238E27FC236}">
                <a16:creationId xmlns:a16="http://schemas.microsoft.com/office/drawing/2014/main" id="{15E435F6-3E5B-4543-B274-92871A35CD1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79547" y="2720067"/>
            <a:ext cx="5724525" cy="24193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930501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5B2E80-FD4E-4BA4-A231-414B39A848D4}"/>
              </a:ext>
            </a:extLst>
          </p:cNvPr>
          <p:cNvSpPr>
            <a:spLocks noGrp="1"/>
          </p:cNvSpPr>
          <p:nvPr>
            <p:ph type="title"/>
          </p:nvPr>
        </p:nvSpPr>
        <p:spPr/>
        <p:txBody>
          <a:bodyPr/>
          <a:lstStyle/>
          <a:p>
            <a:r>
              <a:rPr lang="en-US" dirty="0"/>
              <a:t>Letterboxing</a:t>
            </a:r>
          </a:p>
        </p:txBody>
      </p:sp>
      <p:sp>
        <p:nvSpPr>
          <p:cNvPr id="3" name="Content Placeholder 2">
            <a:extLst>
              <a:ext uri="{FF2B5EF4-FFF2-40B4-BE49-F238E27FC236}">
                <a16:creationId xmlns:a16="http://schemas.microsoft.com/office/drawing/2014/main" id="{8E8574BE-BFF9-4DE8-807C-7E7A99B31F5A}"/>
              </a:ext>
            </a:extLst>
          </p:cNvPr>
          <p:cNvSpPr>
            <a:spLocks noGrp="1"/>
          </p:cNvSpPr>
          <p:nvPr>
            <p:ph idx="1"/>
          </p:nvPr>
        </p:nvSpPr>
        <p:spPr>
          <a:xfrm>
            <a:off x="887928" y="2720067"/>
            <a:ext cx="4649931" cy="3318936"/>
          </a:xfrm>
        </p:spPr>
        <p:txBody>
          <a:bodyPr>
            <a:normAutofit/>
          </a:bodyPr>
          <a:lstStyle/>
          <a:p>
            <a:r>
              <a:rPr lang="en-US" dirty="0">
                <a:solidFill>
                  <a:schemeClr val="tx1"/>
                </a:solidFill>
              </a:rPr>
              <a:t>The other answer: keep the whole frame, shrink it, and accept black bars.</a:t>
            </a:r>
          </a:p>
          <a:p>
            <a:r>
              <a:rPr lang="en-US" dirty="0">
                <a:solidFill>
                  <a:schemeClr val="tx1"/>
                </a:solidFill>
              </a:rPr>
              <a:t>Directors pushed for it. Audiences complained the picture was smaller.</a:t>
            </a:r>
          </a:p>
          <a:p>
            <a:r>
              <a:rPr lang="en-US" dirty="0">
                <a:solidFill>
                  <a:schemeClr val="tx1"/>
                </a:solidFill>
              </a:rPr>
              <a:t>Nothing is thrown away and nobody re-composes anything.</a:t>
            </a:r>
          </a:p>
        </p:txBody>
      </p:sp>
      <p:pic>
        <p:nvPicPr>
          <p:cNvPr id="2050" name="Picture 2" descr="Image result for letterboxing aspect ratio">
            <a:extLst>
              <a:ext uri="{FF2B5EF4-FFF2-40B4-BE49-F238E27FC236}">
                <a16:creationId xmlns:a16="http://schemas.microsoft.com/office/drawing/2014/main" id="{3A3C3359-8AE4-4486-ADA6-A85493EEE85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79547" y="2724765"/>
            <a:ext cx="5715000" cy="32194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69689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5B2E80-FD4E-4BA4-A231-414B39A848D4}"/>
              </a:ext>
            </a:extLst>
          </p:cNvPr>
          <p:cNvSpPr>
            <a:spLocks noGrp="1"/>
          </p:cNvSpPr>
          <p:nvPr>
            <p:ph type="title"/>
          </p:nvPr>
        </p:nvSpPr>
        <p:spPr/>
        <p:txBody>
          <a:bodyPr/>
          <a:lstStyle/>
          <a:p>
            <a:r>
              <a:rPr lang="en-US" dirty="0"/>
              <a:t>Why This History Still Matters</a:t>
            </a:r>
          </a:p>
        </p:txBody>
      </p:sp>
      <p:sp>
        <p:nvSpPr>
          <p:cNvPr id="3" name="Content Placeholder 2">
            <a:extLst>
              <a:ext uri="{FF2B5EF4-FFF2-40B4-BE49-F238E27FC236}">
                <a16:creationId xmlns:a16="http://schemas.microsoft.com/office/drawing/2014/main" id="{8E8574BE-BFF9-4DE8-807C-7E7A99B31F5A}"/>
              </a:ext>
            </a:extLst>
          </p:cNvPr>
          <p:cNvSpPr>
            <a:spLocks noGrp="1"/>
          </p:cNvSpPr>
          <p:nvPr>
            <p:ph idx="1"/>
          </p:nvPr>
        </p:nvSpPr>
        <p:spPr>
          <a:xfrm>
            <a:off x="887928" y="2720067"/>
            <a:ext cx="4649931" cy="3318936"/>
          </a:xfrm>
        </p:spPr>
        <p:txBody>
          <a:bodyPr>
            <a:normAutofit/>
          </a:bodyPr>
          <a:lstStyle/>
          <a:p>
            <a:r>
              <a:rPr lang="en-US" dirty="0">
                <a:solidFill>
                  <a:schemeClr val="tx1"/>
                </a:solidFill>
              </a:rPr>
              <a:t>Every fight on the last four slides is the same fight:</a:t>
            </a:r>
          </a:p>
          <a:p>
            <a:r>
              <a:rPr lang="en-US" dirty="0">
                <a:solidFill>
                  <a:schemeClr val="tx1"/>
                </a:solidFill>
              </a:rPr>
              <a:t>a mismatch between the shape something was made in and the shape it gets watched in.</a:t>
            </a:r>
          </a:p>
          <a:p>
            <a:r>
              <a:rPr lang="en-US" dirty="0">
                <a:solidFill>
                  <a:schemeClr val="tx1"/>
                </a:solidFill>
              </a:rPr>
              <a:t>That fight never ended. It moved.</a:t>
            </a:r>
          </a:p>
        </p:txBody>
      </p:sp>
      <p:pic>
        <p:nvPicPr>
          <p:cNvPr id="2050" name="Picture 2" descr="Image result for letterboxing aspect ratio">
            <a:extLst>
              <a:ext uri="{FF2B5EF4-FFF2-40B4-BE49-F238E27FC236}">
                <a16:creationId xmlns:a16="http://schemas.microsoft.com/office/drawing/2014/main" id="{3A3C3359-8AE4-4486-ADA6-A85493EEE85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79547" y="2724765"/>
            <a:ext cx="5715000" cy="32194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362011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5B2E80-FD4E-4BA4-A231-414B39A848D4}"/>
              </a:ext>
            </a:extLst>
          </p:cNvPr>
          <p:cNvSpPr>
            <a:spLocks noGrp="1"/>
          </p:cNvSpPr>
          <p:nvPr>
            <p:ph type="title"/>
          </p:nvPr>
        </p:nvSpPr>
        <p:spPr/>
        <p:txBody>
          <a:bodyPr>
            <a:normAutofit fontScale="90000"/>
          </a:bodyPr>
          <a:lstStyle/>
          <a:p>
            <a:r>
              <a:rPr lang="en-US" dirty="0"/>
              <a:t>Two Directions of the Same Arithmetic</a:t>
            </a:r>
          </a:p>
        </p:txBody>
      </p:sp>
      <p:sp>
        <p:nvSpPr>
          <p:cNvPr id="3" name="Content Placeholder 2">
            <a:extLst>
              <a:ext uri="{FF2B5EF4-FFF2-40B4-BE49-F238E27FC236}">
                <a16:creationId xmlns:a16="http://schemas.microsoft.com/office/drawing/2014/main" id="{8E8574BE-BFF9-4DE8-807C-7E7A99B31F5A}"/>
              </a:ext>
            </a:extLst>
          </p:cNvPr>
          <p:cNvSpPr>
            <a:spLocks noGrp="1"/>
          </p:cNvSpPr>
          <p:nvPr>
            <p:ph idx="1"/>
          </p:nvPr>
        </p:nvSpPr>
        <p:spPr>
          <a:xfrm>
            <a:off x="887928" y="2720067"/>
            <a:ext cx="10355036" cy="3318936"/>
          </a:xfrm>
        </p:spPr>
        <p:txBody>
          <a:bodyPr>
            <a:normAutofit/>
          </a:bodyPr>
          <a:lstStyle/>
          <a:p>
            <a:r>
              <a:rPr lang="en-US" dirty="0">
                <a:solidFill>
                  <a:schemeClr val="tx1"/>
                </a:solidFill>
              </a:rPr>
              <a:t>Either you know the ratio and need the frame size,</a:t>
            </a:r>
          </a:p>
          <a:p>
            <a:r>
              <a:rPr lang="en-US" dirty="0">
                <a:solidFill>
                  <a:schemeClr val="tx1"/>
                </a:solidFill>
              </a:rPr>
              <a:t>or you know the frame size and need the ratio.</a:t>
            </a:r>
          </a:p>
          <a:p>
            <a:r>
              <a:rPr lang="en-US" dirty="0">
                <a:solidFill>
                  <a:schemeClr val="tx1"/>
                </a:solidFill>
              </a:rPr>
              <a:t>One multiplication and one division. That is the whole of it.</a:t>
            </a:r>
          </a:p>
        </p:txBody>
      </p:sp>
    </p:spTree>
    <p:extLst>
      <p:ext uri="{BB962C8B-B14F-4D97-AF65-F5344CB8AC3E}">
        <p14:creationId xmlns:p14="http://schemas.microsoft.com/office/powerpoint/2010/main" val="23607590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5B2E80-FD4E-4BA4-A231-414B39A848D4}"/>
              </a:ext>
            </a:extLst>
          </p:cNvPr>
          <p:cNvSpPr>
            <a:spLocks noGrp="1"/>
          </p:cNvSpPr>
          <p:nvPr>
            <p:ph type="title"/>
          </p:nvPr>
        </p:nvSpPr>
        <p:spPr/>
        <p:txBody>
          <a:bodyPr>
            <a:normAutofit fontScale="90000"/>
          </a:bodyPr>
          <a:lstStyle/>
          <a:p>
            <a:r>
              <a:rPr lang="en-US" dirty="0"/>
              <a:t>Frame Size to Ratio</a:t>
            </a:r>
          </a:p>
        </p:txBody>
      </p:sp>
      <p:sp>
        <p:nvSpPr>
          <p:cNvPr id="3" name="Content Placeholder 2">
            <a:extLst>
              <a:ext uri="{FF2B5EF4-FFF2-40B4-BE49-F238E27FC236}">
                <a16:creationId xmlns:a16="http://schemas.microsoft.com/office/drawing/2014/main" id="{8E8574BE-BFF9-4DE8-807C-7E7A99B31F5A}"/>
              </a:ext>
            </a:extLst>
          </p:cNvPr>
          <p:cNvSpPr>
            <a:spLocks noGrp="1"/>
          </p:cNvSpPr>
          <p:nvPr>
            <p:ph idx="1"/>
          </p:nvPr>
        </p:nvSpPr>
        <p:spPr>
          <a:xfrm>
            <a:off x="887928" y="2720067"/>
            <a:ext cx="10355036" cy="3318936"/>
          </a:xfrm>
        </p:spPr>
        <p:txBody>
          <a:bodyPr>
            <a:normAutofit/>
          </a:bodyPr>
          <a:lstStyle/>
          <a:p>
            <a:pPr marL="0" indent="0">
              <a:buNone/>
            </a:pPr>
            <a:r>
              <a:rPr lang="en-US" dirty="0">
                <a:solidFill>
                  <a:schemeClr val="tx1"/>
                </a:solidFill>
              </a:rPr>
              <a:t>Divide the width by the height.</a:t>
            </a:r>
          </a:p>
          <a:p>
            <a:pPr marL="0" indent="0">
              <a:buNone/>
            </a:pPr>
            <a:r>
              <a:rPr lang="en-US" dirty="0">
                <a:solidFill>
                  <a:schemeClr val="tx1"/>
                </a:solidFill>
              </a:rPr>
              <a:t>6 inches wide / 4 inches tall  =  1.5   -&gt;   1.5:1</a:t>
            </a:r>
          </a:p>
          <a:p>
            <a:pPr marL="0" indent="0">
              <a:buNone/>
            </a:pPr>
            <a:r>
              <a:rPr lang="en-US" dirty="0">
                <a:solidFill>
                  <a:schemeClr val="tx1"/>
                </a:solidFill>
              </a:rPr>
              <a:t>Useful when you are handed a template, or measuring a frame off an existing production.</a:t>
            </a:r>
          </a:p>
        </p:txBody>
      </p:sp>
    </p:spTree>
    <p:extLst>
      <p:ext uri="{BB962C8B-B14F-4D97-AF65-F5344CB8AC3E}">
        <p14:creationId xmlns:p14="http://schemas.microsoft.com/office/powerpoint/2010/main" val="36684132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F2124-E0F8-4496-BA17-19BA7180CCF6}"/>
              </a:ext>
            </a:extLst>
          </p:cNvPr>
          <p:cNvSpPr>
            <a:spLocks noGrp="1"/>
          </p:cNvSpPr>
          <p:nvPr>
            <p:ph type="title"/>
          </p:nvPr>
        </p:nvSpPr>
        <p:spPr/>
        <p:txBody>
          <a:bodyPr/>
          <a:lstStyle/>
          <a:p>
            <a:r>
              <a:rPr lang="en-US" dirty="0"/>
              <a:t>One Line to Leave With</a:t>
            </a:r>
          </a:p>
        </p:txBody>
      </p:sp>
      <p:sp>
        <p:nvSpPr>
          <p:cNvPr id="3" name="Content Placeholder 2">
            <a:extLst>
              <a:ext uri="{FF2B5EF4-FFF2-40B4-BE49-F238E27FC236}">
                <a16:creationId xmlns:a16="http://schemas.microsoft.com/office/drawing/2014/main" id="{2D19AE7E-6AC9-4DFA-9AC8-4A8E6FD548FD}"/>
              </a:ext>
            </a:extLst>
          </p:cNvPr>
          <p:cNvSpPr>
            <a:spLocks noGrp="1"/>
          </p:cNvSpPr>
          <p:nvPr>
            <p:ph idx="1"/>
          </p:nvPr>
        </p:nvSpPr>
        <p:spPr/>
        <p:txBody>
          <a:bodyPr/>
          <a:lstStyle/>
          <a:p>
            <a:r>
              <a:rPr lang="en-US" dirty="0"/>
              <a:t>The shape of the frame is the first decision,</a:t>
            </a:r>
          </a:p>
          <a:p>
            <a:r>
              <a:rPr lang="en-US" dirty="0"/>
              <a:t>and it is the one every other decision sits inside.</a:t>
            </a:r>
          </a:p>
        </p:txBody>
      </p:sp>
    </p:spTree>
    <p:extLst>
      <p:ext uri="{BB962C8B-B14F-4D97-AF65-F5344CB8AC3E}">
        <p14:creationId xmlns:p14="http://schemas.microsoft.com/office/powerpoint/2010/main" val="40096341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F2124-E0F8-4496-BA17-19BA7180CCF6}"/>
              </a:ext>
            </a:extLst>
          </p:cNvPr>
          <p:cNvSpPr>
            <a:spLocks noGrp="1"/>
          </p:cNvSpPr>
          <p:nvPr>
            <p:ph type="title"/>
          </p:nvPr>
        </p:nvSpPr>
        <p:spPr/>
        <p:txBody>
          <a:bodyPr/>
          <a:lstStyle/>
          <a:p>
            <a:r>
              <a:rPr lang="en-US" dirty="0"/>
              <a:t>Why You Care, Specifically</a:t>
            </a:r>
          </a:p>
        </p:txBody>
      </p:sp>
      <p:sp>
        <p:nvSpPr>
          <p:cNvPr id="3" name="Content Placeholder 2">
            <a:extLst>
              <a:ext uri="{FF2B5EF4-FFF2-40B4-BE49-F238E27FC236}">
                <a16:creationId xmlns:a16="http://schemas.microsoft.com/office/drawing/2014/main" id="{2D19AE7E-6AC9-4DFA-9AC8-4A8E6FD548FD}"/>
              </a:ext>
            </a:extLst>
          </p:cNvPr>
          <p:cNvSpPr>
            <a:spLocks noGrp="1"/>
          </p:cNvSpPr>
          <p:nvPr>
            <p:ph idx="1"/>
          </p:nvPr>
        </p:nvSpPr>
        <p:spPr/>
        <p:txBody>
          <a:bodyPr/>
          <a:lstStyle/>
          <a:p>
            <a:r>
              <a:rPr lang="en-US" dirty="0"/>
              <a:t>The ratio is the first decision on a board.</a:t>
            </a:r>
          </a:p>
          <a:p>
            <a:r>
              <a:rPr lang="en-US" dirty="0"/>
              <a:t>Before composition. Before staging. Before a single line goes down.</a:t>
            </a:r>
          </a:p>
          <a:p>
            <a:r>
              <a:rPr lang="en-US" dirty="0"/>
              <a:t>You cannot compose for a shape you have not chosen.</a:t>
            </a:r>
          </a:p>
        </p:txBody>
      </p:sp>
    </p:spTree>
    <p:extLst>
      <p:ext uri="{BB962C8B-B14F-4D97-AF65-F5344CB8AC3E}">
        <p14:creationId xmlns:p14="http://schemas.microsoft.com/office/powerpoint/2010/main" val="22508197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blipFill>
          <a:blip r:embed="rId3">
            <a:extLst/>
          </a:blip>
          <a:stretch/>
        </a:blipFill>
        <a:effectLst/>
      </p:bgPr>
    </p:bg>
    <p:spTree>
      <p:nvGrpSpPr>
        <p:cNvPr id="1" name=""/>
        <p:cNvGrpSpPr/>
        <p:nvPr/>
      </p:nvGrpSpPr>
      <p:grpSpPr>
        <a:xfrm>
          <a:off x="0" y="0"/>
          <a:ext cx="0" cy="0"/>
          <a:chOff x="0" y="0"/>
          <a:chExt cx="0" cy="0"/>
        </a:xfrm>
      </p:grpSpPr>
      <p:pic>
        <p:nvPicPr>
          <p:cNvPr id="2052" name="Picture 70">
            <a:extLst>
              <a:ext uri="{FF2B5EF4-FFF2-40B4-BE49-F238E27FC236}">
                <a16:creationId xmlns:a16="http://schemas.microsoft.com/office/drawing/2014/main" id="{EC451D95-F442-41F5-B7F3-ADFF8BF5223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1786"/>
            <a:ext cx="12188825" cy="6856214"/>
          </a:xfrm>
          <a:prstGeom prst="rect">
            <a:avLst/>
          </a:prstGeom>
        </p:spPr>
      </p:pic>
      <p:sp>
        <p:nvSpPr>
          <p:cNvPr id="2" name="Title 1">
            <a:extLst>
              <a:ext uri="{FF2B5EF4-FFF2-40B4-BE49-F238E27FC236}">
                <a16:creationId xmlns:a16="http://schemas.microsoft.com/office/drawing/2014/main" id="{D99EF2C5-E374-412B-8637-AAFB894C40B7}"/>
              </a:ext>
            </a:extLst>
          </p:cNvPr>
          <p:cNvSpPr>
            <a:spLocks noGrp="1"/>
          </p:cNvSpPr>
          <p:nvPr>
            <p:ph type="title"/>
          </p:nvPr>
        </p:nvSpPr>
        <p:spPr>
          <a:xfrm>
            <a:off x="1295402" y="982132"/>
            <a:ext cx="3660056" cy="1325373"/>
          </a:xfrm>
        </p:spPr>
        <p:txBody>
          <a:bodyPr anchor="b">
            <a:normAutofit/>
          </a:bodyPr>
          <a:lstStyle/>
          <a:p>
            <a:r>
              <a:rPr lang="en-US" sz="3200" dirty="0"/>
              <a:t>Then Television - At the Same Ratio</a:t>
            </a:r>
          </a:p>
        </p:txBody>
      </p:sp>
      <p:cxnSp>
        <p:nvCxnSpPr>
          <p:cNvPr id="2053" name="Straight Connector 72">
            <a:extLst>
              <a:ext uri="{FF2B5EF4-FFF2-40B4-BE49-F238E27FC236}">
                <a16:creationId xmlns:a16="http://schemas.microsoft.com/office/drawing/2014/main" id="{3393F3B5-23C9-4DE1-BF93-BBDEE177052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95401" y="2400639"/>
            <a:ext cx="3660057"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Content Placeholder 2">
            <a:extLst>
              <a:ext uri="{FF2B5EF4-FFF2-40B4-BE49-F238E27FC236}">
                <a16:creationId xmlns:a16="http://schemas.microsoft.com/office/drawing/2014/main" id="{1A0CE49C-12C9-4D77-8947-0BE2AA853B6A}"/>
              </a:ext>
            </a:extLst>
          </p:cNvPr>
          <p:cNvSpPr>
            <a:spLocks noGrp="1"/>
          </p:cNvSpPr>
          <p:nvPr>
            <p:ph idx="1"/>
          </p:nvPr>
        </p:nvSpPr>
        <p:spPr>
          <a:xfrm>
            <a:off x="1295401" y="2766314"/>
            <a:ext cx="3660057" cy="3382094"/>
          </a:xfrm>
        </p:spPr>
        <p:txBody>
          <a:bodyPr>
            <a:normAutofit fontScale="92500"/>
          </a:bodyPr>
          <a:lstStyle/>
          <a:p>
            <a:r>
              <a:rPr lang="en-US" sz="1800" dirty="0"/>
              <a:t>Television adopts 1.33:1.</a:t>
            </a:r>
          </a:p>
          <a:p>
            <a:r>
              <a:rPr lang="en-US" sz="1800" dirty="0"/>
              <a:t>The identical rectangle. In your house. For free.</a:t>
            </a:r>
          </a:p>
          <a:p>
            <a:r>
              <a:rPr lang="en-US" sz="1800" dirty="0"/>
              <a:t>Not a different product competing with cinema. The same shape, delivered to the sofa.</a:t>
            </a:r>
          </a:p>
        </p:txBody>
      </p:sp>
      <p:pic>
        <p:nvPicPr>
          <p:cNvPr id="2050" name="Picture 2" descr="Image result for early television watching">
            <a:extLst>
              <a:ext uri="{FF2B5EF4-FFF2-40B4-BE49-F238E27FC236}">
                <a16:creationId xmlns:a16="http://schemas.microsoft.com/office/drawing/2014/main" id="{CD956B04-BC35-4A0B-A3B4-AB32A446AC11}"/>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t="3792" r="2" b="2"/>
          <a:stretch/>
        </p:blipFill>
        <p:spPr bwMode="auto">
          <a:xfrm>
            <a:off x="5418668" y="982131"/>
            <a:ext cx="5469466" cy="489373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a:extLst/>
        </p:spPr>
      </p:pic>
    </p:spTree>
    <p:extLst>
      <p:ext uri="{BB962C8B-B14F-4D97-AF65-F5344CB8AC3E}">
        <p14:creationId xmlns:p14="http://schemas.microsoft.com/office/powerpoint/2010/main" val="39961555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6E8CA-91BA-4919-B226-7EB4D0803BF7}"/>
              </a:ext>
            </a:extLst>
          </p:cNvPr>
          <p:cNvSpPr>
            <a:spLocks noGrp="1"/>
          </p:cNvSpPr>
          <p:nvPr>
            <p:ph type="title"/>
          </p:nvPr>
        </p:nvSpPr>
        <p:spPr/>
        <p:txBody>
          <a:bodyPr/>
          <a:lstStyle/>
          <a:p>
            <a:r>
              <a:rPr lang="en-US" dirty="0"/>
              <a:t>Today's Actual Landscape</a:t>
            </a:r>
          </a:p>
        </p:txBody>
      </p:sp>
      <p:sp>
        <p:nvSpPr>
          <p:cNvPr id="3" name="Content Placeholder 2">
            <a:extLst>
              <a:ext uri="{FF2B5EF4-FFF2-40B4-BE49-F238E27FC236}">
                <a16:creationId xmlns:a16="http://schemas.microsoft.com/office/drawing/2014/main" id="{CE2F37E3-099F-4859-BE23-B91307FF50DA}"/>
              </a:ext>
            </a:extLst>
          </p:cNvPr>
          <p:cNvSpPr>
            <a:spLocks noGrp="1"/>
          </p:cNvSpPr>
          <p:nvPr>
            <p:ph idx="1"/>
          </p:nvPr>
        </p:nvSpPr>
        <p:spPr>
          <a:xfrm>
            <a:off x="1298448" y="2514600"/>
            <a:ext cx="5074920" cy="3108960"/>
          </a:xfrm>
        </p:spPr>
        <p:txBody>
          <a:bodyPr/>
          <a:lstStyle/>
          <a:p>
            <a:r>
              <a:rPr lang="en-US" dirty="0" sz="1700">
                <a:solidFill>
                  <a:schemeClr val="tx1"/>
                </a:solidFill>
              </a:rPr>
              <a:t>16:9 (1.78:1) - streaming and broadcast default</a:t>
            </a:r>
          </a:p>
          <a:p>
            <a:r>
              <a:rPr lang="en-US" dirty="0" sz="1700">
                <a:solidFill>
                  <a:schemeClr val="tx1"/>
                </a:solidFill>
              </a:rPr>
              <a:t>2.39:1 - features, and anything that wants to feel like one</a:t>
            </a:r>
          </a:p>
          <a:p>
            <a:r>
              <a:rPr lang="en-US" dirty="0" sz="1700">
                <a:solidFill>
                  <a:schemeClr val="tx1"/>
                </a:solidFill>
              </a:rPr>
              <a:t>9:16 vertical - phones and short form. A genuinely new shape.</a:t>
            </a:r>
          </a:p>
          <a:p>
            <a:r>
              <a:rPr lang="en-US" dirty="0" sz="1700">
                <a:solidFill>
                  <a:schemeClr val="tx1"/>
                </a:solidFill>
              </a:rPr>
              <a:t>4:3 revived deliberately, as a period or claustrophobia cue</a:t>
            </a:r>
          </a:p>
          <a:p>
            <a:r>
              <a:rPr lang="en-US" dirty="0" sz="1700">
                <a:solidFill>
                  <a:schemeClr val="tx1"/>
                </a:solidFill>
              </a:rPr>
              <a:t>IMAX sequences that change ratio partway through a film</a:t>
            </a:r>
          </a:p>
        </p:txBody>
      </p:sp>
      <p:sp>
        <p:nvSpPr>
          <p:cNvPr id="4" name="Rect 4"/>
          <p:cNvSpPr/>
          <p:nvPr/>
        </p:nvSpPr>
        <p:spPr>
          <a:xfrm>
            <a:off x="6903720" y="2560320"/>
            <a:ext cx="729691" cy="548640"/>
          </a:xfrm>
          <a:prstGeom prst="rect">
            <a:avLst/>
          </a:prstGeom>
          <a:solidFill>
            <a:srgbClr val="D9B247"/>
          </a:solidFill>
          <a:ln>
            <a:noFill/>
          </a:ln>
        </p:spPr>
        <p:txBody>
          <a:bodyPr/>
          <a:lstStyle/>
          <a:p>
            <a:pPr>
              <a:buNone/>
            </a:pPr>
            <a:endParaRPr lang="en-US"/>
          </a:p>
        </p:txBody>
      </p:sp>
      <p:sp>
        <p:nvSpPr>
          <p:cNvPr id="5" name="TextBox 5"/>
          <p:cNvSpPr txBox="1"/>
          <p:nvPr/>
        </p:nvSpPr>
        <p:spPr>
          <a:xfrm>
            <a:off x="9646920" y="2706624"/>
            <a:ext cx="1554480" cy="274320"/>
          </a:xfrm>
          <a:prstGeom prst="rect">
            <a:avLst/>
          </a:prstGeom>
          <a:noFill/>
        </p:spPr>
        <p:txBody>
          <a:bodyPr wrap="square" lIns="0" tIns="0" rIns="0" bIns="0" anchor="t">
            <a:normAutofit/>
          </a:bodyPr>
          <a:lstStyle/>
          <a:p>
            <a:pPr algn="l">
              <a:buNone/>
            </a:pPr>
            <a:r>
              <a:rPr lang="en-US" sz="1100" b="1" i="0" dirty="0">
                <a:solidFill>
                  <a:srgbClr val="212121"/>
                </a:solidFill>
              </a:rPr>
              <a:t>4:3  -  1.33:1</a:t>
            </a:r>
          </a:p>
        </p:txBody>
      </p:sp>
      <p:sp>
        <p:nvSpPr>
          <p:cNvPr id="6" name="Rect 6"/>
          <p:cNvSpPr/>
          <p:nvPr/>
        </p:nvSpPr>
        <p:spPr>
          <a:xfrm>
            <a:off x="6903720" y="3346704"/>
            <a:ext cx="976579" cy="548640"/>
          </a:xfrm>
          <a:prstGeom prst="rect">
            <a:avLst/>
          </a:prstGeom>
          <a:solidFill>
            <a:srgbClr val="CC702D"/>
          </a:solidFill>
          <a:ln>
            <a:noFill/>
          </a:ln>
        </p:spPr>
        <p:txBody>
          <a:bodyPr/>
          <a:lstStyle/>
          <a:p>
            <a:pPr>
              <a:buNone/>
            </a:pPr>
            <a:endParaRPr lang="en-US"/>
          </a:p>
        </p:txBody>
      </p:sp>
      <p:sp>
        <p:nvSpPr>
          <p:cNvPr id="7" name="TextBox 7"/>
          <p:cNvSpPr txBox="1"/>
          <p:nvPr/>
        </p:nvSpPr>
        <p:spPr>
          <a:xfrm>
            <a:off x="9646920" y="3493008"/>
            <a:ext cx="1554480" cy="274320"/>
          </a:xfrm>
          <a:prstGeom prst="rect">
            <a:avLst/>
          </a:prstGeom>
          <a:noFill/>
        </p:spPr>
        <p:txBody>
          <a:bodyPr wrap="square" lIns="0" tIns="0" rIns="0" bIns="0" anchor="t">
            <a:normAutofit/>
          </a:bodyPr>
          <a:lstStyle/>
          <a:p>
            <a:pPr algn="l">
              <a:buNone/>
            </a:pPr>
            <a:r>
              <a:rPr lang="en-US" sz="1100" b="1" i="0" dirty="0">
                <a:solidFill>
                  <a:srgbClr val="212121"/>
                </a:solidFill>
              </a:rPr>
              <a:t>16:9  -  1.78:1</a:t>
            </a:r>
          </a:p>
        </p:txBody>
      </p:sp>
      <p:sp>
        <p:nvSpPr>
          <p:cNvPr id="8" name="Rect 8"/>
          <p:cNvSpPr/>
          <p:nvPr/>
        </p:nvSpPr>
        <p:spPr>
          <a:xfrm>
            <a:off x="6903720" y="4133088"/>
            <a:ext cx="1311250" cy="548640"/>
          </a:xfrm>
          <a:prstGeom prst="rect">
            <a:avLst/>
          </a:prstGeom>
          <a:solidFill>
            <a:srgbClr val="B53A31"/>
          </a:solidFill>
          <a:ln>
            <a:noFill/>
          </a:ln>
        </p:spPr>
        <p:txBody>
          <a:bodyPr/>
          <a:lstStyle/>
          <a:p>
            <a:pPr>
              <a:buNone/>
            </a:pPr>
            <a:endParaRPr lang="en-US"/>
          </a:p>
        </p:txBody>
      </p:sp>
      <p:sp>
        <p:nvSpPr>
          <p:cNvPr id="9" name="TextBox 9"/>
          <p:cNvSpPr txBox="1"/>
          <p:nvPr/>
        </p:nvSpPr>
        <p:spPr>
          <a:xfrm>
            <a:off x="9646920" y="4279392"/>
            <a:ext cx="1554480" cy="274320"/>
          </a:xfrm>
          <a:prstGeom prst="rect">
            <a:avLst/>
          </a:prstGeom>
          <a:noFill/>
        </p:spPr>
        <p:txBody>
          <a:bodyPr wrap="square" lIns="0" tIns="0" rIns="0" bIns="0" anchor="t">
            <a:normAutofit/>
          </a:bodyPr>
          <a:lstStyle/>
          <a:p>
            <a:pPr algn="l">
              <a:buNone/>
            </a:pPr>
            <a:r>
              <a:rPr lang="en-US" sz="1100" b="1" i="0" dirty="0">
                <a:solidFill>
                  <a:srgbClr val="212121"/>
                </a:solidFill>
              </a:rPr>
              <a:t>2.39:1</a:t>
            </a:r>
          </a:p>
        </p:txBody>
      </p:sp>
      <p:sp>
        <p:nvSpPr>
          <p:cNvPr id="10" name="Rect 10"/>
          <p:cNvSpPr/>
          <p:nvPr/>
        </p:nvSpPr>
        <p:spPr>
          <a:xfrm>
            <a:off x="6903720" y="4919472"/>
            <a:ext cx="540068" cy="960120"/>
          </a:xfrm>
          <a:prstGeom prst="rect">
            <a:avLst/>
          </a:prstGeom>
          <a:solidFill>
            <a:srgbClr val="7B8865"/>
          </a:solidFill>
          <a:ln>
            <a:noFill/>
          </a:ln>
        </p:spPr>
        <p:txBody>
          <a:bodyPr/>
          <a:lstStyle/>
          <a:p>
            <a:pPr>
              <a:buNone/>
            </a:pPr>
            <a:endParaRPr lang="en-US"/>
          </a:p>
        </p:txBody>
      </p:sp>
      <p:sp>
        <p:nvSpPr>
          <p:cNvPr id="11" name="TextBox 11"/>
          <p:cNvSpPr txBox="1"/>
          <p:nvPr/>
        </p:nvSpPr>
        <p:spPr>
          <a:xfrm>
            <a:off x="9646920" y="5271516"/>
            <a:ext cx="1554480" cy="274320"/>
          </a:xfrm>
          <a:prstGeom prst="rect">
            <a:avLst/>
          </a:prstGeom>
          <a:noFill/>
        </p:spPr>
        <p:txBody>
          <a:bodyPr wrap="square" lIns="0" tIns="0" rIns="0" bIns="0" anchor="t">
            <a:normAutofit/>
          </a:bodyPr>
          <a:lstStyle/>
          <a:p>
            <a:pPr algn="l">
              <a:buNone/>
            </a:pPr>
            <a:r>
              <a:rPr lang="en-US" sz="1100" b="1" i="0" dirty="0">
                <a:solidFill>
                  <a:srgbClr val="212121"/>
                </a:solidFill>
              </a:rPr>
              <a:t>9:16 vertical</a:t>
            </a:r>
          </a:p>
        </p:txBody>
      </p:sp>
      <p:sp>
        <p:nvSpPr>
          <p:cNvPr id="12" name="TextBox 12"/>
          <p:cNvSpPr txBox="1"/>
          <p:nvPr/>
        </p:nvSpPr>
        <p:spPr>
          <a:xfrm>
            <a:off x="6903720" y="5989320"/>
            <a:ext cx="4114800" cy="256032"/>
          </a:xfrm>
          <a:prstGeom prst="rect">
            <a:avLst/>
          </a:prstGeom>
          <a:noFill/>
        </p:spPr>
        <p:txBody>
          <a:bodyPr wrap="square" lIns="0" tIns="0" rIns="0" bIns="0" anchor="t">
            <a:normAutofit/>
          </a:bodyPr>
          <a:lstStyle/>
          <a:p>
            <a:pPr algn="l">
              <a:buNone/>
            </a:pPr>
            <a:r>
              <a:rPr lang="en-US" sz="900" b="0" i="0" dirty="0">
                <a:solidFill>
                  <a:srgbClr val="6B6B6B"/>
                </a:solidFill>
              </a:rPr>
              <a:t>Horizontals drawn to a common height.</a:t>
            </a:r>
          </a:p>
        </p:txBody>
      </p:sp>
    </p:spTree>
    <p:extLst>
      <p:ext uri="{BB962C8B-B14F-4D97-AF65-F5344CB8AC3E}">
        <p14:creationId xmlns:p14="http://schemas.microsoft.com/office/powerpoint/2010/main" val="361306816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6E8CA-91BA-4919-B226-7EB4D0803BF7}"/>
              </a:ext>
            </a:extLst>
          </p:cNvPr>
          <p:cNvSpPr>
            <a:spLocks noGrp="1"/>
          </p:cNvSpPr>
          <p:nvPr>
            <p:ph type="title"/>
          </p:nvPr>
        </p:nvSpPr>
        <p:spPr/>
        <p:txBody>
          <a:bodyPr/>
          <a:lstStyle/>
          <a:p>
            <a:r>
              <a:rPr lang="en-US" dirty="0"/>
              <a:t>Games Don't Get to Pick</a:t>
            </a:r>
          </a:p>
        </p:txBody>
      </p:sp>
      <p:sp>
        <p:nvSpPr>
          <p:cNvPr id="3" name="Content Placeholder 2">
            <a:extLst>
              <a:ext uri="{FF2B5EF4-FFF2-40B4-BE49-F238E27FC236}">
                <a16:creationId xmlns:a16="http://schemas.microsoft.com/office/drawing/2014/main" id="{CE2F37E3-099F-4859-BE23-B91307FF50DA}"/>
              </a:ext>
            </a:extLst>
          </p:cNvPr>
          <p:cNvSpPr>
            <a:spLocks noGrp="1"/>
          </p:cNvSpPr>
          <p:nvPr>
            <p:ph idx="1"/>
          </p:nvPr>
        </p:nvSpPr>
        <p:spPr>
          <a:xfrm>
            <a:off x="1295401" y="2556932"/>
            <a:ext cx="9601196" cy="3500968"/>
          </a:xfrm>
        </p:spPr>
        <p:txBody>
          <a:bodyPr/>
          <a:lstStyle/>
          <a:p>
            <a:r>
              <a:rPr lang="en-US" dirty="0">
                <a:solidFill>
                  <a:schemeClr val="tx1"/>
                </a:solidFill>
              </a:rPr>
              <a:t>The same game runs on a 16:9 laptop, a 21:9 ultrawide, a 4:3 projector and a phone.</a:t>
            </a:r>
          </a:p>
          <a:p>
            <a:r>
              <a:rPr lang="en-US" dirty="0">
                <a:solidFill>
                  <a:schemeClr val="tx1"/>
                </a:solidFill>
              </a:rPr>
              <a:t>The frame is variable, and the composition has to survive all of it.</a:t>
            </a:r>
          </a:p>
          <a:p>
            <a:r>
              <a:rPr lang="en-US" dirty="0">
                <a:solidFill>
                  <a:schemeClr val="tx1"/>
                </a:solidFill>
              </a:rPr>
              <a:t>Which means composing for a range of shapes rather than a shape.</a:t>
            </a:r>
          </a:p>
        </p:txBody>
      </p:sp>
    </p:spTree>
    <p:extLst>
      <p:ext uri="{BB962C8B-B14F-4D97-AF65-F5344CB8AC3E}">
        <p14:creationId xmlns:p14="http://schemas.microsoft.com/office/powerpoint/2010/main" val="36130681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6E8CA-91BA-4919-B226-7EB4D0803BF7}"/>
              </a:ext>
            </a:extLst>
          </p:cNvPr>
          <p:cNvSpPr>
            <a:spLocks noGrp="1"/>
          </p:cNvSpPr>
          <p:nvPr>
            <p:ph type="title"/>
          </p:nvPr>
        </p:nvSpPr>
        <p:spPr/>
        <p:txBody>
          <a:bodyPr/>
          <a:lstStyle/>
          <a:p>
            <a:r>
              <a:rPr lang="en-US" dirty="0"/>
              <a:t>So the Question Isn't What's Correct</a:t>
            </a:r>
          </a:p>
        </p:txBody>
      </p:sp>
      <p:sp>
        <p:nvSpPr>
          <p:cNvPr id="3" name="Content Placeholder 2">
            <a:extLst>
              <a:ext uri="{FF2B5EF4-FFF2-40B4-BE49-F238E27FC236}">
                <a16:creationId xmlns:a16="http://schemas.microsoft.com/office/drawing/2014/main" id="{CE2F37E3-099F-4859-BE23-B91307FF50DA}"/>
              </a:ext>
            </a:extLst>
          </p:cNvPr>
          <p:cNvSpPr>
            <a:spLocks noGrp="1"/>
          </p:cNvSpPr>
          <p:nvPr>
            <p:ph idx="1"/>
          </p:nvPr>
        </p:nvSpPr>
        <p:spPr>
          <a:xfrm>
            <a:off x="1295401" y="2556932"/>
            <a:ext cx="9601196" cy="3500968"/>
          </a:xfrm>
        </p:spPr>
        <p:txBody>
          <a:bodyPr/>
          <a:lstStyle/>
          <a:p>
            <a:r>
              <a:rPr lang="en-US" dirty="0">
                <a:solidFill>
                  <a:schemeClr val="tx1"/>
                </a:solidFill>
              </a:rPr>
              <a:t>The question is: what shape is this being watched in?</a:t>
            </a:r>
          </a:p>
          <a:p>
            <a:r>
              <a:rPr lang="en-US" dirty="0">
                <a:solidFill>
                  <a:schemeClr val="tx1"/>
                </a:solidFill>
              </a:rPr>
              <a:t>And: did I compose for that shape, or for a different one?</a:t>
            </a:r>
          </a:p>
          <a:p>
            <a:r>
              <a:rPr lang="en-US" dirty="0">
                <a:solidFill>
                  <a:schemeClr val="tx1"/>
                </a:solidFill>
              </a:rPr>
              <a:t>That card from the start of the session was a warning about exactly this. It applies to your work now.</a:t>
            </a:r>
          </a:p>
        </p:txBody>
      </p:sp>
    </p:spTree>
    <p:extLst>
      <p:ext uri="{BB962C8B-B14F-4D97-AF65-F5344CB8AC3E}">
        <p14:creationId xmlns:p14="http://schemas.microsoft.com/office/powerpoint/2010/main" val="361306816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5B2E80-FD4E-4BA4-A231-414B39A848D4}"/>
              </a:ext>
            </a:extLst>
          </p:cNvPr>
          <p:cNvSpPr>
            <a:spLocks noGrp="1"/>
          </p:cNvSpPr>
          <p:nvPr>
            <p:ph type="title"/>
          </p:nvPr>
        </p:nvSpPr>
        <p:spPr/>
        <p:txBody>
          <a:bodyPr>
            <a:normAutofit fontScale="90000"/>
          </a:bodyPr>
          <a:lstStyle/>
          <a:p>
            <a:r>
              <a:rPr lang="en-US" dirty="0"/>
              <a:t>Ratio to Frame Size</a:t>
            </a:r>
          </a:p>
        </p:txBody>
      </p:sp>
      <p:sp>
        <p:nvSpPr>
          <p:cNvPr id="3" name="Content Placeholder 2">
            <a:extLst>
              <a:ext uri="{FF2B5EF4-FFF2-40B4-BE49-F238E27FC236}">
                <a16:creationId xmlns:a16="http://schemas.microsoft.com/office/drawing/2014/main" id="{8E8574BE-BFF9-4DE8-807C-7E7A99B31F5A}"/>
              </a:ext>
            </a:extLst>
          </p:cNvPr>
          <p:cNvSpPr>
            <a:spLocks noGrp="1"/>
          </p:cNvSpPr>
          <p:nvPr>
            <p:ph idx="1"/>
          </p:nvPr>
        </p:nvSpPr>
        <p:spPr>
          <a:xfrm>
            <a:off x="887928" y="2720067"/>
            <a:ext cx="10355036" cy="3318936"/>
          </a:xfrm>
        </p:spPr>
        <p:txBody>
          <a:bodyPr>
            <a:normAutofit/>
          </a:bodyPr>
          <a:lstStyle/>
          <a:p>
            <a:r>
              <a:rPr lang="en-US" dirty="0">
                <a:solidFill>
                  <a:schemeClr val="tx1"/>
                </a:solidFill>
              </a:rPr>
              <a:t>Pick the height you want to draw at. Multiply by the ratio. That is your width.</a:t>
            </a:r>
          </a:p>
          <a:p>
            <a:r>
              <a:rPr lang="en-US" dirty="0">
                <a:solidFill>
                  <a:schemeClr val="tx1"/>
                </a:solidFill>
              </a:rPr>
              <a:t>4 inches tall x 1.85  =  7.4 inches wide</a:t>
            </a:r>
          </a:p>
          <a:p>
            <a:r>
              <a:rPr lang="en-US" dirty="0">
                <a:solidFill>
                  <a:schemeClr val="tx1"/>
                </a:solidFill>
              </a:rPr>
              <a:t>4 inches tall x 2.39  =  9.56 inches wide</a:t>
            </a:r>
          </a:p>
          <a:p>
            <a:r>
              <a:rPr lang="en-US" dirty="0">
                <a:solidFill>
                  <a:schemeClr val="tx1"/>
                </a:solidFill>
              </a:rPr>
              <a:t>Pick the height first, because height is what limits how many panels fit on a page.</a:t>
            </a:r>
          </a:p>
        </p:txBody>
      </p:sp>
    </p:spTree>
    <p:extLst>
      <p:ext uri="{BB962C8B-B14F-4D97-AF65-F5344CB8AC3E}">
        <p14:creationId xmlns:p14="http://schemas.microsoft.com/office/powerpoint/2010/main" val="236075908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6E8CA-91BA-4919-B226-7EB4D0803BF7}"/>
              </a:ext>
            </a:extLst>
          </p:cNvPr>
          <p:cNvSpPr>
            <a:spLocks noGrp="1"/>
          </p:cNvSpPr>
          <p:nvPr>
            <p:ph type="title"/>
          </p:nvPr>
        </p:nvSpPr>
        <p:spPr/>
        <p:txBody>
          <a:bodyPr/>
          <a:lstStyle/>
          <a:p>
            <a:r>
              <a:rPr lang="en-US" dirty="0"/>
              <a:t>Worked Table</a:t>
            </a:r>
          </a:p>
        </p:txBody>
      </p:sp>
      <p:sp>
        <p:nvSpPr>
          <p:cNvPr id="3" name="Content Placeholder 2">
            <a:extLst>
              <a:ext uri="{FF2B5EF4-FFF2-40B4-BE49-F238E27FC236}">
                <a16:creationId xmlns:a16="http://schemas.microsoft.com/office/drawing/2014/main" id="{CE2F37E3-099F-4859-BE23-B91307FF50DA}"/>
              </a:ext>
            </a:extLst>
          </p:cNvPr>
          <p:cNvSpPr>
            <a:spLocks noGrp="1"/>
          </p:cNvSpPr>
          <p:nvPr>
            <p:ph idx="1"/>
          </p:nvPr>
        </p:nvSpPr>
        <p:spPr>
          <a:xfrm>
            <a:off x="1298448" y="2432304"/>
            <a:ext cx="9601200" cy="310896"/>
          </a:xfrm>
        </p:spPr>
        <p:txBody>
          <a:bodyPr/>
          <a:lstStyle/>
          <a:p>
            <a:pPr>
              <a:buNone/>
            </a:pPr>
            <a:r>
              <a:rPr lang="en-US" dirty="0" sz="1300">
                <a:solidFill>
                  <a:schemeClr val="tx1"/>
                </a:solidFill>
              </a:rPr>
              <a:t>Frame height x aspect ratio = frame width.</a:t>
            </a:r>
          </a:p>
        </p:txBody>
      </p:sp>
      <p:sp>
        <p:nvSpPr>
          <p:cNvPr id="4" name="Rect 4"/>
          <p:cNvSpPr/>
          <p:nvPr/>
        </p:nvSpPr>
        <p:spPr>
          <a:xfrm>
            <a:off x="1298448" y="2880360"/>
            <a:ext cx="9601200" cy="566928"/>
          </a:xfrm>
          <a:prstGeom prst="rect">
            <a:avLst/>
          </a:prstGeom>
          <a:solidFill>
            <a:srgbClr val="212121"/>
          </a:solidFill>
          <a:ln>
            <a:noFill/>
          </a:ln>
        </p:spPr>
        <p:txBody>
          <a:bodyPr/>
          <a:lstStyle/>
          <a:p>
            <a:pPr>
              <a:buNone/>
            </a:pPr>
            <a:endParaRPr lang="en-US"/>
          </a:p>
        </p:txBody>
      </p:sp>
      <p:sp>
        <p:nvSpPr>
          <p:cNvPr id="5" name="TextBox 5"/>
          <p:cNvSpPr txBox="1"/>
          <p:nvPr/>
        </p:nvSpPr>
        <p:spPr>
          <a:xfrm>
            <a:off x="1463040" y="3035808"/>
            <a:ext cx="2322576" cy="310896"/>
          </a:xfrm>
          <a:prstGeom prst="rect">
            <a:avLst/>
          </a:prstGeom>
          <a:noFill/>
        </p:spPr>
        <p:txBody>
          <a:bodyPr wrap="square" lIns="0" tIns="0" rIns="0" bIns="0" anchor="t">
            <a:normAutofit/>
          </a:bodyPr>
          <a:lstStyle/>
          <a:p>
            <a:pPr algn="l">
              <a:buNone/>
            </a:pPr>
            <a:r>
              <a:rPr lang="en-US" sz="1400" b="1" i="0" dirty="0">
                <a:solidFill>
                  <a:srgbClr val="FFFFFF"/>
                </a:solidFill>
              </a:rPr>
              <a:t>Ratio</a:t>
            </a:r>
          </a:p>
        </p:txBody>
      </p:sp>
      <p:sp>
        <p:nvSpPr>
          <p:cNvPr id="6" name="TextBox 6"/>
          <p:cNvSpPr txBox="1"/>
          <p:nvPr/>
        </p:nvSpPr>
        <p:spPr>
          <a:xfrm>
            <a:off x="4114800" y="3035808"/>
            <a:ext cx="1956816" cy="310896"/>
          </a:xfrm>
          <a:prstGeom prst="rect">
            <a:avLst/>
          </a:prstGeom>
          <a:noFill/>
        </p:spPr>
        <p:txBody>
          <a:bodyPr wrap="square" lIns="0" tIns="0" rIns="0" bIns="0" anchor="t">
            <a:normAutofit/>
          </a:bodyPr>
          <a:lstStyle/>
          <a:p>
            <a:pPr algn="l">
              <a:buNone/>
            </a:pPr>
            <a:r>
              <a:rPr lang="en-US" sz="1400" b="1" i="0" dirty="0">
                <a:solidFill>
                  <a:srgbClr val="FFFFFF"/>
                </a:solidFill>
              </a:rPr>
              <a:t>At 3" tall</a:t>
            </a:r>
          </a:p>
        </p:txBody>
      </p:sp>
      <p:sp>
        <p:nvSpPr>
          <p:cNvPr id="7" name="TextBox 7"/>
          <p:cNvSpPr txBox="1"/>
          <p:nvPr/>
        </p:nvSpPr>
        <p:spPr>
          <a:xfrm>
            <a:off x="6400800" y="3035808"/>
            <a:ext cx="1956816" cy="310896"/>
          </a:xfrm>
          <a:prstGeom prst="rect">
            <a:avLst/>
          </a:prstGeom>
          <a:noFill/>
        </p:spPr>
        <p:txBody>
          <a:bodyPr wrap="square" lIns="0" tIns="0" rIns="0" bIns="0" anchor="t">
            <a:normAutofit/>
          </a:bodyPr>
          <a:lstStyle/>
          <a:p>
            <a:pPr algn="l">
              <a:buNone/>
            </a:pPr>
            <a:r>
              <a:rPr lang="en-US" sz="1400" b="1" i="0" dirty="0">
                <a:solidFill>
                  <a:srgbClr val="FFFFFF"/>
                </a:solidFill>
              </a:rPr>
              <a:t>At 4" tall</a:t>
            </a:r>
          </a:p>
        </p:txBody>
      </p:sp>
      <p:sp>
        <p:nvSpPr>
          <p:cNvPr id="8" name="TextBox 8"/>
          <p:cNvSpPr txBox="1"/>
          <p:nvPr/>
        </p:nvSpPr>
        <p:spPr>
          <a:xfrm>
            <a:off x="8686800" y="3035808"/>
            <a:ext cx="2048256" cy="310896"/>
          </a:xfrm>
          <a:prstGeom prst="rect">
            <a:avLst/>
          </a:prstGeom>
          <a:noFill/>
        </p:spPr>
        <p:txBody>
          <a:bodyPr wrap="square" lIns="0" tIns="0" rIns="0" bIns="0" anchor="t">
            <a:normAutofit/>
          </a:bodyPr>
          <a:lstStyle/>
          <a:p>
            <a:pPr algn="l">
              <a:buNone/>
            </a:pPr>
            <a:r>
              <a:rPr lang="en-US" sz="1400" b="1" i="0" dirty="0">
                <a:solidFill>
                  <a:srgbClr val="FFFFFF"/>
                </a:solidFill>
              </a:rPr>
              <a:t>At 5" tall</a:t>
            </a:r>
          </a:p>
        </p:txBody>
      </p:sp>
      <p:sp>
        <p:nvSpPr>
          <p:cNvPr id="9" name="Rect 9"/>
          <p:cNvSpPr/>
          <p:nvPr/>
        </p:nvSpPr>
        <p:spPr>
          <a:xfrm>
            <a:off x="1298448" y="3447288"/>
            <a:ext cx="9601200" cy="566928"/>
          </a:xfrm>
          <a:prstGeom prst="rect">
            <a:avLst/>
          </a:prstGeom>
          <a:solidFill>
            <a:srgbClr val="F2EFE9"/>
          </a:solidFill>
          <a:ln>
            <a:noFill/>
          </a:ln>
        </p:spPr>
        <p:txBody>
          <a:bodyPr/>
          <a:lstStyle/>
          <a:p>
            <a:pPr>
              <a:buNone/>
            </a:pPr>
            <a:endParaRPr lang="en-US"/>
          </a:p>
        </p:txBody>
      </p:sp>
      <p:sp>
        <p:nvSpPr>
          <p:cNvPr id="10" name="TextBox 10"/>
          <p:cNvSpPr txBox="1"/>
          <p:nvPr/>
        </p:nvSpPr>
        <p:spPr>
          <a:xfrm>
            <a:off x="1463040" y="3602736"/>
            <a:ext cx="2322576" cy="310896"/>
          </a:xfrm>
          <a:prstGeom prst="rect">
            <a:avLst/>
          </a:prstGeom>
          <a:noFill/>
        </p:spPr>
        <p:txBody>
          <a:bodyPr wrap="square" lIns="0" tIns="0" rIns="0" bIns="0" anchor="t">
            <a:normAutofit/>
          </a:bodyPr>
          <a:lstStyle/>
          <a:p>
            <a:pPr algn="l">
              <a:buNone/>
            </a:pPr>
            <a:r>
              <a:rPr lang="en-US" sz="1400" b="1" i="0" dirty="0">
                <a:solidFill>
                  <a:srgbClr val="212121"/>
                </a:solidFill>
              </a:rPr>
              <a:t>1.33:1</a:t>
            </a:r>
          </a:p>
        </p:txBody>
      </p:sp>
      <p:sp>
        <p:nvSpPr>
          <p:cNvPr id="11" name="TextBox 11"/>
          <p:cNvSpPr txBox="1"/>
          <p:nvPr/>
        </p:nvSpPr>
        <p:spPr>
          <a:xfrm>
            <a:off x="4114800" y="3602736"/>
            <a:ext cx="1956816" cy="310896"/>
          </a:xfrm>
          <a:prstGeom prst="rect">
            <a:avLst/>
          </a:prstGeom>
          <a:noFill/>
        </p:spPr>
        <p:txBody>
          <a:bodyPr wrap="square" lIns="0" tIns="0" rIns="0" bIns="0" anchor="t">
            <a:normAutofit/>
          </a:bodyPr>
          <a:lstStyle/>
          <a:p>
            <a:pPr algn="l">
              <a:buNone/>
            </a:pPr>
            <a:r>
              <a:rPr lang="en-US" sz="1400" b="0" i="0" dirty="0">
                <a:solidFill>
                  <a:srgbClr val="3A3A3A"/>
                </a:solidFill>
              </a:rPr>
              <a:t>4.00"</a:t>
            </a:r>
          </a:p>
        </p:txBody>
      </p:sp>
      <p:sp>
        <p:nvSpPr>
          <p:cNvPr id="12" name="TextBox 12"/>
          <p:cNvSpPr txBox="1"/>
          <p:nvPr/>
        </p:nvSpPr>
        <p:spPr>
          <a:xfrm>
            <a:off x="6400800" y="3602736"/>
            <a:ext cx="1956816" cy="310896"/>
          </a:xfrm>
          <a:prstGeom prst="rect">
            <a:avLst/>
          </a:prstGeom>
          <a:noFill/>
        </p:spPr>
        <p:txBody>
          <a:bodyPr wrap="square" lIns="0" tIns="0" rIns="0" bIns="0" anchor="t">
            <a:normAutofit/>
          </a:bodyPr>
          <a:lstStyle/>
          <a:p>
            <a:pPr algn="l">
              <a:buNone/>
            </a:pPr>
            <a:r>
              <a:rPr lang="en-US" sz="1400" b="0" i="0" dirty="0">
                <a:solidFill>
                  <a:srgbClr val="3A3A3A"/>
                </a:solidFill>
              </a:rPr>
              <a:t>5.32"</a:t>
            </a:r>
          </a:p>
        </p:txBody>
      </p:sp>
      <p:sp>
        <p:nvSpPr>
          <p:cNvPr id="13" name="TextBox 13"/>
          <p:cNvSpPr txBox="1"/>
          <p:nvPr/>
        </p:nvSpPr>
        <p:spPr>
          <a:xfrm>
            <a:off x="8686800" y="3602736"/>
            <a:ext cx="2048256" cy="310896"/>
          </a:xfrm>
          <a:prstGeom prst="rect">
            <a:avLst/>
          </a:prstGeom>
          <a:noFill/>
        </p:spPr>
        <p:txBody>
          <a:bodyPr wrap="square" lIns="0" tIns="0" rIns="0" bIns="0" anchor="t">
            <a:normAutofit/>
          </a:bodyPr>
          <a:lstStyle/>
          <a:p>
            <a:pPr algn="l">
              <a:buNone/>
            </a:pPr>
            <a:r>
              <a:rPr lang="en-US" sz="1400" b="0" i="0" dirty="0">
                <a:solidFill>
                  <a:srgbClr val="3A3A3A"/>
                </a:solidFill>
              </a:rPr>
              <a:t>6.65"</a:t>
            </a:r>
          </a:p>
        </p:txBody>
      </p:sp>
      <p:sp>
        <p:nvSpPr>
          <p:cNvPr id="14" name="TextBox 14"/>
          <p:cNvSpPr txBox="1"/>
          <p:nvPr/>
        </p:nvSpPr>
        <p:spPr>
          <a:xfrm>
            <a:off x="1463040" y="4169664"/>
            <a:ext cx="2322576" cy="310896"/>
          </a:xfrm>
          <a:prstGeom prst="rect">
            <a:avLst/>
          </a:prstGeom>
          <a:noFill/>
        </p:spPr>
        <p:txBody>
          <a:bodyPr wrap="square" lIns="0" tIns="0" rIns="0" bIns="0" anchor="t">
            <a:normAutofit/>
          </a:bodyPr>
          <a:lstStyle/>
          <a:p>
            <a:pPr algn="l">
              <a:buNone/>
            </a:pPr>
            <a:r>
              <a:rPr lang="en-US" sz="1400" b="1" i="0" dirty="0">
                <a:solidFill>
                  <a:srgbClr val="212121"/>
                </a:solidFill>
              </a:rPr>
              <a:t>1.78:1  (16:9)</a:t>
            </a:r>
          </a:p>
        </p:txBody>
      </p:sp>
      <p:sp>
        <p:nvSpPr>
          <p:cNvPr id="15" name="TextBox 15"/>
          <p:cNvSpPr txBox="1"/>
          <p:nvPr/>
        </p:nvSpPr>
        <p:spPr>
          <a:xfrm>
            <a:off x="4114800" y="4169664"/>
            <a:ext cx="1956816" cy="310896"/>
          </a:xfrm>
          <a:prstGeom prst="rect">
            <a:avLst/>
          </a:prstGeom>
          <a:noFill/>
        </p:spPr>
        <p:txBody>
          <a:bodyPr wrap="square" lIns="0" tIns="0" rIns="0" bIns="0" anchor="t">
            <a:normAutofit/>
          </a:bodyPr>
          <a:lstStyle/>
          <a:p>
            <a:pPr algn="l">
              <a:buNone/>
            </a:pPr>
            <a:r>
              <a:rPr lang="en-US" sz="1400" b="0" i="0" dirty="0">
                <a:solidFill>
                  <a:srgbClr val="3A3A3A"/>
                </a:solidFill>
              </a:rPr>
              <a:t>5.34"</a:t>
            </a:r>
          </a:p>
        </p:txBody>
      </p:sp>
      <p:sp>
        <p:nvSpPr>
          <p:cNvPr id="16" name="TextBox 16"/>
          <p:cNvSpPr txBox="1"/>
          <p:nvPr/>
        </p:nvSpPr>
        <p:spPr>
          <a:xfrm>
            <a:off x="6400800" y="4169664"/>
            <a:ext cx="1956816" cy="310896"/>
          </a:xfrm>
          <a:prstGeom prst="rect">
            <a:avLst/>
          </a:prstGeom>
          <a:noFill/>
        </p:spPr>
        <p:txBody>
          <a:bodyPr wrap="square" lIns="0" tIns="0" rIns="0" bIns="0" anchor="t">
            <a:normAutofit/>
          </a:bodyPr>
          <a:lstStyle/>
          <a:p>
            <a:pPr algn="l">
              <a:buNone/>
            </a:pPr>
            <a:r>
              <a:rPr lang="en-US" sz="1400" b="0" i="0" dirty="0">
                <a:solidFill>
                  <a:srgbClr val="3A3A3A"/>
                </a:solidFill>
              </a:rPr>
              <a:t>7.12"</a:t>
            </a:r>
          </a:p>
        </p:txBody>
      </p:sp>
      <p:sp>
        <p:nvSpPr>
          <p:cNvPr id="17" name="TextBox 17"/>
          <p:cNvSpPr txBox="1"/>
          <p:nvPr/>
        </p:nvSpPr>
        <p:spPr>
          <a:xfrm>
            <a:off x="8686800" y="4169664"/>
            <a:ext cx="2048256" cy="310896"/>
          </a:xfrm>
          <a:prstGeom prst="rect">
            <a:avLst/>
          </a:prstGeom>
          <a:noFill/>
        </p:spPr>
        <p:txBody>
          <a:bodyPr wrap="square" lIns="0" tIns="0" rIns="0" bIns="0" anchor="t">
            <a:normAutofit/>
          </a:bodyPr>
          <a:lstStyle/>
          <a:p>
            <a:pPr algn="l">
              <a:buNone/>
            </a:pPr>
            <a:r>
              <a:rPr lang="en-US" sz="1400" b="0" i="0" dirty="0">
                <a:solidFill>
                  <a:srgbClr val="3A3A3A"/>
                </a:solidFill>
              </a:rPr>
              <a:t>8.90"</a:t>
            </a:r>
          </a:p>
        </p:txBody>
      </p:sp>
      <p:sp>
        <p:nvSpPr>
          <p:cNvPr id="18" name="Rect 18"/>
          <p:cNvSpPr/>
          <p:nvPr/>
        </p:nvSpPr>
        <p:spPr>
          <a:xfrm>
            <a:off x="1298448" y="4581144"/>
            <a:ext cx="9601200" cy="566928"/>
          </a:xfrm>
          <a:prstGeom prst="rect">
            <a:avLst/>
          </a:prstGeom>
          <a:solidFill>
            <a:srgbClr val="F2EFE9"/>
          </a:solidFill>
          <a:ln>
            <a:noFill/>
          </a:ln>
        </p:spPr>
        <p:txBody>
          <a:bodyPr/>
          <a:lstStyle/>
          <a:p>
            <a:pPr>
              <a:buNone/>
            </a:pPr>
            <a:endParaRPr lang="en-US"/>
          </a:p>
        </p:txBody>
      </p:sp>
      <p:sp>
        <p:nvSpPr>
          <p:cNvPr id="19" name="TextBox 19"/>
          <p:cNvSpPr txBox="1"/>
          <p:nvPr/>
        </p:nvSpPr>
        <p:spPr>
          <a:xfrm>
            <a:off x="1463040" y="4736592"/>
            <a:ext cx="2322576" cy="310896"/>
          </a:xfrm>
          <a:prstGeom prst="rect">
            <a:avLst/>
          </a:prstGeom>
          <a:noFill/>
        </p:spPr>
        <p:txBody>
          <a:bodyPr wrap="square" lIns="0" tIns="0" rIns="0" bIns="0" anchor="t">
            <a:normAutofit/>
          </a:bodyPr>
          <a:lstStyle/>
          <a:p>
            <a:pPr algn="l">
              <a:buNone/>
            </a:pPr>
            <a:r>
              <a:rPr lang="en-US" sz="1400" b="1" i="0" dirty="0">
                <a:solidFill>
                  <a:srgbClr val="212121"/>
                </a:solidFill>
              </a:rPr>
              <a:t>1.85:1</a:t>
            </a:r>
          </a:p>
        </p:txBody>
      </p:sp>
      <p:sp>
        <p:nvSpPr>
          <p:cNvPr id="20" name="TextBox 20"/>
          <p:cNvSpPr txBox="1"/>
          <p:nvPr/>
        </p:nvSpPr>
        <p:spPr>
          <a:xfrm>
            <a:off x="4114800" y="4736592"/>
            <a:ext cx="1956816" cy="310896"/>
          </a:xfrm>
          <a:prstGeom prst="rect">
            <a:avLst/>
          </a:prstGeom>
          <a:noFill/>
        </p:spPr>
        <p:txBody>
          <a:bodyPr wrap="square" lIns="0" tIns="0" rIns="0" bIns="0" anchor="t">
            <a:normAutofit/>
          </a:bodyPr>
          <a:lstStyle/>
          <a:p>
            <a:pPr algn="l">
              <a:buNone/>
            </a:pPr>
            <a:r>
              <a:rPr lang="en-US" sz="1400" b="0" i="0" dirty="0">
                <a:solidFill>
                  <a:srgbClr val="3A3A3A"/>
                </a:solidFill>
              </a:rPr>
              <a:t>5.55"</a:t>
            </a:r>
          </a:p>
        </p:txBody>
      </p:sp>
      <p:sp>
        <p:nvSpPr>
          <p:cNvPr id="21" name="TextBox 21"/>
          <p:cNvSpPr txBox="1"/>
          <p:nvPr/>
        </p:nvSpPr>
        <p:spPr>
          <a:xfrm>
            <a:off x="6400800" y="4736592"/>
            <a:ext cx="1956816" cy="310896"/>
          </a:xfrm>
          <a:prstGeom prst="rect">
            <a:avLst/>
          </a:prstGeom>
          <a:noFill/>
        </p:spPr>
        <p:txBody>
          <a:bodyPr wrap="square" lIns="0" tIns="0" rIns="0" bIns="0" anchor="t">
            <a:normAutofit/>
          </a:bodyPr>
          <a:lstStyle/>
          <a:p>
            <a:pPr algn="l">
              <a:buNone/>
            </a:pPr>
            <a:r>
              <a:rPr lang="en-US" sz="1400" b="0" i="0" dirty="0">
                <a:solidFill>
                  <a:srgbClr val="3A3A3A"/>
                </a:solidFill>
              </a:rPr>
              <a:t>7.40"</a:t>
            </a:r>
          </a:p>
        </p:txBody>
      </p:sp>
      <p:sp>
        <p:nvSpPr>
          <p:cNvPr id="22" name="TextBox 22"/>
          <p:cNvSpPr txBox="1"/>
          <p:nvPr/>
        </p:nvSpPr>
        <p:spPr>
          <a:xfrm>
            <a:off x="8686800" y="4736592"/>
            <a:ext cx="2048256" cy="310896"/>
          </a:xfrm>
          <a:prstGeom prst="rect">
            <a:avLst/>
          </a:prstGeom>
          <a:noFill/>
        </p:spPr>
        <p:txBody>
          <a:bodyPr wrap="square" lIns="0" tIns="0" rIns="0" bIns="0" anchor="t">
            <a:normAutofit/>
          </a:bodyPr>
          <a:lstStyle/>
          <a:p>
            <a:pPr algn="l">
              <a:buNone/>
            </a:pPr>
            <a:r>
              <a:rPr lang="en-US" sz="1400" b="0" i="0" dirty="0">
                <a:solidFill>
                  <a:srgbClr val="3A3A3A"/>
                </a:solidFill>
              </a:rPr>
              <a:t>9.25"</a:t>
            </a:r>
          </a:p>
        </p:txBody>
      </p:sp>
      <p:sp>
        <p:nvSpPr>
          <p:cNvPr id="23" name="TextBox 23"/>
          <p:cNvSpPr txBox="1"/>
          <p:nvPr/>
        </p:nvSpPr>
        <p:spPr>
          <a:xfrm>
            <a:off x="1463040" y="5303520"/>
            <a:ext cx="2322576" cy="310896"/>
          </a:xfrm>
          <a:prstGeom prst="rect">
            <a:avLst/>
          </a:prstGeom>
          <a:noFill/>
        </p:spPr>
        <p:txBody>
          <a:bodyPr wrap="square" lIns="0" tIns="0" rIns="0" bIns="0" anchor="t">
            <a:normAutofit/>
          </a:bodyPr>
          <a:lstStyle/>
          <a:p>
            <a:pPr algn="l">
              <a:buNone/>
            </a:pPr>
            <a:r>
              <a:rPr lang="en-US" sz="1400" b="1" i="0" dirty="0">
                <a:solidFill>
                  <a:srgbClr val="212121"/>
                </a:solidFill>
              </a:rPr>
              <a:t>2.39:1</a:t>
            </a:r>
          </a:p>
        </p:txBody>
      </p:sp>
      <p:sp>
        <p:nvSpPr>
          <p:cNvPr id="24" name="TextBox 24"/>
          <p:cNvSpPr txBox="1"/>
          <p:nvPr/>
        </p:nvSpPr>
        <p:spPr>
          <a:xfrm>
            <a:off x="4114800" y="5303520"/>
            <a:ext cx="1956816" cy="310896"/>
          </a:xfrm>
          <a:prstGeom prst="rect">
            <a:avLst/>
          </a:prstGeom>
          <a:noFill/>
        </p:spPr>
        <p:txBody>
          <a:bodyPr wrap="square" lIns="0" tIns="0" rIns="0" bIns="0" anchor="t">
            <a:normAutofit/>
          </a:bodyPr>
          <a:lstStyle/>
          <a:p>
            <a:pPr algn="l">
              <a:buNone/>
            </a:pPr>
            <a:r>
              <a:rPr lang="en-US" sz="1400" b="0" i="0" dirty="0">
                <a:solidFill>
                  <a:srgbClr val="3A3A3A"/>
                </a:solidFill>
              </a:rPr>
              <a:t>7.17"</a:t>
            </a:r>
          </a:p>
        </p:txBody>
      </p:sp>
      <p:sp>
        <p:nvSpPr>
          <p:cNvPr id="25" name="TextBox 25"/>
          <p:cNvSpPr txBox="1"/>
          <p:nvPr/>
        </p:nvSpPr>
        <p:spPr>
          <a:xfrm>
            <a:off x="6400800" y="5303520"/>
            <a:ext cx="1956816" cy="310896"/>
          </a:xfrm>
          <a:prstGeom prst="rect">
            <a:avLst/>
          </a:prstGeom>
          <a:noFill/>
        </p:spPr>
        <p:txBody>
          <a:bodyPr wrap="square" lIns="0" tIns="0" rIns="0" bIns="0" anchor="t">
            <a:normAutofit/>
          </a:bodyPr>
          <a:lstStyle/>
          <a:p>
            <a:pPr algn="l">
              <a:buNone/>
            </a:pPr>
            <a:r>
              <a:rPr lang="en-US" sz="1400" b="0" i="0" dirty="0">
                <a:solidFill>
                  <a:srgbClr val="3A3A3A"/>
                </a:solidFill>
              </a:rPr>
              <a:t>9.56"</a:t>
            </a:r>
          </a:p>
        </p:txBody>
      </p:sp>
      <p:sp>
        <p:nvSpPr>
          <p:cNvPr id="26" name="TextBox 26"/>
          <p:cNvSpPr txBox="1"/>
          <p:nvPr/>
        </p:nvSpPr>
        <p:spPr>
          <a:xfrm>
            <a:off x="8686800" y="5303520"/>
            <a:ext cx="2048256" cy="310896"/>
          </a:xfrm>
          <a:prstGeom prst="rect">
            <a:avLst/>
          </a:prstGeom>
          <a:noFill/>
        </p:spPr>
        <p:txBody>
          <a:bodyPr wrap="square" lIns="0" tIns="0" rIns="0" bIns="0" anchor="t">
            <a:normAutofit/>
          </a:bodyPr>
          <a:lstStyle/>
          <a:p>
            <a:pPr algn="l">
              <a:buNone/>
            </a:pPr>
            <a:r>
              <a:rPr lang="en-US" sz="1400" b="0" i="0" dirty="0">
                <a:solidFill>
                  <a:srgbClr val="3A3A3A"/>
                </a:solidFill>
              </a:rPr>
              <a:t>11.95"</a:t>
            </a:r>
          </a:p>
        </p:txBody>
      </p:sp>
      <p:sp>
        <p:nvSpPr>
          <p:cNvPr id="27" name="TextBox 27"/>
          <p:cNvSpPr txBox="1"/>
          <p:nvPr/>
        </p:nvSpPr>
        <p:spPr>
          <a:xfrm>
            <a:off x="1298448" y="5870448"/>
            <a:ext cx="9601200" cy="566928"/>
          </a:xfrm>
          <a:prstGeom prst="rect">
            <a:avLst/>
          </a:prstGeom>
          <a:noFill/>
        </p:spPr>
        <p:txBody>
          <a:bodyPr wrap="square" lIns="0" tIns="0" rIns="0" bIns="0" anchor="t">
            <a:normAutofit/>
          </a:bodyPr>
          <a:lstStyle/>
          <a:p>
            <a:pPr algn="l">
              <a:buNone/>
            </a:pPr>
            <a:r>
              <a:rPr lang="en-US" sz="1000" b="0" i="0" dirty="0">
                <a:solidFill>
                  <a:srgbClr val="6B6B6B"/>
                </a:solidFill>
              </a:rPr>
              <a:t>You do not need to memorise this - you need to produce any row of it with a calculator in ten seconds.</a:t>
            </a:r>
          </a:p>
          <a:p>
            <a:pPr algn="l">
              <a:buNone/>
            </a:pPr>
            <a:r>
              <a:rPr lang="en-US" sz="1000" b="0" i="0" dirty="0">
                <a:solidFill>
                  <a:srgbClr val="6B6B6B"/>
                </a:solidFill>
              </a:rPr>
              <a:t>2.39:1 at 5" tall is nearly 12" wide. It will not fit on a page with margins, which is why you choose height first.</a:t>
            </a:r>
          </a:p>
        </p:txBody>
      </p:sp>
    </p:spTree>
    <p:extLst>
      <p:ext uri="{BB962C8B-B14F-4D97-AF65-F5344CB8AC3E}">
        <p14:creationId xmlns:p14="http://schemas.microsoft.com/office/powerpoint/2010/main" val="361306816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6E8CA-91BA-4919-B226-7EB4D0803BF7}"/>
              </a:ext>
            </a:extLst>
          </p:cNvPr>
          <p:cNvSpPr>
            <a:spLocks noGrp="1"/>
          </p:cNvSpPr>
          <p:nvPr>
            <p:ph type="title"/>
          </p:nvPr>
        </p:nvSpPr>
        <p:spPr/>
        <p:txBody>
          <a:bodyPr/>
          <a:lstStyle/>
          <a:p>
            <a:r>
              <a:rPr lang="en-US" dirty="0"/>
              <a:t>Common Mistakes I Will See on This Assignment</a:t>
            </a:r>
          </a:p>
        </p:txBody>
      </p:sp>
      <p:sp>
        <p:nvSpPr>
          <p:cNvPr id="3" name="Content Placeholder 2">
            <a:extLst>
              <a:ext uri="{FF2B5EF4-FFF2-40B4-BE49-F238E27FC236}">
                <a16:creationId xmlns:a16="http://schemas.microsoft.com/office/drawing/2014/main" id="{CE2F37E3-099F-4859-BE23-B91307FF50DA}"/>
              </a:ext>
            </a:extLst>
          </p:cNvPr>
          <p:cNvSpPr>
            <a:spLocks noGrp="1"/>
          </p:cNvSpPr>
          <p:nvPr>
            <p:ph idx="1"/>
          </p:nvPr>
        </p:nvSpPr>
        <p:spPr>
          <a:xfrm>
            <a:off x="1295401" y="2556932"/>
            <a:ext cx="9601196" cy="3500968"/>
          </a:xfrm>
        </p:spPr>
        <p:txBody>
          <a:bodyPr/>
          <a:lstStyle/>
          <a:p>
            <a:r>
              <a:rPr lang="en-US" dirty="0">
                <a:solidFill>
                  <a:schemeClr val="tx1"/>
                </a:solidFill>
              </a:rPr>
              <a:t>Eyeballing the panel instead of calculating it.</a:t>
            </a:r>
          </a:p>
          <a:p>
            <a:r>
              <a:rPr lang="en-US" dirty="0">
                <a:solidFill>
                  <a:schemeClr val="tx1"/>
                </a:solidFill>
              </a:rPr>
              <a:t>Panels that do not match each other down the page.</a:t>
            </a:r>
          </a:p>
          <a:p>
            <a:r>
              <a:rPr lang="en-US" dirty="0">
                <a:solidFill>
                  <a:schemeClr val="tx1"/>
                </a:solidFill>
              </a:rPr>
              <a:t>A frame that is not the ratio the sequence is actually in.</a:t>
            </a:r>
          </a:p>
          <a:p>
            <a:r>
              <a:rPr lang="en-US" dirty="0">
                <a:solidFill>
                  <a:schemeClr val="tx1"/>
                </a:solidFill>
              </a:rPr>
              <a:t>Working so small that you cannot draw comfortably inside the box.</a:t>
            </a:r>
          </a:p>
          <a:p>
            <a:r>
              <a:rPr lang="en-US" dirty="0">
                <a:solidFill>
                  <a:schemeClr val="tx1"/>
                </a:solidFill>
              </a:rPr>
              <a:t>All four are avoidable in about a minute of arithmetic. That is why the arithmetic is graded.</a:t>
            </a:r>
          </a:p>
        </p:txBody>
      </p:sp>
    </p:spTree>
    <p:extLst>
      <p:ext uri="{BB962C8B-B14F-4D97-AF65-F5344CB8AC3E}">
        <p14:creationId xmlns:p14="http://schemas.microsoft.com/office/powerpoint/2010/main" val="361306816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6E8CA-91BA-4919-B226-7EB4D0803BF7}"/>
              </a:ext>
            </a:extLst>
          </p:cNvPr>
          <p:cNvSpPr>
            <a:spLocks noGrp="1"/>
          </p:cNvSpPr>
          <p:nvPr>
            <p:ph type="title"/>
          </p:nvPr>
        </p:nvSpPr>
        <p:spPr/>
        <p:txBody>
          <a:bodyPr/>
          <a:lstStyle/>
          <a:p>
            <a:r>
              <a:rPr lang="en-US" dirty="0"/>
              <a:t>Hand-off: Build the Template</a:t>
            </a:r>
          </a:p>
        </p:txBody>
      </p:sp>
      <p:sp>
        <p:nvSpPr>
          <p:cNvPr id="3" name="Content Placeholder 2">
            <a:extLst>
              <a:ext uri="{FF2B5EF4-FFF2-40B4-BE49-F238E27FC236}">
                <a16:creationId xmlns:a16="http://schemas.microsoft.com/office/drawing/2014/main" id="{CE2F37E3-099F-4859-BE23-B91307FF50DA}"/>
              </a:ext>
            </a:extLst>
          </p:cNvPr>
          <p:cNvSpPr>
            <a:spLocks noGrp="1"/>
          </p:cNvSpPr>
          <p:nvPr>
            <p:ph idx="1"/>
          </p:nvPr>
        </p:nvSpPr>
        <p:spPr>
          <a:xfrm>
            <a:off x="1295401" y="2556932"/>
            <a:ext cx="9601196" cy="3500968"/>
          </a:xfrm>
        </p:spPr>
        <p:txBody>
          <a:bodyPr/>
          <a:lstStyle/>
          <a:p>
            <a:r>
              <a:rPr lang="en-US" dirty="0">
                <a:solidFill>
                  <a:schemeClr val="tx1"/>
                </a:solidFill>
              </a:rPr>
              <a:t>A1 - Template Build. 50 points.</a:t>
            </a:r>
          </a:p>
          <a:p>
            <a:r>
              <a:rPr lang="en-US" dirty="0">
                <a:solidFill>
                  <a:schemeClr val="tx1"/>
                </a:solidFill>
              </a:rPr>
              <a:t>Panels at the assigned ratio, on a page, with room under each for panel number, shot number, action and camera notation.</a:t>
            </a:r>
          </a:p>
          <a:p>
            <a:r>
              <a:rPr lang="en-US" dirty="0">
                <a:solidFill>
                  <a:schemeClr val="tx1"/>
                </a:solidFill>
              </a:rPr>
              <a:t>Deliver the layered .psd and a flat export at the correct pixel dimensions.</a:t>
            </a:r>
          </a:p>
          <a:p>
            <a:r>
              <a:rPr lang="en-US" dirty="0">
                <a:solidFill>
                  <a:schemeClr val="tx1"/>
                </a:solidFill>
              </a:rPr>
              <a:t>Photoshop, or Photopea - free, runs in a browser, opens and saves .psd.</a:t>
            </a:r>
          </a:p>
        </p:txBody>
      </p:sp>
    </p:spTree>
    <p:extLst>
      <p:ext uri="{BB962C8B-B14F-4D97-AF65-F5344CB8AC3E}">
        <p14:creationId xmlns:p14="http://schemas.microsoft.com/office/powerpoint/2010/main" val="3613068162"/>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Organic">
  <a:themeElements>
    <a:clrScheme name="Custom 1">
      <a:dk1>
        <a:sysClr val="windowText" lastClr="000000"/>
      </a:dk1>
      <a:lt1>
        <a:sysClr val="window" lastClr="FFFFFF"/>
      </a:lt1>
      <a:dk2>
        <a:srgbClr val="212121"/>
      </a:dk2>
      <a:lt2>
        <a:srgbClr val="DADADA"/>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Custom 1">
      <a:majorFont>
        <a:latin typeface="Century Gothic"/>
        <a:ea typeface=""/>
        <a:cs typeface=""/>
      </a:majorFont>
      <a:minorFont>
        <a:latin typeface="Century Gothic"/>
        <a:ea typeface=""/>
        <a:cs typeface=""/>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E4E49EB0-FB00-41F5-9359-4843D783A23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2716</TotalTime>
  <Words>5479</Words>
  <Application>Microsoft Macintosh PowerPoint</Application>
  <PresentationFormat>Widescreen</PresentationFormat>
  <Paragraphs>382</Paragraphs>
  <Slides>47</Slides>
  <Notes>47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47</vt:i4>
      </vt:variant>
    </vt:vector>
  </HeadingPairs>
  <TitlesOfParts>
    <vt:vector size="53" baseType="lpstr">
      <vt:lpstr>Arial</vt:lpstr>
      <vt:lpstr>Calibri</vt:lpstr>
      <vt:lpstr>Century Gothic</vt:lpstr>
      <vt:lpstr>Helvetica</vt:lpstr>
      <vt:lpstr>Times New Roman</vt:lpstr>
      <vt:lpstr>Organic</vt:lpstr>
      <vt:lpstr>Aspect Ratios</vt:lpstr>
      <vt:lpstr>Storyboarding and Aspect Ratios</vt:lpstr>
      <vt:lpstr>Early History of the Storyboard </vt:lpstr>
      <vt:lpstr>Early History of the Storyboard </vt:lpstr>
      <vt:lpstr>Early History of the Storyboard </vt:lpstr>
      <vt:lpstr>Early History of the Storyboard </vt:lpstr>
      <vt:lpstr>Early History of the Storyboard </vt:lpstr>
      <vt:lpstr>Early History of the Storyboard </vt:lpstr>
      <vt:lpstr>Early History of the Storyboard </vt:lpstr>
      <vt:lpstr>Early History of the Storyboard </vt:lpstr>
      <vt:lpstr>Early History of the Storyboard </vt:lpstr>
      <vt:lpstr>Early History of the Storyboard </vt:lpstr>
      <vt:lpstr>Early History of the Storyboard </vt:lpstr>
      <vt:lpstr>Early History of the Storyboard </vt:lpstr>
      <vt:lpstr>Early History of the Storyboard </vt:lpstr>
      <vt:lpstr>Early History of the Storyboard </vt:lpstr>
      <vt:lpstr>Early History of the Storyboard </vt:lpstr>
      <vt:lpstr>Early History of the Storyboard </vt:lpstr>
      <vt:lpstr>Early History of the Storyboard </vt:lpstr>
      <vt:lpstr>Early History of the Storyboard </vt:lpstr>
      <vt:lpstr>What are Aspect Ratios</vt:lpstr>
      <vt:lpstr>What are Aspect Ratios</vt:lpstr>
      <vt:lpstr>History of Aspect Ratios</vt:lpstr>
      <vt:lpstr>History of Aspect Ratios</vt:lpstr>
      <vt:lpstr>History of  Aspect Ratios</vt:lpstr>
      <vt:lpstr>History of  Aspect Ratios</vt:lpstr>
      <vt:lpstr>PowerPoint Presentation</vt:lpstr>
      <vt:lpstr>PowerPoint Presentation</vt:lpstr>
      <vt:lpstr>PowerPoint Presentation</vt:lpstr>
      <vt:lpstr>PowerPoint Presentation</vt:lpstr>
      <vt:lpstr>PowerPoint Presentation</vt:lpstr>
      <vt:lpstr>Common Aspect Ratio Formats</vt:lpstr>
      <vt:lpstr>Common Aspect Ratio Formats</vt:lpstr>
      <vt:lpstr>Common Aspect Ratio Formats</vt:lpstr>
      <vt:lpstr>Common Aspect Ratio Formats</vt:lpstr>
      <vt:lpstr>Pan &amp; Scan</vt:lpstr>
      <vt:lpstr>Pan &amp; Scan</vt:lpstr>
      <vt:lpstr>Pan &amp; Scan</vt:lpstr>
      <vt:lpstr>Letterboxing</vt:lpstr>
      <vt:lpstr>Letterboxing</vt:lpstr>
      <vt:lpstr>Calculating Aspect Ratios for Storyboards</vt:lpstr>
      <vt:lpstr>Calculating Aspect Ratios for Storyboards</vt:lpstr>
      <vt:lpstr>In Summary</vt:lpstr>
      <vt:lpstr>In Summary</vt:lpstr>
      <vt:lpstr>In Summary</vt:lpstr>
      <vt:lpstr>In Summary</vt:lpstr>
      <vt:lpstr>In Summary</vt:lpstr>
    </vt:vector>
  </TitlesOfParts>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 to Game Design</dc:title>
  <dc:creator>Daniel</dc:creator>
  <cp:lastModifiedBy>Microsoft Office User</cp:lastModifiedBy>
  <cp:revision>199</cp:revision>
  <dcterms:created xsi:type="dcterms:W3CDTF">2016-01-10T17:17:42Z</dcterms:created>
  <dcterms:modified xsi:type="dcterms:W3CDTF">2020-01-31T17:08:24Z</dcterms:modified>
</cp:coreProperties>
</file>