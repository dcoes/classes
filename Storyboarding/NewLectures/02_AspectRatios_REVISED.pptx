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0"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822"/>
    <a:srgbClr val="828282"/>
    <a:srgbClr val="E9E9E9"/>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4" autoAdjust="0"/>
    <p:restoredTop sz="59806" autoAdjust="0"/>
  </p:normalViewPr>
  <p:slideViewPr>
    <p:cSldViewPr snapToGrid="0">
      <p:cViewPr varScale="1">
        <p:scale>
          <a:sx n="66" d="100"/>
          <a:sy n="66" d="100"/>
        </p:scale>
        <p:origin x="2376" y="6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28734-3244-491E-AA24-C884C7595C08}"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6D361-B4A4-4CC2-BE3E-6B169444DAA7}" type="slidenum">
              <a:rPr lang="en-US" smtClean="0"/>
              <a:t>‹#›</a:t>
            </a:fld>
            <a:endParaRPr lang="en-US"/>
          </a:p>
        </p:txBody>
      </p:sp>
    </p:spTree>
    <p:extLst>
      <p:ext uri="{BB962C8B-B14F-4D97-AF65-F5344CB8AC3E}">
        <p14:creationId xmlns:p14="http://schemas.microsoft.com/office/powerpoint/2010/main" val="206646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Today has two halves. The first is where boards came from, fast, because it explains why the job exists.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second is the shape of the frame, which is the actual subject and which walks straight into your first assignment.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This is an important class</a:t>
            </a:r>
            <a:r>
              <a:rPr lang="en-US" dirty="0"/>
              <a:t> - By the end of this session you will build a storyboard template which you will use for many of your </a:t>
            </a:r>
            <a:r>
              <a:rPr lang="en-US"/>
              <a:t>future assignments.</a:t>
            </a:r>
            <a:endParaRPr lang="en-US" dirty="0"/>
          </a:p>
        </p:txBody>
      </p:sp>
      <p:sp>
        <p:nvSpPr>
          <p:cNvPr id="4" name="Slide Number Placeholder 3"/>
          <p:cNvSpPr>
            <a:spLocks noGrp="1"/>
          </p:cNvSpPr>
          <p:nvPr>
            <p:ph type="sldNum" sz="quarter" idx="10"/>
          </p:nvPr>
        </p:nvSpPr>
        <p:spPr/>
        <p:txBody>
          <a:bodyPr/>
          <a:lstStyle/>
          <a:p>
            <a:fld id="{1796D361-B4A4-4CC2-BE3E-6B169444DAA7}" type="slidenum">
              <a:rPr lang="en-US" smtClean="0"/>
              <a:t>1</a:t>
            </a:fld>
            <a:endParaRPr lang="en-US"/>
          </a:p>
        </p:txBody>
      </p:sp>
    </p:spTree>
    <p:extLst>
      <p:ext uri="{BB962C8B-B14F-4D97-AF65-F5344CB8AC3E}">
        <p14:creationId xmlns:p14="http://schemas.microsoft.com/office/powerpoint/2010/main" val="187389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origins of the cinematic language that we take for granted today didn’t come from just one place.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number of people contributed to its development by looking at it from different angles.</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beginning the nature of photography and film was to </a:t>
            </a:r>
            <a:r>
              <a:rPr lang="en-US" sz="1200" b="1" kern="1200" dirty="0">
                <a:solidFill>
                  <a:schemeClr val="tx1"/>
                </a:solidFill>
                <a:effectLst/>
                <a:latin typeface="+mn-lt"/>
                <a:ea typeface="+mn-ea"/>
                <a:cs typeface="+mn-cs"/>
              </a:rPr>
              <a:t>document reality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The Lumiere brothers screened workers leaving their factory and a train arriving at a station.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Audiences were astonished, but what they were astonished by was the recording – and seeing pictures come to life and move before their eyes.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Lumieres themselves thought of it as a </a:t>
            </a:r>
            <a:r>
              <a:rPr lang="en-US" sz="1200" b="1" kern="1200" dirty="0">
                <a:solidFill>
                  <a:schemeClr val="tx1"/>
                </a:solidFill>
                <a:effectLst/>
                <a:latin typeface="+mn-lt"/>
                <a:ea typeface="+mn-ea"/>
                <a:cs typeface="+mn-cs"/>
              </a:rPr>
              <a:t>scientific instrument</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Georges Melies was a </a:t>
            </a:r>
            <a:r>
              <a:rPr lang="en-US" sz="1200" b="1" kern="1200" dirty="0">
                <a:solidFill>
                  <a:schemeClr val="tx1"/>
                </a:solidFill>
                <a:effectLst/>
                <a:latin typeface="+mn-lt"/>
                <a:ea typeface="+mn-ea"/>
                <a:cs typeface="+mn-cs"/>
              </a:rPr>
              <a:t>stage magician </a:t>
            </a:r>
            <a:r>
              <a:rPr lang="en-US" sz="1200" kern="1200" dirty="0">
                <a:solidFill>
                  <a:schemeClr val="tx1"/>
                </a:solidFill>
                <a:effectLst/>
                <a:latin typeface="+mn-lt"/>
                <a:ea typeface="+mn-ea"/>
                <a:cs typeface="+mn-cs"/>
              </a:rPr>
              <a:t>who owned a theatre.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He looked at the same technique and saw </a:t>
            </a:r>
            <a:r>
              <a:rPr lang="en-US" sz="1200" b="1" kern="1200" dirty="0">
                <a:solidFill>
                  <a:schemeClr val="tx1"/>
                </a:solidFill>
                <a:effectLst/>
                <a:latin typeface="+mn-lt"/>
                <a:ea typeface="+mn-ea"/>
                <a:cs typeface="+mn-cs"/>
              </a:rPr>
              <a:t>a way to entertain and tell stories</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Trip to the Moon, 1902, is a made-up story with built sets and effects.</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Instead of </a:t>
            </a:r>
            <a:r>
              <a:rPr lang="en-US" sz="1200" b="1" kern="1200" dirty="0">
                <a:solidFill>
                  <a:schemeClr val="tx1"/>
                </a:solidFill>
                <a:effectLst/>
                <a:latin typeface="+mn-lt"/>
                <a:ea typeface="+mn-ea"/>
                <a:cs typeface="+mn-cs"/>
              </a:rPr>
              <a:t>recording reality</a:t>
            </a:r>
            <a:r>
              <a:rPr lang="en-US" sz="1200" kern="1200" dirty="0">
                <a:solidFill>
                  <a:schemeClr val="tx1"/>
                </a:solidFill>
                <a:effectLst/>
                <a:latin typeface="+mn-lt"/>
                <a:ea typeface="+mn-ea"/>
                <a:cs typeface="+mn-cs"/>
              </a:rPr>
              <a:t>, Melies sought to </a:t>
            </a:r>
            <a:r>
              <a:rPr lang="en-US" sz="1200" b="1" kern="1200" dirty="0">
                <a:solidFill>
                  <a:schemeClr val="tx1"/>
                </a:solidFill>
                <a:effectLst/>
                <a:latin typeface="+mn-lt"/>
                <a:ea typeface="+mn-ea"/>
                <a:cs typeface="+mn-cs"/>
              </a:rPr>
              <a:t>show a new one</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Instead of capturing what was in front of him,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he thought of a story and planned how it would be presented,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much in the same way that he’d present his magic tricks.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2</a:t>
            </a:fld>
            <a:endParaRPr lang="en-US"/>
          </a:p>
        </p:txBody>
      </p:sp>
    </p:spTree>
    <p:extLst>
      <p:ext uri="{BB962C8B-B14F-4D97-AF65-F5344CB8AC3E}">
        <p14:creationId xmlns:p14="http://schemas.microsoft.com/office/powerpoint/2010/main" val="3097081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During this initial phase of the development of film, directors like Sergei Eisenstein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drew his own sketches to work out how action would move inside a frame and across a cut.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DeMille hired an illustrator to show him what a sequence would look like before he committed a budget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Neither of these men had the word storyboard. Both were doing a version of the thing.</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The practice of storyboarding existed before the word for it did.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Which tells you the job was invented because somebody needed it, not because somebody theorised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you can start to see, the language of film came from many different places, but in working with it, people found similar ways of solving many problems in the way they told stories. That’s what this is – </a:t>
            </a:r>
            <a:r>
              <a:rPr lang="en-US" sz="1200" b="1" kern="1200" dirty="0">
                <a:solidFill>
                  <a:schemeClr val="tx1"/>
                </a:solidFill>
                <a:effectLst/>
                <a:latin typeface="+mn-lt"/>
                <a:ea typeface="+mn-ea"/>
                <a:cs typeface="+mn-cs"/>
              </a:rPr>
              <a:t>Problem Solving, </a:t>
            </a:r>
            <a:r>
              <a:rPr lang="en-US" sz="1200" b="0" kern="1200" dirty="0">
                <a:solidFill>
                  <a:schemeClr val="tx1"/>
                </a:solidFill>
                <a:effectLst/>
                <a:latin typeface="+mn-lt"/>
                <a:ea typeface="+mn-ea"/>
                <a:cs typeface="+mn-cs"/>
              </a:rPr>
              <a:t>and that’s what we’re here to do as artists and creatives in general.</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3</a:t>
            </a:fld>
            <a:endParaRPr lang="en-US"/>
          </a:p>
        </p:txBody>
      </p:sp>
    </p:spTree>
    <p:extLst>
      <p:ext uri="{BB962C8B-B14F-4D97-AF65-F5344CB8AC3E}">
        <p14:creationId xmlns:p14="http://schemas.microsoft.com/office/powerpoint/2010/main" val="48509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Winsor McCay was already known at the time for his newspaper strip “Little Nemo in Slumberland”.</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 friend of McCay’s had placed a bet with him on whether he could bring his character “Gertie the Dinosaur” to life.</a:t>
            </a:r>
          </a:p>
          <a:p>
            <a:pPr marL="0" marR="0">
              <a:lnSpc>
                <a:spcPct val="107000"/>
              </a:lnSpc>
              <a:spcBef>
                <a:spcPts val="0"/>
              </a:spcBef>
              <a:spcAft>
                <a:spcPts val="0"/>
              </a:spcAft>
            </a:pPr>
            <a:endPar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Much like Georges Melies, I just mentioned, Gertie was a stage act.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McCay stood at the front of the stage in a tuxedo holding a bullwhip like an animal trainer,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did an introduction to the audience, and introduced the only dinosaur in captivity.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Then he gave her instructions which she appeared to obey.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At the end he appears to walk into the frame and ride off on her.</a:t>
            </a:r>
          </a:p>
          <a:p>
            <a:pPr marL="0" marR="0">
              <a:lnSpc>
                <a:spcPct val="107000"/>
              </a:lnSpc>
              <a:spcBef>
                <a:spcPts val="0"/>
              </a:spcBef>
              <a:spcAft>
                <a:spcPts val="0"/>
              </a:spcAft>
            </a:pPr>
            <a:endPar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I think a key takeaway here is also the nature of how this person thought about telling this story.</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This man drew comics for a newspaper. Usually these are very condensed “to the point stories” contained in maybe 3 panels – a beginning, a middle and an end.</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This is more important than it initially sounds, but this practice eventually makes its way into other animations and films.</a:t>
            </a:r>
          </a:p>
        </p:txBody>
      </p:sp>
      <p:sp>
        <p:nvSpPr>
          <p:cNvPr id="4" name="Slide Number Placeholder 3"/>
          <p:cNvSpPr>
            <a:spLocks noGrp="1"/>
          </p:cNvSpPr>
          <p:nvPr>
            <p:ph type="sldNum" sz="quarter" idx="10"/>
          </p:nvPr>
        </p:nvSpPr>
        <p:spPr/>
        <p:txBody>
          <a:bodyPr/>
          <a:lstStyle/>
          <a:p>
            <a:fld id="{1796D361-B4A4-4CC2-BE3E-6B169444DAA7}" type="slidenum">
              <a:rPr lang="en-US" smtClean="0"/>
              <a:t>4</a:t>
            </a:fld>
            <a:endParaRPr lang="en-US"/>
          </a:p>
        </p:txBody>
      </p:sp>
    </p:spTree>
    <p:extLst>
      <p:ext uri="{BB962C8B-B14F-4D97-AF65-F5344CB8AC3E}">
        <p14:creationId xmlns:p14="http://schemas.microsoft.com/office/powerpoint/2010/main" val="709370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Two of these people that were influenced by this thinking were the Fleischer brothers.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were not a minor studio.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1920s they were arguably the most successful animation house in America, and they ran with no written plan of any kind.</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They too approached it like a comic strip in a way.</a:t>
            </a:r>
            <a:br>
              <a:rPr lang="en-US" sz="120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There was no script</a:t>
            </a:r>
            <a:r>
              <a:rPr lang="en-US" sz="1200" kern="1200" dirty="0">
                <a:solidFill>
                  <a:schemeClr val="tx1"/>
                </a:solidFill>
                <a:effectLst/>
                <a:latin typeface="+mn-lt"/>
                <a:ea typeface="+mn-ea"/>
                <a:cs typeface="+mn-cs"/>
              </a:rPr>
              <a:t>. There was no story department.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Dave Fleischer would come around each morning, to </a:t>
            </a:r>
            <a:r>
              <a:rPr lang="en-US" sz="1200" b="1" kern="1200" dirty="0">
                <a:solidFill>
                  <a:schemeClr val="tx1"/>
                </a:solidFill>
                <a:effectLst/>
                <a:latin typeface="+mn-lt"/>
                <a:ea typeface="+mn-ea"/>
                <a:cs typeface="+mn-cs"/>
              </a:rPr>
              <a:t>monitor the progress </a:t>
            </a:r>
            <a:r>
              <a:rPr lang="en-US" sz="1200" kern="1200" dirty="0">
                <a:solidFill>
                  <a:schemeClr val="tx1"/>
                </a:solidFill>
                <a:effectLst/>
                <a:latin typeface="+mn-lt"/>
                <a:ea typeface="+mn-ea"/>
                <a:cs typeface="+mn-cs"/>
              </a:rPr>
              <a:t>of each animation, and </a:t>
            </a:r>
            <a:r>
              <a:rPr lang="en-US" sz="1200" b="1" kern="1200" dirty="0">
                <a:solidFill>
                  <a:schemeClr val="tx1"/>
                </a:solidFill>
                <a:effectLst/>
                <a:latin typeface="+mn-lt"/>
                <a:ea typeface="+mn-ea"/>
                <a:cs typeface="+mn-cs"/>
              </a:rPr>
              <a:t>make suggestions as it developed</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(This practice is alive and well today still, known as “</a:t>
            </a:r>
            <a:r>
              <a:rPr lang="en-US" sz="1200" b="1" i="1" kern="1200" dirty="0">
                <a:solidFill>
                  <a:schemeClr val="tx1"/>
                </a:solidFill>
                <a:effectLst/>
                <a:latin typeface="+mn-lt"/>
                <a:ea typeface="+mn-ea"/>
                <a:cs typeface="+mn-cs"/>
              </a:rPr>
              <a:t>Dailies</a:t>
            </a:r>
            <a:r>
              <a:rPr lang="en-US" sz="1200" kern="1200" dirty="0">
                <a:solidFill>
                  <a:schemeClr val="tx1"/>
                </a:solidFill>
                <a:effectLst/>
                <a:latin typeface="+mn-lt"/>
                <a:ea typeface="+mn-ea"/>
                <a:cs typeface="+mn-cs"/>
              </a:rPr>
              <a:t>”, and practiced in VFX and animation studios all over)</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There was not a rigid structure in place, or much of a defined plan.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 worked.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worked for five-minute shorts built out of gags, where nothing has to pay off later because there is no later.</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happens though when the gag has to pay off for a much longer story?</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 What happens when the film is eighty minutes long and a thing in reel one has to pay off in reel six? That is the question that produces the storyboard, and it gets answered on the next slide.</a:t>
            </a:r>
          </a:p>
        </p:txBody>
      </p:sp>
      <p:sp>
        <p:nvSpPr>
          <p:cNvPr id="4" name="Slide Number Placeholder 3"/>
          <p:cNvSpPr>
            <a:spLocks noGrp="1"/>
          </p:cNvSpPr>
          <p:nvPr>
            <p:ph type="sldNum" sz="quarter" idx="10"/>
          </p:nvPr>
        </p:nvSpPr>
        <p:spPr/>
        <p:txBody>
          <a:bodyPr/>
          <a:lstStyle/>
          <a:p>
            <a:fld id="{1796D361-B4A4-4CC2-BE3E-6B169444DAA7}" type="slidenum">
              <a:rPr lang="en-US" smtClean="0"/>
              <a:t>5</a:t>
            </a:fld>
            <a:endParaRPr lang="en-US"/>
          </a:p>
        </p:txBody>
      </p:sp>
    </p:spTree>
    <p:extLst>
      <p:ext uri="{BB962C8B-B14F-4D97-AF65-F5344CB8AC3E}">
        <p14:creationId xmlns:p14="http://schemas.microsoft.com/office/powerpoint/2010/main" val="3294387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(continued from last slide – “That’s where this guy comes in”)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Walt Disney was </a:t>
            </a:r>
            <a:r>
              <a:rPr lang="en-US" sz="1200" b="1" kern="1200" dirty="0">
                <a:solidFill>
                  <a:schemeClr val="tx1"/>
                </a:solidFill>
                <a:effectLst/>
                <a:latin typeface="+mn-lt"/>
                <a:ea typeface="+mn-ea"/>
                <a:cs typeface="+mn-cs"/>
              </a:rPr>
              <a:t>one of the most influential and visionary figures </a:t>
            </a:r>
            <a:r>
              <a:rPr lang="en-US" sz="1200" kern="1200" dirty="0">
                <a:solidFill>
                  <a:schemeClr val="tx1"/>
                </a:solidFill>
                <a:effectLst/>
                <a:latin typeface="+mn-lt"/>
                <a:ea typeface="+mn-ea"/>
                <a:cs typeface="+mn-cs"/>
              </a:rPr>
              <a:t>in the development of animation and sequential storytelling in general – for many reasons.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of his first moves was to </a:t>
            </a:r>
            <a:r>
              <a:rPr lang="en-US" sz="1200" b="1" kern="1200" dirty="0">
                <a:solidFill>
                  <a:schemeClr val="tx1"/>
                </a:solidFill>
                <a:effectLst/>
                <a:latin typeface="+mn-lt"/>
                <a:ea typeface="+mn-ea"/>
                <a:cs typeface="+mn-cs"/>
              </a:rPr>
              <a:t>separate the two jobs </a:t>
            </a:r>
            <a:r>
              <a:rPr lang="en-US" sz="1200" kern="1200" dirty="0">
                <a:solidFill>
                  <a:schemeClr val="tx1"/>
                </a:solidFill>
                <a:effectLst/>
                <a:latin typeface="+mn-lt"/>
                <a:ea typeface="+mn-ea"/>
                <a:cs typeface="+mn-cs"/>
              </a:rPr>
              <a:t>of the animators.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They’d been both generating stories and animating them;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the stories became more complex, </a:t>
            </a:r>
            <a:r>
              <a:rPr lang="en-US" sz="1200" b="1" kern="1200" dirty="0">
                <a:solidFill>
                  <a:schemeClr val="tx1"/>
                </a:solidFill>
                <a:effectLst/>
                <a:latin typeface="+mn-lt"/>
                <a:ea typeface="+mn-ea"/>
                <a:cs typeface="+mn-cs"/>
              </a:rPr>
              <a:t>Disney split story development </a:t>
            </a:r>
            <a:r>
              <a:rPr lang="en-US" sz="1200" kern="1200" dirty="0">
                <a:solidFill>
                  <a:schemeClr val="tx1"/>
                </a:solidFill>
                <a:effectLst/>
                <a:latin typeface="+mn-lt"/>
                <a:ea typeface="+mn-ea"/>
                <a:cs typeface="+mn-cs"/>
              </a:rPr>
              <a:t>into its own department (under Ted Sears),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liberating </a:t>
            </a:r>
            <a:r>
              <a:rPr lang="en-US" sz="1200" b="1" kern="1200" dirty="0">
                <a:solidFill>
                  <a:schemeClr val="tx1"/>
                </a:solidFill>
                <a:effectLst/>
                <a:latin typeface="+mn-lt"/>
                <a:ea typeface="+mn-ea"/>
                <a:cs typeface="+mn-cs"/>
              </a:rPr>
              <a:t>animators to focus purely on the art of animation.</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But the sketches piled up faster than anyone could follow.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Webb Smith's solution was very simple: pin every sketch to the wall, in order, beginning to end.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to take a step back and look at the “big picture”, the whole thing at once.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it didn’t work, they would rearrange the drawings until they made sense.</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This was one early contribution of Disney’s that is still around today, practiced even at computer animated studios such as Pixar or </a:t>
            </a:r>
            <a:r>
              <a:rPr lang="en-US" sz="1200" kern="1200" dirty="0" err="1">
                <a:solidFill>
                  <a:schemeClr val="tx1"/>
                </a:solidFill>
                <a:effectLst/>
                <a:latin typeface="+mn-lt"/>
                <a:ea typeface="+mn-ea"/>
                <a:cs typeface="+mn-cs"/>
              </a:rPr>
              <a:t>Dreamworks</a:t>
            </a:r>
            <a:r>
              <a:rPr lang="en-US" sz="1200" kern="1200" dirty="0">
                <a:solidFill>
                  <a:schemeClr val="tx1"/>
                </a:solidFill>
                <a:effectLst/>
                <a:latin typeface="+mn-lt"/>
                <a:ea typeface="+mn-ea"/>
                <a:cs typeface="+mn-cs"/>
              </a:rPr>
              <a:t>.</a:t>
            </a:r>
          </a:p>
          <a:p>
            <a:pPr latinLnBrk="1"/>
            <a:r>
              <a:rPr lang="en-US" sz="1200" kern="1200" dirty="0">
                <a:solidFill>
                  <a:schemeClr val="tx1"/>
                </a:solidFill>
                <a:effectLst/>
                <a:latin typeface="+mn-lt"/>
                <a:ea typeface="+mn-ea"/>
                <a:cs typeface="+mn-cs"/>
              </a:rPr>
              <a:t>Disney introduced a way of seeing a sequence all at once, laid out in space, so you can rearrange it before you have spent money on it.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Everything since is a refinement of that one idea, including the software you will use.</a:t>
            </a:r>
          </a:p>
          <a:p>
            <a:pPr latinLnBrk="1"/>
            <a:endParaRPr lang="en-US" sz="1200" kern="1200" dirty="0">
              <a:solidFill>
                <a:schemeClr val="tx1"/>
              </a:solidFill>
              <a:effectLst/>
              <a:latin typeface="+mn-lt"/>
              <a:ea typeface="+mn-ea"/>
              <a:cs typeface="+mn-cs"/>
            </a:endParaRPr>
          </a:p>
          <a:p>
            <a:pPr latinLnBrk="1"/>
            <a:r>
              <a:rPr lang="en-US" sz="1200" i="1" kern="1200" dirty="0">
                <a:solidFill>
                  <a:schemeClr val="tx1"/>
                </a:solidFill>
                <a:effectLst/>
                <a:latin typeface="+mn-lt"/>
                <a:ea typeface="+mn-ea"/>
                <a:cs typeface="+mn-cs"/>
              </a:rPr>
              <a:t>The image on the right is a page of story sketches from Plane Crazy, 1928 - the first Mickey cartoon </a:t>
            </a:r>
          </a:p>
          <a:p>
            <a:pPr latinLnBrk="1"/>
            <a:r>
              <a:rPr lang="en-US" sz="1200" i="1" kern="1200" dirty="0">
                <a:solidFill>
                  <a:schemeClr val="tx1"/>
                </a:solidFill>
                <a:effectLst/>
                <a:latin typeface="+mn-lt"/>
                <a:ea typeface="+mn-ea"/>
                <a:cs typeface="+mn-cs"/>
              </a:rPr>
              <a:t>- which was already being built from sketches that looked like a comic strip, with the action described on separate sheets.</a:t>
            </a:r>
          </a:p>
        </p:txBody>
      </p:sp>
      <p:sp>
        <p:nvSpPr>
          <p:cNvPr id="4" name="Slide Number Placeholder 3"/>
          <p:cNvSpPr>
            <a:spLocks noGrp="1"/>
          </p:cNvSpPr>
          <p:nvPr>
            <p:ph type="sldNum" sz="quarter" idx="10"/>
          </p:nvPr>
        </p:nvSpPr>
        <p:spPr/>
        <p:txBody>
          <a:bodyPr/>
          <a:lstStyle/>
          <a:p>
            <a:fld id="{1796D361-B4A4-4CC2-BE3E-6B169444DAA7}" type="slidenum">
              <a:rPr lang="en-US" smtClean="0"/>
              <a:t>6</a:t>
            </a:fld>
            <a:endParaRPr lang="en-US"/>
          </a:p>
        </p:txBody>
      </p:sp>
    </p:spTree>
    <p:extLst>
      <p:ext uri="{BB962C8B-B14F-4D97-AF65-F5344CB8AC3E}">
        <p14:creationId xmlns:p14="http://schemas.microsoft.com/office/powerpoint/2010/main" val="422765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After years of production, the long awaited release of Disney’s Snow White finally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established the storyboard as a successful practice</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Full feature length animation simply had not been done yet, and it was planning and coordination that made this possible.</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Once the animation studios proved it, live action took it up - but selectively.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For decades, live-action films only boarded the expensive parts</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effects, stunts, complex action.</a:t>
            </a:r>
          </a:p>
          <a:p>
            <a:pPr marL="0" marR="0">
              <a:lnSpc>
                <a:spcPct val="107000"/>
              </a:lnSpc>
              <a:spcBef>
                <a:spcPts val="0"/>
              </a:spcBef>
              <a:spcAft>
                <a:spcPts val="0"/>
              </a:spcAft>
            </a:pPr>
            <a:endPar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Citizen Kane was one of the famous early cases. </a:t>
            </a: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Hitchcock adopted storyboards early on.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He even said that </a:t>
            </a:r>
            <a:r>
              <a:rPr lang="en-US" sz="1200" i="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“he found the actual shooting boring </a:t>
            </a:r>
            <a:r>
              <a:rPr lang="en-US" sz="1200" b="1" i="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because the film was already finished in his head and on paper</a:t>
            </a:r>
            <a:r>
              <a:rPr lang="en-US" sz="1200" i="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t>
            </a:r>
          </a:p>
          <a:p>
            <a:pPr marL="0" marR="0">
              <a:lnSpc>
                <a:spcPct val="107000"/>
              </a:lnSpc>
              <a:spcBef>
                <a:spcPts val="0"/>
              </a:spcBef>
              <a:spcAft>
                <a:spcPts val="0"/>
              </a:spcAft>
            </a:pPr>
            <a:endPar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In “Psycho”, one of his most well known movies made famous by the famous shower/murder scene.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For that scene, his storyboard artist, Saul Bass drew 48 storyboard panels.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The finished scene is usually counted at around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78 camera setups </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and about </a:t>
            </a: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52 cuts</a:t>
            </a:r>
            <a: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 and it runs roughly 45 seconds. </a:t>
            </a:r>
            <a:br>
              <a:rPr lang="en-US" sz="1200"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br>
            <a:r>
              <a:rPr lang="en-US" sz="1200" b="1" dirty="0">
                <a:solidFill>
                  <a:srgbClr val="40403F"/>
                </a:solidFill>
                <a:effectLst/>
                <a:latin typeface="Helvetica" panose="020B0604020202020204" pitchFamily="34" charset="0"/>
                <a:ea typeface="Times New Roman" panose="02020603050405020304" pitchFamily="18" charset="0"/>
                <a:cs typeface="Times New Roman" panose="02020603050405020304" pitchFamily="18" charset="0"/>
              </a:rPr>
              <a:t>That is a lot of decisions for 45 seconds, and every one of them was made on paper first.</a:t>
            </a:r>
          </a:p>
        </p:txBody>
      </p:sp>
      <p:sp>
        <p:nvSpPr>
          <p:cNvPr id="4" name="Slide Number Placeholder 3"/>
          <p:cNvSpPr>
            <a:spLocks noGrp="1"/>
          </p:cNvSpPr>
          <p:nvPr>
            <p:ph type="sldNum" sz="quarter" idx="10"/>
          </p:nvPr>
        </p:nvSpPr>
        <p:spPr/>
        <p:txBody>
          <a:bodyPr/>
          <a:lstStyle/>
          <a:p>
            <a:fld id="{1796D361-B4A4-4CC2-BE3E-6B169444DAA7}" type="slidenum">
              <a:rPr lang="en-US" smtClean="0"/>
              <a:t>7</a:t>
            </a:fld>
            <a:endParaRPr lang="en-US"/>
          </a:p>
        </p:txBody>
      </p:sp>
    </p:spTree>
    <p:extLst>
      <p:ext uri="{BB962C8B-B14F-4D97-AF65-F5344CB8AC3E}">
        <p14:creationId xmlns:p14="http://schemas.microsoft.com/office/powerpoint/2010/main" val="2856109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Boards did not spread through the industry because they are an art form. </a:t>
            </a:r>
          </a:p>
          <a:p>
            <a:pPr latinLnBrk="1"/>
            <a:r>
              <a:rPr lang="en-US" sz="1200" kern="1200" dirty="0">
                <a:solidFill>
                  <a:schemeClr val="tx1"/>
                </a:solidFill>
                <a:effectLst/>
                <a:latin typeface="+mn-lt"/>
                <a:ea typeface="+mn-ea"/>
                <a:cs typeface="+mn-cs"/>
              </a:rPr>
              <a:t>They spread because a big film has several units shooting simultaneously in different places,</a:t>
            </a:r>
          </a:p>
          <a:p>
            <a:pPr latinLnBrk="1"/>
            <a:r>
              <a:rPr lang="en-US" sz="1200" kern="1200" dirty="0">
                <a:solidFill>
                  <a:schemeClr val="tx1"/>
                </a:solidFill>
                <a:effectLst/>
                <a:latin typeface="+mn-lt"/>
                <a:ea typeface="+mn-ea"/>
                <a:cs typeface="+mn-cs"/>
              </a:rPr>
              <a:t>and somebody has to guarantee that the footage will cut together. </a:t>
            </a:r>
          </a:p>
          <a:p>
            <a:pPr latinLnBrk="1"/>
            <a:r>
              <a:rPr lang="en-US" sz="1200" kern="1200" dirty="0">
                <a:solidFill>
                  <a:schemeClr val="tx1"/>
                </a:solidFill>
                <a:effectLst/>
                <a:latin typeface="+mn-lt"/>
                <a:ea typeface="+mn-ea"/>
                <a:cs typeface="+mn-cs"/>
              </a:rPr>
              <a:t>A board is the cheapest available guarantee - not because it is beautiful. </a:t>
            </a:r>
          </a:p>
          <a:p>
            <a:pPr latinLnBrk="1"/>
            <a:r>
              <a:rPr lang="en-US" sz="1200" kern="1200" dirty="0">
                <a:solidFill>
                  <a:schemeClr val="tx1"/>
                </a:solidFill>
                <a:effectLst/>
                <a:latin typeface="+mn-lt"/>
                <a:ea typeface="+mn-ea"/>
                <a:cs typeface="+mn-cs"/>
              </a:rPr>
              <a:t>Because it is cheaper than fixing it later,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because it keeps multiple people on the same page.</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you’ll see in either your animation or film programs – production is expensive.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Storyboards are one of the safe places to test out ideas before studios invest in them – </a:t>
            </a:r>
            <a:r>
              <a:rPr lang="en-US" sz="1200" b="1" kern="1200" dirty="0">
                <a:solidFill>
                  <a:schemeClr val="tx1"/>
                </a:solidFill>
                <a:effectLst/>
                <a:latin typeface="+mn-lt"/>
                <a:ea typeface="+mn-ea"/>
                <a:cs typeface="+mn-cs"/>
              </a:rPr>
              <a:t>MISTAKES are EXPENSIVE</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1796D361-B4A4-4CC2-BE3E-6B169444DAA7}" type="slidenum">
              <a:rPr lang="en-US" smtClean="0"/>
              <a:t>8</a:t>
            </a:fld>
            <a:endParaRPr lang="en-US"/>
          </a:p>
        </p:txBody>
      </p:sp>
    </p:spTree>
    <p:extLst>
      <p:ext uri="{BB962C8B-B14F-4D97-AF65-F5344CB8AC3E}">
        <p14:creationId xmlns:p14="http://schemas.microsoft.com/office/powerpoint/2010/main" val="3090424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Many of you might have seen this card before a movie - saying the film was modified.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how was it modified?</a:t>
            </a:r>
          </a:p>
          <a:p>
            <a:pPr latinLnBrk="1"/>
            <a:r>
              <a:rPr lang="en-US" sz="1200" kern="1200" dirty="0">
                <a:solidFill>
                  <a:schemeClr val="tx1"/>
                </a:solidFill>
                <a:effectLst/>
                <a:latin typeface="+mn-lt"/>
                <a:ea typeface="+mn-ea"/>
                <a:cs typeface="+mn-cs"/>
              </a:rPr>
              <a:t>The answer is that the shape was changed, and to change the shape somebody had to discard part of the frame so it would fit on the smaller screen.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Let’s take a look at how it got there.</a:t>
            </a:r>
          </a:p>
        </p:txBody>
      </p:sp>
      <p:sp>
        <p:nvSpPr>
          <p:cNvPr id="4" name="Slide Number Placeholder 3"/>
          <p:cNvSpPr>
            <a:spLocks noGrp="1"/>
          </p:cNvSpPr>
          <p:nvPr>
            <p:ph type="sldNum" sz="quarter" idx="10"/>
          </p:nvPr>
        </p:nvSpPr>
        <p:spPr/>
        <p:txBody>
          <a:bodyPr/>
          <a:lstStyle/>
          <a:p>
            <a:fld id="{1796D361-B4A4-4CC2-BE3E-6B169444DAA7}" type="slidenum">
              <a:rPr lang="en-US" smtClean="0"/>
              <a:t>9</a:t>
            </a:fld>
            <a:endParaRPr lang="en-US"/>
          </a:p>
        </p:txBody>
      </p:sp>
    </p:spTree>
    <p:extLst>
      <p:ext uri="{BB962C8B-B14F-4D97-AF65-F5344CB8AC3E}">
        <p14:creationId xmlns:p14="http://schemas.microsoft.com/office/powerpoint/2010/main" val="140869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b="1" kern="1200" dirty="0">
                <a:solidFill>
                  <a:schemeClr val="tx1"/>
                </a:solidFill>
                <a:effectLst/>
                <a:latin typeface="+mn-lt"/>
                <a:ea typeface="+mn-ea"/>
                <a:cs typeface="+mn-cs"/>
              </a:rPr>
              <a:t>An aspect ratio is a proportion</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first number is the width, the second is the height,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 height is almost always normalised to 1.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1.85:1 is a rectangle 1.85 units wide and 1 unit tall.</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It is a </a:t>
            </a:r>
            <a:r>
              <a:rPr lang="en-US" sz="1200" b="1" kern="1200" dirty="0">
                <a:solidFill>
                  <a:schemeClr val="tx1"/>
                </a:solidFill>
                <a:effectLst/>
                <a:latin typeface="+mn-lt"/>
                <a:ea typeface="+mn-ea"/>
                <a:cs typeface="+mn-cs"/>
              </a:rPr>
              <a:t>SHAPE</a:t>
            </a:r>
            <a:r>
              <a:rPr lang="en-US" sz="1200" kern="1200" dirty="0">
                <a:solidFill>
                  <a:schemeClr val="tx1"/>
                </a:solidFill>
                <a:effectLst/>
                <a:latin typeface="+mn-lt"/>
                <a:ea typeface="+mn-ea"/>
                <a:cs typeface="+mn-cs"/>
              </a:rPr>
              <a:t>, not a </a:t>
            </a:r>
            <a:r>
              <a:rPr lang="en-US" sz="1200" b="1" kern="1200" dirty="0">
                <a:solidFill>
                  <a:schemeClr val="tx1"/>
                </a:solidFill>
                <a:effectLst/>
                <a:latin typeface="+mn-lt"/>
                <a:ea typeface="+mn-ea"/>
                <a:cs typeface="+mn-cs"/>
              </a:rPr>
              <a:t>SIZE</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Scaling a frame up or down does not change its aspect ratio.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1.85:1 image is the same shape on a phone as it is on an IMAX screen</a:t>
            </a:r>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and a panel you draw at four inches tall is the same shape as the projected image.</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This is really important before starting your storyboards – know the size of the media that it’s going to be shot/animated in. </a:t>
            </a:r>
          </a:p>
          <a:p>
            <a:pPr latinLnBrk="1"/>
            <a:r>
              <a:rPr lang="en-US" sz="1200" kern="1200" dirty="0">
                <a:solidFill>
                  <a:schemeClr val="tx1"/>
                </a:solidFill>
                <a:effectLst/>
                <a:latin typeface="+mn-lt"/>
                <a:ea typeface="+mn-ea"/>
                <a:cs typeface="+mn-cs"/>
              </a:rPr>
              <a:t>You are not drawing at the size of the film. You are drawing at the shape of it.</a:t>
            </a:r>
          </a:p>
        </p:txBody>
      </p:sp>
      <p:sp>
        <p:nvSpPr>
          <p:cNvPr id="4" name="Slide Number Placeholder 3"/>
          <p:cNvSpPr>
            <a:spLocks noGrp="1"/>
          </p:cNvSpPr>
          <p:nvPr>
            <p:ph type="sldNum" sz="quarter" idx="10"/>
          </p:nvPr>
        </p:nvSpPr>
        <p:spPr/>
        <p:txBody>
          <a:bodyPr/>
          <a:lstStyle/>
          <a:p>
            <a:fld id="{1796D361-B4A4-4CC2-BE3E-6B169444DAA7}" type="slidenum">
              <a:rPr lang="en-US" smtClean="0"/>
              <a:t>10</a:t>
            </a:fld>
            <a:endParaRPr lang="en-US"/>
          </a:p>
        </p:txBody>
      </p:sp>
    </p:spTree>
    <p:extLst>
      <p:ext uri="{BB962C8B-B14F-4D97-AF65-F5344CB8AC3E}">
        <p14:creationId xmlns:p14="http://schemas.microsoft.com/office/powerpoint/2010/main" val="805968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compositional decision you make is a decision about a relationship between something and an edge.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Headroom is a relationship to the top edge.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Lead room is a relationship to the leading edge.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rule-of-thirds intersection is a point defined entirely by where the edges are.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Change the shape and every one of those relationships moves. So if you draw twenty panels and then discover the ratio was wrong, you have not made a small error - you have composed twenty frames for a rectangle that does not exist.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cannot compose for a shape you have not chosen.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important for the artist to understand the compositional space they have to work with.</a:t>
            </a:r>
          </a:p>
        </p:txBody>
      </p:sp>
      <p:sp>
        <p:nvSpPr>
          <p:cNvPr id="4" name="Slide Number Placeholder 3"/>
          <p:cNvSpPr>
            <a:spLocks noGrp="1"/>
          </p:cNvSpPr>
          <p:nvPr>
            <p:ph type="sldNum" sz="quarter" idx="10"/>
          </p:nvPr>
        </p:nvSpPr>
        <p:spPr/>
        <p:txBody>
          <a:bodyPr/>
          <a:lstStyle/>
          <a:p>
            <a:fld id="{1796D361-B4A4-4CC2-BE3E-6B169444DAA7}" type="slidenum">
              <a:rPr lang="en-US" smtClean="0"/>
              <a:t>11</a:t>
            </a:fld>
            <a:endParaRPr lang="en-US"/>
          </a:p>
        </p:txBody>
      </p:sp>
    </p:spTree>
    <p:extLst>
      <p:ext uri="{BB962C8B-B14F-4D97-AF65-F5344CB8AC3E}">
        <p14:creationId xmlns:p14="http://schemas.microsoft.com/office/powerpoint/2010/main" val="1039910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i="1" kern="1200" dirty="0">
                <a:solidFill>
                  <a:schemeClr val="tx1"/>
                </a:solidFill>
                <a:effectLst/>
                <a:latin typeface="+mn-lt"/>
                <a:ea typeface="+mn-ea"/>
                <a:cs typeface="+mn-cs"/>
              </a:rPr>
              <a:t>*Note – this slide is not the 1.33 aspect ratio, but the film is.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1.33:1 is not a designed choice. When film appeared it assumed the aspect ratio of the 35mm camera.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was what existed, and people just adopted it. </a:t>
            </a:r>
          </a:p>
          <a:p>
            <a:pPr latinLnBrk="1"/>
            <a:r>
              <a:rPr lang="en-US" sz="1200" kern="1200" dirty="0">
                <a:solidFill>
                  <a:schemeClr val="tx1"/>
                </a:solidFill>
                <a:effectLst/>
                <a:latin typeface="+mn-lt"/>
                <a:ea typeface="+mn-ea"/>
                <a:cs typeface="+mn-cs"/>
              </a:rPr>
              <a:t>The shape of nearly every film for thirty-five years was determined by a piece of hardware.</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Four wide by three tall - which is why you will also see it written 4:3, and why it is the same shape as an old television and an old computer monitor.</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This ratio is the one television is going to take.</a:t>
            </a:r>
          </a:p>
        </p:txBody>
      </p:sp>
      <p:sp>
        <p:nvSpPr>
          <p:cNvPr id="4" name="Slide Number Placeholder 3"/>
          <p:cNvSpPr>
            <a:spLocks noGrp="1"/>
          </p:cNvSpPr>
          <p:nvPr>
            <p:ph type="sldNum" sz="quarter" idx="10"/>
          </p:nvPr>
        </p:nvSpPr>
        <p:spPr/>
        <p:txBody>
          <a:bodyPr/>
          <a:lstStyle/>
          <a:p>
            <a:fld id="{1796D361-B4A4-4CC2-BE3E-6B169444DAA7}" type="slidenum">
              <a:rPr lang="en-US" smtClean="0"/>
              <a:t>12</a:t>
            </a:fld>
            <a:endParaRPr lang="en-US"/>
          </a:p>
        </p:txBody>
      </p:sp>
    </p:spTree>
    <p:extLst>
      <p:ext uri="{BB962C8B-B14F-4D97-AF65-F5344CB8AC3E}">
        <p14:creationId xmlns:p14="http://schemas.microsoft.com/office/powerpoint/2010/main" val="2199784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When sound came into films, the soundtrack was printed optically down the side of the film.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had to go somewhere, and where it went was into the picture.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narrowed the image and left a frame of roughly 1.19:1 - nearly square.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People thought it looked bad.</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So in 1932 the Academy standardised a fix: shave the frame height, restore a sensible proportion, and call it </a:t>
            </a:r>
            <a:r>
              <a:rPr lang="en-US" sz="1200" b="1" kern="1200" dirty="0">
                <a:solidFill>
                  <a:schemeClr val="tx1"/>
                </a:solidFill>
                <a:effectLst/>
                <a:latin typeface="+mn-lt"/>
                <a:ea typeface="+mn-ea"/>
                <a:cs typeface="+mn-cs"/>
              </a:rPr>
              <a:t>1.37:1</a:t>
            </a:r>
            <a:r>
              <a:rPr lang="en-US" sz="1200" kern="1200" dirty="0">
                <a:solidFill>
                  <a:schemeClr val="tx1"/>
                </a:solidFill>
                <a:effectLst/>
                <a:latin typeface="+mn-lt"/>
                <a:ea typeface="+mn-ea"/>
                <a:cs typeface="+mn-cs"/>
              </a:rPr>
              <a:t>. </a:t>
            </a:r>
          </a:p>
          <a:p>
            <a:pPr latinLnBrk="1"/>
            <a:r>
              <a:rPr lang="en-US" sz="1200" b="1" kern="1200" dirty="0">
                <a:solidFill>
                  <a:schemeClr val="tx1"/>
                </a:solidFill>
                <a:effectLst/>
                <a:latin typeface="+mn-lt"/>
                <a:ea typeface="+mn-ea"/>
                <a:cs typeface="+mn-cs"/>
              </a:rPr>
              <a:t>Close enough to the old 1.33</a:t>
            </a:r>
            <a:r>
              <a:rPr lang="en-US" sz="1200" kern="1200" dirty="0">
                <a:solidFill>
                  <a:schemeClr val="tx1"/>
                </a:solidFill>
                <a:effectLst/>
                <a:latin typeface="+mn-lt"/>
                <a:ea typeface="+mn-ea"/>
                <a:cs typeface="+mn-cs"/>
              </a:rPr>
              <a:t> that it didn’t require too much adaptation.</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What’s interesting to point out here: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shape of every film for the next twenty years was set by where they decided to put the audio.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(much in the same way that the original </a:t>
            </a:r>
            <a:r>
              <a:rPr lang="en-US" sz="1200" kern="1200" dirty="0" err="1">
                <a:solidFill>
                  <a:schemeClr val="tx1"/>
                </a:solidFill>
                <a:effectLst/>
                <a:latin typeface="+mn-lt"/>
                <a:ea typeface="+mn-ea"/>
                <a:cs typeface="+mn-cs"/>
              </a:rPr>
              <a:t>aspec</a:t>
            </a:r>
            <a:r>
              <a:rPr lang="en-US" sz="1200" kern="1200" dirty="0">
                <a:solidFill>
                  <a:schemeClr val="tx1"/>
                </a:solidFill>
                <a:effectLst/>
                <a:latin typeface="+mn-lt"/>
                <a:ea typeface="+mn-ea"/>
                <a:cs typeface="+mn-cs"/>
              </a:rPr>
              <a:t> ratio was inherited from the still camera)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storytelling format changed because of an engineering constraint.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working with media, this is going to happen a lot. It is happening right now with your phones.</a:t>
            </a:r>
          </a:p>
        </p:txBody>
      </p:sp>
      <p:sp>
        <p:nvSpPr>
          <p:cNvPr id="4" name="Slide Number Placeholder 3"/>
          <p:cNvSpPr>
            <a:spLocks noGrp="1"/>
          </p:cNvSpPr>
          <p:nvPr>
            <p:ph type="sldNum" sz="quarter" idx="10"/>
          </p:nvPr>
        </p:nvSpPr>
        <p:spPr/>
        <p:txBody>
          <a:bodyPr/>
          <a:lstStyle/>
          <a:p>
            <a:fld id="{1796D361-B4A4-4CC2-BE3E-6B169444DAA7}" type="slidenum">
              <a:rPr lang="en-US" smtClean="0"/>
              <a:t>13</a:t>
            </a:fld>
            <a:endParaRPr lang="en-US"/>
          </a:p>
        </p:txBody>
      </p:sp>
    </p:spTree>
    <p:extLst>
      <p:ext uri="{BB962C8B-B14F-4D97-AF65-F5344CB8AC3E}">
        <p14:creationId xmlns:p14="http://schemas.microsoft.com/office/powerpoint/2010/main" val="3179817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1930’s there was a culture of going to movies.</a:t>
            </a:r>
            <a:br>
              <a:rPr lang="en-US" sz="1200" i="1" kern="1200" dirty="0">
                <a:solidFill>
                  <a:schemeClr val="tx1"/>
                </a:solidFill>
                <a:effectLst/>
                <a:latin typeface="+mn-lt"/>
                <a:ea typeface="+mn-ea"/>
                <a:cs typeface="+mn-cs"/>
              </a:rPr>
            </a:br>
            <a:r>
              <a:rPr lang="en-US" sz="1200" i="1" kern="1200" dirty="0">
                <a:solidFill>
                  <a:schemeClr val="tx1"/>
                </a:solidFill>
                <a:effectLst/>
                <a:latin typeface="+mn-lt"/>
                <a:ea typeface="+mn-ea"/>
                <a:cs typeface="+mn-cs"/>
              </a:rPr>
              <a:t>(cite the Captain America / Bucky scene from first film if you want)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around 100 million tickets a week at the end of the 1920s, in a country of about 123 million people.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That is not a hobby, it is a habit - closer to what television became than to what cinema is now.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Attendance stayed enormous through the war - </a:t>
            </a:r>
            <a:r>
              <a:rPr lang="en-US" sz="1200" b="1" kern="1200" dirty="0">
                <a:solidFill>
                  <a:schemeClr val="tx1"/>
                </a:solidFill>
                <a:effectLst/>
                <a:latin typeface="+mn-lt"/>
                <a:ea typeface="+mn-ea"/>
                <a:cs typeface="+mn-cs"/>
              </a:rPr>
              <a:t>about 90 million a week in 1946</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something arrives in the living room.</a:t>
            </a:r>
          </a:p>
        </p:txBody>
      </p:sp>
      <p:sp>
        <p:nvSpPr>
          <p:cNvPr id="4" name="Slide Number Placeholder 3"/>
          <p:cNvSpPr>
            <a:spLocks noGrp="1"/>
          </p:cNvSpPr>
          <p:nvPr>
            <p:ph type="sldNum" sz="quarter" idx="10"/>
          </p:nvPr>
        </p:nvSpPr>
        <p:spPr/>
        <p:txBody>
          <a:bodyPr/>
          <a:lstStyle/>
          <a:p>
            <a:fld id="{1796D361-B4A4-4CC2-BE3E-6B169444DAA7}" type="slidenum">
              <a:rPr lang="en-US" smtClean="0"/>
              <a:t>14</a:t>
            </a:fld>
            <a:endParaRPr lang="en-US"/>
          </a:p>
        </p:txBody>
      </p:sp>
    </p:spTree>
    <p:extLst>
      <p:ext uri="{BB962C8B-B14F-4D97-AF65-F5344CB8AC3E}">
        <p14:creationId xmlns:p14="http://schemas.microsoft.com/office/powerpoint/2010/main" val="302341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In the same way that film got its aspect ratio from the 35mm camera, so did Television when it came around, adopting the format of theater films.</a:t>
            </a:r>
            <a:br>
              <a:rPr lang="en-US" dirty="0"/>
            </a:br>
            <a:endParaRPr lang="en-US" dirty="0"/>
          </a:p>
          <a:p>
            <a:r>
              <a:rPr lang="en-US" dirty="0"/>
              <a:t>TV did not compete with the movies on content, at least not at first - early TV was mostly cheap and live. </a:t>
            </a:r>
            <a:br>
              <a:rPr lang="en-US" dirty="0"/>
            </a:br>
            <a:r>
              <a:rPr lang="en-US" dirty="0"/>
              <a:t>It competed on convenience, and, crucially, it competed in the identical shape. </a:t>
            </a:r>
            <a:br>
              <a:rPr lang="en-US" dirty="0"/>
            </a:br>
            <a:r>
              <a:rPr lang="en-US" dirty="0"/>
              <a:t>A broadcast picture was 1.33:1, the same rectangle audiences had been watching in theatres since the 1890s.</a:t>
            </a:r>
          </a:p>
          <a:p>
            <a:endParaRPr lang="en-US" dirty="0"/>
          </a:p>
          <a:p>
            <a:r>
              <a:rPr lang="en-US" dirty="0"/>
              <a:t>So in other words, </a:t>
            </a:r>
            <a:r>
              <a:rPr lang="en-US" b="1" dirty="0"/>
              <a:t>you’re getting the same experience you’re getting in the theater at home – for free…</a:t>
            </a:r>
          </a:p>
          <a:p>
            <a:endParaRPr lang="en-US" dirty="0"/>
          </a:p>
          <a:p>
            <a:r>
              <a:rPr lang="en-US" dirty="0"/>
              <a:t>So naturally, this is going to have a big effect on the industry and what happens afterwards. </a:t>
            </a:r>
          </a:p>
          <a:p>
            <a:r>
              <a:rPr lang="en-US" dirty="0"/>
              <a:t>Hollywood could not compete on price and it could not compete on convenience.</a:t>
            </a:r>
            <a:br>
              <a:rPr lang="en-US" dirty="0"/>
            </a:br>
            <a:r>
              <a:rPr lang="en-US" dirty="0"/>
              <a:t>So they had to build bigger, better.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it started at 100 million a week, then 90, then 60, then 45, then 20.</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Eighty percent of the audience gone in forty years.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By 1960 there is a television in about nine out of ten American homes.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is close to total saturation inside a single generation.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Hollywood needed desperately to offer something a television cannot do.</a:t>
            </a:r>
          </a:p>
        </p:txBody>
      </p:sp>
      <p:sp>
        <p:nvSpPr>
          <p:cNvPr id="4" name="Slide Number Placeholder 3"/>
          <p:cNvSpPr>
            <a:spLocks noGrp="1"/>
          </p:cNvSpPr>
          <p:nvPr>
            <p:ph type="sldNum" sz="quarter" idx="10"/>
          </p:nvPr>
        </p:nvSpPr>
        <p:spPr/>
        <p:txBody>
          <a:bodyPr/>
          <a:lstStyle/>
          <a:p>
            <a:fld id="{1796D361-B4A4-4CC2-BE3E-6B169444DAA7}" type="slidenum">
              <a:rPr lang="en-US" smtClean="0"/>
              <a:t>16</a:t>
            </a:fld>
            <a:endParaRPr lang="en-US"/>
          </a:p>
        </p:txBody>
      </p:sp>
    </p:spTree>
    <p:extLst>
      <p:ext uri="{BB962C8B-B14F-4D97-AF65-F5344CB8AC3E}">
        <p14:creationId xmlns:p14="http://schemas.microsoft.com/office/powerpoint/2010/main" val="2052045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Cinerama is the maximalist answer: if a television cannot be wide, be enormously wide.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Three synchronised cameras shooting side by side, three projectors throwing onto a deeply curved screen that wrapped past the edge of your peripheral vision. About 2.6:1 overall.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opening film was not a story. It was a demonstration, and the first sequence was a roller coaster shot from the front car.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People screamed and some of them were sick. That was the selling point: your television cannot do this to you. (much like some of the VR that’s being pushed today)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died of economics.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theatre needed three projectors, three operators in sync, and a new screen.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you could see the two vertical seams where the panels met.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technically spectacular format loses to the cheap one that is nearly as good. It happens again with 3D, twice.</a:t>
            </a:r>
          </a:p>
        </p:txBody>
      </p:sp>
      <p:sp>
        <p:nvSpPr>
          <p:cNvPr id="4" name="Slide Number Placeholder 3"/>
          <p:cNvSpPr>
            <a:spLocks noGrp="1"/>
          </p:cNvSpPr>
          <p:nvPr>
            <p:ph type="sldNum" sz="quarter" idx="10"/>
          </p:nvPr>
        </p:nvSpPr>
        <p:spPr/>
        <p:txBody>
          <a:bodyPr/>
          <a:lstStyle/>
          <a:p>
            <a:fld id="{1796D361-B4A4-4CC2-BE3E-6B169444DAA7}" type="slidenum">
              <a:rPr lang="en-US" smtClean="0"/>
              <a:t>17</a:t>
            </a:fld>
            <a:endParaRPr lang="en-US"/>
          </a:p>
        </p:txBody>
      </p:sp>
    </p:spTree>
    <p:extLst>
      <p:ext uri="{BB962C8B-B14F-4D97-AF65-F5344CB8AC3E}">
        <p14:creationId xmlns:p14="http://schemas.microsoft.com/office/powerpoint/2010/main" val="1391387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Cinerama needed new cameras, new projectors and a new screen.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CinemaScope needed two pieces of glass.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 anamorphic lens optically squeezes a wide field of view onto a standard 35mm frame - everything looks tall and thin on the negative.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matching lens on the projector stretches it back out.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Same film stock. Same projector body. Same theatre. Two lenses.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That is the difference between a format that dies in five years and a format that is still in use seventy years later.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Robe was the first feature out, in 1953. Lady and the Tramp is the one worth naming for this room - the first animated feature made in the format, which meant Disney's board artists had to learn to compose for a shape more than twice as wide as tall, having spent twenty years in 1.37.</a:t>
            </a:r>
          </a:p>
        </p:txBody>
      </p:sp>
      <p:sp>
        <p:nvSpPr>
          <p:cNvPr id="4" name="Slide Number Placeholder 3"/>
          <p:cNvSpPr>
            <a:spLocks noGrp="1"/>
          </p:cNvSpPr>
          <p:nvPr>
            <p:ph type="sldNum" sz="quarter" idx="10"/>
          </p:nvPr>
        </p:nvSpPr>
        <p:spPr/>
        <p:txBody>
          <a:bodyPr/>
          <a:lstStyle/>
          <a:p>
            <a:fld id="{1796D361-B4A4-4CC2-BE3E-6B169444DAA7}" type="slidenum">
              <a:rPr lang="en-US" smtClean="0"/>
              <a:t>18</a:t>
            </a:fld>
            <a:endParaRPr lang="en-US"/>
          </a:p>
        </p:txBody>
      </p:sp>
    </p:spTree>
    <p:extLst>
      <p:ext uri="{BB962C8B-B14F-4D97-AF65-F5344CB8AC3E}">
        <p14:creationId xmlns:p14="http://schemas.microsoft.com/office/powerpoint/2010/main" val="334877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CinemaScope's lenses had real problems.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Faces near the edge of frame stretched, and there was a focus artefact bad enough that cinematographers called it the CinemaScope mumps.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Panavision built better anamorphics, licensed them, and took the market.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name survives as a rental house that is still supplying anamorphic lenses today.</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anamorphic standard was </a:t>
            </a:r>
            <a:r>
              <a:rPr lang="en-US" sz="1200" b="1" kern="1200" dirty="0">
                <a:solidFill>
                  <a:schemeClr val="tx1"/>
                </a:solidFill>
                <a:effectLst/>
                <a:latin typeface="+mn-lt"/>
                <a:ea typeface="+mn-ea"/>
                <a:cs typeface="+mn-cs"/>
              </a:rPr>
              <a:t>2.35:1 </a:t>
            </a:r>
            <a:r>
              <a:rPr lang="en-US" sz="1200" kern="1200" dirty="0">
                <a:solidFill>
                  <a:schemeClr val="tx1"/>
                </a:solidFill>
                <a:effectLst/>
                <a:latin typeface="+mn-lt"/>
                <a:ea typeface="+mn-ea"/>
                <a:cs typeface="+mn-cs"/>
              </a:rPr>
              <a:t>until 1970, when a change to the projection aperture made it </a:t>
            </a:r>
            <a:r>
              <a:rPr lang="en-US" sz="1200" b="1" kern="1200" dirty="0">
                <a:solidFill>
                  <a:schemeClr val="tx1"/>
                </a:solidFill>
                <a:effectLst/>
                <a:latin typeface="+mn-lt"/>
                <a:ea typeface="+mn-ea"/>
                <a:cs typeface="+mn-cs"/>
              </a:rPr>
              <a:t>2.39:1</a:t>
            </a:r>
            <a:r>
              <a:rPr lang="en-US" sz="1200" kern="1200" dirty="0">
                <a:solidFill>
                  <a:schemeClr val="tx1"/>
                </a:solidFill>
                <a:effectLst/>
                <a:latin typeface="+mn-lt"/>
                <a:ea typeface="+mn-ea"/>
                <a:cs typeface="+mn-cs"/>
              </a:rPr>
              <a:t>. Films from before 1970 are genuinely 2.35; films after are 2.39. Almost everyone in the industry still says two-three-five for both. If you write 2.39 on a modern project you are correct, and if a supervisor says 2.35 they mean the same thing.</a:t>
            </a:r>
          </a:p>
        </p:txBody>
      </p:sp>
      <p:sp>
        <p:nvSpPr>
          <p:cNvPr id="4" name="Slide Number Placeholder 3"/>
          <p:cNvSpPr>
            <a:spLocks noGrp="1"/>
          </p:cNvSpPr>
          <p:nvPr>
            <p:ph type="sldNum" sz="quarter" idx="10"/>
          </p:nvPr>
        </p:nvSpPr>
        <p:spPr/>
        <p:txBody>
          <a:bodyPr/>
          <a:lstStyle/>
          <a:p>
            <a:fld id="{1796D361-B4A4-4CC2-BE3E-6B169444DAA7}" type="slidenum">
              <a:rPr lang="en-US" smtClean="0"/>
              <a:t>19</a:t>
            </a:fld>
            <a:endParaRPr lang="en-US"/>
          </a:p>
        </p:txBody>
      </p:sp>
    </p:spTree>
    <p:extLst>
      <p:ext uri="{BB962C8B-B14F-4D97-AF65-F5344CB8AC3E}">
        <p14:creationId xmlns:p14="http://schemas.microsoft.com/office/powerpoint/2010/main" val="2427941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two images in this slide are the same height and different widths, which is the entire point.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1.85 </a:t>
            </a:r>
            <a:r>
              <a:rPr lang="en-US" sz="1200" kern="1200" dirty="0">
                <a:solidFill>
                  <a:schemeClr val="tx1"/>
                </a:solidFill>
                <a:effectLst/>
                <a:latin typeface="+mn-lt"/>
                <a:ea typeface="+mn-ea"/>
                <a:cs typeface="+mn-cs"/>
              </a:rPr>
              <a:t>is the most widely used in films. Comedy, drama, most animated features, most of what you will ever be asked to board.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2.39</a:t>
            </a:r>
            <a:r>
              <a:rPr lang="en-US" sz="1200" kern="1200" dirty="0">
                <a:solidFill>
                  <a:schemeClr val="tx1"/>
                </a:solidFill>
                <a:effectLst/>
                <a:latin typeface="+mn-lt"/>
                <a:ea typeface="+mn-ea"/>
                <a:cs typeface="+mn-cs"/>
              </a:rPr>
              <a:t> is the wider format. It changes what is possible in a single frame.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great for stretching out landscapes and making things look epic. 2.39 is not so good with tall things - staircases, towers, anyone standing up quickly.</a:t>
            </a:r>
          </a:p>
        </p:txBody>
      </p:sp>
      <p:sp>
        <p:nvSpPr>
          <p:cNvPr id="4" name="Slide Number Placeholder 3"/>
          <p:cNvSpPr>
            <a:spLocks noGrp="1"/>
          </p:cNvSpPr>
          <p:nvPr>
            <p:ph type="sldNum" sz="quarter" idx="10"/>
          </p:nvPr>
        </p:nvSpPr>
        <p:spPr/>
        <p:txBody>
          <a:bodyPr/>
          <a:lstStyle/>
          <a:p>
            <a:fld id="{1796D361-B4A4-4CC2-BE3E-6B169444DAA7}" type="slidenum">
              <a:rPr lang="en-US" smtClean="0"/>
              <a:t>20</a:t>
            </a:fld>
            <a:endParaRPr lang="en-US"/>
          </a:p>
        </p:txBody>
      </p:sp>
    </p:spTree>
    <p:extLst>
      <p:ext uri="{BB962C8B-B14F-4D97-AF65-F5344CB8AC3E}">
        <p14:creationId xmlns:p14="http://schemas.microsoft.com/office/powerpoint/2010/main" val="2965951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happens when we want to watch a wide screen movie on a smaller screen?</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have an image that is much wider than the screen it now has to live 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two ways you can adapt them.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throw away the parts that do not fit,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you can scale down the whole image until it does, and accept empty space above and below.</a:t>
            </a:r>
          </a:p>
        </p:txBody>
      </p:sp>
      <p:sp>
        <p:nvSpPr>
          <p:cNvPr id="4" name="Slide Number Placeholder 3"/>
          <p:cNvSpPr>
            <a:spLocks noGrp="1"/>
          </p:cNvSpPr>
          <p:nvPr>
            <p:ph type="sldNum" sz="quarter" idx="10"/>
          </p:nvPr>
        </p:nvSpPr>
        <p:spPr/>
        <p:txBody>
          <a:bodyPr/>
          <a:lstStyle/>
          <a:p>
            <a:fld id="{1796D361-B4A4-4CC2-BE3E-6B169444DAA7}" type="slidenum">
              <a:rPr lang="en-US" smtClean="0"/>
              <a:t>21</a:t>
            </a:fld>
            <a:endParaRPr lang="en-US"/>
          </a:p>
        </p:txBody>
      </p:sp>
    </p:spTree>
    <p:extLst>
      <p:ext uri="{BB962C8B-B14F-4D97-AF65-F5344CB8AC3E}">
        <p14:creationId xmlns:p14="http://schemas.microsoft.com/office/powerpoint/2010/main" val="1859353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Pan and scan works exactly as described: an operator watches the film,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decides where the important thing is in each shot, and crops a smaller format’s window around it.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When the important thing moves, or when the film cuts between two people at opposite edges, the window slides across - which invents a camera move that was never shot.</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Pan and scan can add camera movement to a locked-off shot.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can turn a single composition holding two actors into what looks like a cut between them.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was not done out of malice. It filled the screen, and audiences at home preferred a full screen. But the person making those decisions was a technician on a deadline, not the director, and </a:t>
            </a:r>
            <a:r>
              <a:rPr lang="en-US" sz="1200" b="1" kern="1200" dirty="0">
                <a:solidFill>
                  <a:schemeClr val="tx1"/>
                </a:solidFill>
                <a:effectLst/>
                <a:latin typeface="+mn-lt"/>
                <a:ea typeface="+mn-ea"/>
                <a:cs typeface="+mn-cs"/>
              </a:rPr>
              <a:t>they were making a compositional decision in every single shot of the film</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1796D361-B4A4-4CC2-BE3E-6B169444DAA7}" type="slidenum">
              <a:rPr lang="en-US" smtClean="0"/>
              <a:t>22</a:t>
            </a:fld>
            <a:endParaRPr lang="en-US"/>
          </a:p>
        </p:txBody>
      </p:sp>
    </p:spTree>
    <p:extLst>
      <p:ext uri="{BB962C8B-B14F-4D97-AF65-F5344CB8AC3E}">
        <p14:creationId xmlns:p14="http://schemas.microsoft.com/office/powerpoint/2010/main" val="2072088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Going from 1.85 to 1.33 you keep 1.33 of 1.85 - about 72%,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lose 28 percent of the width.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From 2.35 you keep 1.33 of 2.35, which is 57%: you lose 43 percent. </a:t>
            </a:r>
            <a:r>
              <a:rPr lang="en-US" sz="1200" b="1" kern="1200" dirty="0">
                <a:solidFill>
                  <a:schemeClr val="tx1"/>
                </a:solidFill>
                <a:effectLst/>
                <a:latin typeface="+mn-lt"/>
                <a:ea typeface="+mn-ea"/>
                <a:cs typeface="+mn-cs"/>
              </a:rPr>
              <a:t>Nearly half the picture</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Someone composed that frame on purpose and somebody else re-composed it later, for a rectangle it was never made for.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23</a:t>
            </a:fld>
            <a:endParaRPr lang="en-US"/>
          </a:p>
        </p:txBody>
      </p:sp>
    </p:spTree>
    <p:extLst>
      <p:ext uri="{BB962C8B-B14F-4D97-AF65-F5344CB8AC3E}">
        <p14:creationId xmlns:p14="http://schemas.microsoft.com/office/powerpoint/2010/main" val="36643256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Letterboxing is the opposite trade.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Instead of discarding picture to fill the screen, you preserve the whole picture and give up screen.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was unpopular for years. People had paid for a big television and felt cheated by the empty strips. Video labels who released letterboxed editions had to put explanations on the packaging.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Directors pushed hard for it anyway, and eventually won – </a:t>
            </a:r>
          </a:p>
          <a:p>
            <a:r>
              <a:rPr lang="en-US" sz="1200" kern="1200" dirty="0">
                <a:solidFill>
                  <a:schemeClr val="tx1"/>
                </a:solidFill>
                <a:effectLst/>
                <a:latin typeface="+mn-lt"/>
                <a:ea typeface="+mn-ea"/>
                <a:cs typeface="+mn-cs"/>
              </a:rPr>
              <a:t>helped enormously by widescreen sets arriving, which made the bars smaller and the argument easier.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bars are not a defect and they are not a border. With Letterboxing, you get the whole picture as the director intended, just scaled down. </a:t>
            </a:r>
          </a:p>
        </p:txBody>
      </p:sp>
      <p:sp>
        <p:nvSpPr>
          <p:cNvPr id="4" name="Slide Number Placeholder 3"/>
          <p:cNvSpPr>
            <a:spLocks noGrp="1"/>
          </p:cNvSpPr>
          <p:nvPr>
            <p:ph type="sldNum" sz="quarter" idx="10"/>
          </p:nvPr>
        </p:nvSpPr>
        <p:spPr/>
        <p:txBody>
          <a:bodyPr/>
          <a:lstStyle/>
          <a:p>
            <a:fld id="{1796D361-B4A4-4CC2-BE3E-6B169444DAA7}" type="slidenum">
              <a:rPr lang="en-US" smtClean="0"/>
              <a:t>24</a:t>
            </a:fld>
            <a:endParaRPr lang="en-US"/>
          </a:p>
        </p:txBody>
      </p:sp>
    </p:spTree>
    <p:extLst>
      <p:ext uri="{BB962C8B-B14F-4D97-AF65-F5344CB8AC3E}">
        <p14:creationId xmlns:p14="http://schemas.microsoft.com/office/powerpoint/2010/main" val="1339588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Cinema invents a shape. Television takes it.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Cinema changes shape to escape. Television takes that shape too, eventually.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At every step, somebody is deciding what happens to a picture composed for a different rectangle.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process never ended, it is still evolving. The screen your work gets watched on now is a phone held vertically, or a laptop, or an ultrawide monitor, or a television twice the size of the ones in this story.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 composition will be re-cropped by an algorithm instead of a technician.</a:t>
            </a:r>
          </a:p>
        </p:txBody>
      </p:sp>
      <p:sp>
        <p:nvSpPr>
          <p:cNvPr id="4" name="Slide Number Placeholder 3"/>
          <p:cNvSpPr>
            <a:spLocks noGrp="1"/>
          </p:cNvSpPr>
          <p:nvPr>
            <p:ph type="sldNum" sz="quarter" idx="10"/>
          </p:nvPr>
        </p:nvSpPr>
        <p:spPr/>
        <p:txBody>
          <a:bodyPr/>
          <a:lstStyle/>
          <a:p>
            <a:fld id="{1796D361-B4A4-4CC2-BE3E-6B169444DAA7}" type="slidenum">
              <a:rPr lang="en-US" smtClean="0"/>
              <a:t>25</a:t>
            </a:fld>
            <a:endParaRPr lang="en-US"/>
          </a:p>
        </p:txBody>
      </p:sp>
    </p:spTree>
    <p:extLst>
      <p:ext uri="{BB962C8B-B14F-4D97-AF65-F5344CB8AC3E}">
        <p14:creationId xmlns:p14="http://schemas.microsoft.com/office/powerpoint/2010/main" val="1959395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16:9 is the negotiated settlement - close enough to 1.85 that a feature loses almost nothing, wide enough that television stopped being square. </a:t>
            </a:r>
          </a:p>
          <a:p>
            <a:r>
              <a:rPr lang="en-US" dirty="0"/>
              <a:t>It is not a natural shape. Nothing about it is natural. It is a compromise between two industries.</a:t>
            </a:r>
          </a:p>
          <a:p>
            <a:endParaRPr lang="en-US" dirty="0"/>
          </a:p>
          <a:p>
            <a:r>
              <a:rPr lang="en-US" dirty="0"/>
              <a:t>The genuinely new item on this list is vertical. 9:16 is not a crop of anything; it is a native delivery format with real money behind it, and it inverts almost every assumption in the shot vocabulary you are about to learn. You lose the horizontal, which means you lose most two-shots and most establishing shots. You gain stacking - foreground and background become the axis you compose along.</a:t>
            </a:r>
          </a:p>
          <a:p>
            <a:endParaRPr lang="en-US" dirty="0"/>
          </a:p>
          <a:p>
            <a:r>
              <a:rPr lang="en-US" b="1" dirty="0"/>
              <a:t>Your generation is the first to grow up composing for a vertical frame</a:t>
            </a:r>
            <a:r>
              <a:rPr lang="en-US" dirty="0"/>
              <a:t>, and almost everything written about composition assumes you are not.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the case where the mismatch problem is permanent rather than occasional.</a:t>
            </a:r>
          </a:p>
          <a:p>
            <a:endParaRPr lang="en-US" dirty="0"/>
          </a:p>
          <a:p>
            <a:r>
              <a:rPr lang="en-US" dirty="0"/>
              <a:t>A film is finished in one ratio and then adapted. </a:t>
            </a:r>
            <a:br>
              <a:rPr lang="en-US" dirty="0"/>
            </a:br>
            <a:r>
              <a:rPr lang="en-US" dirty="0"/>
              <a:t>A game ships into a hardware landscape where the player's aspect ratio is genuinely unknown and can change mid-session when they plug into a television.</a:t>
            </a:r>
          </a:p>
          <a:p>
            <a:endParaRPr lang="en-US" dirty="0"/>
          </a:p>
          <a:p>
            <a:r>
              <a:rPr lang="en-US" dirty="0"/>
              <a:t>So games solve it structurally: safe areas for anything that must be readable, interface anchored to the edges rather than laid out for one rectangle, cameras that adjust field of view by ratio. Cinematics get the film treatment; gameplay does not.</a:t>
            </a:r>
          </a:p>
          <a:p>
            <a:endParaRPr lang="en-US" dirty="0"/>
          </a:p>
          <a:p>
            <a:r>
              <a:rPr lang="en-US" dirty="0"/>
              <a:t>We will come back to this properly in the games </a:t>
            </a:r>
            <a:r>
              <a:rPr lang="en-US" b="1" i="1" dirty="0"/>
              <a:t>(or a future) </a:t>
            </a:r>
            <a:r>
              <a:rPr lang="en-US" dirty="0"/>
              <a:t>session. </a:t>
            </a:r>
            <a:br>
              <a:rPr lang="en-US" dirty="0"/>
            </a:br>
            <a:r>
              <a:rPr lang="en-US" dirty="0"/>
              <a:t>But for now, I just want to leave you with the takeaway that it is the same problem from 1953, but instead of a technician cropping the film, it’s now an algorithm.</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Aspect Ratios are a matter of aesthetic choice – there is no correct one.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two directions. </a:t>
            </a:r>
          </a:p>
          <a:p>
            <a:r>
              <a:rPr lang="en-US" sz="1200" kern="1200" dirty="0">
                <a:solidFill>
                  <a:schemeClr val="tx1"/>
                </a:solidFill>
                <a:effectLst/>
                <a:latin typeface="+mn-lt"/>
                <a:ea typeface="+mn-ea"/>
                <a:cs typeface="+mn-cs"/>
              </a:rPr>
              <a:t>Going out from a ratio to a size, you multiply. </a:t>
            </a:r>
          </a:p>
          <a:p>
            <a:r>
              <a:rPr lang="en-US" sz="1200" kern="1200" dirty="0">
                <a:solidFill>
                  <a:schemeClr val="tx1"/>
                </a:solidFill>
                <a:effectLst/>
                <a:latin typeface="+mn-lt"/>
                <a:ea typeface="+mn-ea"/>
                <a:cs typeface="+mn-cs"/>
              </a:rPr>
              <a:t>Going from a size back to a ratio, you divide.</a:t>
            </a:r>
          </a:p>
        </p:txBody>
      </p:sp>
      <p:sp>
        <p:nvSpPr>
          <p:cNvPr id="4" name="Slide Number Placeholder 3"/>
          <p:cNvSpPr>
            <a:spLocks noGrp="1"/>
          </p:cNvSpPr>
          <p:nvPr>
            <p:ph type="sldNum" sz="quarter" idx="10"/>
          </p:nvPr>
        </p:nvSpPr>
        <p:spPr/>
        <p:txBody>
          <a:bodyPr/>
          <a:lstStyle/>
          <a:p>
            <a:fld id="{1796D361-B4A4-4CC2-BE3E-6B169444DAA7}" type="slidenum">
              <a:rPr lang="en-US" smtClean="0"/>
              <a:t>29</a:t>
            </a:fld>
            <a:endParaRPr lang="en-US"/>
          </a:p>
        </p:txBody>
      </p:sp>
    </p:spTree>
    <p:extLst>
      <p:ext uri="{BB962C8B-B14F-4D97-AF65-F5344CB8AC3E}">
        <p14:creationId xmlns:p14="http://schemas.microsoft.com/office/powerpoint/2010/main" val="24174704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reverse direction, and the one you use when somebody hands you something and does not tell you what it is.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Measure the width, measure the height, divide. Width divided by height, always in that order - if you get a number below 1 you have done it upside down, unless the frame really is taller than it is wide, which now genuinely happens with vertical.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Worth mentioning: this is how you check a template you have been given rather than trusting its label. On a real production the label is sometimes wrong.</a:t>
            </a:r>
          </a:p>
        </p:txBody>
      </p:sp>
      <p:sp>
        <p:nvSpPr>
          <p:cNvPr id="4" name="Slide Number Placeholder 3"/>
          <p:cNvSpPr>
            <a:spLocks noGrp="1"/>
          </p:cNvSpPr>
          <p:nvPr>
            <p:ph type="sldNum" sz="quarter" idx="10"/>
          </p:nvPr>
        </p:nvSpPr>
        <p:spPr/>
        <p:txBody>
          <a:bodyPr/>
          <a:lstStyle/>
          <a:p>
            <a:fld id="{1796D361-B4A4-4CC2-BE3E-6B169444DAA7}" type="slidenum">
              <a:rPr lang="en-US" smtClean="0"/>
              <a:t>31</a:t>
            </a:fld>
            <a:endParaRPr lang="en-US"/>
          </a:p>
        </p:txBody>
      </p:sp>
    </p:spTree>
    <p:extLst>
      <p:ext uri="{BB962C8B-B14F-4D97-AF65-F5344CB8AC3E}">
        <p14:creationId xmlns:p14="http://schemas.microsoft.com/office/powerpoint/2010/main" val="2506197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table is a reference, not something to memorise. Say that explicitly or somebody will try to learn it.</a:t>
            </a:r>
          </a:p>
          <a:p>
            <a:endParaRPr lang="en-US" dirty="0"/>
          </a:p>
          <a:p>
            <a:r>
              <a:rPr lang="en-US" dirty="0"/>
              <a:t>What they need is the ability to produce any row of it with a calculator in about ten seconds. The table is here so that during the build they can check themselves without putting a hand up.</a:t>
            </a:r>
          </a:p>
          <a:p>
            <a:endParaRPr lang="en-US" dirty="0"/>
          </a:p>
          <a:p>
            <a:r>
              <a:rPr lang="en-US" dirty="0"/>
              <a:t>Two things to point out. First, look down the 2.39 column - at five inches tall it is nearly twelve inches wide, which does not fit on a sheet of paper with any margin. That is a real constraint and it is why panel height gets chosen first. Second, notice 1.78 and 1.85 are almost the same number. They are not the same shape, and on a real production using one where the other was specified is a genuine error, but they are close enough that eyeballing will not catch it. Which is the argument for calculating.</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796D361-B4A4-4CC2-BE3E-6B169444DAA7}" type="slidenum">
              <a:rPr lang="en-US" smtClean="0"/>
              <a:t>35</a:t>
            </a:fld>
            <a:endParaRPr lang="en-US"/>
          </a:p>
        </p:txBody>
      </p:sp>
    </p:spTree>
    <p:extLst>
      <p:ext uri="{BB962C8B-B14F-4D97-AF65-F5344CB8AC3E}">
        <p14:creationId xmlns:p14="http://schemas.microsoft.com/office/powerpoint/2010/main" val="16664040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21000"/>
            <a:lum/>
          </a:blip>
          <a:srcRect/>
          <a:tile tx="0" ty="0" sx="100000" sy="100000" flip="none" algn="tl"/>
        </a:blipFill>
        <a:effectLst/>
      </p:bgPr>
    </p:bg>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a:noFill/>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37BF610-71BB-45D1-8BAD-DB306F755D9B}"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312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alphaModFix amt="21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626532"/>
            <a:ext cx="6815669" cy="1515533"/>
          </a:xfrm>
        </p:spPr>
        <p:txBody>
          <a:bodyPr anchor="b">
            <a:noAutofit/>
          </a:bodyPr>
          <a:lstStyle>
            <a:lvl1pPr algn="ctr">
              <a:defRPr sz="5400">
                <a:effectLst/>
              </a:defRPr>
            </a:lvl1pPr>
          </a:lstStyle>
          <a:p>
            <a:r>
              <a:rPr lang="en-US" dirty="0"/>
              <a:t>Click to edit Master title style</a:t>
            </a:r>
          </a:p>
        </p:txBody>
      </p:sp>
      <p:sp>
        <p:nvSpPr>
          <p:cNvPr id="11" name="Picture Placeholder 10"/>
          <p:cNvSpPr>
            <a:spLocks noGrp="1"/>
          </p:cNvSpPr>
          <p:nvPr>
            <p:ph type="pic" sz="quarter" idx="10"/>
          </p:nvPr>
        </p:nvSpPr>
        <p:spPr>
          <a:xfrm>
            <a:off x="2692397" y="2254250"/>
            <a:ext cx="6815669" cy="4184650"/>
          </a:xfrm>
          <a:effectLst>
            <a:outerShdw blurRad="50800" dist="50800" dir="5400000" algn="ctr" rotWithShape="0">
              <a:schemeClr val="tx1"/>
            </a:outerShdw>
          </a:effectLst>
        </p:spPr>
        <p:txBody>
          <a:bodyPr/>
          <a:lstStyle/>
          <a:p>
            <a:endParaRPr lang="en-US" dirty="0"/>
          </a:p>
        </p:txBody>
      </p:sp>
    </p:spTree>
    <p:extLst>
      <p:ext uri="{BB962C8B-B14F-4D97-AF65-F5344CB8AC3E}">
        <p14:creationId xmlns:p14="http://schemas.microsoft.com/office/powerpoint/2010/main" val="79299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1581021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245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8139C1-1262-42B4-8C9D-564A735A2FD1}"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276602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8139C1-1262-42B4-8C9D-564A735A2FD1}"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7BF610-71BB-45D1-8BAD-DB306F755D9B}"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2914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8139C1-1262-42B4-8C9D-564A735A2FD1}"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446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8139C1-1262-42B4-8C9D-564A735A2FD1}"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264913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8219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03379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28139C1-1262-42B4-8C9D-564A735A2FD1}"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179305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885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6237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bg>
      <p:bgPr>
        <a:blipFill dpi="0" rotWithShape="1">
          <a:blip r:embed="rId2">
            <a:alphaModFix amt="2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Tree>
    <p:extLst>
      <p:ext uri="{BB962C8B-B14F-4D97-AF65-F5344CB8AC3E}">
        <p14:creationId xmlns:p14="http://schemas.microsoft.com/office/powerpoint/2010/main" val="4828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1788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26996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8549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alphaModFix amt="20000"/>
          </a:blip>
          <a:srcRect/>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8139C1-1262-42B4-8C9D-564A735A2FD1}"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F610-71BB-45D1-8BAD-DB306F755D9B}"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5949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20000"/>
          </a:blip>
          <a:srcRect/>
          <a:tile tx="0" ty="0" sx="100000" sy="100000" flip="none" algn="tl"/>
        </a:blipFill>
        <a:effectLst/>
      </p:bgPr>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8139C1-1262-42B4-8C9D-564A735A2FD1}" type="datetimeFigureOut">
              <a:rPr lang="en-US" smtClean="0"/>
              <a:t>8/20/2026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37BF610-71BB-45D1-8BAD-DB306F755D9B}" type="slidenum">
              <a:rPr lang="en-US" smtClean="0"/>
              <a:t>‹#›</a:t>
            </a:fld>
            <a:endParaRPr lang="en-US"/>
          </a:p>
        </p:txBody>
      </p:sp>
    </p:spTree>
    <p:extLst>
      <p:ext uri="{BB962C8B-B14F-4D97-AF65-F5344CB8AC3E}">
        <p14:creationId xmlns:p14="http://schemas.microsoft.com/office/powerpoint/2010/main" val="1164824427"/>
      </p:ext>
    </p:extLst>
  </p:cSld>
  <p:clrMap bg1="lt1" tx1="dk1" bg2="lt2" tx2="dk2" accent1="accent1" accent2="accent2" accent3="accent3" accent4="accent4" accent5="accent5" accent6="accent6" hlink="hlink" folHlink="folHlink"/>
  <p:sldLayoutIdLst>
    <p:sldLayoutId id="2147483931" r:id="rId1"/>
    <p:sldLayoutId id="2147483948"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jpeg"/><Relationship Id="rId7"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2.jpeg"/><Relationship Id="rId5" Type="http://schemas.openxmlformats.org/officeDocument/2006/relationships/image" Target="../media/image21.gif"/><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 Ratios</a:t>
            </a:r>
          </a:p>
        </p:txBody>
      </p:sp>
      <p:sp>
        <p:nvSpPr>
          <p:cNvPr id="5" name="Subtitle 4">
            <a:extLst>
              <a:ext uri="{FF2B5EF4-FFF2-40B4-BE49-F238E27FC236}">
                <a16:creationId xmlns:a16="http://schemas.microsoft.com/office/drawing/2014/main" id="{9E0DCD0E-30AE-419B-AD7D-A4A00A81707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44522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Before There Was Planning</a:t>
            </a:r>
          </a:p>
        </p:txBody>
      </p:sp>
      <p:pic>
        <p:nvPicPr>
          <p:cNvPr id="1026" name="Picture 2" descr="Image result for lumiere brothers">
            <a:extLst>
              <a:ext uri="{FF2B5EF4-FFF2-40B4-BE49-F238E27FC236}">
                <a16:creationId xmlns:a16="http://schemas.microsoft.com/office/drawing/2014/main" id="{E9F6D102-56AE-41C9-A2A1-DE3182B106CE}"/>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361688" y="2644584"/>
            <a:ext cx="2834640" cy="15947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5538E9-5B1C-4EE2-A577-10786CD63BF5}"/>
              </a:ext>
            </a:extLst>
          </p:cNvPr>
          <p:cNvSpPr txBox="1"/>
          <p:nvPr/>
        </p:nvSpPr>
        <p:spPr>
          <a:xfrm>
            <a:off x="7460672" y="2568384"/>
            <a:ext cx="3761509"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The Lumiere Bros</a:t>
            </a:r>
            <a:r>
              <a:rPr lang="en-US" dirty="0"/>
              <a:t>, </a:t>
            </a:r>
            <a:r>
              <a:rPr lang="en-US" b="1" dirty="0"/>
              <a:t>1895 </a:t>
            </a:r>
            <a:r>
              <a:rPr lang="en-US" dirty="0"/>
              <a:t>- film as record. Workers leaving a factory. A train pulling in.</a:t>
            </a:r>
            <a:br>
              <a:rPr lang="en-US" dirty="0"/>
            </a:br>
            <a:endParaRPr lang="en-US" dirty="0"/>
          </a:p>
          <a:p>
            <a:pPr marL="285750" indent="-285750">
              <a:buFont typeface="Arial" panose="020B0604020202020204" pitchFamily="34" charset="0"/>
              <a:buChar char="•"/>
            </a:pPr>
            <a:r>
              <a:rPr lang="en-US" b="1" dirty="0"/>
              <a:t>Georges Melies, 1902 </a:t>
            </a:r>
            <a:r>
              <a:rPr lang="en-US" dirty="0"/>
              <a:t>- film as invention. A Trip to the Moon.</a:t>
            </a:r>
            <a:br>
              <a:rPr lang="en-US" dirty="0"/>
            </a:br>
            <a:endParaRPr lang="en-US" dirty="0"/>
          </a:p>
          <a:p>
            <a:pPr marL="285750" indent="-285750">
              <a:buFont typeface="Arial" panose="020B0604020202020204" pitchFamily="34" charset="0"/>
              <a:buChar char="•"/>
            </a:pPr>
            <a:r>
              <a:rPr lang="en-US" dirty="0"/>
              <a:t>A stage magician by trade. He used a camera to tell a lie on purpose.</a:t>
            </a:r>
          </a:p>
        </p:txBody>
      </p:sp>
      <p:pic>
        <p:nvPicPr>
          <p:cNvPr id="1027" name="Lumiere"/>
          <p:cNvPicPr>
            <a:picLocks noChangeAspect="1"/>
          </p:cNvPicPr>
          <p:nvPr/>
        </p:nvPicPr>
        <p:blipFill>
          <a:blip r:embed="rId4"/>
          <a:stretch>
            <a:fillRect/>
          </a:stretch>
        </p:blipFill>
        <p:spPr>
          <a:xfrm>
            <a:off x="1298448" y="2644584"/>
            <a:ext cx="2834640" cy="1594714"/>
          </a:xfrm>
          <a:prstGeom prst="rect">
            <a:avLst/>
          </a:prstGeom>
        </p:spPr>
      </p:pic>
    </p:spTree>
    <p:extLst>
      <p:ext uri="{BB962C8B-B14F-4D97-AF65-F5344CB8AC3E}">
        <p14:creationId xmlns:p14="http://schemas.microsoft.com/office/powerpoint/2010/main" val="1569977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Directors Who Drew First</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8448" y="4663440"/>
            <a:ext cx="9601200" cy="1691640"/>
          </a:xfrm>
          <a:prstGeom prst="rect">
            <a:avLst/>
          </a:prstGeom>
          <a:noFill/>
        </p:spPr>
        <p:txBody>
          <a:bodyPr wrap="square" rtlCol="0">
            <a:spAutoFit/>
          </a:bodyPr>
          <a:lstStyle/>
          <a:p>
            <a:pPr marL="285750" indent="-285750">
              <a:buFont typeface="Arial" panose="020B0604020202020204" pitchFamily="34" charset="0"/>
              <a:buChar char="•"/>
            </a:pPr>
            <a:r>
              <a:rPr lang="en-US" sz="1600" b="1" dirty="0"/>
              <a:t>Sergei Eisenstein sketched sequences before shooting Battleship Potemkin (1925).</a:t>
            </a:r>
          </a:p>
          <a:p>
            <a:pPr marL="285750" indent="-285750">
              <a:buFont typeface="Arial" panose="020B0604020202020204" pitchFamily="34" charset="0"/>
              <a:buChar char="•"/>
            </a:pPr>
            <a:r>
              <a:rPr lang="en-US" sz="1600" b="1" dirty="0"/>
              <a:t>Cecil B. DeMille used artist Dan Sayre Groesbeck to visualise The Ten Commandments (1923).</a:t>
            </a:r>
          </a:p>
          <a:p>
            <a:pPr marL="285750" indent="-285750">
              <a:buFont typeface="Arial" panose="020B0604020202020204" pitchFamily="34" charset="0"/>
              <a:buChar char="•"/>
            </a:pPr>
            <a:r>
              <a:rPr lang="en-US" sz="1600" b="1" dirty="0"/>
              <a:t>The practice existed well before the word did.</a:t>
            </a:r>
          </a:p>
        </p:txBody>
      </p:sp>
      <p:pic>
        <p:nvPicPr>
          <p:cNvPr id="5122" name="Picture 2" descr="Image result for sergei eisenstein">
            <a:extLst>
              <a:ext uri="{FF2B5EF4-FFF2-40B4-BE49-F238E27FC236}">
                <a16:creationId xmlns:a16="http://schemas.microsoft.com/office/drawing/2014/main" id="{C7703CB3-1E48-47CF-8139-AF8BBCF8E7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7832" y="2505456"/>
            <a:ext cx="2606040" cy="210312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ecil b. demille storyboarding">
            <a:extLst>
              <a:ext uri="{FF2B5EF4-FFF2-40B4-BE49-F238E27FC236}">
                <a16:creationId xmlns:a16="http://schemas.microsoft.com/office/drawing/2014/main" id="{1DAC5060-937E-4544-895F-63A8DDD8863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444" r="16293"/>
          <a:stretch/>
        </p:blipFill>
        <p:spPr bwMode="auto">
          <a:xfrm>
            <a:off x="6153912" y="2505456"/>
            <a:ext cx="2807208"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68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McCay and Gertie</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4000499"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t>Gertie the Dinosaur, 1914. Around 10,000 drawings, on rice paper, by hand.</a:t>
            </a:r>
          </a:p>
          <a:p>
            <a:pPr marL="285750" indent="-285750">
              <a:spcBef>
                <a:spcPct val="20000"/>
              </a:spcBef>
              <a:spcAft>
                <a:spcPts val="600"/>
              </a:spcAft>
              <a:buClr>
                <a:schemeClr val="accent1"/>
              </a:buClr>
              <a:buSzPct val="115000"/>
              <a:buFont typeface="Arial"/>
              <a:buChar char="•"/>
            </a:pPr>
            <a:r>
              <a:rPr lang="en-US" sz="1600" dirty="0"/>
              <a:t>McCay stood beside the screen in evening dress with a bullwhip, spoke to her, and she answered.</a:t>
            </a:r>
          </a:p>
          <a:p>
            <a:pPr marL="285750" indent="-285750">
              <a:spcBef>
                <a:spcPct val="20000"/>
              </a:spcBef>
              <a:spcAft>
                <a:spcPts val="600"/>
              </a:spcAft>
              <a:buClr>
                <a:schemeClr val="accent1"/>
              </a:buClr>
              <a:buSzPct val="115000"/>
              <a:buFont typeface="Arial"/>
              <a:buChar char="•"/>
            </a:pPr>
            <a:r>
              <a:rPr lang="en-US" sz="1600" dirty="0"/>
              <a:t>McCay was a cartoonist, working with the simple format of </a:t>
            </a:r>
            <a:r>
              <a:rPr lang="en-US" sz="1600" i="1" dirty="0"/>
              <a:t>“beginning, middle, and end”.</a:t>
            </a:r>
          </a:p>
        </p:txBody>
      </p:sp>
      <p:pic>
        <p:nvPicPr>
          <p:cNvPr id="6146" name="Picture 2" descr="Image result for gertie the dinosaur">
            <a:extLst>
              <a:ext uri="{FF2B5EF4-FFF2-40B4-BE49-F238E27FC236}">
                <a16:creationId xmlns:a16="http://schemas.microsoft.com/office/drawing/2014/main" id="{93F83F03-341D-4097-A0C4-56300649CA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27132" y="1581002"/>
            <a:ext cx="5469466" cy="3076574"/>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73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The Counterexample: Fleischer</a:t>
            </a:r>
          </a:p>
        </p:txBody>
      </p:sp>
      <p:sp>
        <p:nvSpPr>
          <p:cNvPr id="4" name="TextBox 3">
            <a:extLst>
              <a:ext uri="{FF2B5EF4-FFF2-40B4-BE49-F238E27FC236}">
                <a16:creationId xmlns:a16="http://schemas.microsoft.com/office/drawing/2014/main" id="{A25538E9-5B1C-4EE2-A577-10786CD63BF5}"/>
              </a:ext>
            </a:extLst>
          </p:cNvPr>
          <p:cNvSpPr txBox="1"/>
          <p:nvPr/>
        </p:nvSpPr>
        <p:spPr>
          <a:xfrm>
            <a:off x="1092201" y="2493773"/>
            <a:ext cx="3467099" cy="3602221"/>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t>Max and Dave Fleischer - Koko the Clown, Betty Boop.</a:t>
            </a:r>
          </a:p>
          <a:p>
            <a:pPr marL="285750" indent="-285750">
              <a:spcBef>
                <a:spcPct val="20000"/>
              </a:spcBef>
              <a:spcAft>
                <a:spcPts val="600"/>
              </a:spcAft>
              <a:buClr>
                <a:schemeClr val="accent1"/>
              </a:buClr>
              <a:buSzPct val="115000"/>
              <a:buFont typeface="Arial"/>
              <a:buChar char="•"/>
            </a:pPr>
            <a:r>
              <a:rPr lang="en-US" sz="1600" dirty="0"/>
              <a:t>No script. No story department. Nothing written down. Improvised as they went.</a:t>
            </a:r>
          </a:p>
          <a:p>
            <a:pPr marL="285750" indent="-285750">
              <a:spcBef>
                <a:spcPct val="20000"/>
              </a:spcBef>
              <a:spcAft>
                <a:spcPts val="600"/>
              </a:spcAft>
              <a:buClr>
                <a:schemeClr val="accent1"/>
              </a:buClr>
              <a:buSzPct val="115000"/>
              <a:buFont typeface="Arial"/>
              <a:buChar char="•"/>
            </a:pPr>
            <a:r>
              <a:rPr lang="en-US" sz="1600" dirty="0"/>
              <a:t>Practice still used today as “Dailies”.</a:t>
            </a:r>
          </a:p>
          <a:p>
            <a:pPr marL="285750" indent="-285750">
              <a:spcBef>
                <a:spcPct val="20000"/>
              </a:spcBef>
              <a:spcAft>
                <a:spcPts val="600"/>
              </a:spcAft>
              <a:buClr>
                <a:schemeClr val="accent1"/>
              </a:buClr>
              <a:buSzPct val="115000"/>
              <a:buFont typeface="Arial"/>
              <a:buChar char="•"/>
            </a:pPr>
            <a:r>
              <a:rPr lang="en-US" sz="1600" dirty="0"/>
              <a:t>Dave walked the room every morning and collected gags from the animators.</a:t>
            </a:r>
          </a:p>
        </p:txBody>
      </p:sp>
      <p:pic>
        <p:nvPicPr>
          <p:cNvPr id="1030" name="Picture 6" descr="Image result for max and dave fleischer">
            <a:extLst>
              <a:ext uri="{FF2B5EF4-FFF2-40B4-BE49-F238E27FC236}">
                <a16:creationId xmlns:a16="http://schemas.microsoft.com/office/drawing/2014/main" id="{F361FDC1-268E-4FF2-990A-13A8CB55D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458" y="1585190"/>
            <a:ext cx="6224281" cy="3501157"/>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149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Webb Smith Pins It to a Wall</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Disney's story department, early 1930s, under Ted Sears.</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Too many sketches to hold in your head at once.</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Story man Webb Smith pinned them up in order and reworked the order until the continuity held.</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First cartoon built this way: Three Little Pigs, 1933.</a:t>
            </a:r>
          </a:p>
        </p:txBody>
      </p:sp>
      <p:pic>
        <p:nvPicPr>
          <p:cNvPr id="3074" name="Picture 2" descr="Image result for early disney storyboarding department">
            <a:extLst>
              <a:ext uri="{FF2B5EF4-FFF2-40B4-BE49-F238E27FC236}">
                <a16:creationId xmlns:a16="http://schemas.microsoft.com/office/drawing/2014/main" id="{EF1B5936-8C68-42A2-99B6-84274C4AF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392" y="2377440"/>
            <a:ext cx="2606040" cy="2047342"/>
          </a:xfrm>
          <a:prstGeom prst="rect">
            <a:avLst/>
          </a:prstGeom>
          <a:noFill/>
          <a:ln w="57150" cmpd="thickThin">
            <a:solidFill>
              <a:schemeClr val="tx1">
                <a:lumMod val="50000"/>
                <a:lumOff val="50000"/>
              </a:schemeClr>
            </a:solidFill>
            <a:miter lim="800000"/>
          </a:ln>
          <a:extLst>
            <a:ext uri="{909E8E84-426E-40DD-AFC4-6F175D3DCCD1}">
              <a14:hiddenFill xmlns:a14="http://schemas.microsoft.com/office/drawing/2010/main">
                <a:solidFill>
                  <a:srgbClr val="FFFFFF"/>
                </a:solidFill>
              </a14:hiddenFill>
            </a:ext>
          </a:extLst>
        </p:spPr>
      </p:pic>
      <p:pic>
        <p:nvPicPr>
          <p:cNvPr id="3075" name="Plane Crazy sketches"/>
          <p:cNvPicPr>
            <a:picLocks noChangeAspect="1"/>
          </p:cNvPicPr>
          <p:nvPr/>
        </p:nvPicPr>
        <p:blipFill>
          <a:blip r:embed="rId4"/>
          <a:stretch>
            <a:fillRect/>
          </a:stretch>
        </p:blipFill>
        <p:spPr>
          <a:xfrm>
            <a:off x="8284464" y="2377440"/>
            <a:ext cx="2606040" cy="2112264"/>
          </a:xfrm>
          <a:prstGeom prst="rect">
            <a:avLst/>
          </a:prstGeom>
        </p:spPr>
      </p:pic>
    </p:spTree>
    <p:extLst>
      <p:ext uri="{BB962C8B-B14F-4D97-AF65-F5344CB8AC3E}">
        <p14:creationId xmlns:p14="http://schemas.microsoft.com/office/powerpoint/2010/main" val="2897470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7535825" y="982132"/>
            <a:ext cx="3360772" cy="1303867"/>
          </a:xfrm>
        </p:spPr>
        <p:txBody>
          <a:bodyPr vert="horz" lIns="91440" tIns="45720" rIns="91440" bIns="45720" rtlCol="0" anchor="ctr">
            <a:normAutofit/>
          </a:bodyPr>
          <a:lstStyle/>
          <a:p>
            <a:pPr>
              <a:lnSpc>
                <a:spcPct val="90000"/>
              </a:lnSpc>
            </a:pPr>
            <a:r>
              <a:rPr lang="en-US" sz="3400" dirty="0"/>
              <a:t>Live Action Takes Notice</a:t>
            </a:r>
          </a:p>
        </p:txBody>
      </p:sp>
      <p:pic>
        <p:nvPicPr>
          <p:cNvPr id="4098" name="Picture 2" descr="William Cameron Menzies William Cameron Menzies and the Clumsy Sublime Graphic">
            <a:extLst>
              <a:ext uri="{FF2B5EF4-FFF2-40B4-BE49-F238E27FC236}">
                <a16:creationId xmlns:a16="http://schemas.microsoft.com/office/drawing/2014/main" id="{5338960B-447E-4791-873D-625C5CB663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70" r="1060" b="2"/>
          <a:stretch/>
        </p:blipFill>
        <p:spPr bwMode="auto">
          <a:xfrm>
            <a:off x="1408176" y="2377440"/>
            <a:ext cx="2514600" cy="16742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25538E9-5B1C-4EE2-A577-10786CD63BF5}"/>
              </a:ext>
            </a:extLst>
          </p:cNvPr>
          <p:cNvSpPr txBox="1"/>
          <p:nvPr/>
        </p:nvSpPr>
        <p:spPr>
          <a:xfrm>
            <a:off x="7520090" y="2556931"/>
            <a:ext cx="3743656" cy="3646439"/>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dirty="0">
                <a:solidFill>
                  <a:schemeClr val="tx1">
                    <a:lumMod val="85000"/>
                    <a:lumOff val="15000"/>
                  </a:schemeClr>
                </a:solidFill>
              </a:rPr>
              <a:t>Citizen Kane (1941) boarded its complex sequences in advance.</a:t>
            </a:r>
          </a:p>
          <a:p>
            <a:pPr marL="285750" indent="-285750">
              <a:spcBef>
                <a:spcPct val="20000"/>
              </a:spcBef>
              <a:spcAft>
                <a:spcPts val="600"/>
              </a:spcAft>
              <a:buClr>
                <a:schemeClr val="accent1"/>
              </a:buClr>
              <a:buSzPct val="115000"/>
              <a:buFont typeface="Arial"/>
              <a:buChar char="•"/>
            </a:pPr>
            <a:r>
              <a:rPr lang="en-US" dirty="0">
                <a:solidFill>
                  <a:schemeClr val="tx1">
                    <a:lumMod val="85000"/>
                    <a:lumOff val="15000"/>
                  </a:schemeClr>
                </a:solidFill>
              </a:rPr>
              <a:t>Hitchcock called his films storyboards come to life.</a:t>
            </a:r>
          </a:p>
          <a:p>
            <a:pPr marL="285750" indent="-285750">
              <a:spcBef>
                <a:spcPct val="20000"/>
              </a:spcBef>
              <a:spcAft>
                <a:spcPts val="600"/>
              </a:spcAft>
              <a:buClr>
                <a:schemeClr val="accent1"/>
              </a:buClr>
              <a:buSzPct val="115000"/>
              <a:buFont typeface="Arial"/>
              <a:buChar char="•"/>
            </a:pPr>
            <a:r>
              <a:rPr lang="en-US" dirty="0">
                <a:solidFill>
                  <a:schemeClr val="tx1">
                    <a:lumMod val="85000"/>
                    <a:lumOff val="15000"/>
                  </a:schemeClr>
                </a:solidFill>
              </a:rPr>
              <a:t>Saul Bass drew 48 panels for the Psycho shower scene.</a:t>
            </a:r>
          </a:p>
        </p:txBody>
      </p:sp>
      <p:pic>
        <p:nvPicPr>
          <p:cNvPr id="4099" name="Hitchcock"/>
          <p:cNvPicPr>
            <a:picLocks noChangeAspect="1"/>
          </p:cNvPicPr>
          <p:nvPr/>
        </p:nvPicPr>
        <p:blipFill>
          <a:blip r:embed="rId4"/>
          <a:stretch>
            <a:fillRect/>
          </a:stretch>
        </p:blipFill>
        <p:spPr>
          <a:xfrm>
            <a:off x="4169664" y="2377440"/>
            <a:ext cx="2514600" cy="2107692"/>
          </a:xfrm>
          <a:prstGeom prst="rect">
            <a:avLst/>
          </a:prstGeom>
        </p:spPr>
      </p:pic>
    </p:spTree>
    <p:extLst>
      <p:ext uri="{BB962C8B-B14F-4D97-AF65-F5344CB8AC3E}">
        <p14:creationId xmlns:p14="http://schemas.microsoft.com/office/powerpoint/2010/main" val="1289495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a:xfrm>
            <a:off x="1295402" y="982132"/>
            <a:ext cx="3660056" cy="1325373"/>
          </a:xfrm>
        </p:spPr>
        <p:txBody>
          <a:bodyPr vert="horz" lIns="91440" tIns="45720" rIns="91440" bIns="45720" rtlCol="0" anchor="b">
            <a:normAutofit/>
          </a:bodyPr>
          <a:lstStyle/>
          <a:p>
            <a:r>
              <a:rPr lang="en-US" sz="2400" dirty="0"/>
              <a:t>Why the Industry Actually Adopted It</a:t>
            </a:r>
          </a:p>
        </p:txBody>
      </p:sp>
      <p:sp>
        <p:nvSpPr>
          <p:cNvPr id="4" name="TextBox 3">
            <a:extLst>
              <a:ext uri="{FF2B5EF4-FFF2-40B4-BE49-F238E27FC236}">
                <a16:creationId xmlns:a16="http://schemas.microsoft.com/office/drawing/2014/main" id="{A25538E9-5B1C-4EE2-A577-10786CD63BF5}"/>
              </a:ext>
            </a:extLst>
          </p:cNvPr>
          <p:cNvSpPr txBox="1"/>
          <p:nvPr/>
        </p:nvSpPr>
        <p:spPr>
          <a:xfrm>
            <a:off x="1295401" y="2493774"/>
            <a:ext cx="3660057" cy="3382094"/>
          </a:xfrm>
          <a:prstGeom prst="rect">
            <a:avLst/>
          </a:prstGeom>
        </p:spPr>
        <p:txBody>
          <a:bodyPr vert="horz" lIns="91440" tIns="45720" rIns="91440" bIns="45720" rtlCol="0" anchor="t">
            <a:normAutofit/>
          </a:bodyPr>
          <a:lstStyle/>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James Bond, Star Wars, Indiana Jones (Raiders of the Lost Ark).</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Multiple units, shooting different things in different countries, all cutting into one film.</a:t>
            </a:r>
          </a:p>
          <a:p>
            <a:pPr marL="285750" indent="-285750">
              <a:spcBef>
                <a:spcPct val="20000"/>
              </a:spcBef>
              <a:spcAft>
                <a:spcPts val="600"/>
              </a:spcAft>
              <a:buClr>
                <a:schemeClr val="accent1"/>
              </a:buClr>
              <a:buSzPct val="115000"/>
              <a:buFont typeface="Arial"/>
              <a:buChar char="•"/>
            </a:pPr>
            <a:r>
              <a:rPr lang="en-US" sz="1600" dirty="0">
                <a:solidFill>
                  <a:schemeClr val="tx1">
                    <a:lumMod val="85000"/>
                    <a:lumOff val="15000"/>
                  </a:schemeClr>
                </a:solidFill>
              </a:rPr>
              <a:t>Not because boards are beautiful. </a:t>
            </a:r>
            <a:r>
              <a:rPr lang="en-US" sz="1600" b="1" dirty="0">
                <a:solidFill>
                  <a:schemeClr val="tx1">
                    <a:lumMod val="85000"/>
                    <a:lumOff val="15000"/>
                  </a:schemeClr>
                </a:solidFill>
              </a:rPr>
              <a:t>Because they are cheaper, and because they keep two hundred people making the same movie.</a:t>
            </a:r>
          </a:p>
        </p:txBody>
      </p:sp>
      <p:pic>
        <p:nvPicPr>
          <p:cNvPr id="8194" name="Picture 2" descr="A group of storyboards for Raiders of the Lost Ark">
            <a:extLst>
              <a:ext uri="{FF2B5EF4-FFF2-40B4-BE49-F238E27FC236}">
                <a16:creationId xmlns:a16="http://schemas.microsoft.com/office/drawing/2014/main" id="{D592196B-C028-41C8-8A4D-24D228F2D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2664" y="2194560"/>
            <a:ext cx="2880360" cy="217993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195" name="Bond"/>
          <p:cNvPicPr>
            <a:picLocks noChangeAspect="1"/>
          </p:cNvPicPr>
          <p:nvPr/>
        </p:nvPicPr>
        <p:blipFill>
          <a:blip r:embed="rId4"/>
          <a:stretch>
            <a:fillRect/>
          </a:stretch>
        </p:blipFill>
        <p:spPr>
          <a:xfrm>
            <a:off x="8467344" y="2194560"/>
            <a:ext cx="2880360" cy="1555394"/>
          </a:xfrm>
          <a:prstGeom prst="rect">
            <a:avLst/>
          </a:prstGeom>
        </p:spPr>
      </p:pic>
    </p:spTree>
    <p:extLst>
      <p:ext uri="{BB962C8B-B14F-4D97-AF65-F5344CB8AC3E}">
        <p14:creationId xmlns:p14="http://schemas.microsoft.com/office/powerpoint/2010/main" val="2357104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Modified From Its Original Format</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900837"/>
            <a:ext cx="4842165"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t>You have read this card a hundred times.</a:t>
            </a:r>
          </a:p>
          <a:p>
            <a:pPr marL="285750" indent="-285750">
              <a:buFont typeface="Arial" panose="020B0604020202020204" pitchFamily="34" charset="0"/>
              <a:buChar char="•"/>
            </a:pPr>
            <a:r>
              <a:rPr lang="en-US" sz="2000" dirty="0"/>
              <a:t>Modified how? From what? Into what?</a:t>
            </a:r>
          </a:p>
          <a:p>
            <a:pPr marL="285750" indent="-285750">
              <a:buFont typeface="Arial" panose="020B0604020202020204" pitchFamily="34" charset="0"/>
              <a:buChar char="•"/>
            </a:pPr>
            <a:r>
              <a:rPr lang="en-US" sz="2000" dirty="0"/>
              <a:t>By the end of today you will know - and know why it is closer to an apology than a disclaimer.</a:t>
            </a:r>
          </a:p>
        </p:txBody>
      </p:sp>
      <p:pic>
        <p:nvPicPr>
          <p:cNvPr id="1026" name="Picture 2" descr="Image result for formatted to fit your screen">
            <a:extLst>
              <a:ext uri="{FF2B5EF4-FFF2-40B4-BE49-F238E27FC236}">
                <a16:creationId xmlns:a16="http://schemas.microsoft.com/office/drawing/2014/main" id="{B2839219-FD46-4159-9C3F-0EA101783A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43" r="984" b="3150"/>
          <a:stretch/>
        </p:blipFill>
        <p:spPr bwMode="auto">
          <a:xfrm>
            <a:off x="1423553" y="2578775"/>
            <a:ext cx="4547755" cy="3395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50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DE3DA1-6771-436D-A739-77EEA9CC59E3}"/>
              </a:ext>
            </a:extLst>
          </p:cNvPr>
          <p:cNvSpPr/>
          <p:nvPr/>
        </p:nvSpPr>
        <p:spPr>
          <a:xfrm>
            <a:off x="1295402" y="3034145"/>
            <a:ext cx="4378034" cy="23691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The Shape of the Screen</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900837"/>
            <a:ext cx="4842165" cy="1938992"/>
          </a:xfrm>
          <a:prstGeom prst="rect">
            <a:avLst/>
          </a:prstGeom>
          <a:noFill/>
        </p:spPr>
        <p:txBody>
          <a:bodyPr wrap="square" rtlCol="0">
            <a:spAutoFit/>
          </a:bodyPr>
          <a:lstStyle/>
          <a:p>
            <a:pPr marL="285750" indent="-285750">
              <a:buFont typeface="Arial" panose="020B0604020202020204" pitchFamily="34" charset="0"/>
              <a:buChar char="•"/>
            </a:pPr>
            <a:r>
              <a:rPr lang="en-US" sz="2000" b="1" dirty="0"/>
              <a:t>The size relationship between width and height.</a:t>
            </a:r>
          </a:p>
          <a:p>
            <a:pPr marL="285750" indent="-285750">
              <a:buFont typeface="Arial" panose="020B0604020202020204" pitchFamily="34" charset="0"/>
              <a:buChar char="•"/>
            </a:pPr>
            <a:r>
              <a:rPr lang="en-US" sz="2000" b="1" dirty="0"/>
              <a:t>First number: width, relative to a height of 1.</a:t>
            </a:r>
          </a:p>
          <a:p>
            <a:pPr marL="285750" indent="-285750">
              <a:buFont typeface="Arial" panose="020B0604020202020204" pitchFamily="34" charset="0"/>
              <a:buChar char="•"/>
            </a:pPr>
            <a:r>
              <a:rPr lang="en-US" sz="2000" b="1" dirty="0"/>
              <a:t>1.85:1 means 1.85 units across for every 1 unit tall.</a:t>
            </a:r>
          </a:p>
          <a:p>
            <a:pPr marL="285750" indent="-285750">
              <a:buFont typeface="Arial" panose="020B0604020202020204" pitchFamily="34" charset="0"/>
              <a:buChar char="•"/>
            </a:pPr>
            <a:r>
              <a:rPr lang="en-US" sz="2000" b="1" dirty="0"/>
              <a:t>It is a shape, not a size. A 1.85:1 frame is the same shape on a phone and on an IMAX screen.</a:t>
            </a:r>
          </a:p>
        </p:txBody>
      </p:sp>
      <p:sp>
        <p:nvSpPr>
          <p:cNvPr id="5" name="TextBox 4">
            <a:extLst>
              <a:ext uri="{FF2B5EF4-FFF2-40B4-BE49-F238E27FC236}">
                <a16:creationId xmlns:a16="http://schemas.microsoft.com/office/drawing/2014/main" id="{F15E3F63-9C1F-4364-B765-B53852A921CD}"/>
              </a:ext>
            </a:extLst>
          </p:cNvPr>
          <p:cNvSpPr txBox="1"/>
          <p:nvPr/>
        </p:nvSpPr>
        <p:spPr>
          <a:xfrm>
            <a:off x="1737360" y="3703320"/>
            <a:ext cx="3502152" cy="1005840"/>
          </a:xfrm>
          <a:prstGeom prst="rect">
            <a:avLst/>
          </a:prstGeom>
          <a:noFill/>
        </p:spPr>
        <p:txBody>
          <a:bodyPr wrap="square" rtlCol="0">
            <a:spAutoFit/>
          </a:bodyPr>
          <a:lstStyle/>
          <a:p>
            <a:pPr algn="ctr">
              <a:buNone/>
            </a:pPr>
            <a:r>
              <a:rPr lang="en-US" sz="4000" dirty="0">
                <a:solidFill>
                  <a:schemeClr val="tx2">
                    <a:lumMod val="10000"/>
                    <a:lumOff val="90000"/>
                  </a:schemeClr>
                </a:solidFill>
              </a:rPr>
              <a:t>1.85 : 1</a:t>
            </a:r>
          </a:p>
        </p:txBody>
      </p:sp>
    </p:spTree>
    <p:extLst>
      <p:ext uri="{BB962C8B-B14F-4D97-AF65-F5344CB8AC3E}">
        <p14:creationId xmlns:p14="http://schemas.microsoft.com/office/powerpoint/2010/main" val="3782861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Why You Care, Specifically</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t>The ratio is the first decision on a board.</a:t>
            </a:r>
          </a:p>
          <a:p>
            <a:r>
              <a:rPr lang="en-US" dirty="0"/>
              <a:t>Before composition. Before staging. Before a single line goes down.</a:t>
            </a:r>
          </a:p>
          <a:p>
            <a:r>
              <a:rPr lang="en-US" dirty="0"/>
              <a:t>You cannot compose for a shape you have not chosen.</a:t>
            </a:r>
          </a:p>
          <a:p>
            <a:r>
              <a:rPr lang="en-US" dirty="0"/>
              <a:t>Artists need to understand the compositional space.</a:t>
            </a:r>
          </a:p>
        </p:txBody>
      </p:sp>
    </p:spTree>
    <p:extLst>
      <p:ext uri="{BB962C8B-B14F-4D97-AF65-F5344CB8AC3E}">
        <p14:creationId xmlns:p14="http://schemas.microsoft.com/office/powerpoint/2010/main" val="2250819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1.33 : 1 - Where It Started</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687782"/>
            <a:ext cx="4842165" cy="163121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The native ratio of 35mm film.</a:t>
            </a:r>
          </a:p>
          <a:p>
            <a:pPr marL="285750" indent="-285750">
              <a:buFont typeface="Arial" panose="020B0604020202020204" pitchFamily="34" charset="0"/>
              <a:buChar char="•"/>
            </a:pPr>
            <a:r>
              <a:rPr lang="en-US" sz="2000" b="1" dirty="0"/>
              <a:t>Four units wide by three tall. Also written 4:3.</a:t>
            </a:r>
          </a:p>
          <a:p>
            <a:pPr marL="285750" indent="-285750">
              <a:buFont typeface="Arial" panose="020B0604020202020204" pitchFamily="34" charset="0"/>
              <a:buChar char="•"/>
            </a:pPr>
            <a:r>
              <a:rPr lang="en-US" sz="2000" b="1" dirty="0"/>
              <a:t>Cinema's default from the 1890s until sound arrived.</a:t>
            </a:r>
          </a:p>
        </p:txBody>
      </p:sp>
      <p:pic>
        <p:nvPicPr>
          <p:cNvPr id="5" name="Picture 2" descr="Image result for wizard of oz">
            <a:extLst>
              <a:ext uri="{FF2B5EF4-FFF2-40B4-BE49-F238E27FC236}">
                <a16:creationId xmlns:a16="http://schemas.microsoft.com/office/drawing/2014/main" id="{B4D99D84-DF7D-4233-B638-A64DDD9B0A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2687782"/>
            <a:ext cx="5105400" cy="25527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595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9C1-6701-4245-AD57-0794CC061F92}"/>
              </a:ext>
            </a:extLst>
          </p:cNvPr>
          <p:cNvSpPr>
            <a:spLocks noGrp="1"/>
          </p:cNvSpPr>
          <p:nvPr>
            <p:ph type="title"/>
          </p:nvPr>
        </p:nvSpPr>
        <p:spPr/>
        <p:txBody>
          <a:bodyPr>
            <a:normAutofit/>
          </a:bodyPr>
          <a:lstStyle/>
          <a:p>
            <a:r>
              <a:rPr lang="en-US" dirty="0"/>
              <a:t>1.37 : 1 - The Academy Ratio</a:t>
            </a:r>
          </a:p>
        </p:txBody>
      </p:sp>
      <p:sp>
        <p:nvSpPr>
          <p:cNvPr id="4" name="TextBox 3">
            <a:extLst>
              <a:ext uri="{FF2B5EF4-FFF2-40B4-BE49-F238E27FC236}">
                <a16:creationId xmlns:a16="http://schemas.microsoft.com/office/drawing/2014/main" id="{A25538E9-5B1C-4EE2-A577-10786CD63BF5}"/>
              </a:ext>
            </a:extLst>
          </p:cNvPr>
          <p:cNvSpPr txBox="1"/>
          <p:nvPr/>
        </p:nvSpPr>
        <p:spPr>
          <a:xfrm>
            <a:off x="6296891" y="2578485"/>
            <a:ext cx="5226627"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Sound arrives. The optical soundtrack needs room on the film strip.</a:t>
            </a:r>
          </a:p>
          <a:p>
            <a:pPr marL="285750" indent="-285750">
              <a:buFont typeface="Arial" panose="020B0604020202020204" pitchFamily="34" charset="0"/>
              <a:buChar char="•"/>
            </a:pPr>
            <a:r>
              <a:rPr lang="en-US" sz="2000" b="1" dirty="0"/>
              <a:t>The image gets squeezed to about 1.19:1 - almost square, and it looked wrong.</a:t>
            </a:r>
          </a:p>
          <a:p>
            <a:pPr marL="285750" indent="-285750">
              <a:buFont typeface="Arial" panose="020B0604020202020204" pitchFamily="34" charset="0"/>
              <a:buChar char="•"/>
            </a:pPr>
            <a:r>
              <a:rPr lang="en-US" sz="2000" b="1" dirty="0"/>
              <a:t>In 1932 the Academy fixes it at 1.37:1 by adjusting the aperture.</a:t>
            </a:r>
          </a:p>
          <a:p>
            <a:pPr marL="285750" indent="-285750">
              <a:buFont typeface="Arial" panose="020B0604020202020204" pitchFamily="34" charset="0"/>
              <a:buChar char="•"/>
            </a:pPr>
            <a:r>
              <a:rPr lang="en-US" sz="2000" b="1" dirty="0"/>
              <a:t>The Wizard of Oz - Gone with the Wind - Citizen Kane - Casablanca</a:t>
            </a:r>
          </a:p>
        </p:txBody>
      </p:sp>
      <p:pic>
        <p:nvPicPr>
          <p:cNvPr id="2050" name="Picture 2" descr="Image result for wizard of oz">
            <a:extLst>
              <a:ext uri="{FF2B5EF4-FFF2-40B4-BE49-F238E27FC236}">
                <a16:creationId xmlns:a16="http://schemas.microsoft.com/office/drawing/2014/main" id="{732B4447-96E9-481C-A840-D5CC92D537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2687782"/>
            <a:ext cx="5105400" cy="25527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861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2052" name="Picture 70">
            <a:extLst>
              <a:ext uri="{FF2B5EF4-FFF2-40B4-BE49-F238E27FC236}">
                <a16:creationId xmlns:a16="http://schemas.microsoft.com/office/drawing/2014/main" id="{EC451D95-F442-41F5-B7F3-ADFF8BF522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sp>
        <p:nvSpPr>
          <p:cNvPr id="2" name="Title 1">
            <a:extLst>
              <a:ext uri="{FF2B5EF4-FFF2-40B4-BE49-F238E27FC236}">
                <a16:creationId xmlns:a16="http://schemas.microsoft.com/office/drawing/2014/main" id="{D99EF2C5-E374-412B-8637-AAFB894C40B7}"/>
              </a:ext>
            </a:extLst>
          </p:cNvPr>
          <p:cNvSpPr>
            <a:spLocks noGrp="1"/>
          </p:cNvSpPr>
          <p:nvPr>
            <p:ph type="title"/>
          </p:nvPr>
        </p:nvSpPr>
        <p:spPr>
          <a:xfrm>
            <a:off x="1295402" y="982132"/>
            <a:ext cx="3660056" cy="1325373"/>
          </a:xfrm>
        </p:spPr>
        <p:txBody>
          <a:bodyPr anchor="b">
            <a:normAutofit/>
          </a:bodyPr>
          <a:lstStyle/>
          <a:p>
            <a:r>
              <a:rPr lang="en-US" sz="3200" dirty="0"/>
              <a:t>The Peak</a:t>
            </a:r>
          </a:p>
        </p:txBody>
      </p:sp>
      <p:cxnSp>
        <p:nvCxnSpPr>
          <p:cNvPr id="2053" name="Straight Connector 72">
            <a:extLst>
              <a:ext uri="{FF2B5EF4-FFF2-40B4-BE49-F238E27FC236}">
                <a16:creationId xmlns:a16="http://schemas.microsoft.com/office/drawing/2014/main" id="{3393F3B5-23C9-4DE1-BF93-BBDEE17705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295401" y="2766314"/>
            <a:ext cx="3660057" cy="3382094"/>
          </a:xfrm>
        </p:spPr>
        <p:txBody>
          <a:bodyPr>
            <a:normAutofit/>
          </a:bodyPr>
          <a:lstStyle/>
          <a:p>
            <a:r>
              <a:rPr lang="en-US" sz="1800" dirty="0"/>
              <a:t>1929-30: around 100 million tickets a week.</a:t>
            </a:r>
          </a:p>
          <a:p>
            <a:r>
              <a:rPr lang="en-US" sz="1800" dirty="0"/>
              <a:t>The population of the United States was about 123 million.</a:t>
            </a:r>
          </a:p>
          <a:p>
            <a:r>
              <a:rPr lang="en-US" sz="1800" dirty="0"/>
              <a:t>The average American went to the pictures roughly once a week - some weeks, most of the country was in a cinema.</a:t>
            </a:r>
          </a:p>
        </p:txBody>
      </p:sp>
      <p:pic>
        <p:nvPicPr>
          <p:cNvPr id="2050" name="Picture 2" descr="Image result for early television watching">
            <a:extLst>
              <a:ext uri="{FF2B5EF4-FFF2-40B4-BE49-F238E27FC236}">
                <a16:creationId xmlns:a16="http://schemas.microsoft.com/office/drawing/2014/main" id="{CD956B04-BC35-4A0B-A3B4-AB32A446AC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792" r="2" b="2"/>
          <a:stretch/>
        </p:blipFill>
        <p:spPr bwMode="auto">
          <a:xfrm>
            <a:off x="5418668" y="982131"/>
            <a:ext cx="5469466" cy="4893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96155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2052" name="Picture 70">
            <a:extLst>
              <a:ext uri="{FF2B5EF4-FFF2-40B4-BE49-F238E27FC236}">
                <a16:creationId xmlns:a16="http://schemas.microsoft.com/office/drawing/2014/main" id="{EC451D95-F442-41F5-B7F3-ADFF8BF522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sp>
        <p:nvSpPr>
          <p:cNvPr id="2" name="Title 1">
            <a:extLst>
              <a:ext uri="{FF2B5EF4-FFF2-40B4-BE49-F238E27FC236}">
                <a16:creationId xmlns:a16="http://schemas.microsoft.com/office/drawing/2014/main" id="{D99EF2C5-E374-412B-8637-AAFB894C40B7}"/>
              </a:ext>
            </a:extLst>
          </p:cNvPr>
          <p:cNvSpPr>
            <a:spLocks noGrp="1"/>
          </p:cNvSpPr>
          <p:nvPr>
            <p:ph type="title"/>
          </p:nvPr>
        </p:nvSpPr>
        <p:spPr>
          <a:xfrm>
            <a:off x="1295402" y="982132"/>
            <a:ext cx="3660056" cy="1325373"/>
          </a:xfrm>
        </p:spPr>
        <p:txBody>
          <a:bodyPr anchor="b">
            <a:normAutofit fontScale="90000"/>
          </a:bodyPr>
          <a:lstStyle/>
          <a:p>
            <a:r>
              <a:rPr lang="en-US" sz="3200" dirty="0"/>
              <a:t>Then Television - At the Same Ratio</a:t>
            </a:r>
          </a:p>
        </p:txBody>
      </p:sp>
      <p:cxnSp>
        <p:nvCxnSpPr>
          <p:cNvPr id="2053" name="Straight Connector 72">
            <a:extLst>
              <a:ext uri="{FF2B5EF4-FFF2-40B4-BE49-F238E27FC236}">
                <a16:creationId xmlns:a16="http://schemas.microsoft.com/office/drawing/2014/main" id="{3393F3B5-23C9-4DE1-BF93-BBDEE17705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295401" y="2766314"/>
            <a:ext cx="3660057" cy="3382094"/>
          </a:xfrm>
        </p:spPr>
        <p:txBody>
          <a:bodyPr>
            <a:normAutofit/>
          </a:bodyPr>
          <a:lstStyle/>
          <a:p>
            <a:r>
              <a:rPr lang="en-US" sz="1800" dirty="0"/>
              <a:t>Television adopts 1.33:1.</a:t>
            </a:r>
          </a:p>
          <a:p>
            <a:r>
              <a:rPr lang="en-US" sz="1800" dirty="0"/>
              <a:t>The identical rectangle. In your house. For free.</a:t>
            </a:r>
          </a:p>
          <a:p>
            <a:r>
              <a:rPr lang="en-US" sz="1800" dirty="0"/>
              <a:t>Not a different product competing with cinema. The same shape, delivered to the sofa.</a:t>
            </a:r>
          </a:p>
        </p:txBody>
      </p:sp>
      <p:pic>
        <p:nvPicPr>
          <p:cNvPr id="2050" name="Picture 2" descr="Image result for early television watching">
            <a:extLst>
              <a:ext uri="{FF2B5EF4-FFF2-40B4-BE49-F238E27FC236}">
                <a16:creationId xmlns:a16="http://schemas.microsoft.com/office/drawing/2014/main" id="{CD956B04-BC35-4A0B-A3B4-AB32A446AC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792" r="2" b="2"/>
          <a:stretch/>
        </p:blipFill>
        <p:spPr bwMode="auto">
          <a:xfrm>
            <a:off x="5418668" y="982131"/>
            <a:ext cx="5469466" cy="4893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96155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2052" name="Picture 70">
            <a:extLst>
              <a:ext uri="{FF2B5EF4-FFF2-40B4-BE49-F238E27FC236}">
                <a16:creationId xmlns:a16="http://schemas.microsoft.com/office/drawing/2014/main" id="{EC451D95-F442-41F5-B7F3-ADFF8BF522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sp>
        <p:nvSpPr>
          <p:cNvPr id="2" name="Title 1">
            <a:extLst>
              <a:ext uri="{FF2B5EF4-FFF2-40B4-BE49-F238E27FC236}">
                <a16:creationId xmlns:a16="http://schemas.microsoft.com/office/drawing/2014/main" id="{D99EF2C5-E374-412B-8637-AAFB894C40B7}"/>
              </a:ext>
            </a:extLst>
          </p:cNvPr>
          <p:cNvSpPr>
            <a:spLocks noGrp="1"/>
          </p:cNvSpPr>
          <p:nvPr>
            <p:ph type="title"/>
          </p:nvPr>
        </p:nvSpPr>
        <p:spPr>
          <a:xfrm>
            <a:off x="1295402" y="982132"/>
            <a:ext cx="3660056" cy="1325373"/>
          </a:xfrm>
        </p:spPr>
        <p:txBody>
          <a:bodyPr anchor="b">
            <a:normAutofit/>
          </a:bodyPr>
          <a:lstStyle/>
          <a:p>
            <a:r>
              <a:rPr lang="en-US" sz="3200" dirty="0"/>
              <a:t>The Collapse</a:t>
            </a:r>
          </a:p>
        </p:txBody>
      </p:sp>
      <p:cxnSp>
        <p:nvCxnSpPr>
          <p:cNvPr id="2053" name="Straight Connector 72">
            <a:extLst>
              <a:ext uri="{FF2B5EF4-FFF2-40B4-BE49-F238E27FC236}">
                <a16:creationId xmlns:a16="http://schemas.microsoft.com/office/drawing/2014/main" id="{3393F3B5-23C9-4DE1-BF93-BBDEE17705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295401" y="2766314"/>
            <a:ext cx="3660057" cy="3382094"/>
          </a:xfrm>
        </p:spPr>
        <p:txBody>
          <a:bodyPr>
            <a:normAutofit/>
          </a:bodyPr>
          <a:lstStyle/>
          <a:p>
            <a:r>
              <a:rPr lang="en-US" sz="1800" dirty="0"/>
              <a:t>1946: about 90 million a week.</a:t>
            </a:r>
          </a:p>
          <a:p>
            <a:r>
              <a:rPr lang="en-US" sz="1800" dirty="0"/>
              <a:t>1950: about 60 million.</a:t>
            </a:r>
          </a:p>
          <a:p>
            <a:r>
              <a:rPr lang="en-US" sz="1800" dirty="0"/>
              <a:t>Mid-1950s: about 45 million.</a:t>
            </a:r>
          </a:p>
          <a:p>
            <a:r>
              <a:rPr lang="en-US" sz="1800" dirty="0"/>
              <a:t>1970: about 20 million.</a:t>
            </a:r>
          </a:p>
          <a:p>
            <a:r>
              <a:rPr lang="en-US" sz="1800" dirty="0"/>
              <a:t>By 1960 there was a television in roughly 90% of American homes.</a:t>
            </a:r>
          </a:p>
        </p:txBody>
      </p:sp>
      <p:pic>
        <p:nvPicPr>
          <p:cNvPr id="2050" name="Picture 2" descr="Image result for early television watching">
            <a:extLst>
              <a:ext uri="{FF2B5EF4-FFF2-40B4-BE49-F238E27FC236}">
                <a16:creationId xmlns:a16="http://schemas.microsoft.com/office/drawing/2014/main" id="{CD956B04-BC35-4A0B-A3B4-AB32A446AC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792" r="2" b="2"/>
          <a:stretch/>
        </p:blipFill>
        <p:spPr bwMode="auto">
          <a:xfrm>
            <a:off x="5418668" y="982131"/>
            <a:ext cx="5469466" cy="4893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35798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078" name="Rectangle 191">
            <a:extLst>
              <a:ext uri="{FF2B5EF4-FFF2-40B4-BE49-F238E27FC236}">
                <a16:creationId xmlns:a16="http://schemas.microsoft.com/office/drawing/2014/main" id="{EE1374CC-E745-4BC0-92A0-180B70E3D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079" name="Picture 192">
            <a:extLst>
              <a:ext uri="{FF2B5EF4-FFF2-40B4-BE49-F238E27FC236}">
                <a16:creationId xmlns:a16="http://schemas.microsoft.com/office/drawing/2014/main" id="{1CF8A95A-9DEB-454B-92B4-86057447CB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3080" name="Straight Connector 193">
            <a:extLst>
              <a:ext uri="{FF2B5EF4-FFF2-40B4-BE49-F238E27FC236}">
                <a16:creationId xmlns:a16="http://schemas.microsoft.com/office/drawing/2014/main" id="{DB24AD5B-7E5E-4F3C-82E6-1234F4C589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77057" y="2400639"/>
            <a:ext cx="576072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1A0CE49C-12C9-4D77-8947-0BE2AA853B6A}"/>
              </a:ext>
            </a:extLst>
          </p:cNvPr>
          <p:cNvSpPr>
            <a:spLocks noGrp="1"/>
          </p:cNvSpPr>
          <p:nvPr>
            <p:ph idx="1"/>
          </p:nvPr>
        </p:nvSpPr>
        <p:spPr>
          <a:xfrm>
            <a:off x="1170432" y="2697480"/>
            <a:ext cx="6035040" cy="3017520"/>
          </a:xfrm>
        </p:spPr>
        <p:txBody>
          <a:bodyPr>
            <a:normAutofit lnSpcReduction="10000"/>
          </a:bodyPr>
          <a:lstStyle/>
          <a:p>
            <a:pPr>
              <a:buNone/>
            </a:pPr>
            <a:r>
              <a:rPr lang="en-US" sz="2200" dirty="0"/>
              <a:t>Three cameras, three projectors, one deeply curved screen.</a:t>
            </a:r>
          </a:p>
          <a:p>
            <a:pPr>
              <a:buNone/>
            </a:pPr>
            <a:r>
              <a:rPr lang="en-US" sz="2200" dirty="0"/>
              <a:t>This Is Cinerama opened 30 September 1952. The first thing the audience saw was a roller coaster.</a:t>
            </a:r>
          </a:p>
          <a:p>
            <a:pPr>
              <a:buNone/>
            </a:pPr>
            <a:r>
              <a:rPr lang="en-US" sz="2200" dirty="0"/>
              <a:t>Abandoned - the cost of re-fitting a theatre was ruinous, and the seams between the three panels showed.</a:t>
            </a:r>
          </a:p>
        </p:txBody>
      </p:sp>
      <p:pic>
        <p:nvPicPr>
          <p:cNvPr id="3076" name="Picture 4" descr="https://upload.wikimedia.org/wikipedia/commons/2/24/How_Cinerama_is_projected.gif">
            <a:extLst>
              <a:ext uri="{FF2B5EF4-FFF2-40B4-BE49-F238E27FC236}">
                <a16:creationId xmlns:a16="http://schemas.microsoft.com/office/drawing/2014/main" id="{434CB4F2-BCDB-4CF0-8941-FC48B4962E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88" r="-5" b="-5"/>
          <a:stretch/>
        </p:blipFill>
        <p:spPr bwMode="auto">
          <a:xfrm>
            <a:off x="7506720" y="1516186"/>
            <a:ext cx="1725985" cy="1666187"/>
          </a:xfrm>
          <a:prstGeom prst="rect">
            <a:avLst/>
          </a:prstGeom>
          <a:solidFill>
            <a:srgbClr val="FFFFFF">
              <a:shade val="85000"/>
            </a:srgbClr>
          </a:solidFill>
          <a:ln w="57150" cmpd="thickThin">
            <a:noFill/>
            <a:miter lim="800000"/>
          </a:ln>
          <a:scene3d>
            <a:camera prst="orthographicFront"/>
            <a:lightRig rig="twoPt" dir="t">
              <a:rot lat="0" lon="0" rev="7200000"/>
            </a:lightRig>
          </a:scene3d>
          <a:sp3d>
            <a:bevelT w="25400" h="19050"/>
            <a:contourClr>
              <a:srgbClr val="FFFFFF"/>
            </a:contourClr>
          </a:sp3d>
        </p:spPr>
      </p:pic>
      <p:pic>
        <p:nvPicPr>
          <p:cNvPr id="3074" name="Picture 2" descr="Image result for cinerama format">
            <a:extLst>
              <a:ext uri="{FF2B5EF4-FFF2-40B4-BE49-F238E27FC236}">
                <a16:creationId xmlns:a16="http://schemas.microsoft.com/office/drawing/2014/main" id="{A741F4D0-2C94-4424-BB7F-9A71CA234BB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348" r="-2" b="-2"/>
          <a:stretch/>
        </p:blipFill>
        <p:spPr bwMode="auto">
          <a:xfrm>
            <a:off x="7506720" y="3416995"/>
            <a:ext cx="3933394" cy="1852210"/>
          </a:xfrm>
          <a:prstGeom prst="rect">
            <a:avLst/>
          </a:prstGeom>
          <a:noFill/>
          <a:ln w="57150" cmpd="thickThin">
            <a:noFill/>
            <a:miter lim="800000"/>
          </a:ln>
          <a:extLst>
            <a:ext uri="{909E8E84-426E-40DD-AFC4-6F175D3DCCD1}">
              <a14:hiddenFill xmlns:a14="http://schemas.microsoft.com/office/drawing/2010/main">
                <a:solidFill>
                  <a:srgbClr val="FFFFFF"/>
                </a:solidFill>
              </a14:hiddenFill>
            </a:ext>
          </a:extLst>
        </p:spPr>
      </p:pic>
      <p:pic>
        <p:nvPicPr>
          <p:cNvPr id="5" name="Picture 8" descr="Image result for cinerama format theater 1960">
            <a:extLst>
              <a:ext uri="{FF2B5EF4-FFF2-40B4-BE49-F238E27FC236}">
                <a16:creationId xmlns:a16="http://schemas.microsoft.com/office/drawing/2014/main" id="{97E228BF-2BB1-4FA4-B59B-AA386168CFC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6472" t="95" r="9077" b="9808"/>
          <a:stretch/>
        </p:blipFill>
        <p:spPr bwMode="auto">
          <a:xfrm>
            <a:off x="9519195" y="1516186"/>
            <a:ext cx="1920919" cy="166619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cinerama">
            <a:extLst>
              <a:ext uri="{FF2B5EF4-FFF2-40B4-BE49-F238E27FC236}">
                <a16:creationId xmlns:a16="http://schemas.microsoft.com/office/drawing/2014/main" id="{563ED3DC-99AF-4722-97BC-0242F6312F3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57828" y="1143000"/>
            <a:ext cx="4255943" cy="1284420"/>
          </a:xfrm>
          <a:prstGeom prst="rect">
            <a:avLst/>
          </a:prstGeom>
          <a:noFill/>
          <a:extLst>
            <a:ext uri="{909E8E84-426E-40DD-AFC4-6F175D3DCCD1}">
              <a14:hiddenFill xmlns:a14="http://schemas.microsoft.com/office/drawing/2010/main">
                <a:solidFill>
                  <a:srgbClr val="FFFFFF"/>
                </a:solidFill>
              </a14:hiddenFill>
            </a:ext>
          </a:extLst>
        </p:spPr>
      </p:pic>
      <p:sp>
        <p:nvSpPr>
          <p:cNvPr id="3081" name="TextBox 3081"/>
          <p:cNvSpPr txBox="1"/>
          <p:nvPr/>
        </p:nvSpPr>
        <p:spPr>
          <a:xfrm>
            <a:off x="3391920" y="576072"/>
            <a:ext cx="8229600" cy="566928"/>
          </a:xfrm>
          <a:prstGeom prst="rect">
            <a:avLst/>
          </a:prstGeom>
          <a:noFill/>
        </p:spPr>
        <p:txBody>
          <a:bodyPr wrap="square" lIns="0" tIns="0" rIns="0" bIns="0" anchor="t">
            <a:normAutofit/>
          </a:bodyPr>
          <a:lstStyle/>
          <a:p>
            <a:pPr algn="l">
              <a:buNone/>
            </a:pPr>
            <a:r>
              <a:rPr lang="en-US" sz="3200" b="1" i="0" dirty="0">
                <a:solidFill>
                  <a:srgbClr val="212121"/>
                </a:solidFill>
              </a:rPr>
              <a:t>Cinerama (1952) - 2.60 : 1</a:t>
            </a:r>
          </a:p>
        </p:txBody>
      </p:sp>
    </p:spTree>
    <p:extLst>
      <p:ext uri="{BB962C8B-B14F-4D97-AF65-F5344CB8AC3E}">
        <p14:creationId xmlns:p14="http://schemas.microsoft.com/office/powerpoint/2010/main" val="1162206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C1893-B1C7-4ECD-B307-FB91893112B9}"/>
              </a:ext>
            </a:extLst>
          </p:cNvPr>
          <p:cNvSpPr>
            <a:spLocks noGrp="1"/>
          </p:cNvSpPr>
          <p:nvPr>
            <p:ph idx="1"/>
          </p:nvPr>
        </p:nvSpPr>
        <p:spPr>
          <a:xfrm>
            <a:off x="1298448" y="3017520"/>
            <a:ext cx="5394960" cy="2743200"/>
          </a:xfrm>
        </p:spPr>
        <p:txBody>
          <a:bodyPr>
            <a:noAutofit/>
          </a:bodyPr>
          <a:lstStyle/>
          <a:p>
            <a:r>
              <a:rPr lang="en-US" sz="1500" dirty="0"/>
              <a:t>20th Century Fox. An anamorphic lens squeezes a wide image onto ordinary 35mm film; a second lens on the projector unsqueezes it.</a:t>
            </a:r>
          </a:p>
          <a:p>
            <a:r>
              <a:rPr lang="en-US" sz="1500" dirty="0"/>
              <a:t>2.66:1 at launch, settling to 2.55:1.</a:t>
            </a:r>
          </a:p>
          <a:p>
            <a:r>
              <a:rPr lang="en-US" sz="1500" dirty="0"/>
              <a:t>20,000 Leagues Under the Sea - Lady and the Tramp, the first animated feature in the format.</a:t>
            </a:r>
          </a:p>
        </p:txBody>
      </p:sp>
      <p:pic>
        <p:nvPicPr>
          <p:cNvPr id="6148" name="Picture 4" descr="Image result for cinemascope">
            <a:extLst>
              <a:ext uri="{FF2B5EF4-FFF2-40B4-BE49-F238E27FC236}">
                <a16:creationId xmlns:a16="http://schemas.microsoft.com/office/drawing/2014/main" id="{CB63FED6-7446-41A7-8F08-17C2EB8442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248" b="30133"/>
          <a:stretch/>
        </p:blipFill>
        <p:spPr bwMode="auto">
          <a:xfrm>
            <a:off x="1291939" y="675409"/>
            <a:ext cx="9597734" cy="173528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Image result for cinemascope">
            <a:extLst>
              <a:ext uri="{FF2B5EF4-FFF2-40B4-BE49-F238E27FC236}">
                <a16:creationId xmlns:a16="http://schemas.microsoft.com/office/drawing/2014/main" id="{A070315A-0AB4-4D11-BA4B-1124F49725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6600" y="2724912"/>
            <a:ext cx="1737360" cy="14511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51" name="20000 Leagues"/>
          <p:cNvPicPr>
            <a:picLocks noChangeAspect="1"/>
          </p:cNvPicPr>
          <p:nvPr/>
        </p:nvPicPr>
        <p:blipFill>
          <a:blip r:embed="rId5"/>
          <a:stretch>
            <a:fillRect/>
          </a:stretch>
        </p:blipFill>
        <p:spPr>
          <a:xfrm>
            <a:off x="9052560" y="2724912"/>
            <a:ext cx="1737360" cy="1297534"/>
          </a:xfrm>
          <a:prstGeom prst="rect">
            <a:avLst/>
          </a:prstGeom>
        </p:spPr>
      </p:pic>
      <p:pic>
        <p:nvPicPr>
          <p:cNvPr id="6152" name="Lady and the Tramp"/>
          <p:cNvPicPr>
            <a:picLocks noChangeAspect="1"/>
          </p:cNvPicPr>
          <p:nvPr/>
        </p:nvPicPr>
        <p:blipFill>
          <a:blip r:embed="rId6"/>
          <a:stretch>
            <a:fillRect/>
          </a:stretch>
        </p:blipFill>
        <p:spPr>
          <a:xfrm>
            <a:off x="8183880" y="4389120"/>
            <a:ext cx="960120" cy="1485900"/>
          </a:xfrm>
          <a:prstGeom prst="rect">
            <a:avLst/>
          </a:prstGeom>
        </p:spPr>
      </p:pic>
      <p:sp>
        <p:nvSpPr>
          <p:cNvPr id="6153" name="TextBox 6153"/>
          <p:cNvSpPr txBox="1"/>
          <p:nvPr/>
        </p:nvSpPr>
        <p:spPr>
          <a:xfrm>
            <a:off x="1298448" y="2487168"/>
            <a:ext cx="5120640" cy="457200"/>
          </a:xfrm>
          <a:prstGeom prst="rect">
            <a:avLst/>
          </a:prstGeom>
          <a:noFill/>
        </p:spPr>
        <p:txBody>
          <a:bodyPr wrap="square" lIns="0" tIns="0" rIns="0" bIns="0" anchor="t">
            <a:normAutofit lnSpcReduction="10000"/>
          </a:bodyPr>
          <a:lstStyle/>
          <a:p>
            <a:pPr algn="l">
              <a:buNone/>
            </a:pPr>
            <a:r>
              <a:rPr lang="en-US" sz="3200" b="1" i="0" dirty="0">
                <a:solidFill>
                  <a:srgbClr val="212121"/>
                </a:solidFill>
              </a:rPr>
              <a:t>CinemaScope (1953)</a:t>
            </a:r>
          </a:p>
        </p:txBody>
      </p:sp>
    </p:spTree>
    <p:extLst>
      <p:ext uri="{BB962C8B-B14F-4D97-AF65-F5344CB8AC3E}">
        <p14:creationId xmlns:p14="http://schemas.microsoft.com/office/powerpoint/2010/main" val="68166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B098C-E5A2-4983-8AA8-A915B41C1EAA}"/>
              </a:ext>
            </a:extLst>
          </p:cNvPr>
          <p:cNvSpPr>
            <a:spLocks noGrp="1"/>
          </p:cNvSpPr>
          <p:nvPr>
            <p:ph idx="1"/>
          </p:nvPr>
        </p:nvSpPr>
        <p:spPr>
          <a:xfrm>
            <a:off x="1295401" y="2784764"/>
            <a:ext cx="9601196" cy="3091104"/>
          </a:xfrm>
        </p:spPr>
        <p:txBody>
          <a:bodyPr/>
          <a:lstStyle/>
          <a:p>
            <a:r>
              <a:rPr lang="en-US" dirty="0"/>
              <a:t>Late 1950s. Fixed CinemaScope's distortion problems and became the industry standard.</a:t>
            </a:r>
          </a:p>
          <a:p>
            <a:r>
              <a:rPr lang="en-US" dirty="0"/>
              <a:t>2.39:1* and 1.85:1 - still the two shapes you will actually work in.</a:t>
            </a:r>
          </a:p>
          <a:p>
            <a:endParaRPr lang="en-US" sz="2800" dirty="0"/>
          </a:p>
          <a:p>
            <a:pPr marL="0" indent="0">
              <a:buNone/>
            </a:pPr>
            <a:r>
              <a:rPr lang="en-US" sz="1600" dirty="0"/>
              <a:t>* Originally 2.35:1, but later modified to this format.</a:t>
            </a:r>
          </a:p>
        </p:txBody>
      </p:sp>
      <p:pic>
        <p:nvPicPr>
          <p:cNvPr id="1026" name="Picture 2" descr="Image result for panavision">
            <a:extLst>
              <a:ext uri="{FF2B5EF4-FFF2-40B4-BE49-F238E27FC236}">
                <a16:creationId xmlns:a16="http://schemas.microsoft.com/office/drawing/2014/main" id="{9D17F1E1-8791-4911-8159-A99143228F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65719" y="542493"/>
            <a:ext cx="4460562" cy="1847416"/>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7"/>
          <p:cNvSpPr txBox="1"/>
          <p:nvPr/>
        </p:nvSpPr>
        <p:spPr>
          <a:xfrm>
            <a:off x="1298448" y="2450592"/>
            <a:ext cx="5486400" cy="457200"/>
          </a:xfrm>
          <a:prstGeom prst="rect">
            <a:avLst/>
          </a:prstGeom>
          <a:noFill/>
        </p:spPr>
        <p:txBody>
          <a:bodyPr wrap="square" lIns="0" tIns="0" rIns="0" bIns="0" anchor="t">
            <a:normAutofit lnSpcReduction="10000"/>
          </a:bodyPr>
          <a:lstStyle/>
          <a:p>
            <a:pPr algn="l">
              <a:buNone/>
            </a:pPr>
            <a:r>
              <a:rPr lang="en-US" sz="3200" b="1" i="0" dirty="0">
                <a:solidFill>
                  <a:srgbClr val="212121"/>
                </a:solidFill>
              </a:rPr>
              <a:t>Panavision</a:t>
            </a:r>
          </a:p>
        </p:txBody>
      </p:sp>
    </p:spTree>
    <p:extLst>
      <p:ext uri="{BB962C8B-B14F-4D97-AF65-F5344CB8AC3E}">
        <p14:creationId xmlns:p14="http://schemas.microsoft.com/office/powerpoint/2010/main" val="4048694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The Two Ratios You'll Actually Use</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028700" y="2556932"/>
            <a:ext cx="4135540" cy="3318936"/>
          </a:xfrm>
        </p:spPr>
        <p:txBody>
          <a:bodyPr>
            <a:normAutofit fontScale="92500" lnSpcReduction="20000"/>
          </a:bodyPr>
          <a:lstStyle/>
          <a:p>
            <a:r>
              <a:rPr lang="en-US" dirty="0"/>
              <a:t>1.85 : 1 - comedy, drama, most animated features. The default.</a:t>
            </a:r>
          </a:p>
          <a:p>
            <a:r>
              <a:rPr lang="en-US" dirty="0"/>
              <a:t>2.39 : 1 - the epic one. Gladiator, The Lord of the Rings, Braveheart.</a:t>
            </a:r>
          </a:p>
          <a:p>
            <a:r>
              <a:rPr lang="en-US" dirty="0"/>
              <a:t>Same story, different shape - and the shape changes what you can put in frame at once.</a:t>
            </a:r>
          </a:p>
        </p:txBody>
      </p:sp>
      <p:pic>
        <p:nvPicPr>
          <p:cNvPr id="2052" name="Picture 4" descr="http://www.lyberty.com/mediatech/img/185-1_waroftheworlds1.jpg">
            <a:extLst>
              <a:ext uri="{FF2B5EF4-FFF2-40B4-BE49-F238E27FC236}">
                <a16:creationId xmlns:a16="http://schemas.microsoft.com/office/drawing/2014/main" id="{F3D92FB7-B4AA-45CF-A32E-ABE8208C1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9280" y="2331720"/>
            <a:ext cx="3931920" cy="2125066"/>
          </a:xfrm>
          <a:prstGeom prst="rect">
            <a:avLst/>
          </a:prstGeom>
          <a:noFill/>
          <a:extLst>
            <a:ext uri="{909E8E84-426E-40DD-AFC4-6F175D3DCCD1}">
              <a14:hiddenFill xmlns:a14="http://schemas.microsoft.com/office/drawing/2010/main">
                <a:solidFill>
                  <a:srgbClr val="FFFFFF"/>
                </a:solidFill>
              </a14:hiddenFill>
            </a:ext>
          </a:extLst>
        </p:spPr>
      </p:pic>
      <p:pic>
        <p:nvPicPr>
          <p:cNvPr id="2053" name="Epic ratio example"/>
          <p:cNvPicPr>
            <a:picLocks noChangeAspect="1"/>
          </p:cNvPicPr>
          <p:nvPr/>
        </p:nvPicPr>
        <p:blipFill>
          <a:blip r:embed="rId4"/>
          <a:stretch>
            <a:fillRect/>
          </a:stretch>
        </p:blipFill>
        <p:spPr>
          <a:xfrm>
            <a:off x="5669280" y="4572000"/>
            <a:ext cx="3931920" cy="1622146"/>
          </a:xfrm>
          <a:prstGeom prst="rect">
            <a:avLst/>
          </a:prstGeom>
        </p:spPr>
      </p:pic>
    </p:spTree>
    <p:extLst>
      <p:ext uri="{BB962C8B-B14F-4D97-AF65-F5344CB8AC3E}">
        <p14:creationId xmlns:p14="http://schemas.microsoft.com/office/powerpoint/2010/main" val="1133807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The Mismatch</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normAutofit/>
          </a:bodyPr>
          <a:lstStyle/>
          <a:p>
            <a:r>
              <a:rPr lang="en-US" dirty="0"/>
              <a:t>A cinema frame is far wider relative to its height than a 1.33:1 television.</a:t>
            </a:r>
          </a:p>
          <a:p>
            <a:r>
              <a:rPr lang="en-US" dirty="0"/>
              <a:t>Show a 2.39:1 film on a 1.33:1 screen unaltered and most of the picture has nowhere to go.</a:t>
            </a:r>
          </a:p>
          <a:p>
            <a:r>
              <a:rPr lang="en-US" dirty="0"/>
              <a:t>Something has to give. The question is what, and who decides.</a:t>
            </a:r>
          </a:p>
        </p:txBody>
      </p:sp>
    </p:spTree>
    <p:extLst>
      <p:ext uri="{BB962C8B-B14F-4D97-AF65-F5344CB8AC3E}">
        <p14:creationId xmlns:p14="http://schemas.microsoft.com/office/powerpoint/2010/main" val="105440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Pan &amp; Scan</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670214" y="2720067"/>
            <a:ext cx="4909333" cy="3318936"/>
          </a:xfrm>
        </p:spPr>
        <p:txBody>
          <a:bodyPr>
            <a:noAutofit/>
          </a:bodyPr>
          <a:lstStyle/>
          <a:p>
            <a:r>
              <a:rPr lang="en-US" sz="2000" dirty="0"/>
              <a:t>20th Century Fox, early 1960s.</a:t>
            </a:r>
          </a:p>
          <a:p>
            <a:r>
              <a:rPr lang="en-US" sz="2000" dirty="0"/>
              <a:t>Crop the wide frame down to 1.33:1, and pan within the original image to follow whatever a technician judges to be the subject.</a:t>
            </a:r>
          </a:p>
          <a:p>
            <a:r>
              <a:rPr lang="en-US" sz="2000" dirty="0"/>
              <a:t>Every frame of the film gets re-composed by somebody who was not there.</a:t>
            </a:r>
          </a:p>
        </p:txBody>
      </p:sp>
      <p:pic>
        <p:nvPicPr>
          <p:cNvPr id="4" name="Picture 2" descr="Image result for pan and scan example">
            <a:extLst>
              <a:ext uri="{FF2B5EF4-FFF2-40B4-BE49-F238E27FC236}">
                <a16:creationId xmlns:a16="http://schemas.microsoft.com/office/drawing/2014/main" id="{20958DC7-8F98-48F8-B3A1-9DE089E98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0067"/>
            <a:ext cx="572452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164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What Pan &amp; Scan Costs You</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fontScale="92500"/>
          </a:bodyPr>
          <a:lstStyle/>
          <a:p>
            <a:r>
              <a:rPr lang="en-US" dirty="0">
                <a:solidFill>
                  <a:schemeClr val="tx1"/>
                </a:solidFill>
              </a:rPr>
              <a:t>A 1.85:1 frame cropped to 1.33:1 loses about 28% of its width.</a:t>
            </a:r>
          </a:p>
          <a:p>
            <a:r>
              <a:rPr lang="en-US" dirty="0">
                <a:solidFill>
                  <a:schemeClr val="tx1"/>
                </a:solidFill>
              </a:rPr>
              <a:t>A 2.35:1 frame loses about 43% - close to half the image.</a:t>
            </a:r>
          </a:p>
          <a:p>
            <a:r>
              <a:rPr lang="en-US" dirty="0">
                <a:solidFill>
                  <a:schemeClr val="tx1"/>
                </a:solidFill>
              </a:rPr>
              <a:t>Two characters at opposite edges of a composition: now you can only have one.</a:t>
            </a:r>
          </a:p>
        </p:txBody>
      </p:sp>
      <p:pic>
        <p:nvPicPr>
          <p:cNvPr id="1026" name="Picture 2" descr="Image result for pan and scan example">
            <a:extLst>
              <a:ext uri="{FF2B5EF4-FFF2-40B4-BE49-F238E27FC236}">
                <a16:creationId xmlns:a16="http://schemas.microsoft.com/office/drawing/2014/main" id="{15E435F6-3E5B-4543-B274-92871A35C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0067"/>
            <a:ext cx="572452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30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Letterboxing</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fontScale="92500" lnSpcReduction="10000"/>
          </a:bodyPr>
          <a:lstStyle/>
          <a:p>
            <a:r>
              <a:rPr lang="en-US" dirty="0">
                <a:solidFill>
                  <a:schemeClr val="tx1"/>
                </a:solidFill>
              </a:rPr>
              <a:t>The other answer: keep the whole frame, shrink it, and accept black bars.</a:t>
            </a:r>
          </a:p>
          <a:p>
            <a:r>
              <a:rPr lang="en-US" dirty="0">
                <a:solidFill>
                  <a:schemeClr val="tx1"/>
                </a:solidFill>
              </a:rPr>
              <a:t>Directors pushed for it. Audiences complained the picture was smaller.</a:t>
            </a:r>
          </a:p>
          <a:p>
            <a:r>
              <a:rPr lang="en-US" dirty="0">
                <a:solidFill>
                  <a:schemeClr val="tx1"/>
                </a:solidFill>
              </a:rPr>
              <a:t>Nothing is thrown away and nobody re-composes anything.</a:t>
            </a:r>
          </a:p>
        </p:txBody>
      </p:sp>
      <p:pic>
        <p:nvPicPr>
          <p:cNvPr id="2050" name="Picture 2" descr="Image result for letterboxing aspect ratio">
            <a:extLst>
              <a:ext uri="{FF2B5EF4-FFF2-40B4-BE49-F238E27FC236}">
                <a16:creationId xmlns:a16="http://schemas.microsoft.com/office/drawing/2014/main" id="{3A3C3359-8AE4-4486-ADA6-A85493EEE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4765"/>
            <a:ext cx="571500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968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lstStyle/>
          <a:p>
            <a:r>
              <a:rPr lang="en-US" dirty="0"/>
              <a:t>Why This History Still Matters</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4649931" cy="3318936"/>
          </a:xfrm>
        </p:spPr>
        <p:txBody>
          <a:bodyPr>
            <a:normAutofit/>
          </a:bodyPr>
          <a:lstStyle/>
          <a:p>
            <a:r>
              <a:rPr lang="en-US" dirty="0">
                <a:solidFill>
                  <a:schemeClr val="tx1"/>
                </a:solidFill>
              </a:rPr>
              <a:t>Every fight on the last four slides is the same fight:</a:t>
            </a:r>
          </a:p>
          <a:p>
            <a:r>
              <a:rPr lang="en-US" dirty="0">
                <a:solidFill>
                  <a:schemeClr val="tx1"/>
                </a:solidFill>
              </a:rPr>
              <a:t>a mismatch between the shape something was made in and the shape it gets watched in.</a:t>
            </a:r>
          </a:p>
          <a:p>
            <a:r>
              <a:rPr lang="en-US" dirty="0">
                <a:solidFill>
                  <a:schemeClr val="tx1"/>
                </a:solidFill>
              </a:rPr>
              <a:t>That fight never ended. It moved.</a:t>
            </a:r>
          </a:p>
        </p:txBody>
      </p:sp>
      <p:pic>
        <p:nvPicPr>
          <p:cNvPr id="2050" name="Picture 2" descr="Image result for letterboxing aspect ratio">
            <a:extLst>
              <a:ext uri="{FF2B5EF4-FFF2-40B4-BE49-F238E27FC236}">
                <a16:creationId xmlns:a16="http://schemas.microsoft.com/office/drawing/2014/main" id="{3A3C3359-8AE4-4486-ADA6-A85493EEE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547" y="2724765"/>
            <a:ext cx="571500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620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Today's Actual Landscape</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8448" y="2514600"/>
            <a:ext cx="5074920" cy="3108960"/>
          </a:xfrm>
        </p:spPr>
        <p:txBody>
          <a:bodyPr>
            <a:normAutofit lnSpcReduction="10000"/>
          </a:bodyPr>
          <a:lstStyle/>
          <a:p>
            <a:r>
              <a:rPr lang="en-US" sz="1700" dirty="0">
                <a:solidFill>
                  <a:schemeClr val="tx1"/>
                </a:solidFill>
              </a:rPr>
              <a:t>16:9 (1.78:1) - streaming and broadcast default</a:t>
            </a:r>
          </a:p>
          <a:p>
            <a:r>
              <a:rPr lang="en-US" sz="1700" dirty="0">
                <a:solidFill>
                  <a:schemeClr val="tx1"/>
                </a:solidFill>
              </a:rPr>
              <a:t>2.39:1 - features, and anything that wants to feel like one</a:t>
            </a:r>
          </a:p>
          <a:p>
            <a:r>
              <a:rPr lang="en-US" sz="1700" dirty="0">
                <a:solidFill>
                  <a:schemeClr val="tx1"/>
                </a:solidFill>
              </a:rPr>
              <a:t>9:16 vertical - phones and short form. A genuinely new shape.</a:t>
            </a:r>
          </a:p>
          <a:p>
            <a:r>
              <a:rPr lang="en-US" sz="1700" dirty="0">
                <a:solidFill>
                  <a:schemeClr val="tx1"/>
                </a:solidFill>
              </a:rPr>
              <a:t>4:3 revived deliberately, as a period or claustrophobia cue</a:t>
            </a:r>
          </a:p>
          <a:p>
            <a:r>
              <a:rPr lang="en-US" sz="1700" dirty="0">
                <a:solidFill>
                  <a:schemeClr val="tx1"/>
                </a:solidFill>
              </a:rPr>
              <a:t>IMAX sequences that change ratio partway through a film</a:t>
            </a:r>
          </a:p>
        </p:txBody>
      </p:sp>
      <p:sp>
        <p:nvSpPr>
          <p:cNvPr id="4" name="Rect 4"/>
          <p:cNvSpPr/>
          <p:nvPr/>
        </p:nvSpPr>
        <p:spPr>
          <a:xfrm>
            <a:off x="6903720" y="2560320"/>
            <a:ext cx="729691" cy="548640"/>
          </a:xfrm>
          <a:prstGeom prst="rect">
            <a:avLst/>
          </a:prstGeom>
          <a:solidFill>
            <a:srgbClr val="D9B247"/>
          </a:solidFill>
          <a:ln>
            <a:noFill/>
          </a:ln>
        </p:spPr>
        <p:txBody>
          <a:bodyPr/>
          <a:lstStyle/>
          <a:p>
            <a:pPr>
              <a:buNone/>
            </a:pPr>
            <a:endParaRPr lang="en-US"/>
          </a:p>
        </p:txBody>
      </p:sp>
      <p:sp>
        <p:nvSpPr>
          <p:cNvPr id="5" name="TextBox 5"/>
          <p:cNvSpPr txBox="1"/>
          <p:nvPr/>
        </p:nvSpPr>
        <p:spPr>
          <a:xfrm>
            <a:off x="9646920" y="2706624"/>
            <a:ext cx="1554480" cy="274320"/>
          </a:xfrm>
          <a:prstGeom prst="rect">
            <a:avLst/>
          </a:prstGeom>
          <a:noFill/>
        </p:spPr>
        <p:txBody>
          <a:bodyPr wrap="square" lIns="0" tIns="0" rIns="0" bIns="0" anchor="t">
            <a:normAutofit/>
          </a:bodyPr>
          <a:lstStyle/>
          <a:p>
            <a:pPr algn="l">
              <a:buNone/>
            </a:pPr>
            <a:r>
              <a:rPr lang="en-US" sz="1100" b="1" i="0" dirty="0">
                <a:solidFill>
                  <a:srgbClr val="212121"/>
                </a:solidFill>
              </a:rPr>
              <a:t>4:3  -  1.33:1</a:t>
            </a:r>
          </a:p>
        </p:txBody>
      </p:sp>
      <p:sp>
        <p:nvSpPr>
          <p:cNvPr id="6" name="Rect 6"/>
          <p:cNvSpPr/>
          <p:nvPr/>
        </p:nvSpPr>
        <p:spPr>
          <a:xfrm>
            <a:off x="6903720" y="3346704"/>
            <a:ext cx="976579" cy="548640"/>
          </a:xfrm>
          <a:prstGeom prst="rect">
            <a:avLst/>
          </a:prstGeom>
          <a:solidFill>
            <a:srgbClr val="CC702D"/>
          </a:solidFill>
          <a:ln>
            <a:noFill/>
          </a:ln>
        </p:spPr>
        <p:txBody>
          <a:bodyPr/>
          <a:lstStyle/>
          <a:p>
            <a:pPr>
              <a:buNone/>
            </a:pPr>
            <a:endParaRPr lang="en-US"/>
          </a:p>
        </p:txBody>
      </p:sp>
      <p:sp>
        <p:nvSpPr>
          <p:cNvPr id="7" name="TextBox 7"/>
          <p:cNvSpPr txBox="1"/>
          <p:nvPr/>
        </p:nvSpPr>
        <p:spPr>
          <a:xfrm>
            <a:off x="9646920" y="3493008"/>
            <a:ext cx="1554480" cy="274320"/>
          </a:xfrm>
          <a:prstGeom prst="rect">
            <a:avLst/>
          </a:prstGeom>
          <a:noFill/>
        </p:spPr>
        <p:txBody>
          <a:bodyPr wrap="square" lIns="0" tIns="0" rIns="0" bIns="0" anchor="t">
            <a:normAutofit/>
          </a:bodyPr>
          <a:lstStyle/>
          <a:p>
            <a:pPr algn="l">
              <a:buNone/>
            </a:pPr>
            <a:r>
              <a:rPr lang="en-US" sz="1100" b="1" i="0" dirty="0">
                <a:solidFill>
                  <a:srgbClr val="212121"/>
                </a:solidFill>
              </a:rPr>
              <a:t>16:9  -  1.78:1</a:t>
            </a:r>
          </a:p>
        </p:txBody>
      </p:sp>
      <p:sp>
        <p:nvSpPr>
          <p:cNvPr id="8" name="Rect 8"/>
          <p:cNvSpPr/>
          <p:nvPr/>
        </p:nvSpPr>
        <p:spPr>
          <a:xfrm>
            <a:off x="6903720" y="4133088"/>
            <a:ext cx="1311250" cy="548640"/>
          </a:xfrm>
          <a:prstGeom prst="rect">
            <a:avLst/>
          </a:prstGeom>
          <a:solidFill>
            <a:srgbClr val="B53A31"/>
          </a:solidFill>
          <a:ln>
            <a:noFill/>
          </a:ln>
        </p:spPr>
        <p:txBody>
          <a:bodyPr/>
          <a:lstStyle/>
          <a:p>
            <a:pPr>
              <a:buNone/>
            </a:pPr>
            <a:endParaRPr lang="en-US"/>
          </a:p>
        </p:txBody>
      </p:sp>
      <p:sp>
        <p:nvSpPr>
          <p:cNvPr id="9" name="TextBox 9"/>
          <p:cNvSpPr txBox="1"/>
          <p:nvPr/>
        </p:nvSpPr>
        <p:spPr>
          <a:xfrm>
            <a:off x="9646920" y="4279392"/>
            <a:ext cx="1554480" cy="274320"/>
          </a:xfrm>
          <a:prstGeom prst="rect">
            <a:avLst/>
          </a:prstGeom>
          <a:noFill/>
        </p:spPr>
        <p:txBody>
          <a:bodyPr wrap="square" lIns="0" tIns="0" rIns="0" bIns="0" anchor="t">
            <a:normAutofit/>
          </a:bodyPr>
          <a:lstStyle/>
          <a:p>
            <a:pPr algn="l">
              <a:buNone/>
            </a:pPr>
            <a:r>
              <a:rPr lang="en-US" sz="1100" b="1" i="0" dirty="0">
                <a:solidFill>
                  <a:srgbClr val="212121"/>
                </a:solidFill>
              </a:rPr>
              <a:t>2.39:1</a:t>
            </a:r>
          </a:p>
        </p:txBody>
      </p:sp>
      <p:sp>
        <p:nvSpPr>
          <p:cNvPr id="10" name="Rect 10"/>
          <p:cNvSpPr/>
          <p:nvPr/>
        </p:nvSpPr>
        <p:spPr>
          <a:xfrm>
            <a:off x="6903720" y="4919472"/>
            <a:ext cx="540068" cy="960120"/>
          </a:xfrm>
          <a:prstGeom prst="rect">
            <a:avLst/>
          </a:prstGeom>
          <a:solidFill>
            <a:srgbClr val="7B8865"/>
          </a:solidFill>
          <a:ln>
            <a:noFill/>
          </a:ln>
        </p:spPr>
        <p:txBody>
          <a:bodyPr/>
          <a:lstStyle/>
          <a:p>
            <a:pPr>
              <a:buNone/>
            </a:pPr>
            <a:endParaRPr lang="en-US"/>
          </a:p>
        </p:txBody>
      </p:sp>
      <p:sp>
        <p:nvSpPr>
          <p:cNvPr id="11" name="TextBox 11"/>
          <p:cNvSpPr txBox="1"/>
          <p:nvPr/>
        </p:nvSpPr>
        <p:spPr>
          <a:xfrm>
            <a:off x="9646920" y="5271516"/>
            <a:ext cx="1554480" cy="274320"/>
          </a:xfrm>
          <a:prstGeom prst="rect">
            <a:avLst/>
          </a:prstGeom>
          <a:noFill/>
        </p:spPr>
        <p:txBody>
          <a:bodyPr wrap="square" lIns="0" tIns="0" rIns="0" bIns="0" anchor="t">
            <a:normAutofit/>
          </a:bodyPr>
          <a:lstStyle/>
          <a:p>
            <a:pPr algn="l">
              <a:buNone/>
            </a:pPr>
            <a:r>
              <a:rPr lang="en-US" sz="1100" b="1" i="0" dirty="0">
                <a:solidFill>
                  <a:srgbClr val="212121"/>
                </a:solidFill>
              </a:rPr>
              <a:t>9:16 vertical</a:t>
            </a:r>
          </a:p>
        </p:txBody>
      </p:sp>
      <p:sp>
        <p:nvSpPr>
          <p:cNvPr id="12" name="TextBox 12"/>
          <p:cNvSpPr txBox="1"/>
          <p:nvPr/>
        </p:nvSpPr>
        <p:spPr>
          <a:xfrm>
            <a:off x="6903720" y="5989320"/>
            <a:ext cx="4114800" cy="256032"/>
          </a:xfrm>
          <a:prstGeom prst="rect">
            <a:avLst/>
          </a:prstGeom>
          <a:noFill/>
        </p:spPr>
        <p:txBody>
          <a:bodyPr wrap="square" lIns="0" tIns="0" rIns="0" bIns="0" anchor="t">
            <a:normAutofit/>
          </a:bodyPr>
          <a:lstStyle/>
          <a:p>
            <a:pPr algn="l">
              <a:buNone/>
            </a:pPr>
            <a:r>
              <a:rPr lang="en-US" sz="900" b="0" i="0" dirty="0">
                <a:solidFill>
                  <a:srgbClr val="6B6B6B"/>
                </a:solidFill>
              </a:rPr>
              <a:t>Horizontals drawn to a common height.</a:t>
            </a:r>
          </a:p>
        </p:txBody>
      </p:sp>
    </p:spTree>
    <p:extLst>
      <p:ext uri="{BB962C8B-B14F-4D97-AF65-F5344CB8AC3E}">
        <p14:creationId xmlns:p14="http://schemas.microsoft.com/office/powerpoint/2010/main" val="3613068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Games Don't Get to Pick</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lstStyle/>
          <a:p>
            <a:r>
              <a:rPr lang="en-US" dirty="0">
                <a:solidFill>
                  <a:schemeClr val="tx1"/>
                </a:solidFill>
              </a:rPr>
              <a:t>The same game runs on a 16:9 laptop, a 21:9 ultrawide, a 4:3 projector and a phone.</a:t>
            </a:r>
          </a:p>
          <a:p>
            <a:r>
              <a:rPr lang="en-US" dirty="0">
                <a:solidFill>
                  <a:schemeClr val="tx1"/>
                </a:solidFill>
              </a:rPr>
              <a:t>The frame is </a:t>
            </a:r>
            <a:r>
              <a:rPr lang="en-US" b="1" dirty="0">
                <a:solidFill>
                  <a:schemeClr val="tx1"/>
                </a:solidFill>
              </a:rPr>
              <a:t>variable</a:t>
            </a:r>
            <a:r>
              <a:rPr lang="en-US" dirty="0">
                <a:solidFill>
                  <a:schemeClr val="tx1"/>
                </a:solidFill>
              </a:rPr>
              <a:t>, and the </a:t>
            </a:r>
            <a:r>
              <a:rPr lang="en-US" b="1" dirty="0">
                <a:solidFill>
                  <a:schemeClr val="tx1"/>
                </a:solidFill>
              </a:rPr>
              <a:t>composition has to survive all of it.</a:t>
            </a:r>
          </a:p>
          <a:p>
            <a:r>
              <a:rPr lang="en-US" dirty="0">
                <a:solidFill>
                  <a:schemeClr val="tx1"/>
                </a:solidFill>
              </a:rPr>
              <a:t>Which means composing for a range of shapes rather than a shape.</a:t>
            </a:r>
          </a:p>
        </p:txBody>
      </p:sp>
    </p:spTree>
    <p:extLst>
      <p:ext uri="{BB962C8B-B14F-4D97-AF65-F5344CB8AC3E}">
        <p14:creationId xmlns:p14="http://schemas.microsoft.com/office/powerpoint/2010/main" val="3613068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normAutofit fontScale="90000"/>
          </a:bodyPr>
          <a:lstStyle/>
          <a:p>
            <a:r>
              <a:rPr lang="en-US" dirty="0"/>
              <a:t>So the Question Isn't What's Correct</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lstStyle/>
          <a:p>
            <a:r>
              <a:rPr lang="en-US" dirty="0">
                <a:solidFill>
                  <a:schemeClr val="tx1"/>
                </a:solidFill>
              </a:rPr>
              <a:t>The question is: what shape is this being watched in?</a:t>
            </a:r>
          </a:p>
          <a:p>
            <a:r>
              <a:rPr lang="en-US" dirty="0">
                <a:solidFill>
                  <a:schemeClr val="tx1"/>
                </a:solidFill>
              </a:rPr>
              <a:t>And: did I compose for that shape, or for a different one?</a:t>
            </a:r>
          </a:p>
          <a:p>
            <a:r>
              <a:rPr lang="en-US" dirty="0">
                <a:solidFill>
                  <a:schemeClr val="tx1"/>
                </a:solidFill>
              </a:rPr>
              <a:t>That card from the start of the session was a warning about exactly this. It applies to your work now.</a:t>
            </a:r>
          </a:p>
        </p:txBody>
      </p:sp>
    </p:spTree>
    <p:extLst>
      <p:ext uri="{BB962C8B-B14F-4D97-AF65-F5344CB8AC3E}">
        <p14:creationId xmlns:p14="http://schemas.microsoft.com/office/powerpoint/2010/main" val="3613068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normAutofit fontScale="90000"/>
          </a:bodyPr>
          <a:lstStyle/>
          <a:p>
            <a:r>
              <a:rPr lang="en-US" dirty="0"/>
              <a:t>Two Directions of the Same Arithmetic</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10355036" cy="3318936"/>
          </a:xfrm>
        </p:spPr>
        <p:txBody>
          <a:bodyPr>
            <a:normAutofit/>
          </a:bodyPr>
          <a:lstStyle/>
          <a:p>
            <a:r>
              <a:rPr lang="en-US" dirty="0">
                <a:solidFill>
                  <a:schemeClr val="tx1"/>
                </a:solidFill>
              </a:rPr>
              <a:t>Either you </a:t>
            </a:r>
            <a:r>
              <a:rPr lang="en-US" b="1" dirty="0">
                <a:solidFill>
                  <a:schemeClr val="tx1"/>
                </a:solidFill>
              </a:rPr>
              <a:t>know the ratio </a:t>
            </a:r>
            <a:r>
              <a:rPr lang="en-US" dirty="0">
                <a:solidFill>
                  <a:schemeClr val="tx1"/>
                </a:solidFill>
              </a:rPr>
              <a:t>and need the frame size,</a:t>
            </a:r>
          </a:p>
          <a:p>
            <a:r>
              <a:rPr lang="en-US" b="1" dirty="0">
                <a:solidFill>
                  <a:schemeClr val="tx1"/>
                </a:solidFill>
              </a:rPr>
              <a:t>or you know the frame </a:t>
            </a:r>
            <a:r>
              <a:rPr lang="en-US" dirty="0">
                <a:solidFill>
                  <a:schemeClr val="tx1"/>
                </a:solidFill>
              </a:rPr>
              <a:t>size and need the ratio.</a:t>
            </a:r>
          </a:p>
          <a:p>
            <a:r>
              <a:rPr lang="en-US" dirty="0">
                <a:solidFill>
                  <a:schemeClr val="tx1"/>
                </a:solidFill>
              </a:rPr>
              <a:t>One </a:t>
            </a:r>
            <a:r>
              <a:rPr lang="en-US" b="1" dirty="0">
                <a:solidFill>
                  <a:schemeClr val="tx1"/>
                </a:solidFill>
              </a:rPr>
              <a:t>multiplication and one division</a:t>
            </a:r>
            <a:r>
              <a:rPr lang="en-US" dirty="0">
                <a:solidFill>
                  <a:schemeClr val="tx1"/>
                </a:solidFill>
              </a:rPr>
              <a:t>. That is the whole of it.</a:t>
            </a:r>
          </a:p>
          <a:p>
            <a:pPr marL="0" indent="0">
              <a:buNone/>
            </a:pPr>
            <a:endParaRPr lang="en-US" dirty="0">
              <a:solidFill>
                <a:schemeClr val="tx1"/>
              </a:solidFill>
            </a:endParaRPr>
          </a:p>
        </p:txBody>
      </p:sp>
    </p:spTree>
    <p:extLst>
      <p:ext uri="{BB962C8B-B14F-4D97-AF65-F5344CB8AC3E}">
        <p14:creationId xmlns:p14="http://schemas.microsoft.com/office/powerpoint/2010/main" val="2360759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normAutofit/>
          </a:bodyPr>
          <a:lstStyle/>
          <a:p>
            <a:r>
              <a:rPr lang="en-US" dirty="0"/>
              <a:t>Ratio to Frame Size</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10355036" cy="3318936"/>
          </a:xfrm>
        </p:spPr>
        <p:txBody>
          <a:bodyPr>
            <a:normAutofit/>
          </a:bodyPr>
          <a:lstStyle/>
          <a:p>
            <a:r>
              <a:rPr lang="en-US" dirty="0">
                <a:solidFill>
                  <a:schemeClr val="tx1"/>
                </a:solidFill>
              </a:rPr>
              <a:t>Pick the height you want to draw at. Multiply by the ratio. That is your width.</a:t>
            </a:r>
          </a:p>
          <a:p>
            <a:r>
              <a:rPr lang="en-US" b="1" dirty="0">
                <a:solidFill>
                  <a:schemeClr val="tx1"/>
                </a:solidFill>
              </a:rPr>
              <a:t>4 inches tall x 1.85  </a:t>
            </a:r>
            <a:r>
              <a:rPr lang="en-US" dirty="0">
                <a:solidFill>
                  <a:schemeClr val="tx1"/>
                </a:solidFill>
              </a:rPr>
              <a:t>=  </a:t>
            </a:r>
            <a:r>
              <a:rPr lang="en-US" b="1" dirty="0">
                <a:solidFill>
                  <a:schemeClr val="tx1"/>
                </a:solidFill>
              </a:rPr>
              <a:t>7.4 inches wide</a:t>
            </a:r>
          </a:p>
          <a:p>
            <a:r>
              <a:rPr lang="en-US" b="1" dirty="0">
                <a:solidFill>
                  <a:schemeClr val="tx1"/>
                </a:solidFill>
              </a:rPr>
              <a:t>4 inches tall x 2.39  </a:t>
            </a:r>
            <a:r>
              <a:rPr lang="en-US" dirty="0">
                <a:solidFill>
                  <a:schemeClr val="tx1"/>
                </a:solidFill>
              </a:rPr>
              <a:t>=  </a:t>
            </a:r>
            <a:r>
              <a:rPr lang="en-US" b="1" dirty="0">
                <a:solidFill>
                  <a:schemeClr val="tx1"/>
                </a:solidFill>
              </a:rPr>
              <a:t>9.56 inches wide</a:t>
            </a:r>
          </a:p>
          <a:p>
            <a:r>
              <a:rPr lang="en-US" dirty="0">
                <a:solidFill>
                  <a:schemeClr val="tx1"/>
                </a:solidFill>
              </a:rPr>
              <a:t>Pick the height first, because height is what limits how many panels fit on a page.</a:t>
            </a:r>
          </a:p>
        </p:txBody>
      </p:sp>
    </p:spTree>
    <p:extLst>
      <p:ext uri="{BB962C8B-B14F-4D97-AF65-F5344CB8AC3E}">
        <p14:creationId xmlns:p14="http://schemas.microsoft.com/office/powerpoint/2010/main" val="2360759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80-FD4E-4BA4-A231-414B39A848D4}"/>
              </a:ext>
            </a:extLst>
          </p:cNvPr>
          <p:cNvSpPr>
            <a:spLocks noGrp="1"/>
          </p:cNvSpPr>
          <p:nvPr>
            <p:ph type="title"/>
          </p:nvPr>
        </p:nvSpPr>
        <p:spPr/>
        <p:txBody>
          <a:bodyPr>
            <a:normAutofit/>
          </a:bodyPr>
          <a:lstStyle/>
          <a:p>
            <a:r>
              <a:rPr lang="en-US" dirty="0"/>
              <a:t>Frame Size to Ratio</a:t>
            </a:r>
          </a:p>
        </p:txBody>
      </p:sp>
      <p:sp>
        <p:nvSpPr>
          <p:cNvPr id="3" name="Content Placeholder 2">
            <a:extLst>
              <a:ext uri="{FF2B5EF4-FFF2-40B4-BE49-F238E27FC236}">
                <a16:creationId xmlns:a16="http://schemas.microsoft.com/office/drawing/2014/main" id="{8E8574BE-BFF9-4DE8-807C-7E7A99B31F5A}"/>
              </a:ext>
            </a:extLst>
          </p:cNvPr>
          <p:cNvSpPr>
            <a:spLocks noGrp="1"/>
          </p:cNvSpPr>
          <p:nvPr>
            <p:ph idx="1"/>
          </p:nvPr>
        </p:nvSpPr>
        <p:spPr>
          <a:xfrm>
            <a:off x="887928" y="2720067"/>
            <a:ext cx="10355036" cy="3318936"/>
          </a:xfrm>
        </p:spPr>
        <p:txBody>
          <a:bodyPr>
            <a:normAutofit/>
          </a:bodyPr>
          <a:lstStyle/>
          <a:p>
            <a:pPr marL="0" indent="0">
              <a:buNone/>
            </a:pPr>
            <a:r>
              <a:rPr lang="en-US" dirty="0">
                <a:solidFill>
                  <a:schemeClr val="tx1"/>
                </a:solidFill>
              </a:rPr>
              <a:t>Divide the width by the height.</a:t>
            </a:r>
          </a:p>
          <a:p>
            <a:pPr marL="0" indent="0">
              <a:buNone/>
            </a:pPr>
            <a:r>
              <a:rPr lang="en-US" dirty="0">
                <a:solidFill>
                  <a:schemeClr val="tx1"/>
                </a:solidFill>
              </a:rPr>
              <a:t>6 inches wide / 4 inches tall  =  1.5   -&gt;   1.5:1</a:t>
            </a:r>
          </a:p>
          <a:p>
            <a:pPr marL="0" indent="0">
              <a:buNone/>
            </a:pPr>
            <a:r>
              <a:rPr lang="en-US" dirty="0">
                <a:solidFill>
                  <a:schemeClr val="tx1"/>
                </a:solidFill>
              </a:rPr>
              <a:t>Useful when you are handed a template, or measuring a frame off an existing production.</a:t>
            </a:r>
          </a:p>
        </p:txBody>
      </p:sp>
    </p:spTree>
    <p:extLst>
      <p:ext uri="{BB962C8B-B14F-4D97-AF65-F5344CB8AC3E}">
        <p14:creationId xmlns:p14="http://schemas.microsoft.com/office/powerpoint/2010/main" val="3668413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Worked Table</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8448" y="2432304"/>
            <a:ext cx="9601200" cy="310896"/>
          </a:xfrm>
        </p:spPr>
        <p:txBody>
          <a:bodyPr/>
          <a:lstStyle/>
          <a:p>
            <a:pPr>
              <a:buNone/>
            </a:pPr>
            <a:r>
              <a:rPr lang="en-US" sz="1300" dirty="0">
                <a:solidFill>
                  <a:schemeClr val="tx1"/>
                </a:solidFill>
              </a:rPr>
              <a:t>Frame height x aspect ratio = frame width.</a:t>
            </a:r>
          </a:p>
        </p:txBody>
      </p:sp>
      <p:sp>
        <p:nvSpPr>
          <p:cNvPr id="4" name="Rect 4"/>
          <p:cNvSpPr/>
          <p:nvPr/>
        </p:nvSpPr>
        <p:spPr>
          <a:xfrm>
            <a:off x="1298448" y="2880360"/>
            <a:ext cx="9601200" cy="566928"/>
          </a:xfrm>
          <a:prstGeom prst="rect">
            <a:avLst/>
          </a:prstGeom>
          <a:solidFill>
            <a:srgbClr val="212121"/>
          </a:solidFill>
          <a:ln>
            <a:noFill/>
          </a:ln>
        </p:spPr>
        <p:txBody>
          <a:bodyPr/>
          <a:lstStyle/>
          <a:p>
            <a:pPr>
              <a:buNone/>
            </a:pPr>
            <a:endParaRPr lang="en-US"/>
          </a:p>
        </p:txBody>
      </p:sp>
      <p:sp>
        <p:nvSpPr>
          <p:cNvPr id="5" name="TextBox 5"/>
          <p:cNvSpPr txBox="1"/>
          <p:nvPr/>
        </p:nvSpPr>
        <p:spPr>
          <a:xfrm>
            <a:off x="1463040" y="3035808"/>
            <a:ext cx="2322576" cy="310896"/>
          </a:xfrm>
          <a:prstGeom prst="rect">
            <a:avLst/>
          </a:prstGeom>
          <a:noFill/>
        </p:spPr>
        <p:txBody>
          <a:bodyPr wrap="square" lIns="0" tIns="0" rIns="0" bIns="0" anchor="t">
            <a:normAutofit/>
          </a:bodyPr>
          <a:lstStyle/>
          <a:p>
            <a:pPr algn="l">
              <a:buNone/>
            </a:pPr>
            <a:r>
              <a:rPr lang="en-US" sz="1400" b="1" i="0" dirty="0">
                <a:solidFill>
                  <a:srgbClr val="FFFFFF"/>
                </a:solidFill>
              </a:rPr>
              <a:t>Ratio</a:t>
            </a:r>
          </a:p>
        </p:txBody>
      </p:sp>
      <p:sp>
        <p:nvSpPr>
          <p:cNvPr id="6" name="TextBox 6"/>
          <p:cNvSpPr txBox="1"/>
          <p:nvPr/>
        </p:nvSpPr>
        <p:spPr>
          <a:xfrm>
            <a:off x="4114800" y="3035808"/>
            <a:ext cx="1956816" cy="310896"/>
          </a:xfrm>
          <a:prstGeom prst="rect">
            <a:avLst/>
          </a:prstGeom>
          <a:noFill/>
        </p:spPr>
        <p:txBody>
          <a:bodyPr wrap="square" lIns="0" tIns="0" rIns="0" bIns="0" anchor="t">
            <a:normAutofit/>
          </a:bodyPr>
          <a:lstStyle/>
          <a:p>
            <a:pPr algn="l">
              <a:buNone/>
            </a:pPr>
            <a:r>
              <a:rPr lang="en-US" sz="1400" b="1" i="0" dirty="0">
                <a:solidFill>
                  <a:srgbClr val="FFFFFF"/>
                </a:solidFill>
              </a:rPr>
              <a:t>At 3" tall</a:t>
            </a:r>
          </a:p>
        </p:txBody>
      </p:sp>
      <p:sp>
        <p:nvSpPr>
          <p:cNvPr id="7" name="TextBox 7"/>
          <p:cNvSpPr txBox="1"/>
          <p:nvPr/>
        </p:nvSpPr>
        <p:spPr>
          <a:xfrm>
            <a:off x="6400800" y="3035808"/>
            <a:ext cx="1956816" cy="310896"/>
          </a:xfrm>
          <a:prstGeom prst="rect">
            <a:avLst/>
          </a:prstGeom>
          <a:noFill/>
        </p:spPr>
        <p:txBody>
          <a:bodyPr wrap="square" lIns="0" tIns="0" rIns="0" bIns="0" anchor="t">
            <a:normAutofit/>
          </a:bodyPr>
          <a:lstStyle/>
          <a:p>
            <a:pPr algn="l">
              <a:buNone/>
            </a:pPr>
            <a:r>
              <a:rPr lang="en-US" sz="1400" b="1" i="0" dirty="0">
                <a:solidFill>
                  <a:srgbClr val="FFFFFF"/>
                </a:solidFill>
              </a:rPr>
              <a:t>At 4" tall</a:t>
            </a:r>
          </a:p>
        </p:txBody>
      </p:sp>
      <p:sp>
        <p:nvSpPr>
          <p:cNvPr id="8" name="TextBox 8"/>
          <p:cNvSpPr txBox="1"/>
          <p:nvPr/>
        </p:nvSpPr>
        <p:spPr>
          <a:xfrm>
            <a:off x="8686800" y="3035808"/>
            <a:ext cx="2048256" cy="310896"/>
          </a:xfrm>
          <a:prstGeom prst="rect">
            <a:avLst/>
          </a:prstGeom>
          <a:noFill/>
        </p:spPr>
        <p:txBody>
          <a:bodyPr wrap="square" lIns="0" tIns="0" rIns="0" bIns="0" anchor="t">
            <a:normAutofit/>
          </a:bodyPr>
          <a:lstStyle/>
          <a:p>
            <a:pPr algn="l">
              <a:buNone/>
            </a:pPr>
            <a:r>
              <a:rPr lang="en-US" sz="1400" b="1" i="0" dirty="0">
                <a:solidFill>
                  <a:srgbClr val="FFFFFF"/>
                </a:solidFill>
              </a:rPr>
              <a:t>At 5" tall</a:t>
            </a:r>
          </a:p>
        </p:txBody>
      </p:sp>
      <p:sp>
        <p:nvSpPr>
          <p:cNvPr id="9" name="Rect 9"/>
          <p:cNvSpPr/>
          <p:nvPr/>
        </p:nvSpPr>
        <p:spPr>
          <a:xfrm>
            <a:off x="1298448" y="3447288"/>
            <a:ext cx="9601200" cy="566928"/>
          </a:xfrm>
          <a:prstGeom prst="rect">
            <a:avLst/>
          </a:prstGeom>
          <a:solidFill>
            <a:srgbClr val="F2EFE9"/>
          </a:solidFill>
          <a:ln>
            <a:noFill/>
          </a:ln>
        </p:spPr>
        <p:txBody>
          <a:bodyPr/>
          <a:lstStyle/>
          <a:p>
            <a:pPr>
              <a:buNone/>
            </a:pPr>
            <a:endParaRPr lang="en-US"/>
          </a:p>
        </p:txBody>
      </p:sp>
      <p:sp>
        <p:nvSpPr>
          <p:cNvPr id="10" name="TextBox 10"/>
          <p:cNvSpPr txBox="1"/>
          <p:nvPr/>
        </p:nvSpPr>
        <p:spPr>
          <a:xfrm>
            <a:off x="1463040" y="3602736"/>
            <a:ext cx="2322576" cy="310896"/>
          </a:xfrm>
          <a:prstGeom prst="rect">
            <a:avLst/>
          </a:prstGeom>
          <a:noFill/>
        </p:spPr>
        <p:txBody>
          <a:bodyPr wrap="square" lIns="0" tIns="0" rIns="0" bIns="0" anchor="t">
            <a:normAutofit/>
          </a:bodyPr>
          <a:lstStyle/>
          <a:p>
            <a:pPr algn="l">
              <a:buNone/>
            </a:pPr>
            <a:r>
              <a:rPr lang="en-US" sz="1400" b="1" i="0" dirty="0">
                <a:solidFill>
                  <a:srgbClr val="212121"/>
                </a:solidFill>
              </a:rPr>
              <a:t>1.33:1</a:t>
            </a:r>
          </a:p>
        </p:txBody>
      </p:sp>
      <p:sp>
        <p:nvSpPr>
          <p:cNvPr id="11" name="TextBox 11"/>
          <p:cNvSpPr txBox="1"/>
          <p:nvPr/>
        </p:nvSpPr>
        <p:spPr>
          <a:xfrm>
            <a:off x="4114800" y="3602736"/>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4.00"</a:t>
            </a:r>
          </a:p>
        </p:txBody>
      </p:sp>
      <p:sp>
        <p:nvSpPr>
          <p:cNvPr id="12" name="TextBox 12"/>
          <p:cNvSpPr txBox="1"/>
          <p:nvPr/>
        </p:nvSpPr>
        <p:spPr>
          <a:xfrm>
            <a:off x="6400800" y="3602736"/>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5.32"</a:t>
            </a:r>
          </a:p>
        </p:txBody>
      </p:sp>
      <p:sp>
        <p:nvSpPr>
          <p:cNvPr id="13" name="TextBox 13"/>
          <p:cNvSpPr txBox="1"/>
          <p:nvPr/>
        </p:nvSpPr>
        <p:spPr>
          <a:xfrm>
            <a:off x="8686800" y="3602736"/>
            <a:ext cx="2048256" cy="310896"/>
          </a:xfrm>
          <a:prstGeom prst="rect">
            <a:avLst/>
          </a:prstGeom>
          <a:noFill/>
        </p:spPr>
        <p:txBody>
          <a:bodyPr wrap="square" lIns="0" tIns="0" rIns="0" bIns="0" anchor="t">
            <a:normAutofit/>
          </a:bodyPr>
          <a:lstStyle/>
          <a:p>
            <a:pPr algn="l">
              <a:buNone/>
            </a:pPr>
            <a:r>
              <a:rPr lang="en-US" sz="1400" b="0" i="0" dirty="0">
                <a:solidFill>
                  <a:srgbClr val="3A3A3A"/>
                </a:solidFill>
              </a:rPr>
              <a:t>6.65"</a:t>
            </a:r>
          </a:p>
        </p:txBody>
      </p:sp>
      <p:sp>
        <p:nvSpPr>
          <p:cNvPr id="14" name="TextBox 14"/>
          <p:cNvSpPr txBox="1"/>
          <p:nvPr/>
        </p:nvSpPr>
        <p:spPr>
          <a:xfrm>
            <a:off x="1463040" y="4169664"/>
            <a:ext cx="2322576" cy="310896"/>
          </a:xfrm>
          <a:prstGeom prst="rect">
            <a:avLst/>
          </a:prstGeom>
          <a:noFill/>
        </p:spPr>
        <p:txBody>
          <a:bodyPr wrap="square" lIns="0" tIns="0" rIns="0" bIns="0" anchor="t">
            <a:normAutofit/>
          </a:bodyPr>
          <a:lstStyle/>
          <a:p>
            <a:pPr algn="l">
              <a:buNone/>
            </a:pPr>
            <a:r>
              <a:rPr lang="en-US" sz="1400" b="1" i="0" dirty="0">
                <a:solidFill>
                  <a:srgbClr val="212121"/>
                </a:solidFill>
              </a:rPr>
              <a:t>1.78:1  (16:9)</a:t>
            </a:r>
          </a:p>
        </p:txBody>
      </p:sp>
      <p:sp>
        <p:nvSpPr>
          <p:cNvPr id="15" name="TextBox 15"/>
          <p:cNvSpPr txBox="1"/>
          <p:nvPr/>
        </p:nvSpPr>
        <p:spPr>
          <a:xfrm>
            <a:off x="4114800" y="4169664"/>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5.34"</a:t>
            </a:r>
          </a:p>
        </p:txBody>
      </p:sp>
      <p:sp>
        <p:nvSpPr>
          <p:cNvPr id="16" name="TextBox 16"/>
          <p:cNvSpPr txBox="1"/>
          <p:nvPr/>
        </p:nvSpPr>
        <p:spPr>
          <a:xfrm>
            <a:off x="6400800" y="4169664"/>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7.12"</a:t>
            </a:r>
          </a:p>
        </p:txBody>
      </p:sp>
      <p:sp>
        <p:nvSpPr>
          <p:cNvPr id="17" name="TextBox 17"/>
          <p:cNvSpPr txBox="1"/>
          <p:nvPr/>
        </p:nvSpPr>
        <p:spPr>
          <a:xfrm>
            <a:off x="8686800" y="4169664"/>
            <a:ext cx="2048256" cy="310896"/>
          </a:xfrm>
          <a:prstGeom prst="rect">
            <a:avLst/>
          </a:prstGeom>
          <a:noFill/>
        </p:spPr>
        <p:txBody>
          <a:bodyPr wrap="square" lIns="0" tIns="0" rIns="0" bIns="0" anchor="t">
            <a:normAutofit/>
          </a:bodyPr>
          <a:lstStyle/>
          <a:p>
            <a:pPr algn="l">
              <a:buNone/>
            </a:pPr>
            <a:r>
              <a:rPr lang="en-US" sz="1400" b="0" i="0" dirty="0">
                <a:solidFill>
                  <a:srgbClr val="3A3A3A"/>
                </a:solidFill>
              </a:rPr>
              <a:t>8.90"</a:t>
            </a:r>
          </a:p>
        </p:txBody>
      </p:sp>
      <p:sp>
        <p:nvSpPr>
          <p:cNvPr id="18" name="Rect 18"/>
          <p:cNvSpPr/>
          <p:nvPr/>
        </p:nvSpPr>
        <p:spPr>
          <a:xfrm>
            <a:off x="1298448" y="4581144"/>
            <a:ext cx="9601200" cy="566928"/>
          </a:xfrm>
          <a:prstGeom prst="rect">
            <a:avLst/>
          </a:prstGeom>
          <a:solidFill>
            <a:srgbClr val="F2EFE9"/>
          </a:solidFill>
          <a:ln>
            <a:noFill/>
          </a:ln>
        </p:spPr>
        <p:txBody>
          <a:bodyPr/>
          <a:lstStyle/>
          <a:p>
            <a:pPr>
              <a:buNone/>
            </a:pPr>
            <a:endParaRPr lang="en-US"/>
          </a:p>
        </p:txBody>
      </p:sp>
      <p:sp>
        <p:nvSpPr>
          <p:cNvPr id="19" name="TextBox 19"/>
          <p:cNvSpPr txBox="1"/>
          <p:nvPr/>
        </p:nvSpPr>
        <p:spPr>
          <a:xfrm>
            <a:off x="1463040" y="4736592"/>
            <a:ext cx="2322576" cy="310896"/>
          </a:xfrm>
          <a:prstGeom prst="rect">
            <a:avLst/>
          </a:prstGeom>
          <a:noFill/>
        </p:spPr>
        <p:txBody>
          <a:bodyPr wrap="square" lIns="0" tIns="0" rIns="0" bIns="0" anchor="t">
            <a:normAutofit/>
          </a:bodyPr>
          <a:lstStyle/>
          <a:p>
            <a:pPr algn="l">
              <a:buNone/>
            </a:pPr>
            <a:r>
              <a:rPr lang="en-US" sz="1400" b="1" i="0" dirty="0">
                <a:solidFill>
                  <a:srgbClr val="212121"/>
                </a:solidFill>
              </a:rPr>
              <a:t>1.85:1</a:t>
            </a:r>
          </a:p>
        </p:txBody>
      </p:sp>
      <p:sp>
        <p:nvSpPr>
          <p:cNvPr id="20" name="TextBox 20"/>
          <p:cNvSpPr txBox="1"/>
          <p:nvPr/>
        </p:nvSpPr>
        <p:spPr>
          <a:xfrm>
            <a:off x="4114800" y="4736592"/>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5.55"</a:t>
            </a:r>
          </a:p>
        </p:txBody>
      </p:sp>
      <p:sp>
        <p:nvSpPr>
          <p:cNvPr id="21" name="TextBox 21"/>
          <p:cNvSpPr txBox="1"/>
          <p:nvPr/>
        </p:nvSpPr>
        <p:spPr>
          <a:xfrm>
            <a:off x="6400800" y="4736592"/>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7.40"</a:t>
            </a:r>
          </a:p>
        </p:txBody>
      </p:sp>
      <p:sp>
        <p:nvSpPr>
          <p:cNvPr id="22" name="TextBox 22"/>
          <p:cNvSpPr txBox="1"/>
          <p:nvPr/>
        </p:nvSpPr>
        <p:spPr>
          <a:xfrm>
            <a:off x="8686800" y="4736592"/>
            <a:ext cx="2048256" cy="310896"/>
          </a:xfrm>
          <a:prstGeom prst="rect">
            <a:avLst/>
          </a:prstGeom>
          <a:noFill/>
        </p:spPr>
        <p:txBody>
          <a:bodyPr wrap="square" lIns="0" tIns="0" rIns="0" bIns="0" anchor="t">
            <a:normAutofit/>
          </a:bodyPr>
          <a:lstStyle/>
          <a:p>
            <a:pPr algn="l">
              <a:buNone/>
            </a:pPr>
            <a:r>
              <a:rPr lang="en-US" sz="1400" b="0" i="0" dirty="0">
                <a:solidFill>
                  <a:srgbClr val="3A3A3A"/>
                </a:solidFill>
              </a:rPr>
              <a:t>9.25"</a:t>
            </a:r>
          </a:p>
        </p:txBody>
      </p:sp>
      <p:sp>
        <p:nvSpPr>
          <p:cNvPr id="23" name="TextBox 23"/>
          <p:cNvSpPr txBox="1"/>
          <p:nvPr/>
        </p:nvSpPr>
        <p:spPr>
          <a:xfrm>
            <a:off x="1463040" y="5303520"/>
            <a:ext cx="2322576" cy="310896"/>
          </a:xfrm>
          <a:prstGeom prst="rect">
            <a:avLst/>
          </a:prstGeom>
          <a:noFill/>
        </p:spPr>
        <p:txBody>
          <a:bodyPr wrap="square" lIns="0" tIns="0" rIns="0" bIns="0" anchor="t">
            <a:normAutofit/>
          </a:bodyPr>
          <a:lstStyle/>
          <a:p>
            <a:pPr algn="l">
              <a:buNone/>
            </a:pPr>
            <a:r>
              <a:rPr lang="en-US" sz="1400" b="1" i="0" dirty="0">
                <a:solidFill>
                  <a:srgbClr val="212121"/>
                </a:solidFill>
              </a:rPr>
              <a:t>2.39:1</a:t>
            </a:r>
          </a:p>
        </p:txBody>
      </p:sp>
      <p:sp>
        <p:nvSpPr>
          <p:cNvPr id="24" name="TextBox 24"/>
          <p:cNvSpPr txBox="1"/>
          <p:nvPr/>
        </p:nvSpPr>
        <p:spPr>
          <a:xfrm>
            <a:off x="4114800" y="5303520"/>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7.17"</a:t>
            </a:r>
          </a:p>
        </p:txBody>
      </p:sp>
      <p:sp>
        <p:nvSpPr>
          <p:cNvPr id="25" name="TextBox 25"/>
          <p:cNvSpPr txBox="1"/>
          <p:nvPr/>
        </p:nvSpPr>
        <p:spPr>
          <a:xfrm>
            <a:off x="6400800" y="5303520"/>
            <a:ext cx="1956816" cy="310896"/>
          </a:xfrm>
          <a:prstGeom prst="rect">
            <a:avLst/>
          </a:prstGeom>
          <a:noFill/>
        </p:spPr>
        <p:txBody>
          <a:bodyPr wrap="square" lIns="0" tIns="0" rIns="0" bIns="0" anchor="t">
            <a:normAutofit/>
          </a:bodyPr>
          <a:lstStyle/>
          <a:p>
            <a:pPr algn="l">
              <a:buNone/>
            </a:pPr>
            <a:r>
              <a:rPr lang="en-US" sz="1400" b="0" i="0" dirty="0">
                <a:solidFill>
                  <a:srgbClr val="3A3A3A"/>
                </a:solidFill>
              </a:rPr>
              <a:t>9.56"</a:t>
            </a:r>
          </a:p>
        </p:txBody>
      </p:sp>
      <p:sp>
        <p:nvSpPr>
          <p:cNvPr id="26" name="TextBox 26"/>
          <p:cNvSpPr txBox="1"/>
          <p:nvPr/>
        </p:nvSpPr>
        <p:spPr>
          <a:xfrm>
            <a:off x="8686800" y="5303520"/>
            <a:ext cx="2048256" cy="310896"/>
          </a:xfrm>
          <a:prstGeom prst="rect">
            <a:avLst/>
          </a:prstGeom>
          <a:noFill/>
        </p:spPr>
        <p:txBody>
          <a:bodyPr wrap="square" lIns="0" tIns="0" rIns="0" bIns="0" anchor="t">
            <a:normAutofit/>
          </a:bodyPr>
          <a:lstStyle/>
          <a:p>
            <a:pPr algn="l">
              <a:buNone/>
            </a:pPr>
            <a:r>
              <a:rPr lang="en-US" sz="1400" b="0" i="0" dirty="0">
                <a:solidFill>
                  <a:srgbClr val="3A3A3A"/>
                </a:solidFill>
              </a:rPr>
              <a:t>11.95"</a:t>
            </a:r>
          </a:p>
        </p:txBody>
      </p:sp>
      <p:sp>
        <p:nvSpPr>
          <p:cNvPr id="27" name="TextBox 27"/>
          <p:cNvSpPr txBox="1"/>
          <p:nvPr/>
        </p:nvSpPr>
        <p:spPr>
          <a:xfrm>
            <a:off x="1298448" y="5870448"/>
            <a:ext cx="9601200" cy="566928"/>
          </a:xfrm>
          <a:prstGeom prst="rect">
            <a:avLst/>
          </a:prstGeom>
          <a:noFill/>
        </p:spPr>
        <p:txBody>
          <a:bodyPr wrap="square" lIns="0" tIns="0" rIns="0" bIns="0" anchor="t">
            <a:normAutofit/>
          </a:bodyPr>
          <a:lstStyle/>
          <a:p>
            <a:pPr algn="l">
              <a:buNone/>
            </a:pPr>
            <a:r>
              <a:rPr lang="en-US" sz="1000" b="0" i="0" dirty="0">
                <a:solidFill>
                  <a:srgbClr val="6B6B6B"/>
                </a:solidFill>
              </a:rPr>
              <a:t>You do not need to memorise this - you need to produce any row of it with a calculator in ten seconds.</a:t>
            </a:r>
          </a:p>
          <a:p>
            <a:pPr algn="l">
              <a:buNone/>
            </a:pPr>
            <a:r>
              <a:rPr lang="en-US" sz="1000" b="0" i="0" dirty="0">
                <a:solidFill>
                  <a:srgbClr val="6B6B6B"/>
                </a:solidFill>
              </a:rPr>
              <a:t>2.39:1 at 5" tall is nearly 12" wide. It will not fit on a page with margins, which is why you choose height first.</a:t>
            </a:r>
          </a:p>
        </p:txBody>
      </p:sp>
    </p:spTree>
    <p:extLst>
      <p:ext uri="{BB962C8B-B14F-4D97-AF65-F5344CB8AC3E}">
        <p14:creationId xmlns:p14="http://schemas.microsoft.com/office/powerpoint/2010/main" val="3613068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normAutofit fontScale="90000"/>
          </a:bodyPr>
          <a:lstStyle/>
          <a:p>
            <a:r>
              <a:rPr lang="en-US" dirty="0"/>
              <a:t>Common Student Mistakes </a:t>
            </a:r>
            <a:br>
              <a:rPr lang="en-US" dirty="0"/>
            </a:br>
            <a:r>
              <a:rPr lang="en-US" dirty="0"/>
              <a:t>on this Assignment</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lstStyle/>
          <a:p>
            <a:r>
              <a:rPr lang="en-US" dirty="0">
                <a:solidFill>
                  <a:schemeClr val="tx1"/>
                </a:solidFill>
              </a:rPr>
              <a:t>Eyeballing the panel instead of calculating it.</a:t>
            </a:r>
          </a:p>
          <a:p>
            <a:r>
              <a:rPr lang="en-US" dirty="0">
                <a:solidFill>
                  <a:schemeClr val="tx1"/>
                </a:solidFill>
              </a:rPr>
              <a:t>Panels that do not match each other down the page.</a:t>
            </a:r>
          </a:p>
          <a:p>
            <a:r>
              <a:rPr lang="en-US" dirty="0">
                <a:solidFill>
                  <a:schemeClr val="tx1"/>
                </a:solidFill>
              </a:rPr>
              <a:t>A frame that is not the ratio the sequence is actually in.</a:t>
            </a:r>
          </a:p>
          <a:p>
            <a:r>
              <a:rPr lang="en-US" dirty="0">
                <a:solidFill>
                  <a:schemeClr val="tx1"/>
                </a:solidFill>
              </a:rPr>
              <a:t>Working so small that you cannot draw comfortably inside the box.</a:t>
            </a:r>
          </a:p>
          <a:p>
            <a:r>
              <a:rPr lang="en-US" dirty="0">
                <a:solidFill>
                  <a:schemeClr val="tx1"/>
                </a:solidFill>
              </a:rPr>
              <a:t>All four are avoidable in about a minute of arithmetic. That is why the numbers are graded.</a:t>
            </a:r>
          </a:p>
        </p:txBody>
      </p:sp>
    </p:spTree>
    <p:extLst>
      <p:ext uri="{BB962C8B-B14F-4D97-AF65-F5344CB8AC3E}">
        <p14:creationId xmlns:p14="http://schemas.microsoft.com/office/powerpoint/2010/main" val="3613068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8CA-91BA-4919-B226-7EB4D0803BF7}"/>
              </a:ext>
            </a:extLst>
          </p:cNvPr>
          <p:cNvSpPr>
            <a:spLocks noGrp="1"/>
          </p:cNvSpPr>
          <p:nvPr>
            <p:ph type="title"/>
          </p:nvPr>
        </p:nvSpPr>
        <p:spPr/>
        <p:txBody>
          <a:bodyPr/>
          <a:lstStyle/>
          <a:p>
            <a:r>
              <a:rPr lang="en-US" dirty="0"/>
              <a:t>Hand-off: Build the Template</a:t>
            </a:r>
          </a:p>
        </p:txBody>
      </p:sp>
      <p:sp>
        <p:nvSpPr>
          <p:cNvPr id="3" name="Content Placeholder 2">
            <a:extLst>
              <a:ext uri="{FF2B5EF4-FFF2-40B4-BE49-F238E27FC236}">
                <a16:creationId xmlns:a16="http://schemas.microsoft.com/office/drawing/2014/main" id="{CE2F37E3-099F-4859-BE23-B91307FF50DA}"/>
              </a:ext>
            </a:extLst>
          </p:cNvPr>
          <p:cNvSpPr>
            <a:spLocks noGrp="1"/>
          </p:cNvSpPr>
          <p:nvPr>
            <p:ph idx="1"/>
          </p:nvPr>
        </p:nvSpPr>
        <p:spPr>
          <a:xfrm>
            <a:off x="1295401" y="2556932"/>
            <a:ext cx="9601196" cy="3500968"/>
          </a:xfrm>
        </p:spPr>
        <p:txBody>
          <a:bodyPr/>
          <a:lstStyle/>
          <a:p>
            <a:r>
              <a:rPr lang="en-US" dirty="0">
                <a:solidFill>
                  <a:schemeClr val="tx1"/>
                </a:solidFill>
              </a:rPr>
              <a:t>Template Build</a:t>
            </a:r>
          </a:p>
          <a:p>
            <a:r>
              <a:rPr lang="en-US" dirty="0">
                <a:solidFill>
                  <a:schemeClr val="tx1"/>
                </a:solidFill>
              </a:rPr>
              <a:t>Panels at the assigned ratio, on a page, with room under each for panel number, shot number, action and camera notation.</a:t>
            </a:r>
          </a:p>
          <a:p>
            <a:r>
              <a:rPr lang="en-US" dirty="0">
                <a:solidFill>
                  <a:schemeClr val="tx1"/>
                </a:solidFill>
              </a:rPr>
              <a:t>Deliver 3 images in the correct aspect ratio. See your assignment on Canvas for details.</a:t>
            </a:r>
          </a:p>
        </p:txBody>
      </p:sp>
    </p:spTree>
    <p:extLst>
      <p:ext uri="{BB962C8B-B14F-4D97-AF65-F5344CB8AC3E}">
        <p14:creationId xmlns:p14="http://schemas.microsoft.com/office/powerpoint/2010/main" val="36130681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2124-E0F8-4496-BA17-19BA7180CCF6}"/>
              </a:ext>
            </a:extLst>
          </p:cNvPr>
          <p:cNvSpPr>
            <a:spLocks noGrp="1"/>
          </p:cNvSpPr>
          <p:nvPr>
            <p:ph type="title"/>
          </p:nvPr>
        </p:nvSpPr>
        <p:spPr/>
        <p:txBody>
          <a:bodyPr/>
          <a:lstStyle/>
          <a:p>
            <a:r>
              <a:rPr lang="en-US" dirty="0"/>
              <a:t>One Line to Leave With</a:t>
            </a:r>
          </a:p>
        </p:txBody>
      </p:sp>
      <p:sp>
        <p:nvSpPr>
          <p:cNvPr id="3" name="Content Placeholder 2">
            <a:extLst>
              <a:ext uri="{FF2B5EF4-FFF2-40B4-BE49-F238E27FC236}">
                <a16:creationId xmlns:a16="http://schemas.microsoft.com/office/drawing/2014/main" id="{2D19AE7E-6AC9-4DFA-9AC8-4A8E6FD548FD}"/>
              </a:ext>
            </a:extLst>
          </p:cNvPr>
          <p:cNvSpPr>
            <a:spLocks noGrp="1"/>
          </p:cNvSpPr>
          <p:nvPr>
            <p:ph idx="1"/>
          </p:nvPr>
        </p:nvSpPr>
        <p:spPr/>
        <p:txBody>
          <a:bodyPr/>
          <a:lstStyle/>
          <a:p>
            <a:r>
              <a:rPr lang="en-US" dirty="0"/>
              <a:t>The shape of the frame is the first decision,</a:t>
            </a:r>
          </a:p>
          <a:p>
            <a:r>
              <a:rPr lang="en-US" dirty="0"/>
              <a:t>And it determines how the story will play out inside that space for the rest of the film.</a:t>
            </a:r>
          </a:p>
        </p:txBody>
      </p:sp>
    </p:spTree>
    <p:extLst>
      <p:ext uri="{BB962C8B-B14F-4D97-AF65-F5344CB8AC3E}">
        <p14:creationId xmlns:p14="http://schemas.microsoft.com/office/powerpoint/2010/main" val="40096341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Custom 1">
      <a:dk1>
        <a:sysClr val="windowText" lastClr="000000"/>
      </a:dk1>
      <a:lt1>
        <a:sysClr val="window" lastClr="FFFFFF"/>
      </a:lt1>
      <a:dk2>
        <a:srgbClr val="212121"/>
      </a:dk2>
      <a:lt2>
        <a:srgbClr val="DADADA"/>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Custom 1">
      <a:majorFont>
        <a:latin typeface="Century Gothic"/>
        <a:ea typeface=""/>
        <a:cs typeface=""/>
      </a:majorFont>
      <a:minorFont>
        <a:latin typeface="Century Gothic"/>
        <a:ea typeface=""/>
        <a:cs typeface=""/>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TotalTime>
  <Words>5939</Words>
  <Application>Microsoft Office PowerPoint</Application>
  <PresentationFormat>Widescreen</PresentationFormat>
  <Paragraphs>360</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Century Gothic</vt:lpstr>
      <vt:lpstr>Helvetica</vt:lpstr>
      <vt:lpstr>Organic</vt:lpstr>
      <vt:lpstr>Aspect Ratios</vt:lpstr>
      <vt:lpstr>Before There Was Planning</vt:lpstr>
      <vt:lpstr>Directors Who Drew First</vt:lpstr>
      <vt:lpstr>McCay and Gertie</vt:lpstr>
      <vt:lpstr>The Counterexample: Fleischer</vt:lpstr>
      <vt:lpstr>Webb Smith Pins It to a Wall</vt:lpstr>
      <vt:lpstr>Live Action Takes Notice</vt:lpstr>
      <vt:lpstr>Why the Industry Actually Adopted It</vt:lpstr>
      <vt:lpstr>Modified From Its Original Format</vt:lpstr>
      <vt:lpstr>The Shape of the Screen</vt:lpstr>
      <vt:lpstr>Why You Care, Specifically</vt:lpstr>
      <vt:lpstr>1.33 : 1 - Where It Started</vt:lpstr>
      <vt:lpstr>1.37 : 1 - The Academy Ratio</vt:lpstr>
      <vt:lpstr>The Peak</vt:lpstr>
      <vt:lpstr>Then Television - At the Same Ratio</vt:lpstr>
      <vt:lpstr>The Collapse</vt:lpstr>
      <vt:lpstr>PowerPoint Presentation</vt:lpstr>
      <vt:lpstr>PowerPoint Presentation</vt:lpstr>
      <vt:lpstr>PowerPoint Presentation</vt:lpstr>
      <vt:lpstr>The Two Ratios You'll Actually Use</vt:lpstr>
      <vt:lpstr>The Mismatch</vt:lpstr>
      <vt:lpstr>Pan &amp; Scan</vt:lpstr>
      <vt:lpstr>What Pan &amp; Scan Costs You</vt:lpstr>
      <vt:lpstr>Letterboxing</vt:lpstr>
      <vt:lpstr>Why This History Still Matters</vt:lpstr>
      <vt:lpstr>Today's Actual Landscape</vt:lpstr>
      <vt:lpstr>Games Don't Get to Pick</vt:lpstr>
      <vt:lpstr>So the Question Isn't What's Correct</vt:lpstr>
      <vt:lpstr>Two Directions of the Same Arithmetic</vt:lpstr>
      <vt:lpstr>Ratio to Frame Size</vt:lpstr>
      <vt:lpstr>Frame Size to Ratio</vt:lpstr>
      <vt:lpstr>Worked Table</vt:lpstr>
      <vt:lpstr>Common Student Mistakes  on this Assignment</vt:lpstr>
      <vt:lpstr>Hand-off: Build the Template</vt:lpstr>
      <vt:lpstr>One Line to Leave With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Game Design</dc:title>
  <dc:creator>Daniel</dc:creator>
  <cp:lastModifiedBy>Daniel Coes</cp:lastModifiedBy>
  <cp:revision>215</cp:revision>
  <dcterms:created xsi:type="dcterms:W3CDTF">2016-01-10T17:17:42Z</dcterms:created>
  <dcterms:modified xsi:type="dcterms:W3CDTF">2026-08-20T21:14:42Z</dcterms:modified>
</cp:coreProperties>
</file>