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257" r:id="rId3"/>
    <p:sldId id="258" r:id="rId5"/>
    <p:sldId id="259" r:id="rId6"/>
    <p:sldId id="260" r:id="rId9"/>
    <p:sldId id="261" r:id="rId11"/>
    <p:sldId id="262" r:id="rId12"/>
    <p:sldId id="263" r:id="rId13"/>
    <p:sldId id="264" r:id="rId15"/>
    <p:sldId id="265" r:id="rId16"/>
    <p:sldId id="266" r:id="rId17"/>
    <p:sldId id="267" r:id="rId18"/>
    <p:sldId id="268" r:id="rId20"/>
    <p:sldId id="269" r:id="rId21"/>
    <p:sldId id="270" r:id="rId22"/>
    <p:sldId id="271" r:id="rId23"/>
    <p:sldId id="272" r:id="rId25"/>
    <p:sldId id="273" r:id="rId26"/>
    <p:sldId id="274" r:id="rId27"/>
    <p:sldId id="275" r:id="rId29"/>
    <p:sldId id="276" r:id="rId30"/>
    <p:sldId id="277" r:id="rId31"/>
    <p:sldId id="278" r:id="rId52"/>
    <p:sldId id="279"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9"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slide" Target="slides/slide23.xml"/><Relationship Id="rId53"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p>
          <a:p>
            <a:pPr latinLnBrk="1"/>
            <a:r>
              <a:rPr lang="en-US" sz="1200" kern="1200" dirty="0">
                <a:solidFill>
                  <a:schemeClr val="tx1"/>
                </a:solidFill>
                <a:effectLst/>
                <a:latin typeface="+mn-lt"/>
                <a:ea typeface="+mn-ea"/>
                <a:cs typeface="+mn-cs"/>
              </a:rPr>
              <a:t>This session moves earlier in the course on purpose. City Park is assigned at the end of today, and City Park is graded on continuity, so it would be unreasonable to assess rules you had not been taught.</a:t>
            </a:r>
          </a:p>
          <a:p>
            <a:pPr latinLnBrk="1"/>
          </a:p>
          <a:p>
            <a:pPr latinLnBrk="1"/>
            <a:r>
              <a:rPr lang="en-US" sz="1200" kern="1200" dirty="0">
                <a:solidFill>
                  <a:schemeClr val="tx1"/>
                </a:solidFill>
                <a:effectLst/>
                <a:latin typeface="+mn-lt"/>
                <a:ea typeface="+mn-ea"/>
                <a:cs typeface="+mn-cs"/>
              </a:rPr>
              <a:t>The deck is split in two. Today is the rules: the line, screen direction, the three matches. Everything City Park is graded on. The second half, on transitions and montage and editing rhythm, comes later, near the animatic, because you cannot feel cutting rhythm until you have timed something.</a:t>
            </a:r>
          </a:p>
        </p:txBody>
      </p:sp>
      <p:sp>
        <p:nvSpPr>
          <p:cNvPr id="4" name="Slide Number Placeholder 3"/>
          <p:cNvSpPr>
            <a:spLocks noGrp="1"/>
          </p:cNvSpPr>
          <p:nvPr>
            <p:ph type="sldNum" sz="quarter" idx="10"/>
          </p:nvPr>
        </p:nvSpPr>
        <p:spPr/>
        <p:txBody>
          <a:bodyPr/>
          <a:lstStyle/>
          <a:p>
            <a:fld id="{3C7FDB04-D1AC-46DB-9592-CA12D78D404F}" type="slidenum">
              <a:rPr lang="en-US" smtClean="0"/>
              <a:t>1</a:t>
            </a:fld>
            <a:endParaRPr lang="en-US"/>
          </a:p>
        </p:txBody>
      </p:sp>
    </p:spTree>
    <p:extLst>
      <p:ext uri="{BB962C8B-B14F-4D97-AF65-F5344CB8AC3E}">
        <p14:creationId xmlns:p14="http://schemas.microsoft.com/office/powerpoint/2010/main" val="2770150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Start with the paradox, because it is counterintuitive.</a:t>
            </a:r>
          </a:p>
          <a:p>
            <a:pPr latinLnBrk="1"/>
          </a:p>
          <a:p>
            <a:pPr latinLnBrk="1"/>
            <a:r>
              <a:rPr lang="en-US" sz="1200" kern="1200" dirty="0">
                <a:solidFill>
                  <a:schemeClr val="tx1"/>
                </a:solidFill>
                <a:effectLst/>
                <a:latin typeface="+mn-lt"/>
                <a:ea typeface="+mn-ea"/>
                <a:cs typeface="+mn-cs"/>
              </a:rPr>
              <a:t>Continuity editing is the art of splicing together shots that were filmed at different times, from different positions, at different sizes, and producing the experience of one unbroken action.</a:t>
            </a:r>
          </a:p>
          <a:p>
            <a:pPr latinLnBrk="1"/>
          </a:p>
          <a:p>
            <a:pPr latinLnBrk="1"/>
            <a:r>
              <a:rPr lang="en-US" sz="1200" kern="1200" dirty="0">
                <a:solidFill>
                  <a:schemeClr val="tx1"/>
                </a:solidFill>
                <a:effectLst/>
                <a:latin typeface="+mn-lt"/>
                <a:ea typeface="+mn-ea"/>
                <a:cs typeface="+mn-cs"/>
              </a:rPr>
              <a:t>There can be a dozen cuts in a minute of screen time and a normal viewer will not notice a single one.</a:t>
            </a:r>
          </a:p>
          <a:p>
            <a:pPr latinLnBrk="1"/>
          </a:p>
          <a:p>
            <a:pPr latinLnBrk="1"/>
            <a:r>
              <a:rPr lang="en-US" sz="1200" kern="1200" dirty="0">
                <a:solidFill>
                  <a:schemeClr val="tx1"/>
                </a:solidFill>
                <a:effectLst/>
                <a:latin typeface="+mn-lt"/>
                <a:ea typeface="+mn-ea"/>
                <a:cs typeface="+mn-cs"/>
              </a:rPr>
              <a:t>Say: the best work in this entire discipline is work nobody sees. Get comfortable with that now, because it is the deal. You will do your most skillful work on the things the audience is specifically not supposed to notice.</a:t>
            </a:r>
          </a:p>
        </p:txBody>
      </p:sp>
      <p:sp>
        <p:nvSpPr>
          <p:cNvPr id="4" name="Slide Number Placeholder 3"/>
          <p:cNvSpPr>
            <a:spLocks noGrp="1"/>
          </p:cNvSpPr>
          <p:nvPr>
            <p:ph type="sldNum" sz="quarter" idx="10"/>
          </p:nvPr>
        </p:nvSpPr>
        <p:spPr/>
        <p:txBody>
          <a:bodyPr/>
          <a:lstStyle/>
          <a:p>
            <a:fld id="{3C7FDB04-D1AC-46DB-9592-CA12D78D404F}" type="slidenum">
              <a:rPr lang="en-US" smtClean="0"/>
              <a:t>2</a:t>
            </a:fld>
            <a:endParaRPr lang="en-US"/>
          </a:p>
        </p:txBody>
      </p:sp>
    </p:spTree>
    <p:extLst>
      <p:ext uri="{BB962C8B-B14F-4D97-AF65-F5344CB8AC3E}">
        <p14:creationId xmlns:p14="http://schemas.microsoft.com/office/powerpoint/2010/main" val="3360381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Continuity is often taught as an editing subject. It is not, or at least not only.</a:t>
            </a:r>
          </a:p>
          <a:p>
            <a:pPr latinLnBrk="1"/>
          </a:p>
          <a:p>
            <a:pPr latinLnBrk="1"/>
            <a:r>
              <a:rPr lang="en-US" sz="1200" kern="1200" dirty="0">
                <a:solidFill>
                  <a:schemeClr val="tx1"/>
                </a:solidFill>
                <a:effectLst/>
                <a:latin typeface="+mn-lt"/>
                <a:ea typeface="+mn-ea"/>
                <a:cs typeface="+mn-cs"/>
              </a:rPr>
              <a:t>Every frame that is sketched gets evaluated shot by shot, and pacing and transitions are established at the planning phase. The editor's options are entirely determined by what was shot, and what was shot is determined by the boards.</a:t>
            </a:r>
          </a:p>
          <a:p>
            <a:pPr latinLnBrk="1"/>
          </a:p>
          <a:p>
            <a:pPr latinLnBrk="1"/>
            <a:r>
              <a:rPr lang="en-US" sz="1200" kern="1200" dirty="0">
                <a:solidFill>
                  <a:schemeClr val="tx1"/>
                </a:solidFill>
                <a:effectLst/>
                <a:latin typeface="+mn-lt"/>
                <a:ea typeface="+mn-ea"/>
                <a:cs typeface="+mn-cs"/>
              </a:rPr>
              <a:t>Say: an editor can only cut what you gave them. If your boards break the line, the break is in the film, and by the time anyone notices, re-shooting is the only fix and nobody is going to pay for it.</a:t>
            </a:r>
          </a:p>
          <a:p>
            <a:pPr latinLnBrk="1"/>
          </a:p>
          <a:p>
            <a:pPr latinLnBrk="1"/>
            <a:r>
              <a:rPr lang="en-US" sz="1200" kern="1200" dirty="0">
                <a:solidFill>
                  <a:schemeClr val="tx1"/>
                </a:solidFill>
                <a:effectLst/>
                <a:latin typeface="+mn-lt"/>
                <a:ea typeface="+mn-ea"/>
                <a:cs typeface="+mn-cs"/>
              </a:rPr>
              <a:t>That is why this is your problem rather than somebody else's.</a:t>
            </a:r>
          </a:p>
        </p:txBody>
      </p:sp>
      <p:sp>
        <p:nvSpPr>
          <p:cNvPr id="4" name="Slide Number Placeholder 3"/>
          <p:cNvSpPr>
            <a:spLocks noGrp="1"/>
          </p:cNvSpPr>
          <p:nvPr>
            <p:ph type="sldNum" sz="quarter" idx="10"/>
          </p:nvPr>
        </p:nvSpPr>
        <p:spPr/>
        <p:txBody>
          <a:bodyPr/>
          <a:lstStyle/>
          <a:p>
            <a:fld id="{3C7FDB04-D1AC-46DB-9592-CA12D78D404F}" type="slidenum">
              <a:rPr lang="en-US" smtClean="0"/>
              <a:t>4</a:t>
            </a:fld>
            <a:endParaRPr lang="en-US"/>
          </a:p>
        </p:txBody>
      </p:sp>
    </p:spTree>
    <p:extLst>
      <p:ext uri="{BB962C8B-B14F-4D97-AF65-F5344CB8AC3E}">
        <p14:creationId xmlns:p14="http://schemas.microsoft.com/office/powerpoint/2010/main" val="2900023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The baseball example on the slide is the clean one: anyone who has been to a game knows it is not a short experience. On screen it is ninety seconds, and nobody feels cheated.</a:t>
            </a:r>
          </a:p>
          <a:p>
            <a:pPr latinLnBrk="1"/>
          </a:p>
          <a:p>
            <a:pPr latinLnBrk="1"/>
            <a:r>
              <a:rPr lang="en-US" sz="1200" kern="1200" dirty="0">
                <a:solidFill>
                  <a:schemeClr val="tx1"/>
                </a:solidFill>
                <a:effectLst/>
                <a:latin typeface="+mn-lt"/>
                <a:ea typeface="+mn-ea"/>
                <a:cs typeface="+mn-cs"/>
              </a:rPr>
              <a:t>That compression is the point of editing. You show the parts that carry the story and you skip the rest, and the audience reconstructs the whole.</a:t>
            </a:r>
          </a:p>
          <a:p>
            <a:pPr latinLnBrk="1"/>
          </a:p>
          <a:p>
            <a:pPr latinLnBrk="1"/>
            <a:r>
              <a:rPr lang="en-US" sz="1200" kern="1200" dirty="0">
                <a:solidFill>
                  <a:schemeClr val="tx1"/>
                </a:solidFill>
                <a:effectLst/>
                <a:latin typeface="+mn-lt"/>
                <a:ea typeface="+mn-ea"/>
                <a:cs typeface="+mn-cs"/>
              </a:rPr>
              <a:t>Say: the two failure modes are opposite and they look identical in a first draft. Too fast, and they cannot follow what happened. Too slow, and they stop caring. You will get numbers for this in the animatic session. For now, notice that both are your responsibility and not the editor's.</a:t>
            </a:r>
          </a:p>
        </p:txBody>
      </p:sp>
      <p:sp>
        <p:nvSpPr>
          <p:cNvPr id="4" name="Slide Number Placeholder 3"/>
          <p:cNvSpPr>
            <a:spLocks noGrp="1"/>
          </p:cNvSpPr>
          <p:nvPr>
            <p:ph type="sldNum" sz="quarter" idx="10"/>
          </p:nvPr>
        </p:nvSpPr>
        <p:spPr/>
        <p:txBody>
          <a:bodyPr/>
          <a:lstStyle/>
          <a:p>
            <a:fld id="{3C7FDB04-D1AC-46DB-9592-CA12D78D404F}" type="slidenum">
              <a:rPr lang="en-US" smtClean="0"/>
              <a:t>5</a:t>
            </a:fld>
            <a:endParaRPr lang="en-US"/>
          </a:p>
        </p:txBody>
      </p:sp>
    </p:spTree>
    <p:extLst>
      <p:ext uri="{BB962C8B-B14F-4D97-AF65-F5344CB8AC3E}">
        <p14:creationId xmlns:p14="http://schemas.microsoft.com/office/powerpoint/2010/main" val="2022459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2001: A Space Odyssey. A prehistoric ape throws a bone into the air, and on its descent the film cuts to a spacecraft.</a:t>
            </a:r>
          </a:p>
          <a:p/>
          <a:p>
            <a:r>
              <a:rPr lang="en-US" sz="1200" kern="1200" dirty="0">
                <a:solidFill>
                  <a:schemeClr val="tx1"/>
                </a:solidFill>
                <a:effectLst/>
                <a:latin typeface="+mn-lt"/>
                <a:ea typeface="+mn-ea"/>
                <a:cs typeface="+mn-cs"/>
              </a:rPr>
              <a:t>Four million years in one cut.</a:t>
            </a:r>
          </a:p>
          <a:p/>
          <a:p>
            <a:r>
              <a:rPr lang="en-US" sz="1200" kern="1200" dirty="0">
                <a:solidFill>
                  <a:schemeClr val="tx1"/>
                </a:solidFill>
                <a:effectLst/>
                <a:latin typeface="+mn-lt"/>
                <a:ea typeface="+mn-ea"/>
                <a:cs typeface="+mn-cs"/>
              </a:rPr>
              <a:t>Say: and it works because of a graphic match: the shapes rhyme. The bone tumbling and the ship drifting occupy the same part of the frame, at the same angle, moving the same way. Your eye accepts the substitution before your brain catches up.</a:t>
            </a:r>
          </a:p>
          <a:p/>
          <a:p>
            <a:r>
              <a:rPr lang="en-US" sz="1200" kern="1200" dirty="0">
                <a:solidFill>
                  <a:schemeClr val="tx1"/>
                </a:solidFill>
                <a:effectLst/>
                <a:latin typeface="+mn-lt"/>
                <a:ea typeface="+mn-ea"/>
                <a:cs typeface="+mn-cs"/>
              </a:rPr>
              <a:t>We will come back to this in the second half of continuity, and your composition lecture already showed you the same cut. Three sessions, one example, on purpose, because composition, continuity and montage are the same subject seen from three sides.</a:t>
            </a:r>
          </a:p>
        </p:txBody>
      </p:sp>
      <p:sp>
        <p:nvSpPr>
          <p:cNvPr id="4" name="Slide Number Placeholder 3"/>
          <p:cNvSpPr>
            <a:spLocks noGrp="1"/>
          </p:cNvSpPr>
          <p:nvPr>
            <p:ph type="sldNum" sz="quarter" idx="10"/>
          </p:nvPr>
        </p:nvSpPr>
        <p:spPr/>
        <p:txBody>
          <a:bodyPr/>
          <a:lstStyle/>
          <a:p>
            <a:fld id="{3C7FDB04-D1AC-46DB-9592-CA12D78D404F}" type="slidenum">
              <a:rPr lang="en-US" smtClean="0"/>
              <a:t>8</a:t>
            </a:fld>
            <a:endParaRPr lang="en-US"/>
          </a:p>
        </p:txBody>
      </p:sp>
    </p:spTree>
    <p:extLst>
      <p:ext uri="{BB962C8B-B14F-4D97-AF65-F5344CB8AC3E}">
        <p14:creationId xmlns:p14="http://schemas.microsoft.com/office/powerpoint/2010/main" val="11402752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is the agenda for the rest of the session, so read it as one.</a:t>
            </a:r>
          </a:p>
          <a:p/>
          <a:p>
            <a:r>
              <a:rPr lang="en-US" sz="1200" kern="1200" dirty="0">
                <a:solidFill>
                  <a:schemeClr val="tx1"/>
                </a:solidFill>
                <a:effectLst/>
                <a:latin typeface="+mn-lt"/>
                <a:ea typeface="+mn-ea"/>
                <a:cs typeface="+mn-cs"/>
              </a:rPr>
              <a:t>Four tools. The line, screen direction, and the three matches: action, eyeline, and shot/reverse.</a:t>
            </a:r>
          </a:p>
          <a:p/>
          <a:p>
            <a:r>
              <a:rPr lang="en-US" sz="1200" kern="1200" dirty="0">
                <a:solidFill>
                  <a:schemeClr val="tx1"/>
                </a:solidFill>
                <a:effectLst/>
                <a:latin typeface="+mn-lt"/>
                <a:ea typeface="+mn-ea"/>
                <a:cs typeface="+mn-cs"/>
              </a:rPr>
              <a:t>Say: all four are checkable. That matters, because unlike most of what this course teaches, these have right answers. You can look at a sequence and say definitively that the line was crossed. That makes them the easiest marks in City Park and the most annoying ones to lose.</a:t>
            </a:r>
          </a:p>
        </p:txBody>
      </p:sp>
      <p:sp>
        <p:nvSpPr>
          <p:cNvPr id="4" name="Slide Number Placeholder 3"/>
          <p:cNvSpPr>
            <a:spLocks noGrp="1"/>
          </p:cNvSpPr>
          <p:nvPr>
            <p:ph type="sldNum" sz="quarter" idx="10"/>
          </p:nvPr>
        </p:nvSpPr>
        <p:spPr/>
        <p:txBody>
          <a:bodyPr/>
          <a:lstStyle/>
          <a:p>
            <a:fld id="{3C7FDB04-D1AC-46DB-9592-CA12D78D404F}" type="slidenum">
              <a:rPr lang="en-US" smtClean="0"/>
              <a:t>10</a:t>
            </a:fld>
            <a:endParaRPr lang="en-US"/>
          </a:p>
        </p:txBody>
      </p:sp>
    </p:spTree>
    <p:extLst>
      <p:ext uri="{BB962C8B-B14F-4D97-AF65-F5344CB8AC3E}">
        <p14:creationId xmlns:p14="http://schemas.microsoft.com/office/powerpoint/2010/main" val="300941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single most important continuity tool, and the one students break most often.</a:t>
            </a:r>
          </a:p>
          <a:p/>
          <a:p>
            <a:r>
              <a:rPr lang="en-US" sz="1200" kern="1200" dirty="0">
                <a:solidFill>
                  <a:schemeClr val="tx1"/>
                </a:solidFill>
                <a:effectLst/>
                <a:latin typeface="+mn-lt"/>
                <a:ea typeface="+mn-ea"/>
                <a:cs typeface="+mn-cs"/>
              </a:rPr>
              <a:t>Draw an imaginary line through the scene, between two people in conversation, or along the path of a moving subject. That line divides the space in two. Pick a side and keep the camera on it.</a:t>
            </a:r>
          </a:p>
          <a:p/>
          <a:p>
            <a:r>
              <a:rPr lang="en-US" sz="1200" kern="1200" dirty="0">
                <a:solidFill>
                  <a:schemeClr val="tx1"/>
                </a:solidFill>
                <a:effectLst/>
                <a:latin typeface="+mn-lt"/>
                <a:ea typeface="+mn-ea"/>
                <a:cs typeface="+mn-cs"/>
              </a:rPr>
              <a:t>Everything on your side is a legal camera position, which is a 180-degree arc. That is a lot of freedom, and it is why the rule feels restrictive only until you have used it.</a:t>
            </a:r>
          </a:p>
          <a:p/>
          <a:p>
            <a:r>
              <a:rPr lang="en-US" sz="1200" kern="1200" dirty="0">
                <a:solidFill>
                  <a:schemeClr val="tx1"/>
                </a:solidFill>
                <a:effectLst/>
                <a:latin typeface="+mn-lt"/>
                <a:ea typeface="+mn-ea"/>
                <a:cs typeface="+mn-cs"/>
              </a:rPr>
              <a:t>Say: the line gives the audience a stable sense of direction for the scene. Who is on the left, who is on the right, which way things are going. Break it and you have taken that away without warning.</a:t>
            </a:r>
          </a:p>
        </p:txBody>
      </p:sp>
      <p:sp>
        <p:nvSpPr>
          <p:cNvPr id="4" name="Slide Number Placeholder 3"/>
          <p:cNvSpPr>
            <a:spLocks noGrp="1"/>
          </p:cNvSpPr>
          <p:nvPr>
            <p:ph type="sldNum" sz="quarter" idx="10"/>
          </p:nvPr>
        </p:nvSpPr>
        <p:spPr/>
        <p:txBody>
          <a:bodyPr/>
          <a:lstStyle/>
          <a:p>
            <a:fld id="{3C7FDB04-D1AC-46DB-9592-CA12D78D404F}" type="slidenum">
              <a:rPr lang="en-US" smtClean="0"/>
              <a:t>11</a:t>
            </a:fld>
            <a:endParaRPr lang="en-US"/>
          </a:p>
        </p:txBody>
      </p:sp>
    </p:spTree>
    <p:extLst>
      <p:ext uri="{BB962C8B-B14F-4D97-AF65-F5344CB8AC3E}">
        <p14:creationId xmlns:p14="http://schemas.microsoft.com/office/powerpoint/2010/main" val="655492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Work the diagram live rather than reading it.</a:t>
            </a:r>
          </a:p>
          <a:p/>
          <a:p>
            <a:r>
              <a:rPr lang="en-US" sz="1200" kern="1200" dirty="0">
                <a:solidFill>
                  <a:schemeClr val="tx1"/>
                </a:solidFill>
                <a:effectLst/>
                <a:latin typeface="+mn-lt"/>
                <a:ea typeface="+mn-ea"/>
                <a:cs typeface="+mn-cs"/>
              </a:rPr>
              <a:t>Two characters facing each other in profile. Draw the line between them. Now the camera can go anywhere in the 180-degree arc on one side: wide, close, over either shoulder, high, low, and every one of those shots will cut together.</a:t>
            </a:r>
          </a:p>
          <a:p/>
          <a:p>
            <a:r>
              <a:rPr lang="en-US" sz="1200" kern="1200" dirty="0">
                <a:solidFill>
                  <a:schemeClr val="tx1"/>
                </a:solidFill>
                <a:effectLst/>
                <a:latin typeface="+mn-lt"/>
                <a:ea typeface="+mn-ea"/>
                <a:cs typeface="+mn-cs"/>
              </a:rPr>
              <a:t>Say: notice what you get for free. Once the line is established, every shot on that side is compatible with every other shot on that side. You do not have to think about it again for the rest of the scene.</a:t>
            </a:r>
          </a:p>
          <a:p/>
          <a:p>
            <a:r>
              <a:rPr lang="en-US" sz="1200" kern="1200" dirty="0">
                <a:solidFill>
                  <a:schemeClr val="tx1"/>
                </a:solidFill>
                <a:effectLst/>
                <a:latin typeface="+mn-lt"/>
                <a:ea typeface="+mn-ea"/>
                <a:cs typeface="+mn-cs"/>
              </a:rPr>
              <a:t>Have them draw it. Two dots, a line, a shaded half-circle. It takes ten seconds and it is the thing they will actually use.</a:t>
            </a:r>
          </a:p>
        </p:txBody>
      </p:sp>
      <p:sp>
        <p:nvSpPr>
          <p:cNvPr id="4" name="Slide Number Placeholder 3"/>
          <p:cNvSpPr>
            <a:spLocks noGrp="1"/>
          </p:cNvSpPr>
          <p:nvPr>
            <p:ph type="sldNum" sz="quarter" idx="10"/>
          </p:nvPr>
        </p:nvSpPr>
        <p:spPr/>
        <p:txBody>
          <a:bodyPr/>
          <a:lstStyle/>
          <a:p>
            <a:fld id="{3C7FDB04-D1AC-46DB-9592-CA12D78D404F}" type="slidenum">
              <a:rPr lang="en-US" smtClean="0"/>
              <a:t>12</a:t>
            </a:fld>
            <a:endParaRPr lang="en-US"/>
          </a:p>
        </p:txBody>
      </p:sp>
    </p:spTree>
    <p:extLst>
      <p:ext uri="{BB962C8B-B14F-4D97-AF65-F5344CB8AC3E}">
        <p14:creationId xmlns:p14="http://schemas.microsoft.com/office/powerpoint/2010/main" val="29585200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concrete failure: one character ends up looking at the back of the other's head. Two people in conversation appear to be facing the same direction, or a character who was on the left is suddenly on the right.</a:t>
            </a:r>
          </a:p>
          <a:p/>
          <a:p>
            <a:r>
              <a:rPr lang="en-US" sz="1200" kern="1200" dirty="0">
                <a:solidFill>
                  <a:schemeClr val="tx1"/>
                </a:solidFill>
                <a:effectLst/>
                <a:latin typeface="+mn-lt"/>
                <a:ea typeface="+mn-ea"/>
                <a:cs typeface="+mn-cs"/>
              </a:rPr>
              <a:t>Say: here is the part worth stressing. The audience does not know it is a geometry error. They cannot tell you what is wrong. What they will say is that it feels off, or that it looks cheap, or that they got confused for a second.</a:t>
            </a:r>
          </a:p>
          <a:p/>
          <a:p>
            <a:r>
              <a:rPr lang="en-US" sz="1200" kern="1200" dirty="0">
                <a:solidFill>
                  <a:schemeClr val="tx1"/>
                </a:solidFill>
                <a:effectLst/>
                <a:latin typeface="+mn-lt"/>
                <a:ea typeface="+mn-ea"/>
                <a:cs typeface="+mn-cs"/>
              </a:rPr>
              <a:t>That is what a broken line feels like from the audience seat, and it is why you cannot rely on someone flagging it for you. You have to check it yourself, which is what the floor plan from Deck 04 is for.</a:t>
            </a:r>
          </a:p>
        </p:txBody>
      </p:sp>
      <p:sp>
        <p:nvSpPr>
          <p:cNvPr id="4" name="Slide Number Placeholder 3"/>
          <p:cNvSpPr>
            <a:spLocks noGrp="1"/>
          </p:cNvSpPr>
          <p:nvPr>
            <p:ph type="sldNum" sz="quarter" idx="10"/>
          </p:nvPr>
        </p:nvSpPr>
        <p:spPr/>
        <p:txBody>
          <a:bodyPr/>
          <a:lstStyle/>
          <a:p>
            <a:fld id="{3C7FDB04-D1AC-46DB-9592-CA12D78D404F}" type="slidenum">
              <a:rPr lang="en-US" smtClean="0"/>
              <a:t>14</a:t>
            </a:fld>
            <a:endParaRPr lang="en-US"/>
          </a:p>
        </p:txBody>
      </p:sp>
    </p:spTree>
    <p:extLst>
      <p:ext uri="{BB962C8B-B14F-4D97-AF65-F5344CB8AC3E}">
        <p14:creationId xmlns:p14="http://schemas.microsoft.com/office/powerpoint/2010/main" val="35517527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Two people on the phone, in two different cities, never in the same frame. There is still a line.</a:t>
            </a:r>
          </a:p>
          <a:p/>
          <a:p>
            <a:r>
              <a:rPr lang="en-US" sz="1200" kern="1200" dirty="0">
                <a:solidFill>
                  <a:schemeClr val="tx1"/>
                </a:solidFill>
                <a:effectLst/>
                <a:latin typeface="+mn-lt"/>
                <a:ea typeface="+mn-ea"/>
                <a:cs typeface="+mn-cs"/>
              </a:rPr>
              <a:t>Establish an imaginary one between them and stay on one side of it, so that when you cut from her to him, they appear to be facing each other. She looks screen-right, he looks screen-left, and the audience connects them across a thousand miles.</a:t>
            </a:r>
          </a:p>
          <a:p/>
          <a:p>
            <a:r>
              <a:rPr lang="en-US" sz="1200" kern="1200" dirty="0">
                <a:solidFill>
                  <a:schemeClr val="tx1"/>
                </a:solidFill>
                <a:effectLst/>
                <a:latin typeface="+mn-lt"/>
                <a:ea typeface="+mn-ea"/>
                <a:cs typeface="+mn-cs"/>
              </a:rPr>
              <a:t>Say: get this wrong and two people having a conversation appear to be facing away from each other, which reads as distance in a way you did not intend, or just as an error. The rule is not about physical space. It is about the space the audience is building in their head.</a:t>
            </a:r>
          </a:p>
        </p:txBody>
      </p:sp>
      <p:sp>
        <p:nvSpPr>
          <p:cNvPr id="4" name="Slide Number Placeholder 3"/>
          <p:cNvSpPr>
            <a:spLocks noGrp="1"/>
          </p:cNvSpPr>
          <p:nvPr>
            <p:ph type="sldNum" sz="quarter" idx="10"/>
          </p:nvPr>
        </p:nvSpPr>
        <p:spPr/>
        <p:txBody>
          <a:bodyPr/>
          <a:lstStyle/>
          <a:p>
            <a:fld id="{3C7FDB04-D1AC-46DB-9592-CA12D78D404F}" type="slidenum">
              <a:rPr lang="en-US" smtClean="0"/>
              <a:t>15</a:t>
            </a:fld>
            <a:endParaRPr lang="en-US"/>
          </a:p>
        </p:txBody>
      </p:sp>
    </p:spTree>
    <p:extLst>
      <p:ext uri="{BB962C8B-B14F-4D97-AF65-F5344CB8AC3E}">
        <p14:creationId xmlns:p14="http://schemas.microsoft.com/office/powerpoint/2010/main" val="12871014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Once the line is established there are legal ways across, and this is the first: keep the camera moving.</a:t>
            </a:r>
          </a:p>
          <a:p/>
          <a:p>
            <a:r>
              <a:rPr lang="en-US" sz="1200" kern="1200" dirty="0">
                <a:solidFill>
                  <a:schemeClr val="tx1"/>
                </a:solidFill>
                <a:effectLst/>
                <a:latin typeface="+mn-lt"/>
                <a:ea typeface="+mn-ea"/>
                <a:cs typeface="+mn-cs"/>
              </a:rPr>
              <a:t>A dolly or a crane can travel over the line as long as the movement is continuous and the audience is carried across with it. Because they watched the journey, the new geography arrives already explained.</a:t>
            </a:r>
          </a:p>
          <a:p/>
          <a:p>
            <a:r>
              <a:rPr lang="en-US" sz="1200" kern="1200" dirty="0">
                <a:solidFill>
                  <a:schemeClr val="tx1"/>
                </a:solidFill>
                <a:effectLst/>
                <a:latin typeface="+mn-lt"/>
                <a:ea typeface="+mn-ea"/>
                <a:cs typeface="+mn-cs"/>
              </a:rPr>
              <a:t>Say: this is expensive (it is a move, and moves cost money), but it is the most elegant solution, because nothing is hidden. You simply showed them.</a:t>
            </a:r>
          </a:p>
        </p:txBody>
      </p:sp>
      <p:sp>
        <p:nvSpPr>
          <p:cNvPr id="4" name="Slide Number Placeholder 3"/>
          <p:cNvSpPr>
            <a:spLocks noGrp="1"/>
          </p:cNvSpPr>
          <p:nvPr>
            <p:ph type="sldNum" sz="quarter" idx="10"/>
          </p:nvPr>
        </p:nvSpPr>
        <p:spPr/>
        <p:txBody>
          <a:bodyPr/>
          <a:lstStyle/>
          <a:p>
            <a:fld id="{3C7FDB04-D1AC-46DB-9592-CA12D78D404F}" type="slidenum">
              <a:rPr lang="en-US" smtClean="0"/>
              <a:t>16</a:t>
            </a:fld>
            <a:endParaRPr lang="en-US"/>
          </a:p>
        </p:txBody>
      </p:sp>
    </p:spTree>
    <p:extLst>
      <p:ext uri="{BB962C8B-B14F-4D97-AF65-F5344CB8AC3E}">
        <p14:creationId xmlns:p14="http://schemas.microsoft.com/office/powerpoint/2010/main" val="23722268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second and third legal crossings, and both are free.</a:t>
            </a:r>
          </a:p>
          <a:p/>
          <a:p>
            <a:r>
              <a:rPr lang="en-US" sz="1200" kern="1200" dirty="0">
                <a:solidFill>
                  <a:schemeClr val="tx1"/>
                </a:solidFill>
                <a:effectLst/>
                <a:latin typeface="+mn-lt"/>
                <a:ea typeface="+mn-ea"/>
                <a:cs typeface="+mn-cs"/>
              </a:rPr>
              <a:t>A character crosses the line themselves. They get up, walk around the table, sit down opposite. Once they have re-established eye contact from the new position, a new line exists, and that is now the line.</a:t>
            </a:r>
          </a:p>
          <a:p/>
          <a:p>
            <a:r>
              <a:rPr lang="en-US" sz="1200" kern="1200" dirty="0">
                <a:solidFill>
                  <a:schemeClr val="tx1"/>
                </a:solidFill>
                <a:effectLst/>
                <a:latin typeface="+mn-lt"/>
                <a:ea typeface="+mn-ea"/>
                <a:cs typeface="+mn-cs"/>
              </a:rPr>
              <a:t>Or a third person enters and somebody turns to acknowledge them. A new sightline is established, so a new line is established.</a:t>
            </a:r>
          </a:p>
          <a:p/>
          <a:p>
            <a:r>
              <a:rPr lang="en-US" sz="1200" kern="1200" dirty="0">
                <a:solidFill>
                  <a:schemeClr val="tx1"/>
                </a:solidFill>
                <a:effectLst/>
                <a:latin typeface="+mn-lt"/>
                <a:ea typeface="+mn-ea"/>
                <a:cs typeface="+mn-cs"/>
              </a:rPr>
              <a:t>Say: notice the pattern. In each case, the audience watched the geography change. That is the whole principle: you are not forbidden from crossing, you are forbidden from crossing invisibly.</a:t>
            </a:r>
          </a:p>
        </p:txBody>
      </p:sp>
      <p:sp>
        <p:nvSpPr>
          <p:cNvPr id="4" name="Slide Number Placeholder 3"/>
          <p:cNvSpPr>
            <a:spLocks noGrp="1"/>
          </p:cNvSpPr>
          <p:nvPr>
            <p:ph type="sldNum" sz="quarter" idx="10"/>
          </p:nvPr>
        </p:nvSpPr>
        <p:spPr/>
        <p:txBody>
          <a:bodyPr/>
          <a:lstStyle/>
          <a:p>
            <a:fld id="{3C7FDB04-D1AC-46DB-9592-CA12D78D404F}" type="slidenum">
              <a:rPr lang="en-US" smtClean="0"/>
              <a:t>17</a:t>
            </a:fld>
            <a:endParaRPr lang="en-US"/>
          </a:p>
        </p:txBody>
      </p:sp>
    </p:spTree>
    <p:extLst>
      <p:ext uri="{BB962C8B-B14F-4D97-AF65-F5344CB8AC3E}">
        <p14:creationId xmlns:p14="http://schemas.microsoft.com/office/powerpoint/2010/main" val="22439640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illegal crossing, used deliberately.</a:t>
            </a:r>
          </a:p>
          <a:p/>
          <a:p>
            <a:r>
              <a:rPr lang="en-US" sz="1200" kern="1200" dirty="0">
                <a:solidFill>
                  <a:schemeClr val="tx1"/>
                </a:solidFill>
                <a:effectLst/>
                <a:latin typeface="+mn-lt"/>
                <a:ea typeface="+mn-ea"/>
                <a:cs typeface="+mn-cs"/>
              </a:rPr>
              <a:t>A character running through a crowd looking for someone. A fight. A panic. Crossing the line repeatedly produces exactly the disorientation the scene is about, and that is a legitimate tool.</a:t>
            </a:r>
          </a:p>
          <a:p/>
          <a:p>
            <a:r>
              <a:rPr lang="en-US" sz="1200" kern="1200" dirty="0">
                <a:solidFill>
                  <a:schemeClr val="tx1"/>
                </a:solidFill>
                <a:effectLst/>
                <a:latin typeface="+mn-lt"/>
                <a:ea typeface="+mn-ea"/>
                <a:cs typeface="+mn-cs"/>
              </a:rPr>
              <a:t>Say: and here is the warning that matters. There is a very fine line between conveying a character's confusion and simply confusing your audience, and you will not get the benefit of the doubt. A single crossing reads as a mistake. If you are going to break it deliberately, break it hard enough and often enough that nobody could mistake it for an accident.</a:t>
            </a:r>
          </a:p>
          <a:p/>
          <a:p>
            <a:r>
              <a:rPr lang="en-US" sz="1200" kern="1200" dirty="0">
                <a:solidFill>
                  <a:schemeClr val="tx1"/>
                </a:solidFill>
                <a:effectLst/>
                <a:latin typeface="+mn-lt"/>
                <a:ea typeface="+mn-ea"/>
                <a:cs typeface="+mn-cs"/>
              </a:rPr>
              <a:t>In City Park, if you cross the line, put a note in the margin saying you meant to. That is not me being generous, it is what a board artist does on a real production.</a:t>
            </a:r>
          </a:p>
        </p:txBody>
      </p:sp>
      <p:sp>
        <p:nvSpPr>
          <p:cNvPr id="4" name="Slide Number Placeholder 3"/>
          <p:cNvSpPr>
            <a:spLocks noGrp="1"/>
          </p:cNvSpPr>
          <p:nvPr>
            <p:ph type="sldNum" sz="quarter" idx="10"/>
          </p:nvPr>
        </p:nvSpPr>
        <p:spPr/>
        <p:txBody>
          <a:bodyPr/>
          <a:lstStyle/>
          <a:p>
            <a:fld id="{3C7FDB04-D1AC-46DB-9592-CA12D78D404F}" type="slidenum">
              <a:rPr lang="en-US" smtClean="0"/>
              <a:t>19</a:t>
            </a:fld>
            <a:endParaRPr lang="en-US"/>
          </a:p>
        </p:txBody>
      </p:sp>
    </p:spTree>
    <p:extLst>
      <p:ext uri="{BB962C8B-B14F-4D97-AF65-F5344CB8AC3E}">
        <p14:creationId xmlns:p14="http://schemas.microsoft.com/office/powerpoint/2010/main" val="1749713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Screen direction is which way a person or object moves or looks, held consistently from shot to shot.</a:t>
            </a:r>
          </a:p>
          <a:p/>
          <a:p>
            <a:r>
              <a:rPr lang="en-US" sz="1200" kern="1200" dirty="0">
                <a:solidFill>
                  <a:schemeClr val="tx1"/>
                </a:solidFill>
                <a:effectLst/>
                <a:latin typeface="+mn-lt"/>
                <a:ea typeface="+mn-ea"/>
                <a:cs typeface="+mn-cs"/>
              </a:rPr>
              <a:t>If a character faces one direction in the first shot and the opposite direction in the second, continuity is jeopardized, and the audience's mental map of the scene breaks.</a:t>
            </a:r>
          </a:p>
          <a:p/>
          <a:p>
            <a:r>
              <a:rPr lang="en-US" sz="1200" kern="1200" dirty="0">
                <a:solidFill>
                  <a:schemeClr val="tx1"/>
                </a:solidFill>
                <a:effectLst/>
                <a:latin typeface="+mn-lt"/>
                <a:ea typeface="+mn-ea"/>
                <a:cs typeface="+mn-cs"/>
              </a:rPr>
              <a:t>Say: think of it as a promise you made in the first shot. The audience believed you, and they are now navigating by it. A shot list and a floor plan are how a director keeps that promise across a day of shooting, in which the shots were almost certainly filmed out of order.</a:t>
            </a:r>
          </a:p>
        </p:txBody>
      </p:sp>
      <p:sp>
        <p:nvSpPr>
          <p:cNvPr id="4" name="Slide Number Placeholder 3"/>
          <p:cNvSpPr>
            <a:spLocks noGrp="1"/>
          </p:cNvSpPr>
          <p:nvPr>
            <p:ph type="sldNum" sz="quarter" idx="10"/>
          </p:nvPr>
        </p:nvSpPr>
        <p:spPr/>
        <p:txBody>
          <a:bodyPr/>
          <a:lstStyle/>
          <a:p>
            <a:fld id="{3C7FDB04-D1AC-46DB-9592-CA12D78D404F}" type="slidenum">
              <a:rPr lang="en-US" smtClean="0"/>
              <a:t>20</a:t>
            </a:fld>
            <a:endParaRPr lang="en-US"/>
          </a:p>
        </p:txBody>
      </p:sp>
    </p:spTree>
    <p:extLst>
      <p:ext uri="{BB962C8B-B14F-4D97-AF65-F5344CB8AC3E}">
        <p14:creationId xmlns:p14="http://schemas.microsoft.com/office/powerpoint/2010/main" val="24560556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Movement straight toward or away from the camera. You see the front or the back, and no left-right information at all.</a:t>
            </a:r>
          </a:p>
          <a:p/>
          <a:p>
            <a:r>
              <a:rPr lang="en-US" sz="1200" kern="1200" dirty="0">
                <a:solidFill>
                  <a:schemeClr val="tx1"/>
                </a:solidFill>
                <a:effectLst/>
                <a:latin typeface="+mn-lt"/>
                <a:ea typeface="+mn-ea"/>
                <a:cs typeface="+mn-cs"/>
              </a:rPr>
              <a:t>Because it carries no direction, it is the safe cut between two shots that contradict each other. If you have a character moving left-to-right and you need them moving right-to-left, put a neutral shot between the two and the audience accepts the change.</a:t>
            </a:r>
          </a:p>
          <a:p/>
          <a:p>
            <a:r>
              <a:rPr lang="en-US" sz="1200" kern="1200" dirty="0">
                <a:solidFill>
                  <a:schemeClr val="tx1"/>
                </a:solidFill>
                <a:effectLst/>
                <a:latin typeface="+mn-lt"/>
                <a:ea typeface="+mn-ea"/>
                <a:cs typeface="+mn-cs"/>
              </a:rPr>
              <a:t>Say: it is also dynamic in its own right: a character walking directly at the lens grows in the frame, which is why it is used for arrivals and confrontations.</a:t>
            </a:r>
          </a:p>
        </p:txBody>
      </p:sp>
      <p:sp>
        <p:nvSpPr>
          <p:cNvPr id="4" name="Slide Number Placeholder 3"/>
          <p:cNvSpPr>
            <a:spLocks noGrp="1"/>
          </p:cNvSpPr>
          <p:nvPr>
            <p:ph type="sldNum" sz="quarter" idx="10"/>
          </p:nvPr>
        </p:nvSpPr>
        <p:spPr/>
        <p:txBody>
          <a:bodyPr/>
          <a:lstStyle/>
          <a:p>
            <a:fld id="{3C7FDB04-D1AC-46DB-9592-CA12D78D404F}" type="slidenum">
              <a:rPr lang="en-US" smtClean="0"/>
              <a:t>21</a:t>
            </a:fld>
            <a:endParaRPr lang="en-US"/>
          </a:p>
        </p:txBody>
      </p:sp>
    </p:spTree>
    <p:extLst>
      <p:ext uri="{BB962C8B-B14F-4D97-AF65-F5344CB8AC3E}">
        <p14:creationId xmlns:p14="http://schemas.microsoft.com/office/powerpoint/2010/main" val="4323281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Movement in one direction only, held across every shot in the sequence.</a:t>
            </a:r>
          </a:p>
          <a:p/>
          <a:p>
            <a:r>
              <a:rPr lang="en-US" sz="1200" kern="1200" dirty="0">
                <a:solidFill>
                  <a:schemeClr val="tx1"/>
                </a:solidFill>
                <a:effectLst/>
                <a:latin typeface="+mn-lt"/>
                <a:ea typeface="+mn-ea"/>
                <a:cs typeface="+mn-cs"/>
              </a:rPr>
              <a:t>The bus on its route travels left to right. Every shot of that journey has it going left to right, regardless of where the camera actually stood. Cut to a shot of the bus going the other way and the audience believes it turned around and is heading back.</a:t>
            </a:r>
          </a:p>
          <a:p/>
          <a:p>
            <a:r>
              <a:rPr lang="en-US" sz="1200" kern="1200" dirty="0">
                <a:solidFill>
                  <a:schemeClr val="tx1"/>
                </a:solidFill>
                <a:effectLst/>
                <a:latin typeface="+mn-lt"/>
                <a:ea typeface="+mn-ea"/>
                <a:cs typeface="+mn-cs"/>
              </a:rPr>
              <a:t>Say: the same applies to characters entering and exiting frame. If somebody exits screen-right, they should enter the next shot from screen-left, because they are continuing the same journey. Get that backwards and they appear to have doubled back.</a:t>
            </a:r>
          </a:p>
        </p:txBody>
      </p:sp>
      <p:sp>
        <p:nvSpPr>
          <p:cNvPr id="4" name="Slide Number Placeholder 3"/>
          <p:cNvSpPr>
            <a:spLocks noGrp="1"/>
          </p:cNvSpPr>
          <p:nvPr>
            <p:ph type="sldNum" sz="quarter" idx="10"/>
          </p:nvPr>
        </p:nvSpPr>
        <p:spPr/>
        <p:txBody>
          <a:bodyPr/>
          <a:lstStyle/>
          <a:p>
            <a:fld id="{3C7FDB04-D1AC-46DB-9592-CA12D78D404F}" type="slidenum">
              <a:rPr lang="en-US" smtClean="0"/>
              <a:t>22</a:t>
            </a:fld>
            <a:endParaRPr lang="en-US"/>
          </a:p>
        </p:txBody>
      </p:sp>
    </p:spTree>
    <p:extLst>
      <p:ext uri="{BB962C8B-B14F-4D97-AF65-F5344CB8AC3E}">
        <p14:creationId xmlns:p14="http://schemas.microsoft.com/office/powerpoint/2010/main" val="9413160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r>
              <a:rPr lang="en-US" sz="1200" kern="1200" dirty="0">
                <a:solidFill>
                  <a:schemeClr val="tx1"/>
                </a:solidFill>
                <a:effectLst/>
                <a:latin typeface="+mn-lt"/>
                <a:ea typeface="+mn-ea"/>
                <a:cs typeface="+mn-cs"/>
              </a:rPr>
              <a:t>This is the deliberate reversal. Out is one direction; back is the other.</a:t>
            </a:r>
          </a:p>
          <a:p/>
          <a:p>
            <a:r>
              <a:rPr lang="en-US" sz="1200" kern="1200" dirty="0">
                <a:solidFill>
                  <a:schemeClr val="tx1"/>
                </a:solidFill>
                <a:effectLst/>
                <a:latin typeface="+mn-lt"/>
                <a:ea typeface="+mn-ea"/>
                <a:cs typeface="+mn-cs"/>
              </a:rPr>
              <a:t>Say: this is how you tell an audience "he's going home" without a single word of dialogue. Reversed direction reads as reversed journey. It is free, it is completely reliable, and nobody ever notices you doing it, which is the highest compliment available in this discipline.</a:t>
            </a:r>
          </a:p>
        </p:txBody>
      </p:sp>
      <p:sp>
        <p:nvSpPr>
          <p:cNvPr id="4" name="Slide Number Placeholder 3"/>
          <p:cNvSpPr>
            <a:spLocks noGrp="1"/>
          </p:cNvSpPr>
          <p:nvPr>
            <p:ph type="sldNum" sz="quarter" idx="10"/>
          </p:nvPr>
        </p:nvSpPr>
        <p:spPr/>
        <p:txBody>
          <a:bodyPr/>
          <a:lstStyle/>
          <a:p>
            <a:fld id="{3C7FDB04-D1AC-46DB-9592-CA12D78D404F}" type="slidenum">
              <a:rPr lang="en-US" smtClean="0"/>
              <a:t>24</a:t>
            </a:fld>
            <a:endParaRPr lang="en-US"/>
          </a:p>
        </p:txBody>
      </p:sp>
    </p:spTree>
    <p:extLst>
      <p:ext uri="{BB962C8B-B14F-4D97-AF65-F5344CB8AC3E}">
        <p14:creationId xmlns:p14="http://schemas.microsoft.com/office/powerpoint/2010/main" val="19566597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other use of opposing direction: two subjects moving toward each other from opposite sides of the frame.</a:t>
            </a:r>
          </a:p>
          <a:p/>
          <a:p>
            <a:r>
              <a:rPr lang="en-US" sz="1200" kern="1200" dirty="0">
                <a:solidFill>
                  <a:schemeClr val="tx1"/>
                </a:solidFill>
                <a:effectLst/>
                <a:latin typeface="+mn-lt"/>
                <a:ea typeface="+mn-ea"/>
                <a:cs typeface="+mn-cs"/>
              </a:rPr>
              <a:t>The audience reads a collision course immediately. And as they converge, the grammar tightens with them: the shots get shorter, the framing gets closer.</a:t>
            </a:r>
          </a:p>
          <a:p/>
          <a:p>
            <a:r>
              <a:rPr lang="en-US" sz="1200" kern="1200" dirty="0">
                <a:solidFill>
                  <a:schemeClr val="tx1"/>
                </a:solidFill>
                <a:effectLst/>
                <a:latin typeface="+mn-lt"/>
                <a:ea typeface="+mn-ea"/>
                <a:cs typeface="+mn-cs"/>
              </a:rPr>
              <a:t>Say: notice that the tension is being produced by the direction rather than by the content. Two people walking is not dramatic. Two people walking toward each other from opposite edges of the screen, in alternating shots that keep getting shorter, is the whole of a Western.</a:t>
            </a:r>
          </a:p>
        </p:txBody>
      </p:sp>
      <p:sp>
        <p:nvSpPr>
          <p:cNvPr id="4" name="Slide Number Placeholder 3"/>
          <p:cNvSpPr>
            <a:spLocks noGrp="1"/>
          </p:cNvSpPr>
          <p:nvPr>
            <p:ph type="sldNum" sz="quarter" idx="10"/>
          </p:nvPr>
        </p:nvSpPr>
        <p:spPr/>
        <p:txBody>
          <a:bodyPr/>
          <a:lstStyle/>
          <a:p>
            <a:fld id="{3C7FDB04-D1AC-46DB-9592-CA12D78D404F}" type="slidenum">
              <a:rPr lang="en-US" smtClean="0"/>
              <a:t>25</a:t>
            </a:fld>
            <a:endParaRPr lang="en-US"/>
          </a:p>
        </p:txBody>
      </p:sp>
    </p:spTree>
    <p:extLst>
      <p:ext uri="{BB962C8B-B14F-4D97-AF65-F5344CB8AC3E}">
        <p14:creationId xmlns:p14="http://schemas.microsoft.com/office/powerpoint/2010/main" val="9308874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most common coverage pattern in narrative film, and it is the line of action put to work.</a:t>
            </a:r>
          </a:p>
          <a:p/>
          <a:p>
            <a:r>
              <a:rPr lang="en-US" sz="1200" kern="1200" dirty="0">
                <a:solidFill>
                  <a:schemeClr val="tx1"/>
                </a:solidFill>
                <a:effectLst/>
                <a:latin typeface="+mn-lt"/>
                <a:ea typeface="+mn-ea"/>
                <a:cs typeface="+mn-cs"/>
              </a:rPr>
              <a:t>Establish the space so the audience knows who is where. Draw the line between the two characters. Then place the camera on one side of it and cut back and forth.</a:t>
            </a:r>
          </a:p>
          <a:p/>
          <a:p>
            <a:r>
              <a:rPr lang="en-US" sz="1200" kern="1200" dirty="0">
                <a:solidFill>
                  <a:schemeClr val="tx1"/>
                </a:solidFill>
                <a:effectLst/>
                <a:latin typeface="+mn-lt"/>
                <a:ea typeface="+mn-ea"/>
                <a:cs typeface="+mn-cs"/>
              </a:rPr>
              <a:t>Say: because both cameras are on the same side, the two characters appear to be looking at each other across the cut. That is the entire trick, and it is why the establishing shot at the start is not optional: it is what makes the reverses legible.</a:t>
            </a:r>
          </a:p>
        </p:txBody>
      </p:sp>
      <p:sp>
        <p:nvSpPr>
          <p:cNvPr id="4" name="Slide Number Placeholder 3"/>
          <p:cNvSpPr>
            <a:spLocks noGrp="1"/>
          </p:cNvSpPr>
          <p:nvPr>
            <p:ph type="sldNum" sz="quarter" idx="10"/>
          </p:nvPr>
        </p:nvSpPr>
        <p:spPr/>
        <p:txBody>
          <a:bodyPr/>
          <a:lstStyle/>
          <a:p>
            <a:fld id="{3C7FDB04-D1AC-46DB-9592-CA12D78D404F}" type="slidenum">
              <a:rPr lang="en-US" smtClean="0"/>
              <a:t>26</a:t>
            </a:fld>
            <a:endParaRPr lang="en-US"/>
          </a:p>
        </p:txBody>
      </p:sp>
    </p:spTree>
    <p:extLst>
      <p:ext uri="{BB962C8B-B14F-4D97-AF65-F5344CB8AC3E}">
        <p14:creationId xmlns:p14="http://schemas.microsoft.com/office/powerpoint/2010/main" val="26151694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illusion that action continues uninterrupted even though the camera has moved.</a:t>
            </a:r>
          </a:p>
          <a:p/>
          <a:p>
            <a:r>
              <a:rPr lang="en-US" sz="1200" kern="1200" dirty="0">
                <a:solidFill>
                  <a:schemeClr val="tx1"/>
                </a:solidFill>
                <a:effectLst/>
                <a:latin typeface="+mn-lt"/>
                <a:ea typeface="+mn-ea"/>
                <a:cs typeface="+mn-cs"/>
              </a:rPr>
              <a:t>Everything at the end of shot A has to closely match the start of shot B: position, posture, direction, speed. Then you cut during the movement rather than before or after it.</a:t>
            </a:r>
          </a:p>
          <a:p/>
          <a:p>
            <a:r>
              <a:rPr lang="en-US" sz="1200" kern="1200" dirty="0">
                <a:solidFill>
                  <a:schemeClr val="tx1"/>
                </a:solidFill>
                <a:effectLst/>
                <a:latin typeface="+mn-lt"/>
                <a:ea typeface="+mn-ea"/>
                <a:cs typeface="+mn-cs"/>
              </a:rPr>
              <a:t>Two practical rules from the slide: change the frame size noticeably, and cut on the movement.</a:t>
            </a:r>
          </a:p>
          <a:p/>
          <a:p>
            <a:r>
              <a:rPr lang="en-US" sz="1200" kern="1200" dirty="0">
                <a:solidFill>
                  <a:schemeClr val="tx1"/>
                </a:solidFill>
                <a:effectLst/>
                <a:latin typeface="+mn-lt"/>
                <a:ea typeface="+mn-ea"/>
                <a:cs typeface="+mn-cs"/>
              </a:rPr>
              <a:t>Say: cutting on movement hides the cut, because the audience's attention is on the action rather than the frame. Cutting on stillness advertises it. That is most of the technique, and it is why a door opening, a head turning or a hand reaching are the classic cut points.</a:t>
            </a:r>
          </a:p>
        </p:txBody>
      </p:sp>
      <p:sp>
        <p:nvSpPr>
          <p:cNvPr id="4" name="Slide Number Placeholder 3"/>
          <p:cNvSpPr>
            <a:spLocks noGrp="1"/>
          </p:cNvSpPr>
          <p:nvPr>
            <p:ph type="sldNum" sz="quarter" idx="10"/>
          </p:nvPr>
        </p:nvSpPr>
        <p:spPr/>
        <p:txBody>
          <a:bodyPr/>
          <a:lstStyle/>
          <a:p>
            <a:fld id="{3C7FDB04-D1AC-46DB-9592-CA12D78D404F}" type="slidenum">
              <a:rPr lang="en-US" smtClean="0"/>
              <a:t>28</a:t>
            </a:fld>
            <a:endParaRPr lang="en-US"/>
          </a:p>
        </p:txBody>
      </p:sp>
    </p:spTree>
    <p:extLst>
      <p:ext uri="{BB962C8B-B14F-4D97-AF65-F5344CB8AC3E}">
        <p14:creationId xmlns:p14="http://schemas.microsoft.com/office/powerpoint/2010/main" val="495552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Cut only after the audience has actually absorbed the information in the shot.</a:t>
            </a:r>
          </a:p>
          <a:p/>
          <a:p>
            <a:r>
              <a:rPr lang="en-US" sz="1200" kern="1200" dirty="0">
                <a:solidFill>
                  <a:schemeClr val="tx1"/>
                </a:solidFill>
                <a:effectLst/>
                <a:latin typeface="+mn-lt"/>
                <a:ea typeface="+mn-ea"/>
                <a:cs typeface="+mn-cs"/>
              </a:rPr>
              <a:t>If the shot is too short they miss the detail and spend the next shot catching up. If it is too long they get irritated and their attention drifts.</a:t>
            </a:r>
          </a:p>
          <a:p/>
          <a:p>
            <a:r>
              <a:rPr lang="en-US" sz="1200" kern="1200" dirty="0">
                <a:solidFill>
                  <a:schemeClr val="tx1"/>
                </a:solidFill>
                <a:effectLst/>
                <a:latin typeface="+mn-lt"/>
                <a:ea typeface="+mn-ea"/>
                <a:cs typeface="+mn-cs"/>
              </a:rPr>
              <a:t>Say: this is your first taste of timing, and it is a judgment rather than a rule. You will get actual numbers in the animatic session: a reaction is about a second, an establishing shot three or four.</a:t>
            </a:r>
          </a:p>
          <a:p/>
          <a:p>
            <a:r>
              <a:rPr lang="en-US" sz="1200" kern="1200" dirty="0">
                <a:solidFill>
                  <a:schemeClr val="tx1"/>
                </a:solidFill>
                <a:effectLst/>
                <a:latin typeface="+mn-lt"/>
                <a:ea typeface="+mn-ea"/>
                <a:cs typeface="+mn-cs"/>
              </a:rPr>
              <a:t>For now, the test is simple: can you read the shot yourself, out loud, in the time you have given it? If not, it is too short.</a:t>
            </a:r>
          </a:p>
        </p:txBody>
      </p:sp>
      <p:sp>
        <p:nvSpPr>
          <p:cNvPr id="4" name="Slide Number Placeholder 3"/>
          <p:cNvSpPr>
            <a:spLocks noGrp="1"/>
          </p:cNvSpPr>
          <p:nvPr>
            <p:ph type="sldNum" sz="quarter" idx="10"/>
          </p:nvPr>
        </p:nvSpPr>
        <p:spPr/>
        <p:txBody>
          <a:bodyPr/>
          <a:lstStyle/>
          <a:p>
            <a:fld id="{3C7FDB04-D1AC-46DB-9592-CA12D78D404F}" type="slidenum">
              <a:rPr lang="en-US" smtClean="0"/>
              <a:t>29</a:t>
            </a:fld>
            <a:endParaRPr lang="en-US"/>
          </a:p>
        </p:txBody>
      </p:sp>
    </p:spTree>
    <p:extLst>
      <p:ext uri="{BB962C8B-B14F-4D97-AF65-F5344CB8AC3E}">
        <p14:creationId xmlns:p14="http://schemas.microsoft.com/office/powerpoint/2010/main" val="16456597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 eyeline match creates order in the story space. Somebody looks off-screen; the next shot shows what they saw. The two shots are now bound together and the audience has built a piece of geography out of nothing.</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Say: that expectation is a debt. If you show me a character looking hard at something off-screen and then cut to an unrelated shot, you have broken a promise and the audience will feel cheated without knowing why.</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connect it back: the composition lecture called an eyeline a compositional tool, because it directs the viewer's attention inside the frame. Here it is a contract between two frames. Both are true, and that is the pattern of this whole course.</a:t>
            </a:r>
          </a:p>
        </p:txBody>
      </p:sp>
      <p:sp>
        <p:nvSpPr>
          <p:cNvPr id="4" name="Slide Number Placeholder 3"/>
          <p:cNvSpPr>
            <a:spLocks noGrp="1"/>
          </p:cNvSpPr>
          <p:nvPr>
            <p:ph type="sldNum" sz="quarter" idx="10"/>
          </p:nvPr>
        </p:nvSpPr>
        <p:spPr/>
        <p:txBody>
          <a:bodyPr/>
          <a:lstStyle/>
          <a:p>
            <a:fld id="{3C7FDB04-D1AC-46DB-9592-CA12D78D404F}" type="slidenum">
              <a:rPr lang="en-US" smtClean="0"/>
              <a:t>30</a:t>
            </a:fld>
            <a:endParaRPr lang="en-US"/>
          </a:p>
        </p:txBody>
      </p:sp>
    </p:spTree>
    <p:extLst>
      <p:ext uri="{BB962C8B-B14F-4D97-AF65-F5344CB8AC3E}">
        <p14:creationId xmlns:p14="http://schemas.microsoft.com/office/powerpoint/2010/main" val="5313290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is handout H4, and it is the City Park rubric in five questions.</a:t>
            </a:r>
          </a:p>
          <a:p/>
          <a:p>
            <a:r>
              <a:rPr lang="en-US" dirty="0"/>
              <a:t>Give it out now. Every one of these is checkable: they are not matters of taste, and that is deliberate. It means you can self-assess before you submit, and it means when you lose marks here you will know exactly why.</a:t>
            </a:r>
          </a:p>
          <a:p/>
          <a:p>
            <a:r>
              <a:rPr lang="en-US" dirty="0"/>
              <a:t>Say: run this on the whole sequence, not on individual panels. Continuity is a property of the sequence; a panel cannot break the line on its own. That is why the last question exists: crossing the line is allowed, and unmarked crossing is not.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Run the exercise live and keep the constraint tight: they may not redraw anything. The only permitted fix is moving the camera, which forces them to think in floor plans rather than in pictures.</a:t>
            </a:r>
          </a:p>
          <a:p/>
          <a:p>
            <a:r>
              <a:rPr lang="en-US" dirty="0"/>
              <a:t>Then assign City Park. Bring the brief up on screen.</a:t>
            </a:r>
          </a:p>
          <a:p/>
          <a:p>
            <a:r>
              <a:rPr lang="en-US" dirty="0"/>
              <a:t>Say: City Park is deliberately dull: one park, two characters, fifteen to twenty-five panels. It is not testing your imagination. It is testing whether you can keep a space coherent across a cut, which is what today was about.</a:t>
            </a:r>
          </a:p>
          <a:p/>
          <a:p>
            <a:r>
              <a:rPr lang="en-US" dirty="0"/>
              <a:t>And say the thing that matters: the checklist you just got is the rubric. There are no surprises in this course. If you can answer those five questions about your own sequence, you have the marks.</a:t>
            </a:r>
          </a:p>
          <a:p/>
          <a:p>
            <a:r>
              <a:rPr lang="en-US" dirty="0"/>
              <a:t>Exit ticket: post the fixed pair of panels before you leave.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gif"/><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jpeg"/><Relationship Id="rId4" Type="http://schemas.openxmlformats.org/officeDocument/2006/relationships/image" Target="../media/image17.jpeg"/><Relationship Id="rId5"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3625" y="1871131"/>
            <a:ext cx="7448549" cy="1515533"/>
          </a:xfrm>
        </p:spPr>
        <p:txBody>
          <a:bodyPr/>
          <a:lstStyle/>
          <a:p>
            <a:r>
              <a:rPr lang="en-US" sz="4400" dirty="0"/>
              <a:t>Continuity: Making the Cut Disappear</a:t>
            </a:r>
          </a:p>
        </p:txBody>
      </p:sp>
      <p:sp>
        <p:nvSpPr>
          <p:cNvPr id="5" name="Subtitle 4">
            <a:extLst>
              <a:ext uri="{FF2B5EF4-FFF2-40B4-BE49-F238E27FC236}">
                <a16:creationId xmlns:a16="http://schemas.microsoft.com/office/drawing/2014/main" id="{70C6AD92-1E75-4AE6-A160-8290338F1B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35282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What Continuity Editing Is</a:t>
            </a:r>
          </a:p>
        </p:txBody>
      </p:sp>
      <p:sp>
        <p:nvSpPr>
          <p:cNvPr id="3" name="Content Placeholder 2">
            <a:extLst>
              <a:ext uri="{FF2B5EF4-FFF2-40B4-BE49-F238E27FC236}">
                <a16:creationId xmlns:a16="http://schemas.microsoft.com/office/drawing/2014/main" id="{6F79B231-F775-4B98-856F-27C74BC6DA6D}"/>
              </a:ext>
            </a:extLst>
          </p:cNvPr>
          <p:cNvSpPr>
            <a:spLocks noGrp="1"/>
          </p:cNvSpPr>
          <p:nvPr>
            <p:ph idx="1"/>
          </p:nvPr>
        </p:nvSpPr>
        <p:spPr>
          <a:xfrm>
            <a:off x="1298448" y="2606040"/>
            <a:ext cx="4434840" cy="3520440"/>
          </a:xfrm>
        </p:spPr>
        <p:txBody>
          <a:bodyPr/>
          <a:lstStyle/>
          <a:p>
            <a:r>
              <a:rPr lang="en-US" b="1" dirty="0" sz="1500">
                <a:solidFill>
                  <a:schemeClr val="tx1"/>
                </a:solidFill>
              </a:rPr>
              <a:t>Splicing shots of different sizes and angles so the audience perceives one continuous action.</a:t>
            </a:r>
          </a:p>
          <a:p>
            <a:r>
              <a:rPr lang="en-US" b="1" dirty="0" sz="1500">
                <a:solidFill>
                  <a:schemeClr val="tx1"/>
                </a:solidFill>
              </a:rPr>
              <a:t>There may be a dozen cuts in a minute. None of them are noticed.</a:t>
            </a:r>
          </a:p>
          <a:p>
            <a:r>
              <a:rPr lang="en-US" b="1" dirty="0" sz="1500">
                <a:solidFill>
                  <a:schemeClr val="tx1"/>
                </a:solidFill>
              </a:rPr>
              <a:t>If continuity fails, the illusion of consecutive action is interrupted, and the audience feels it before they can name it.</a:t>
            </a:r>
          </a:p>
        </p:txBody>
      </p:sp>
      <p:pic>
        <p:nvPicPr>
          <p:cNvPr id="1026" name="Picture 2" descr="Image result for Editing Film">
            <a:extLst>
              <a:ext uri="{FF2B5EF4-FFF2-40B4-BE49-F238E27FC236}">
                <a16:creationId xmlns:a16="http://schemas.microsoft.com/office/drawing/2014/main" id="{C448DDB7-2463-40BD-8582-40F6DA78B0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8391" y="2783664"/>
            <a:ext cx="4298207" cy="2865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4541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It Is Decided at the Board, Not in the Edit</a:t>
            </a:r>
          </a:p>
        </p:txBody>
      </p:sp>
      <p:sp>
        <p:nvSpPr>
          <p:cNvPr id="3" name="Content Placeholder 2">
            <a:extLst>
              <a:ext uri="{FF2B5EF4-FFF2-40B4-BE49-F238E27FC236}">
                <a16:creationId xmlns:a16="http://schemas.microsoft.com/office/drawing/2014/main" id="{5CBD1AE9-289C-4734-9E74-9B11D904CABE}"/>
              </a:ext>
            </a:extLst>
          </p:cNvPr>
          <p:cNvSpPr>
            <a:spLocks noGrp="1"/>
          </p:cNvSpPr>
          <p:nvPr>
            <p:ph idx="1"/>
          </p:nvPr>
        </p:nvSpPr>
        <p:spPr/>
        <p:txBody>
          <a:bodyPr/>
          <a:lstStyle/>
          <a:p>
            <a:r>
              <a:rPr lang="en-US" dirty="0">
                <a:solidFill>
                  <a:schemeClr val="tx1"/>
                </a:solidFill>
              </a:rPr>
              <a:t>A good director or designer will consider continuity at the </a:t>
            </a:r>
            <a:r>
              <a:rPr lang="en-US" b="1" dirty="0">
                <a:solidFill>
                  <a:schemeClr val="tx1"/>
                </a:solidFill>
              </a:rPr>
              <a:t>storyboard/planning phase</a:t>
            </a:r>
            <a:r>
              <a:rPr lang="en-US" dirty="0">
                <a:solidFill>
                  <a:schemeClr val="tx1"/>
                </a:solidFill>
              </a:rPr>
              <a:t>. </a:t>
            </a:r>
          </a:p>
          <a:p>
            <a:r>
              <a:rPr lang="en-US" dirty="0">
                <a:solidFill>
                  <a:schemeClr val="tx1"/>
                </a:solidFill>
              </a:rPr>
              <a:t/>
            </a:r>
            <a:r>
              <a:rPr lang="en-US" b="1" dirty="0">
                <a:solidFill>
                  <a:schemeClr val="tx1"/>
                </a:solidFill>
              </a:rPr>
              <a:t>Pacing</a:t>
            </a:r>
            <a:r>
              <a:rPr lang="en-US" dirty="0">
                <a:solidFill>
                  <a:schemeClr val="tx1"/>
                </a:solidFill>
              </a:rPr>
              <a:t> and transitions get set during planning, shot by shot.</a:t>
            </a:r>
            <a:r>
              <a:rPr lang="en-US" b="1" dirty="0">
                <a:solidFill>
                  <a:schemeClr val="tx1"/>
                </a:solidFill>
              </a:rPr>
              <a:t/>
            </a:r>
            <a:r>
              <a:rPr lang="en-US" dirty="0">
                <a:solidFill>
                  <a:schemeClr val="tx1"/>
                </a:solidFill>
              </a:rPr>
              <a:t/>
            </a:r>
          </a:p>
          <a:p>
            <a:endParaRPr lang="en-US" dirty="0"/>
          </a:p>
        </p:txBody>
      </p:sp>
    </p:spTree>
    <p:extLst>
      <p:ext uri="{BB962C8B-B14F-4D97-AF65-F5344CB8AC3E}">
        <p14:creationId xmlns:p14="http://schemas.microsoft.com/office/powerpoint/2010/main" val="2670036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Film Time Is Not Real Time</a:t>
            </a:r>
          </a:p>
        </p:txBody>
      </p:sp>
      <p:sp>
        <p:nvSpPr>
          <p:cNvPr id="3" name="Content Placeholder 2">
            <a:extLst>
              <a:ext uri="{FF2B5EF4-FFF2-40B4-BE49-F238E27FC236}">
                <a16:creationId xmlns:a16="http://schemas.microsoft.com/office/drawing/2014/main" id="{C8883316-E652-43C5-9A38-8D91FBC11B65}"/>
              </a:ext>
            </a:extLst>
          </p:cNvPr>
          <p:cNvSpPr>
            <a:spLocks noGrp="1"/>
          </p:cNvSpPr>
          <p:nvPr>
            <p:ph idx="1"/>
          </p:nvPr>
        </p:nvSpPr>
        <p:spPr>
          <a:xfrm>
            <a:off x="1298448" y="2743200"/>
            <a:ext cx="4846320" cy="2926080"/>
          </a:xfrm>
        </p:spPr>
        <p:txBody>
          <a:bodyPr/>
          <a:lstStyle/>
          <a:p>
            <a:r>
              <a:rPr lang="en-US" dirty="0"/>
              <a:t>Editing gives the director control over time, by showing only what is relevant.</a:t>
            </a:r>
          </a:p>
          <a:p>
            <a:r>
              <a:rPr lang="en-US" dirty="0"/>
              <a:t>A baseball game is three hours. The scene is ninety seconds.</a:t>
            </a:r>
          </a:p>
          <a:p>
            <a:r>
              <a:rPr lang="en-US" dirty="0"/>
              <a:t>Too fast and the audience cannot follow. Too slow and they are bored.</a:t>
            </a:r>
          </a:p>
        </p:txBody>
      </p:sp>
      <p:pic>
        <p:nvPicPr>
          <p:cNvPr id="4" name="Compressing time"/>
          <p:cNvPicPr>
            <a:picLocks noChangeAspect="1"/>
          </p:cNvPicPr>
          <p:nvPr/>
        </p:nvPicPr>
        <p:blipFill>
          <a:blip r:embed="rId3"/>
          <a:stretch>
            <a:fillRect/>
          </a:stretch>
        </p:blipFill>
        <p:spPr>
          <a:xfrm>
            <a:off x="6492240" y="2743200"/>
            <a:ext cx="4343400" cy="2834640"/>
          </a:xfrm>
          <a:prstGeom prst="rect">
            <a:avLst/>
          </a:prstGeom>
        </p:spPr>
      </p:pic>
    </p:spTree>
    <p:extLst>
      <p:ext uri="{BB962C8B-B14F-4D97-AF65-F5344CB8AC3E}">
        <p14:creationId xmlns:p14="http://schemas.microsoft.com/office/powerpoint/2010/main" val="2144178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The Most Famous Leap Ever Cut</a:t>
            </a:r>
          </a:p>
        </p:txBody>
      </p:sp>
      <p:sp>
        <p:nvSpPr>
          <p:cNvPr id="3" name="Content Placeholder 2">
            <a:extLst>
              <a:ext uri="{FF2B5EF4-FFF2-40B4-BE49-F238E27FC236}">
                <a16:creationId xmlns:a16="http://schemas.microsoft.com/office/drawing/2014/main" id="{FDDBDE37-4708-4986-9CD3-F6DC6160C325}"/>
              </a:ext>
            </a:extLst>
          </p:cNvPr>
          <p:cNvSpPr>
            <a:spLocks noGrp="1"/>
          </p:cNvSpPr>
          <p:nvPr>
            <p:ph idx="1"/>
          </p:nvPr>
        </p:nvSpPr>
        <p:spPr>
          <a:xfrm>
            <a:off x="8132323" y="2634190"/>
            <a:ext cx="2764274" cy="3241677"/>
          </a:xfrm>
        </p:spPr>
        <p:txBody>
          <a:bodyPr/>
          <a:lstStyle/>
          <a:p>
            <a:r>
              <a:rPr lang="en-US" dirty="0"/>
              <a:t>Example. 2001:</a:t>
            </a:r>
          </a:p>
          <a:p>
            <a:r>
              <a:rPr lang="en-US" dirty="0"/>
              <a:t>Film begins with ape throwing bone into air that transitions to image of space station.</a:t>
            </a:r>
          </a:p>
        </p:txBody>
      </p:sp>
      <p:pic>
        <p:nvPicPr>
          <p:cNvPr id="5" name="Picture 2" descr="Image result for 2001">
            <a:extLst>
              <a:ext uri="{FF2B5EF4-FFF2-40B4-BE49-F238E27FC236}">
                <a16:creationId xmlns:a16="http://schemas.microsoft.com/office/drawing/2014/main" id="{BCF31EE4-5192-436E-8BC1-E30C951A7A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2" y="2634191"/>
            <a:ext cx="6480174" cy="3240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694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The Tools</a:t>
            </a:r>
          </a:p>
        </p:txBody>
      </p:sp>
      <p:sp>
        <p:nvSpPr>
          <p:cNvPr id="3" name="Content Placeholder 2">
            <a:extLst>
              <a:ext uri="{FF2B5EF4-FFF2-40B4-BE49-F238E27FC236}">
                <a16:creationId xmlns:a16="http://schemas.microsoft.com/office/drawing/2014/main" id="{FDDBDE37-4708-4986-9CD3-F6DC6160C325}"/>
              </a:ext>
            </a:extLst>
          </p:cNvPr>
          <p:cNvSpPr>
            <a:spLocks noGrp="1"/>
          </p:cNvSpPr>
          <p:nvPr>
            <p:ph idx="1"/>
          </p:nvPr>
        </p:nvSpPr>
        <p:spPr>
          <a:xfrm>
            <a:off x="1298448" y="2606040"/>
            <a:ext cx="9601200" cy="3383280"/>
          </a:xfrm>
        </p:spPr>
        <p:txBody>
          <a:bodyPr/>
          <a:lstStyle/>
          <a:p>
            <a:r>
              <a:rPr lang="en-US" dirty="0" sz="2000"/>
              <a:t>Matching eyelines</a:t>
            </a:r>
          </a:p>
          <a:p>
            <a:r>
              <a:rPr lang="en-US" dirty="0" sz="2000"/>
              <a:t>Matching action</a:t>
            </a:r>
          </a:p>
          <a:p>
            <a:r>
              <a:rPr lang="en-US" dirty="0" sz="2000"/>
              <a:t>The 180-degree rule: the line of action</a:t>
            </a:r>
          </a:p>
          <a:p>
            <a:r>
              <a:rPr lang="en-US" dirty="0" sz="2000"/>
              <a:t>Consistent screen direction</a:t>
            </a:r>
          </a:p>
        </p:txBody>
      </p:sp>
    </p:spTree>
    <p:extLst>
      <p:ext uri="{BB962C8B-B14F-4D97-AF65-F5344CB8AC3E}">
        <p14:creationId xmlns:p14="http://schemas.microsoft.com/office/powerpoint/2010/main" val="422248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The Line of Action (the 180-Degree Rule)</a:t>
            </a:r>
          </a:p>
        </p:txBody>
      </p:sp>
      <p:sp>
        <p:nvSpPr>
          <p:cNvPr id="4" name="Content Placeholder 3">
            <a:extLst>
              <a:ext uri="{FF2B5EF4-FFF2-40B4-BE49-F238E27FC236}">
                <a16:creationId xmlns:a16="http://schemas.microsoft.com/office/drawing/2014/main" id="{628E7DC2-9D75-4DD0-BB35-8CC1FFD5D435}"/>
              </a:ext>
            </a:extLst>
          </p:cNvPr>
          <p:cNvSpPr>
            <a:spLocks noGrp="1"/>
          </p:cNvSpPr>
          <p:nvPr>
            <p:ph idx="1"/>
          </p:nvPr>
        </p:nvSpPr>
        <p:spPr/>
        <p:txBody>
          <a:bodyPr/>
          <a:lstStyle/>
          <a:p>
            <a:r>
              <a:rPr lang="en-US" b="1" dirty="0"/>
              <a:t>Line of Action</a:t>
            </a:r>
            <a:r>
              <a:rPr lang="en-US" dirty="0"/>
              <a:t> (also known as </a:t>
            </a:r>
            <a:r>
              <a:rPr lang="en-US" b="1" dirty="0"/>
              <a:t>180 degree rule</a:t>
            </a:r>
            <a:r>
              <a:rPr lang="en-US" dirty="0"/>
              <a:t>) helps organize camera angles and movement into consistent screen direction.</a:t>
            </a:r>
          </a:p>
          <a:p>
            <a:r>
              <a:rPr lang="en-US" dirty="0"/>
              <a:t>Line of Action gives </a:t>
            </a:r>
            <a:r>
              <a:rPr lang="en-US" dirty="0">
                <a:solidFill>
                  <a:schemeClr val="tx1"/>
                </a:solidFill>
              </a:rPr>
              <a:t>the audience a </a:t>
            </a:r>
            <a:r>
              <a:rPr lang="en-US" b="1" dirty="0">
                <a:solidFill>
                  <a:schemeClr val="tx1"/>
                </a:solidFill>
              </a:rPr>
              <a:t>sense of direction </a:t>
            </a:r>
            <a:r>
              <a:rPr lang="en-US" dirty="0">
                <a:solidFill>
                  <a:schemeClr val="tx1"/>
                </a:solidFill>
              </a:rPr>
              <a:t>for the scene.</a:t>
            </a:r>
          </a:p>
          <a:p>
            <a:endParaRPr lang="en-US" dirty="0"/>
          </a:p>
        </p:txBody>
      </p:sp>
    </p:spTree>
    <p:extLst>
      <p:ext uri="{BB962C8B-B14F-4D97-AF65-F5344CB8AC3E}">
        <p14:creationId xmlns:p14="http://schemas.microsoft.com/office/powerpoint/2010/main" val="4071800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The Half-Circle</a:t>
            </a:r>
          </a:p>
        </p:txBody>
      </p:sp>
      <p:sp>
        <p:nvSpPr>
          <p:cNvPr id="4" name="Content Placeholder 3">
            <a:extLst>
              <a:ext uri="{FF2B5EF4-FFF2-40B4-BE49-F238E27FC236}">
                <a16:creationId xmlns:a16="http://schemas.microsoft.com/office/drawing/2014/main" id="{395E2ADB-77CC-4293-8FB1-83DCBE8EBBF5}"/>
              </a:ext>
            </a:extLst>
          </p:cNvPr>
          <p:cNvSpPr>
            <a:spLocks noGrp="1"/>
          </p:cNvSpPr>
          <p:nvPr>
            <p:ph idx="1"/>
          </p:nvPr>
        </p:nvSpPr>
        <p:spPr>
          <a:xfrm>
            <a:off x="1295402" y="2556932"/>
            <a:ext cx="3704616" cy="3318936"/>
          </a:xfrm>
        </p:spPr>
        <p:txBody>
          <a:bodyPr/>
          <a:lstStyle/>
          <a:p>
            <a:pPr marL="0" indent="0" algn="ctr">
              <a:buNone/>
            </a:pPr>
            <a:r>
              <a:rPr lang="en-US" b="1" dirty="0"/>
              <a:t>Example</a:t>
            </a:r>
            <a:r>
              <a:rPr lang="en-US" dirty="0"/>
              <a:t>:</a:t>
            </a:r>
          </a:p>
          <a:p>
            <a:pPr algn="just"/>
            <a:r>
              <a:rPr lang="en-US" dirty="0"/>
              <a:t>Line of Action is drawn between two individuals.</a:t>
            </a:r>
          </a:p>
          <a:p>
            <a:pPr algn="just"/>
            <a:r>
              <a:rPr lang="en-US" dirty="0">
                <a:solidFill>
                  <a:schemeClr val="tx1"/>
                </a:solidFill>
              </a:rPr>
              <a:t>Once line is in place, there is a space of 180 degrees (half circle) where shots can be rendered</a:t>
            </a:r>
            <a:endParaRPr lang="en-US" dirty="0"/>
          </a:p>
          <a:p>
            <a:endParaRPr lang="en-US" dirty="0"/>
          </a:p>
        </p:txBody>
      </p:sp>
      <p:pic>
        <p:nvPicPr>
          <p:cNvPr id="3074" name="Picture 2" descr="Image result for Two shot">
            <a:extLst>
              <a:ext uri="{FF2B5EF4-FFF2-40B4-BE49-F238E27FC236}">
                <a16:creationId xmlns:a16="http://schemas.microsoft.com/office/drawing/2014/main" id="{DB033863-F7E6-413B-B708-5AD447358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9668" y="2556932"/>
            <a:ext cx="5920902" cy="3338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874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What Breaks When You Cross It</a:t>
            </a:r>
          </a:p>
        </p:txBody>
      </p:sp>
      <p:sp>
        <p:nvSpPr>
          <p:cNvPr id="4" name="Content Placeholder 3">
            <a:extLst>
              <a:ext uri="{FF2B5EF4-FFF2-40B4-BE49-F238E27FC236}">
                <a16:creationId xmlns:a16="http://schemas.microsoft.com/office/drawing/2014/main" id="{395E2ADB-77CC-4293-8FB1-83DCBE8EBBF5}"/>
              </a:ext>
            </a:extLst>
          </p:cNvPr>
          <p:cNvSpPr>
            <a:spLocks noGrp="1"/>
          </p:cNvSpPr>
          <p:nvPr>
            <p:ph idx="1"/>
          </p:nvPr>
        </p:nvSpPr>
        <p:spPr>
          <a:xfrm>
            <a:off x="1295402" y="2556932"/>
            <a:ext cx="4074266" cy="3727958"/>
          </a:xfrm>
        </p:spPr>
        <p:txBody>
          <a:bodyPr>
            <a:normAutofit fontScale="92500"/>
          </a:bodyPr>
          <a:lstStyle/>
          <a:p>
            <a:r>
              <a:rPr lang="en-US" dirty="0">
                <a:solidFill>
                  <a:schemeClr val="tx1"/>
                </a:solidFill>
              </a:rPr>
              <a:t>Keep every shot on the </a:t>
            </a:r>
            <a:r>
              <a:rPr lang="en-US" b="1" dirty="0">
                <a:solidFill>
                  <a:schemeClr val="tx1"/>
                </a:solidFill>
              </a:rPr>
              <a:t>same side</a:t>
            </a:r>
            <a:r>
              <a:rPr lang="en-US" dirty="0">
                <a:solidFill>
                  <a:schemeClr val="tx1"/>
                </a:solidFill>
              </a:rPr>
              <a:t> of the line.</a:t>
            </a:r>
            <a:r>
              <a:rPr lang="en-US" b="1" dirty="0">
                <a:solidFill>
                  <a:schemeClr val="tx1"/>
                </a:solidFill>
              </a:rPr>
              <a:t/>
            </a:r>
            <a:r>
              <a:rPr lang="en-US" dirty="0">
                <a:solidFill>
                  <a:schemeClr val="tx1"/>
                </a:solidFill>
              </a:rPr>
              <a:t/>
            </a:r>
          </a:p>
          <a:p>
            <a:r>
              <a:rPr lang="en-US" dirty="0">
                <a:solidFill>
                  <a:schemeClr val="tx1"/>
                </a:solidFill>
              </a:rPr>
              <a:t>If the line is crossed, one character might end up looking at the back of another character's head.</a:t>
            </a:r>
          </a:p>
          <a:p>
            <a:r>
              <a:rPr lang="en-US" dirty="0">
                <a:solidFill>
                  <a:schemeClr val="tx1"/>
                </a:solidFill>
              </a:rPr>
              <a:t>The audience will be </a:t>
            </a:r>
            <a:r>
              <a:rPr lang="en-US" b="1" dirty="0">
                <a:solidFill>
                  <a:schemeClr val="tx1"/>
                </a:solidFill>
              </a:rPr>
              <a:t>confused</a:t>
            </a:r>
            <a:r>
              <a:rPr lang="en-US" dirty="0">
                <a:solidFill>
                  <a:schemeClr val="tx1"/>
                </a:solidFill>
              </a:rPr>
              <a:t>.</a:t>
            </a:r>
          </a:p>
          <a:p>
            <a:endParaRPr lang="en-US" dirty="0"/>
          </a:p>
        </p:txBody>
      </p:sp>
      <p:pic>
        <p:nvPicPr>
          <p:cNvPr id="8" name="Picture 2" descr="Image result for Two shot">
            <a:extLst>
              <a:ext uri="{FF2B5EF4-FFF2-40B4-BE49-F238E27FC236}">
                <a16:creationId xmlns:a16="http://schemas.microsoft.com/office/drawing/2014/main" id="{DB033863-F7E6-413B-B708-5AD447358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369668" y="2537651"/>
            <a:ext cx="5920902" cy="333821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752076" y="3078050"/>
            <a:ext cx="1156086" cy="2646878"/>
          </a:xfrm>
          <a:prstGeom prst="rect">
            <a:avLst/>
          </a:prstGeom>
          <a:noFill/>
        </p:spPr>
        <p:txBody>
          <a:bodyPr wrap="none" rtlCol="0">
            <a:spAutoFit/>
          </a:bodyPr>
          <a:lstStyle/>
          <a:p>
            <a:r>
              <a:rPr lang="en-US" sz="16600" dirty="0">
                <a:solidFill>
                  <a:srgbClr val="FFC000"/>
                </a:solidFill>
                <a:latin typeface="Adobe Gothic Std B" panose="020B0800000000000000" pitchFamily="34" charset="-128"/>
                <a:ea typeface="Adobe Gothic Std B" panose="020B0800000000000000" pitchFamily="34" charset="-128"/>
              </a:rPr>
              <a:t>?</a:t>
            </a:r>
          </a:p>
        </p:txBody>
      </p:sp>
      <p:cxnSp>
        <p:nvCxnSpPr>
          <p:cNvPr id="10" name="Straight Connector 9"/>
          <p:cNvCxnSpPr/>
          <p:nvPr/>
        </p:nvCxnSpPr>
        <p:spPr>
          <a:xfrm>
            <a:off x="5369668" y="2537651"/>
            <a:ext cx="5920902" cy="333821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5369668" y="2553623"/>
            <a:ext cx="5920902" cy="3322245"/>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444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Distant Characters Still Have a Line</a:t>
            </a:r>
          </a:p>
        </p:txBody>
      </p:sp>
      <p:sp>
        <p:nvSpPr>
          <p:cNvPr id="4" name="Content Placeholder 3">
            <a:extLst>
              <a:ext uri="{FF2B5EF4-FFF2-40B4-BE49-F238E27FC236}">
                <a16:creationId xmlns:a16="http://schemas.microsoft.com/office/drawing/2014/main" id="{4FB7EEA6-1902-46BF-B720-64F865F3354C}"/>
              </a:ext>
            </a:extLst>
          </p:cNvPr>
          <p:cNvSpPr>
            <a:spLocks noGrp="1"/>
          </p:cNvSpPr>
          <p:nvPr>
            <p:ph idx="1"/>
          </p:nvPr>
        </p:nvSpPr>
        <p:spPr>
          <a:xfrm>
            <a:off x="7196419" y="2729984"/>
            <a:ext cx="4099725" cy="3232410"/>
          </a:xfrm>
        </p:spPr>
        <p:txBody>
          <a:bodyPr>
            <a:normAutofit fontScale="92500"/>
          </a:bodyPr>
          <a:lstStyle/>
          <a:p>
            <a:r>
              <a:rPr lang="en-US" dirty="0"/>
              <a:t>Even distant characters </a:t>
            </a:r>
            <a:r>
              <a:rPr lang="en-US" b="1" dirty="0"/>
              <a:t>still need an imaginary line between them.</a:t>
            </a:r>
          </a:p>
          <a:p>
            <a:r>
              <a:rPr lang="en-US" dirty="0"/>
              <a:t>Cut between them and they should still appear to face each other, even in separate locations.</a:t>
            </a:r>
          </a:p>
          <a:p>
            <a:endParaRPr lang="en-US" dirty="0"/>
          </a:p>
        </p:txBody>
      </p:sp>
      <p:pic>
        <p:nvPicPr>
          <p:cNvPr id="4098" name="Picture 2" descr="Image result for Phone conversation split screen">
            <a:extLst>
              <a:ext uri="{FF2B5EF4-FFF2-40B4-BE49-F238E27FC236}">
                <a16:creationId xmlns:a16="http://schemas.microsoft.com/office/drawing/2014/main" id="{3A3B5F77-BFC4-4AEB-B3C7-3998F2B58F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856" y="2729984"/>
            <a:ext cx="5901018" cy="3318936"/>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a:xfrm>
            <a:off x="3013656" y="4417454"/>
            <a:ext cx="399245" cy="28333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4119093" y="4309797"/>
            <a:ext cx="401392" cy="33260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429556" y="5679064"/>
            <a:ext cx="4581191" cy="338554"/>
          </a:xfrm>
          <a:prstGeom prst="rect">
            <a:avLst/>
          </a:prstGeom>
          <a:noFill/>
        </p:spPr>
        <p:txBody>
          <a:bodyPr wrap="none" rtlCol="0">
            <a:spAutoFit/>
          </a:bodyPr>
          <a:lstStyle/>
          <a:p>
            <a:r>
              <a:rPr lang="en-US" sz="1600" dirty="0">
                <a:solidFill>
                  <a:srgbClr val="FFC000"/>
                </a:solidFill>
              </a:rPr>
              <a:t>Characters are looking at each other’s </a:t>
            </a:r>
            <a:r>
              <a:rPr lang="en-US" sz="1600" b="1" dirty="0">
                <a:solidFill>
                  <a:srgbClr val="FFC000"/>
                </a:solidFill>
              </a:rPr>
              <a:t>general</a:t>
            </a:r>
            <a:r>
              <a:rPr lang="en-US" sz="1600" dirty="0">
                <a:solidFill>
                  <a:srgbClr val="FFC000"/>
                </a:solidFill>
              </a:rPr>
              <a:t> direction</a:t>
            </a:r>
          </a:p>
        </p:txBody>
      </p:sp>
    </p:spTree>
    <p:extLst>
      <p:ext uri="{BB962C8B-B14F-4D97-AF65-F5344CB8AC3E}">
        <p14:creationId xmlns:p14="http://schemas.microsoft.com/office/powerpoint/2010/main" val="3480541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Crossing It Legally: Move the Camera</a:t>
            </a:r>
          </a:p>
        </p:txBody>
      </p:sp>
      <p:sp>
        <p:nvSpPr>
          <p:cNvPr id="4" name="Content Placeholder 3">
            <a:extLst>
              <a:ext uri="{FF2B5EF4-FFF2-40B4-BE49-F238E27FC236}">
                <a16:creationId xmlns:a16="http://schemas.microsoft.com/office/drawing/2014/main" id="{AE414FC7-008A-4CB5-82BA-9FE8E6894862}"/>
              </a:ext>
            </a:extLst>
          </p:cNvPr>
          <p:cNvSpPr>
            <a:spLocks noGrp="1"/>
          </p:cNvSpPr>
          <p:nvPr>
            <p:ph idx="1"/>
          </p:nvPr>
        </p:nvSpPr>
        <p:spPr>
          <a:xfrm>
            <a:off x="1295401" y="3229582"/>
            <a:ext cx="3548973" cy="2646285"/>
          </a:xfrm>
        </p:spPr>
        <p:txBody>
          <a:bodyPr/>
          <a:lstStyle/>
          <a:p>
            <a:r>
              <a:rPr lang="en-US" dirty="0">
                <a:solidFill>
                  <a:schemeClr val="tx1"/>
                </a:solidFill>
              </a:rPr>
              <a:t>A dolly or crane shot can move </a:t>
            </a:r>
            <a:r>
              <a:rPr lang="en-US" i="1" dirty="0">
                <a:solidFill>
                  <a:schemeClr val="tx1"/>
                </a:solidFill>
              </a:rPr>
              <a:t>over</a:t>
            </a:r>
            <a:r>
              <a:rPr lang="en-US" dirty="0">
                <a:solidFill>
                  <a:schemeClr val="tx1"/>
                </a:solidFill>
              </a:rPr>
              <a:t> the established line, </a:t>
            </a:r>
            <a:r>
              <a:rPr lang="en-US" b="1" dirty="0">
                <a:solidFill>
                  <a:schemeClr val="tx1"/>
                </a:solidFill>
              </a:rPr>
              <a:t>as long as the movement is continuous</a:t>
            </a:r>
            <a:endParaRPr lang="en-US" b="1" dirty="0"/>
          </a:p>
        </p:txBody>
      </p:sp>
      <p:pic>
        <p:nvPicPr>
          <p:cNvPr id="6146" name="Picture 2" descr="Image result for dolly line of action shot">
            <a:extLst>
              <a:ext uri="{FF2B5EF4-FFF2-40B4-BE49-F238E27FC236}">
                <a16:creationId xmlns:a16="http://schemas.microsoft.com/office/drawing/2014/main" id="{5526C711-6898-48EA-9F6B-1CB82FB38611}"/>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370882" y="2668638"/>
            <a:ext cx="5525716" cy="3111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4965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Crossing It Legally: Move a Character</a:t>
            </a:r>
          </a:p>
        </p:txBody>
      </p:sp>
      <p:sp>
        <p:nvSpPr>
          <p:cNvPr id="4" name="Content Placeholder 3">
            <a:extLst>
              <a:ext uri="{FF2B5EF4-FFF2-40B4-BE49-F238E27FC236}">
                <a16:creationId xmlns:a16="http://schemas.microsoft.com/office/drawing/2014/main" id="{5CB3715D-7008-453B-A53F-F76BA86DD65A}"/>
              </a:ext>
            </a:extLst>
          </p:cNvPr>
          <p:cNvSpPr>
            <a:spLocks noGrp="1"/>
          </p:cNvSpPr>
          <p:nvPr>
            <p:ph idx="1"/>
          </p:nvPr>
        </p:nvSpPr>
        <p:spPr>
          <a:xfrm>
            <a:off x="1295401" y="2556932"/>
            <a:ext cx="3957535" cy="3318936"/>
          </a:xfrm>
        </p:spPr>
        <p:txBody>
          <a:bodyPr/>
          <a:lstStyle/>
          <a:p>
            <a:r>
              <a:rPr lang="en-US" dirty="0">
                <a:solidFill>
                  <a:schemeClr val="tx1"/>
                </a:solidFill>
              </a:rPr>
              <a:t>If one of these characters were to get up and move, the camera will be reframed.</a:t>
            </a:r>
          </a:p>
          <a:p>
            <a:r>
              <a:rPr lang="en-US" b="1" dirty="0">
                <a:solidFill>
                  <a:schemeClr val="tx1"/>
                </a:solidFill>
              </a:rPr>
              <a:t>Once the character has established his eye contact </a:t>
            </a:r>
            <a:r>
              <a:rPr lang="en-US" dirty="0">
                <a:solidFill>
                  <a:schemeClr val="tx1"/>
                </a:solidFill>
              </a:rPr>
              <a:t>with the seated character, you have established a </a:t>
            </a:r>
            <a:r>
              <a:rPr lang="en-US" b="1" dirty="0">
                <a:solidFill>
                  <a:schemeClr val="tx1"/>
                </a:solidFill>
              </a:rPr>
              <a:t>new line of action</a:t>
            </a:r>
            <a:r>
              <a:rPr lang="en-US" dirty="0">
                <a:solidFill>
                  <a:schemeClr val="tx1"/>
                </a:solidFill>
              </a:rPr>
              <a:t>.</a:t>
            </a:r>
            <a:endParaRPr lang="en-US" dirty="0"/>
          </a:p>
        </p:txBody>
      </p:sp>
      <p:pic>
        <p:nvPicPr>
          <p:cNvPr id="7170" name="Picture 2" descr="Image result for the equalizer rotating camera conversation scene">
            <a:extLst>
              <a:ext uri="{FF2B5EF4-FFF2-40B4-BE49-F238E27FC236}">
                <a16:creationId xmlns:a16="http://schemas.microsoft.com/office/drawing/2014/main" id="{6065F125-C970-4F0F-9FC6-D269CFFF5171}"/>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248656" y="2651760"/>
            <a:ext cx="2788920" cy="1591056"/>
          </a:xfrm>
          <a:prstGeom prst="rect">
            <a:avLst/>
          </a:prstGeom>
          <a:noFill/>
          <a:extLst>
            <a:ext uri="{909E8E84-426E-40DD-AFC4-6F175D3DCCD1}">
              <a14:hiddenFill xmlns:a14="http://schemas.microsoft.com/office/drawing/2010/main">
                <a:solidFill>
                  <a:srgbClr val="FFFFFF"/>
                </a:solidFill>
              </a14:hiddenFill>
            </a:ext>
          </a:extLst>
        </p:spPr>
      </p:pic>
      <p:pic>
        <p:nvPicPr>
          <p:cNvPr id="7171" name="Third person enters"/>
          <p:cNvPicPr>
            <a:picLocks noChangeAspect="1"/>
          </p:cNvPicPr>
          <p:nvPr/>
        </p:nvPicPr>
        <p:blipFill>
          <a:blip r:embed="rId4"/>
          <a:stretch>
            <a:fillRect/>
          </a:stretch>
        </p:blipFill>
        <p:spPr>
          <a:xfrm>
            <a:off x="8183880" y="2651760"/>
            <a:ext cx="2788920" cy="1591056"/>
          </a:xfrm>
          <a:prstGeom prst="rect">
            <a:avLst/>
          </a:prstGeom>
        </p:spPr>
      </p:pic>
    </p:spTree>
    <p:extLst>
      <p:ext uri="{BB962C8B-B14F-4D97-AF65-F5344CB8AC3E}">
        <p14:creationId xmlns:p14="http://schemas.microsoft.com/office/powerpoint/2010/main" val="1319702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Crossing It on Purpose</a:t>
            </a:r>
          </a:p>
        </p:txBody>
      </p:sp>
      <p:sp>
        <p:nvSpPr>
          <p:cNvPr id="4" name="Content Placeholder 3">
            <a:extLst>
              <a:ext uri="{FF2B5EF4-FFF2-40B4-BE49-F238E27FC236}">
                <a16:creationId xmlns:a16="http://schemas.microsoft.com/office/drawing/2014/main" id="{248C4776-B306-49C0-A229-AFA6916EE8BB}"/>
              </a:ext>
            </a:extLst>
          </p:cNvPr>
          <p:cNvSpPr>
            <a:spLocks noGrp="1"/>
          </p:cNvSpPr>
          <p:nvPr>
            <p:ph idx="1"/>
          </p:nvPr>
        </p:nvSpPr>
        <p:spPr>
          <a:xfrm>
            <a:off x="673406" y="2556931"/>
            <a:ext cx="4667515" cy="3649315"/>
          </a:xfrm>
        </p:spPr>
        <p:txBody>
          <a:bodyPr>
            <a:normAutofit/>
          </a:bodyPr>
          <a:lstStyle/>
          <a:p>
            <a:r>
              <a:rPr lang="en-US" dirty="0">
                <a:solidFill>
                  <a:schemeClr val="tx1"/>
                </a:solidFill>
              </a:rPr>
              <a:t>Occasionally, the line of action is crossed to convey the character’s confusion. </a:t>
            </a:r>
            <a:r>
              <a:rPr lang="en-US" sz="2000" dirty="0">
                <a:solidFill>
                  <a:schemeClr val="tx1"/>
                </a:solidFill>
              </a:rPr>
              <a:t>(example: searching for suspect in crowd)</a:t>
            </a:r>
            <a:endParaRPr lang="en-US" dirty="0">
              <a:solidFill>
                <a:schemeClr val="tx1"/>
              </a:solidFill>
            </a:endParaRPr>
          </a:p>
          <a:p>
            <a:r>
              <a:rPr lang="en-US" dirty="0">
                <a:solidFill>
                  <a:schemeClr val="tx1"/>
                </a:solidFill>
              </a:rPr>
              <a:t>Be aware, however, there is a </a:t>
            </a:r>
            <a:r>
              <a:rPr lang="en-US" b="1" dirty="0">
                <a:solidFill>
                  <a:schemeClr val="tx1"/>
                </a:solidFill>
              </a:rPr>
              <a:t>very</a:t>
            </a:r>
            <a:r>
              <a:rPr lang="en-US" dirty="0">
                <a:solidFill>
                  <a:schemeClr val="tx1"/>
                </a:solidFill>
              </a:rPr>
              <a:t> </a:t>
            </a:r>
            <a:r>
              <a:rPr lang="en-US" b="1" dirty="0">
                <a:solidFill>
                  <a:schemeClr val="tx1"/>
                </a:solidFill>
              </a:rPr>
              <a:t>fine line between conveying a character’s confusion and confusing your audience.</a:t>
            </a:r>
          </a:p>
          <a:p>
            <a:endParaRPr lang="en-US" dirty="0"/>
          </a:p>
        </p:txBody>
      </p:sp>
      <p:pic>
        <p:nvPicPr>
          <p:cNvPr id="9218" name="Picture 2" descr="Image result for george clooney peacemaker crowd scene">
            <a:extLst>
              <a:ext uri="{FF2B5EF4-FFF2-40B4-BE49-F238E27FC236}">
                <a16:creationId xmlns:a16="http://schemas.microsoft.com/office/drawing/2014/main" id="{E3E78B14-6343-4400-98A6-ED64FC9F43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0921" y="2556931"/>
            <a:ext cx="5900332" cy="3318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7788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Screen Direction Is a Promise</a:t>
            </a:r>
          </a:p>
        </p:txBody>
      </p:sp>
      <p:sp>
        <p:nvSpPr>
          <p:cNvPr id="4" name="Content Placeholder 3">
            <a:extLst>
              <a:ext uri="{FF2B5EF4-FFF2-40B4-BE49-F238E27FC236}">
                <a16:creationId xmlns:a16="http://schemas.microsoft.com/office/drawing/2014/main" id="{23337C65-C776-4343-BC08-19AD97561F1E}"/>
              </a:ext>
            </a:extLst>
          </p:cNvPr>
          <p:cNvSpPr>
            <a:spLocks noGrp="1"/>
          </p:cNvSpPr>
          <p:nvPr>
            <p:ph idx="1"/>
          </p:nvPr>
        </p:nvSpPr>
        <p:spPr>
          <a:xfrm>
            <a:off x="1295401" y="2556932"/>
            <a:ext cx="9601196" cy="3552038"/>
          </a:xfrm>
        </p:spPr>
        <p:txBody>
          <a:bodyPr>
            <a:normAutofit lnSpcReduction="10000"/>
          </a:bodyPr>
          <a:lstStyle/>
          <a:p>
            <a:r>
              <a:rPr lang="en-US" dirty="0">
                <a:solidFill>
                  <a:schemeClr val="tx1"/>
                </a:solidFill>
              </a:rPr>
              <a:t>It is important to plan the </a:t>
            </a:r>
            <a:r>
              <a:rPr lang="en-US" b="1" dirty="0">
                <a:solidFill>
                  <a:schemeClr val="tx1"/>
                </a:solidFill>
              </a:rPr>
              <a:t>direction</a:t>
            </a:r>
            <a:r>
              <a:rPr lang="en-US" dirty="0">
                <a:solidFill>
                  <a:schemeClr val="tx1"/>
                </a:solidFill>
              </a:rPr>
              <a:t> a person or object moves or </a:t>
            </a:r>
            <a:r>
              <a:rPr lang="en-US" b="1" dirty="0">
                <a:solidFill>
                  <a:schemeClr val="tx1"/>
                </a:solidFill>
              </a:rPr>
              <a:t>looks</a:t>
            </a:r>
            <a:r>
              <a:rPr lang="en-US" dirty="0">
                <a:solidFill>
                  <a:schemeClr val="tx1"/>
                </a:solidFill>
              </a:rPr>
              <a:t> </a:t>
            </a:r>
            <a:r>
              <a:rPr lang="en-US" b="1" dirty="0">
                <a:solidFill>
                  <a:schemeClr val="tx1"/>
                </a:solidFill>
              </a:rPr>
              <a:t>toward</a:t>
            </a:r>
            <a:r>
              <a:rPr lang="en-US" dirty="0">
                <a:solidFill>
                  <a:schemeClr val="tx1"/>
                </a:solidFill>
              </a:rPr>
              <a:t>. </a:t>
            </a:r>
          </a:p>
          <a:p>
            <a:r>
              <a:rPr lang="en-US" dirty="0">
                <a:solidFill>
                  <a:schemeClr val="tx1"/>
                </a:solidFill>
              </a:rPr>
              <a:t>Have </a:t>
            </a:r>
            <a:r>
              <a:rPr lang="en-US" b="1" dirty="0">
                <a:solidFill>
                  <a:schemeClr val="tx1"/>
                </a:solidFill>
              </a:rPr>
              <a:t>clarity</a:t>
            </a:r>
            <a:r>
              <a:rPr lang="en-US" dirty="0">
                <a:solidFill>
                  <a:schemeClr val="tx1"/>
                </a:solidFill>
              </a:rPr>
              <a:t> of intent, especially across multiple shots.</a:t>
            </a:r>
          </a:p>
          <a:p>
            <a:r>
              <a:rPr lang="en-US" dirty="0">
                <a:solidFill>
                  <a:schemeClr val="tx1"/>
                </a:solidFill>
              </a:rPr>
              <a:t>A good director will rely on the </a:t>
            </a:r>
            <a:r>
              <a:rPr lang="en-US" b="1" dirty="0" err="1">
                <a:solidFill>
                  <a:schemeClr val="tx1"/>
                </a:solidFill>
              </a:rPr>
              <a:t>shot</a:t>
            </a:r>
            <a:r>
              <a:rPr lang="en-US" b="1" dirty="0">
                <a:solidFill>
                  <a:schemeClr val="tx1"/>
                </a:solidFill>
              </a:rPr>
              <a:t> list </a:t>
            </a:r>
            <a:r>
              <a:rPr lang="en-US" dirty="0">
                <a:solidFill>
                  <a:schemeClr val="tx1"/>
                </a:solidFill>
              </a:rPr>
              <a:t>and storyboards to maintain a consistent screen direction. </a:t>
            </a:r>
          </a:p>
          <a:p>
            <a:r>
              <a:rPr lang="en-US" dirty="0">
                <a:solidFill>
                  <a:schemeClr val="tx1"/>
                </a:solidFill>
              </a:rPr>
              <a:t> </a:t>
            </a:r>
          </a:p>
          <a:p>
            <a:r>
              <a:rPr lang="en-US" dirty="0">
                <a:solidFill>
                  <a:schemeClr val="tx1"/>
                </a:solidFill>
              </a:rPr>
              <a:t>Three types of screen direction: </a:t>
            </a:r>
            <a:r>
              <a:rPr lang="en-US" b="1" dirty="0">
                <a:solidFill>
                  <a:schemeClr val="tx1"/>
                </a:solidFill>
              </a:rPr>
              <a:t>neutral</a:t>
            </a:r>
            <a:r>
              <a:rPr lang="en-US" dirty="0">
                <a:solidFill>
                  <a:schemeClr val="tx1"/>
                </a:solidFill>
              </a:rPr>
              <a:t>, </a:t>
            </a:r>
            <a:r>
              <a:rPr lang="en-US" b="1" dirty="0">
                <a:solidFill>
                  <a:schemeClr val="tx1"/>
                </a:solidFill>
              </a:rPr>
              <a:t>constant</a:t>
            </a:r>
            <a:r>
              <a:rPr lang="en-US" dirty="0">
                <a:solidFill>
                  <a:schemeClr val="tx1"/>
                </a:solidFill>
              </a:rPr>
              <a:t>, and </a:t>
            </a:r>
            <a:r>
              <a:rPr lang="en-US" b="1" dirty="0">
                <a:solidFill>
                  <a:schemeClr val="tx1"/>
                </a:solidFill>
              </a:rPr>
              <a:t>contrasting</a:t>
            </a:r>
            <a:r>
              <a:rPr lang="en-US" dirty="0">
                <a:solidFill>
                  <a:schemeClr val="tx1"/>
                </a:solidFill>
              </a:rPr>
              <a:t>.</a:t>
            </a:r>
            <a:endParaRPr lang="en-US" dirty="0"/>
          </a:p>
        </p:txBody>
      </p:sp>
    </p:spTree>
    <p:extLst>
      <p:ext uri="{BB962C8B-B14F-4D97-AF65-F5344CB8AC3E}">
        <p14:creationId xmlns:p14="http://schemas.microsoft.com/office/powerpoint/2010/main" val="2933858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Neutral Screen Direction</a:t>
            </a:r>
          </a:p>
        </p:txBody>
      </p:sp>
      <p:sp>
        <p:nvSpPr>
          <p:cNvPr id="7" name="Content Placeholder 6">
            <a:extLst>
              <a:ext uri="{FF2B5EF4-FFF2-40B4-BE49-F238E27FC236}">
                <a16:creationId xmlns:a16="http://schemas.microsoft.com/office/drawing/2014/main" id="{23995074-4D30-4D85-B331-3E8F85084A99}"/>
              </a:ext>
            </a:extLst>
          </p:cNvPr>
          <p:cNvSpPr>
            <a:spLocks noGrp="1"/>
          </p:cNvSpPr>
          <p:nvPr>
            <p:ph idx="1"/>
          </p:nvPr>
        </p:nvSpPr>
        <p:spPr>
          <a:xfrm>
            <a:off x="6539530" y="3015574"/>
            <a:ext cx="4841832" cy="3326860"/>
          </a:xfrm>
        </p:spPr>
        <p:txBody>
          <a:bodyPr>
            <a:normAutofit/>
          </a:bodyPr>
          <a:lstStyle/>
          <a:p>
            <a:r>
              <a:rPr lang="en-US" dirty="0">
                <a:solidFill>
                  <a:schemeClr val="tx1"/>
                </a:solidFill>
              </a:rPr>
              <a:t>movement </a:t>
            </a:r>
            <a:r>
              <a:rPr lang="en-US" b="1" dirty="0">
                <a:solidFill>
                  <a:schemeClr val="tx1"/>
                </a:solidFill>
              </a:rPr>
              <a:t>toward</a:t>
            </a:r>
            <a:r>
              <a:rPr lang="en-US" dirty="0">
                <a:solidFill>
                  <a:schemeClr val="tx1"/>
                </a:solidFill>
              </a:rPr>
              <a:t> or </a:t>
            </a:r>
            <a:r>
              <a:rPr lang="en-US" b="1" dirty="0">
                <a:solidFill>
                  <a:schemeClr val="tx1"/>
                </a:solidFill>
              </a:rPr>
              <a:t>away</a:t>
            </a:r>
            <a:r>
              <a:rPr lang="en-US" dirty="0">
                <a:solidFill>
                  <a:schemeClr val="tx1"/>
                </a:solidFill>
              </a:rPr>
              <a:t> from the camera.</a:t>
            </a:r>
          </a:p>
          <a:p>
            <a:r>
              <a:rPr lang="en-US" dirty="0">
                <a:solidFill>
                  <a:schemeClr val="tx1"/>
                </a:solidFill>
              </a:rPr>
              <a:t>shows only the </a:t>
            </a:r>
            <a:r>
              <a:rPr lang="en-US" b="1" dirty="0">
                <a:solidFill>
                  <a:schemeClr val="tx1"/>
                </a:solidFill>
              </a:rPr>
              <a:t>front</a:t>
            </a:r>
            <a:r>
              <a:rPr lang="en-US" dirty="0">
                <a:solidFill>
                  <a:schemeClr val="tx1"/>
                </a:solidFill>
              </a:rPr>
              <a:t> or </a:t>
            </a:r>
            <a:r>
              <a:rPr lang="en-US" b="1" dirty="0">
                <a:solidFill>
                  <a:schemeClr val="tx1"/>
                </a:solidFill>
              </a:rPr>
              <a:t>back</a:t>
            </a:r>
            <a:r>
              <a:rPr lang="en-US" dirty="0">
                <a:solidFill>
                  <a:schemeClr val="tx1"/>
                </a:solidFill>
              </a:rPr>
              <a:t> side.</a:t>
            </a:r>
          </a:p>
          <a:p>
            <a:r>
              <a:rPr lang="en-US" dirty="0">
                <a:solidFill>
                  <a:schemeClr val="tx1"/>
                </a:solidFill>
              </a:rPr>
              <a:t>provides </a:t>
            </a:r>
            <a:r>
              <a:rPr lang="en-US" b="1" dirty="0">
                <a:solidFill>
                  <a:schemeClr val="tx1"/>
                </a:solidFill>
              </a:rPr>
              <a:t>impact</a:t>
            </a:r>
            <a:r>
              <a:rPr lang="en-US" dirty="0">
                <a:solidFill>
                  <a:schemeClr val="tx1"/>
                </a:solidFill>
              </a:rPr>
              <a:t>: the subject grows in frame as it nears the camera.</a:t>
            </a:r>
          </a:p>
          <a:p>
            <a:endParaRPr lang="en-US" dirty="0"/>
          </a:p>
        </p:txBody>
      </p:sp>
      <p:pic>
        <p:nvPicPr>
          <p:cNvPr id="1028" name="Picture 4" descr="Image result for Incredibles running towards camera">
            <a:extLst>
              <a:ext uri="{FF2B5EF4-FFF2-40B4-BE49-F238E27FC236}">
                <a16:creationId xmlns:a16="http://schemas.microsoft.com/office/drawing/2014/main" id="{E87D9D74-B585-4494-8AE9-62B0E4F1ED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639" y="3015574"/>
            <a:ext cx="5728890" cy="2393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968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Constant Screen Direction</a:t>
            </a:r>
          </a:p>
        </p:txBody>
      </p:sp>
      <p:sp>
        <p:nvSpPr>
          <p:cNvPr id="3" name="Content Placeholder 2">
            <a:extLst>
              <a:ext uri="{FF2B5EF4-FFF2-40B4-BE49-F238E27FC236}">
                <a16:creationId xmlns:a16="http://schemas.microsoft.com/office/drawing/2014/main" id="{5AE8A78F-5DA9-48DA-99F0-9A9D7672CCC7}"/>
              </a:ext>
            </a:extLst>
          </p:cNvPr>
          <p:cNvSpPr>
            <a:spLocks noGrp="1"/>
          </p:cNvSpPr>
          <p:nvPr>
            <p:ph idx="1"/>
          </p:nvPr>
        </p:nvSpPr>
        <p:spPr>
          <a:xfrm>
            <a:off x="1295401" y="2556932"/>
            <a:ext cx="4169920" cy="3318936"/>
          </a:xfrm>
        </p:spPr>
        <p:txBody>
          <a:bodyPr>
            <a:normAutofit fontScale="85000" lnSpcReduction="10000"/>
          </a:bodyPr>
          <a:lstStyle/>
          <a:p>
            <a:r>
              <a:rPr lang="en-US" dirty="0">
                <a:solidFill>
                  <a:schemeClr val="tx1"/>
                </a:solidFill>
              </a:rPr>
              <a:t>Constant screen Direction shows movement in </a:t>
            </a:r>
            <a:r>
              <a:rPr lang="en-US" b="1" dirty="0">
                <a:solidFill>
                  <a:schemeClr val="tx1"/>
                </a:solidFill>
              </a:rPr>
              <a:t>one direction only</a:t>
            </a:r>
            <a:r>
              <a:rPr lang="en-US" dirty="0">
                <a:solidFill>
                  <a:schemeClr val="tx1"/>
                </a:solidFill>
              </a:rPr>
              <a:t>. </a:t>
            </a:r>
          </a:p>
          <a:p>
            <a:r>
              <a:rPr lang="en-US" dirty="0">
                <a:solidFill>
                  <a:schemeClr val="tx1"/>
                </a:solidFill>
              </a:rPr>
              <a:t>You would storyboard the progression of shots of this bus going in </a:t>
            </a:r>
            <a:r>
              <a:rPr lang="en-US" b="1" dirty="0">
                <a:solidFill>
                  <a:schemeClr val="tx1"/>
                </a:solidFill>
              </a:rPr>
              <a:t>the same direction</a:t>
            </a:r>
            <a:r>
              <a:rPr lang="en-US" dirty="0">
                <a:solidFill>
                  <a:schemeClr val="tx1"/>
                </a:solidFill>
              </a:rPr>
              <a:t>. </a:t>
            </a:r>
          </a:p>
          <a:p>
            <a:r>
              <a:rPr lang="en-US" dirty="0">
                <a:solidFill>
                  <a:schemeClr val="tx1"/>
                </a:solidFill>
              </a:rPr>
              <a:t>Showing the bus going in the </a:t>
            </a:r>
            <a:r>
              <a:rPr lang="en-US" b="1" dirty="0">
                <a:solidFill>
                  <a:schemeClr val="tx1"/>
                </a:solidFill>
              </a:rPr>
              <a:t>opposite</a:t>
            </a:r>
            <a:r>
              <a:rPr lang="en-US" dirty="0">
                <a:solidFill>
                  <a:schemeClr val="tx1"/>
                </a:solidFill>
              </a:rPr>
              <a:t> direction, this will </a:t>
            </a:r>
            <a:r>
              <a:rPr lang="en-US" b="1" dirty="0">
                <a:solidFill>
                  <a:schemeClr val="tx1"/>
                </a:solidFill>
              </a:rPr>
              <a:t>confuse</a:t>
            </a:r>
            <a:r>
              <a:rPr lang="en-US" dirty="0">
                <a:solidFill>
                  <a:schemeClr val="tx1"/>
                </a:solidFill>
              </a:rPr>
              <a:t> the audience because the bus </a:t>
            </a:r>
            <a:r>
              <a:rPr lang="en-US" b="1" dirty="0">
                <a:solidFill>
                  <a:schemeClr val="tx1"/>
                </a:solidFill>
              </a:rPr>
              <a:t>appears to be moving back</a:t>
            </a:r>
            <a:r>
              <a:rPr lang="en-US" dirty="0">
                <a:solidFill>
                  <a:schemeClr val="tx1"/>
                </a:solidFill>
              </a:rPr>
              <a:t> to its starting point.</a:t>
            </a:r>
          </a:p>
        </p:txBody>
      </p:sp>
      <p:pic>
        <p:nvPicPr>
          <p:cNvPr id="10242" name="Picture 2" descr="Image result for bus routine movie">
            <a:extLst>
              <a:ext uri="{FF2B5EF4-FFF2-40B4-BE49-F238E27FC236}">
                <a16:creationId xmlns:a16="http://schemas.microsoft.com/office/drawing/2014/main" id="{E63CC241-5A4D-4923-9756-3A33332A85A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5203"/>
          <a:stretch/>
        </p:blipFill>
        <p:spPr bwMode="auto">
          <a:xfrm>
            <a:off x="5465321" y="2542118"/>
            <a:ext cx="5431277"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201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Contrasting Screen Direction</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a:xfrm>
            <a:off x="1298448" y="2651760"/>
            <a:ext cx="3840480" cy="3383280"/>
          </a:xfrm>
        </p:spPr>
        <p:txBody>
          <a:bodyPr/>
          <a:lstStyle/>
          <a:p>
            <a:r>
              <a:rPr lang="en-US" dirty="0" sz="1400">
                <a:solidFill>
                  <a:schemeClr val="tx1"/>
                </a:solidFill>
              </a:rPr>
              <a:t>Entering and exiting the frame from opposite directions.</a:t>
            </a:r>
          </a:p>
          <a:p>
            <a:r>
              <a:rPr lang="en-US" dirty="0" sz="1400">
                <a:solidFill>
                  <a:schemeClr val="tx1"/>
                </a:solidFill>
              </a:rPr>
              <a:t>Often called right-to-left and left-to-right movement.</a:t>
            </a:r>
          </a:p>
          <a:p>
            <a:r>
              <a:rPr lang="en-US" dirty="0" sz="1400">
                <a:solidFill>
                  <a:schemeClr val="tx1"/>
                </a:solidFill>
              </a:rPr>
              <a:t>Leaves home moving left to right. Coming home, right to left.</a:t>
            </a:r>
          </a:p>
        </p:txBody>
      </p:sp>
      <p:pic>
        <p:nvPicPr>
          <p:cNvPr id="2050" name="Picture 2" descr="Image result for goofy motor mania">
            <a:extLst>
              <a:ext uri="{FF2B5EF4-FFF2-40B4-BE49-F238E27FC236}">
                <a16:creationId xmlns:a16="http://schemas.microsoft.com/office/drawing/2014/main" id="{42BEB641-029B-423F-97FA-91FF72D1BD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2519" y="2556932"/>
            <a:ext cx="2414079" cy="18105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goofy motor mania">
            <a:extLst>
              <a:ext uri="{FF2B5EF4-FFF2-40B4-BE49-F238E27FC236}">
                <a16:creationId xmlns:a16="http://schemas.microsoft.com/office/drawing/2014/main" id="{9F74BCDE-2083-4C12-AF40-B5506974C6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577829"/>
            <a:ext cx="22860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Image result for goofy motor mania returning home">
            <a:extLst>
              <a:ext uri="{FF2B5EF4-FFF2-40B4-BE49-F238E27FC236}">
                <a16:creationId xmlns:a16="http://schemas.microsoft.com/office/drawing/2014/main" id="{9D645F5E-D2F6-4762-8419-C5BC34E434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2900" y="4445559"/>
            <a:ext cx="22991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042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Two Directions Colliding</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a:xfrm>
            <a:off x="943583" y="2556932"/>
            <a:ext cx="2898843" cy="3318936"/>
          </a:xfrm>
        </p:spPr>
        <p:txBody>
          <a:bodyPr/>
          <a:lstStyle/>
          <a:p>
            <a:r>
              <a:rPr lang="en-US" dirty="0">
                <a:solidFill>
                  <a:schemeClr val="tx1"/>
                </a:solidFill>
              </a:rPr>
              <a:t>Entering and Exiting frame from opposite directions.</a:t>
            </a:r>
          </a:p>
          <a:p>
            <a:r>
              <a:rPr lang="en-US" dirty="0">
                <a:solidFill>
                  <a:schemeClr val="tx1"/>
                </a:solidFill>
              </a:rPr>
              <a:t>Often called Right to Left and Left to Right movement.</a:t>
            </a:r>
          </a:p>
          <a:p>
            <a:endParaRPr lang="en-US" dirty="0"/>
          </a:p>
        </p:txBody>
      </p:sp>
      <p:pic>
        <p:nvPicPr>
          <p:cNvPr id="5122" name="Picture 2" descr="Image result for Avengers civil war face off">
            <a:extLst>
              <a:ext uri="{FF2B5EF4-FFF2-40B4-BE49-F238E27FC236}">
                <a16:creationId xmlns:a16="http://schemas.microsoft.com/office/drawing/2014/main" id="{120A0E94-213D-4433-AE02-7B3FEE6A455A}"/>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095279" y="2694518"/>
            <a:ext cx="7153138" cy="2986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555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Shot / Reverse Shot</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a:xfrm>
            <a:off x="943583" y="2556931"/>
            <a:ext cx="4087763" cy="3753717"/>
          </a:xfrm>
        </p:spPr>
        <p:txBody>
          <a:bodyPr>
            <a:normAutofit fontScale="92500" lnSpcReduction="20000"/>
          </a:bodyPr>
          <a:lstStyle/>
          <a:p>
            <a:r>
              <a:rPr lang="en-US" dirty="0">
                <a:solidFill>
                  <a:schemeClr val="tx1"/>
                </a:solidFill>
              </a:rPr>
              <a:t>Common technique used to create continuity between two or more characters. </a:t>
            </a:r>
          </a:p>
          <a:p>
            <a:r>
              <a:rPr lang="en-US" dirty="0">
                <a:solidFill>
                  <a:schemeClr val="tx1"/>
                </a:solidFill>
              </a:rPr>
              <a:t>Allows audience to follow the action between characters as camera angles and framing changes. </a:t>
            </a:r>
          </a:p>
          <a:p>
            <a:r>
              <a:rPr lang="en-US" dirty="0">
                <a:solidFill>
                  <a:schemeClr val="tx1"/>
                </a:solidFill>
              </a:rPr>
              <a:t>The simplest form of the shot/reverse shot is staging a conversation between two characters. </a:t>
            </a:r>
          </a:p>
          <a:p>
            <a:endParaRPr lang="en-US" dirty="0"/>
          </a:p>
        </p:txBody>
      </p:sp>
      <p:pic>
        <p:nvPicPr>
          <p:cNvPr id="12290" name="Picture 2" descr="Image result for shot/reverse shot">
            <a:extLst>
              <a:ext uri="{FF2B5EF4-FFF2-40B4-BE49-F238E27FC236}">
                <a16:creationId xmlns:a16="http://schemas.microsoft.com/office/drawing/2014/main" id="{6C8A3E57-91DB-47B6-8844-D40975855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1347" y="2556932"/>
            <a:ext cx="6096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080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Match on Action</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a:xfrm>
            <a:off x="943583" y="2556932"/>
            <a:ext cx="9953015" cy="3318936"/>
          </a:xfrm>
        </p:spPr>
        <p:txBody>
          <a:bodyPr>
            <a:normAutofit/>
          </a:bodyPr>
          <a:lstStyle/>
          <a:p>
            <a:r>
              <a:rPr lang="en-US" dirty="0">
                <a:solidFill>
                  <a:schemeClr val="tx1"/>
                </a:solidFill>
              </a:rPr>
              <a:t>Match on action is the illusion that the action continues </a:t>
            </a:r>
            <a:r>
              <a:rPr lang="en-US" b="1" dirty="0">
                <a:solidFill>
                  <a:schemeClr val="tx1"/>
                </a:solidFill>
              </a:rPr>
              <a:t>uninterrupted</a:t>
            </a:r>
            <a:r>
              <a:rPr lang="en-US" dirty="0">
                <a:solidFill>
                  <a:schemeClr val="tx1"/>
                </a:solidFill>
              </a:rPr>
              <a:t> even though the camera positions may have changed from one shot to the next.</a:t>
            </a:r>
          </a:p>
          <a:p>
            <a:r>
              <a:rPr lang="en-US" dirty="0">
                <a:solidFill>
                  <a:schemeClr val="tx1"/>
                </a:solidFill>
              </a:rPr>
              <a:t>To create a match on action, </a:t>
            </a:r>
            <a:r>
              <a:rPr lang="en-US" b="1" dirty="0">
                <a:solidFill>
                  <a:schemeClr val="tx1"/>
                </a:solidFill>
              </a:rPr>
              <a:t>everything at the end </a:t>
            </a:r>
            <a:r>
              <a:rPr lang="en-US" dirty="0">
                <a:solidFill>
                  <a:schemeClr val="tx1"/>
                </a:solidFill>
              </a:rPr>
              <a:t>of the first shot must </a:t>
            </a:r>
            <a:r>
              <a:rPr lang="en-US" b="1" dirty="0">
                <a:solidFill>
                  <a:schemeClr val="tx1"/>
                </a:solidFill>
              </a:rPr>
              <a:t>closely match the action at the beginning of the next shot</a:t>
            </a:r>
            <a:r>
              <a:rPr lang="en-US" dirty="0">
                <a:solidFill>
                  <a:schemeClr val="tx1"/>
                </a:solidFill>
              </a:rPr>
              <a:t>.  </a:t>
            </a:r>
          </a:p>
          <a:p>
            <a:r>
              <a:rPr lang="en-US" dirty="0">
                <a:solidFill>
                  <a:schemeClr val="tx1"/>
                </a:solidFill>
              </a:rPr>
              <a:t>It is generally easier to create a match cut by noticeably changing the size of the frame and cutting on the movement. </a:t>
            </a:r>
          </a:p>
          <a:p>
            <a:endParaRPr lang="en-US" dirty="0"/>
          </a:p>
        </p:txBody>
      </p:sp>
    </p:spTree>
    <p:extLst>
      <p:ext uri="{BB962C8B-B14F-4D97-AF65-F5344CB8AC3E}">
        <p14:creationId xmlns:p14="http://schemas.microsoft.com/office/powerpoint/2010/main" val="2011821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Cut Late Enough to Be Understood</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a:xfrm>
            <a:off x="943583" y="2556932"/>
            <a:ext cx="9953015" cy="3318936"/>
          </a:xfrm>
        </p:spPr>
        <p:txBody>
          <a:bodyPr/>
          <a:lstStyle/>
          <a:p>
            <a:r>
              <a:rPr lang="en-US" dirty="0">
                <a:solidFill>
                  <a:schemeClr val="tx1"/>
                </a:solidFill>
              </a:rPr>
              <a:t>Only cut </a:t>
            </a:r>
            <a:r>
              <a:rPr lang="en-US" b="1" dirty="0">
                <a:solidFill>
                  <a:schemeClr val="tx1"/>
                </a:solidFill>
              </a:rPr>
              <a:t>after</a:t>
            </a:r>
            <a:r>
              <a:rPr lang="en-US" dirty="0">
                <a:solidFill>
                  <a:schemeClr val="tx1"/>
                </a:solidFill>
              </a:rPr>
              <a:t> the audience understands what the shot is showing. </a:t>
            </a:r>
          </a:p>
          <a:p>
            <a:r>
              <a:rPr lang="en-US" dirty="0">
                <a:solidFill>
                  <a:schemeClr val="tx1"/>
                </a:solidFill>
              </a:rPr>
              <a:t>If a shot is too fast, the audience will not have time to absorb the details</a:t>
            </a:r>
          </a:p>
          <a:p>
            <a:r>
              <a:rPr lang="en-US" dirty="0">
                <a:solidFill>
                  <a:schemeClr val="tx1"/>
                </a:solidFill>
              </a:rPr>
              <a:t>If the shot is too long, the audience will be irked.</a:t>
            </a:r>
          </a:p>
          <a:p>
            <a:endParaRPr lang="en-US" dirty="0"/>
          </a:p>
        </p:txBody>
      </p:sp>
    </p:spTree>
    <p:extLst>
      <p:ext uri="{BB962C8B-B14F-4D97-AF65-F5344CB8AC3E}">
        <p14:creationId xmlns:p14="http://schemas.microsoft.com/office/powerpoint/2010/main" val="1861616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Eyeline Match</a:t>
            </a:r>
          </a:p>
        </p:txBody>
      </p:sp>
      <p:sp>
        <p:nvSpPr>
          <p:cNvPr id="4" name="Content Placeholder 3">
            <a:extLst>
              <a:ext uri="{FF2B5EF4-FFF2-40B4-BE49-F238E27FC236}">
                <a16:creationId xmlns:a16="http://schemas.microsoft.com/office/drawing/2014/main" id="{A2500E5F-408C-41B4-8396-DC679F6B3B14}"/>
              </a:ext>
            </a:extLst>
          </p:cNvPr>
          <p:cNvSpPr>
            <a:spLocks noGrp="1"/>
          </p:cNvSpPr>
          <p:nvPr>
            <p:ph idx="1"/>
          </p:nvPr>
        </p:nvSpPr>
        <p:spPr>
          <a:xfrm>
            <a:off x="943583" y="2556932"/>
            <a:ext cx="9953015" cy="3318936"/>
          </a:xfrm>
        </p:spPr>
        <p:txBody>
          <a:bodyPr/>
          <a:lstStyle/>
          <a:p>
            <a:r>
              <a:rPr lang="en-US" dirty="0">
                <a:solidFill>
                  <a:schemeClr val="tx1"/>
                </a:solidFill>
              </a:rPr>
              <a:t>Creates order and meaning by matching where characters are looking.</a:t>
            </a:r>
          </a:p>
          <a:p>
            <a:r>
              <a:rPr lang="en-US" dirty="0">
                <a:solidFill>
                  <a:schemeClr val="tx1"/>
                </a:solidFill>
              </a:rPr>
              <a:t>If a character looks off-screen, the audience expects to see what they are looking at in the next shot.</a:t>
            </a:r>
          </a:p>
          <a:p>
            <a:r>
              <a:rPr lang="en-US" dirty="0">
                <a:solidFill>
                  <a:schemeClr val="tx1"/>
                </a:solidFill>
              </a:rPr>
              <a:t>Obey the line of sight and characters will appear to look toward each other, maintaining eyelines.</a:t>
            </a:r>
          </a:p>
        </p:txBody>
      </p:sp>
    </p:spTree>
    <p:extLst>
      <p:ext uri="{BB962C8B-B14F-4D97-AF65-F5344CB8AC3E}">
        <p14:creationId xmlns:p14="http://schemas.microsoft.com/office/powerpoint/2010/main" val="1693665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The Continuity Checklist</a:t>
            </a:r>
          </a:p>
        </p:txBody>
      </p:sp>
      <p:sp>
        <p:nvSpPr>
          <p:cNvPr id="3" name="Content Placeholder 2">
            <a:extLst>
              <a:ext uri="{FF2B5EF4-FFF2-40B4-BE49-F238E27FC236}">
                <a16:creationId xmlns:a16="http://schemas.microsoft.com/office/drawing/2014/main" id="{C8883316-E652-43C5-9A38-8D91FBC11B65}"/>
              </a:ext>
            </a:extLst>
          </p:cNvPr>
          <p:cNvSpPr>
            <a:spLocks noGrp="1"/>
          </p:cNvSpPr>
          <p:nvPr>
            <p:ph idx="1"/>
          </p:nvPr>
        </p:nvSpPr>
        <p:spPr/>
        <p:txBody>
          <a:bodyPr/>
          <a:lstStyle/>
          <a:p>
            <a:r>
              <a:rPr lang="en-US" dirty="0"/>
              <a:t>Where is the line, and am I on one side of it?</a:t>
            </a:r>
          </a:p>
          <a:p>
            <a:r>
              <a:rPr lang="en-US" dirty="0"/>
              <a:t>Does every character move in a consistent direction?</a:t>
            </a:r>
          </a:p>
          <a:p>
            <a:r>
              <a:rPr lang="en-US" dirty="0"/>
              <a:t>Does each look off-screen get answered?</a:t>
            </a:r>
          </a:p>
          <a:p>
            <a:r>
              <a:rPr lang="en-US" dirty="0"/>
              <a:t>Does the action at the end of each panel match the start of the next?</a:t>
            </a:r>
          </a:p>
          <a:p>
            <a:r>
              <a:rPr lang="en-US" dirty="0"/>
              <a:t>If I crossed the line, did I earn it?</a:t>
            </a:r>
          </a:p>
        </p:txBody>
      </p:sp>
    </p:spTree>
    <p:extLst>
      <p:ext uri="{BB962C8B-B14F-4D97-AF65-F5344CB8AC3E}">
        <p14:creationId xmlns:p14="http://schemas.microsoft.com/office/powerpoint/2010/main" val="2144178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Exercise, and City Park Is Assigned</a:t>
            </a:r>
          </a:p>
        </p:txBody>
      </p:sp>
      <p:sp>
        <p:nvSpPr>
          <p:cNvPr id="3" name="Content Placeholder 2">
            <a:extLst>
              <a:ext uri="{FF2B5EF4-FFF2-40B4-BE49-F238E27FC236}">
                <a16:creationId xmlns:a16="http://schemas.microsoft.com/office/drawing/2014/main" id="{C8883316-E652-43C5-9A38-8D91FBC11B65}"/>
              </a:ext>
            </a:extLst>
          </p:cNvPr>
          <p:cNvSpPr>
            <a:spLocks noGrp="1"/>
          </p:cNvSpPr>
          <p:nvPr>
            <p:ph idx="1"/>
          </p:nvPr>
        </p:nvSpPr>
        <p:spPr/>
        <p:txBody>
          <a:bodyPr/>
          <a:lstStyle/>
          <a:p>
            <a:r>
              <a:rPr lang="en-US" dirty="0"/>
              <a:t>Two panels that break the line. Fix them.</a:t>
            </a:r>
          </a:p>
          <a:p>
            <a:r>
              <a:rPr lang="en-US" dirty="0"/>
              <a:t>Rule: no redrawing. Reposition the camera only.</a:t>
            </a:r>
          </a:p>
          <a:p>
            <a:r>
              <a:rPr lang="en-US" dirty="0"/>
              <a:t>Then: City Park is assigned today. This checklist is the rubric.</a:t>
            </a:r>
          </a:p>
          <a:p>
            <a:r>
              <a:rPr lang="en-US" dirty="0"/>
              <a:t>Beat sheet is due next session.</a:t>
            </a:r>
          </a:p>
        </p:txBody>
      </p:sp>
    </p:spTree>
    <p:extLst>
      <p:ext uri="{BB962C8B-B14F-4D97-AF65-F5344CB8AC3E}">
        <p14:creationId xmlns:p14="http://schemas.microsoft.com/office/powerpoint/2010/main" val="21441785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7742</TotalTime>
  <Words>5490</Words>
  <Application>Microsoft Office PowerPoint</Application>
  <PresentationFormat>Widescreen</PresentationFormat>
  <Paragraphs>372</Paragraphs>
  <Slides>45</Slides>
  <Notes>45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Adobe Gothic Std B</vt:lpstr>
      <vt:lpstr>Arial</vt:lpstr>
      <vt:lpstr>Calibri</vt:lpstr>
      <vt:lpstr>Garamond</vt:lpstr>
      <vt:lpstr>Game Design Theme</vt:lpstr>
      <vt:lpstr>Continuity</vt:lpstr>
      <vt:lpstr>Continuity</vt:lpstr>
      <vt:lpstr>Continuity</vt:lpstr>
      <vt:lpstr>Continuity</vt:lpstr>
      <vt:lpstr>Basic Principle of Continuity</vt:lpstr>
      <vt:lpstr>Basic Principle of Continuity</vt:lpstr>
      <vt:lpstr>Basic Principle of Continuity</vt:lpstr>
      <vt:lpstr>Basic Principle of Continuity</vt:lpstr>
      <vt:lpstr>Basic Principle of Continuity</vt:lpstr>
      <vt:lpstr>Other techniques that can affect Continuity</vt:lpstr>
      <vt:lpstr>The Line of Action (180 degree rule)</vt:lpstr>
      <vt:lpstr>The Line of Action</vt:lpstr>
      <vt:lpstr>The Line of Action</vt:lpstr>
      <vt:lpstr>The Line of Action</vt:lpstr>
      <vt:lpstr>The Line of Action</vt:lpstr>
      <vt:lpstr>Crossing the Line of Action</vt:lpstr>
      <vt:lpstr>Crossing the Line of Action</vt:lpstr>
      <vt:lpstr>Crossing the Line of Action</vt:lpstr>
      <vt:lpstr>Crossing the Line of Action</vt:lpstr>
      <vt:lpstr>Screen Direction</vt:lpstr>
      <vt:lpstr>Neutral Screen Direction</vt:lpstr>
      <vt:lpstr>Constant Screen Direction</vt:lpstr>
      <vt:lpstr>Constant Screen Direction</vt:lpstr>
      <vt:lpstr>Contrasting Screen Direction</vt:lpstr>
      <vt:lpstr>Contrasting Screen Direction</vt:lpstr>
      <vt:lpstr>Shot/Reverse Shot</vt:lpstr>
      <vt:lpstr>Shot/Reverse Shot</vt:lpstr>
      <vt:lpstr>Match on Action</vt:lpstr>
      <vt:lpstr>Match on Action</vt:lpstr>
      <vt:lpstr>Eyeline Match</vt:lpstr>
      <vt:lpstr>Cutaways</vt:lpstr>
      <vt:lpstr>Cutaways</vt:lpstr>
      <vt:lpstr>Cut-ins</vt:lpstr>
      <vt:lpstr>Cross-cut</vt:lpstr>
      <vt:lpstr>Cross-cut</vt:lpstr>
      <vt:lpstr>Transitions</vt:lpstr>
      <vt:lpstr>Dissolve</vt:lpstr>
      <vt:lpstr>Cuts</vt:lpstr>
      <vt:lpstr>Fades</vt:lpstr>
      <vt:lpstr>Wipes</vt:lpstr>
      <vt:lpstr>Jump Cuts</vt:lpstr>
      <vt:lpstr>Montage</vt:lpstr>
      <vt:lpstr>Montage</vt:lpstr>
      <vt:lpstr>Montage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318</cp:revision>
  <dcterms:created xsi:type="dcterms:W3CDTF">2016-05-07T19:16:27Z</dcterms:created>
  <dcterms:modified xsi:type="dcterms:W3CDTF">2026-08-10T08:10:16Z</dcterms:modified>
</cp:coreProperties>
</file>