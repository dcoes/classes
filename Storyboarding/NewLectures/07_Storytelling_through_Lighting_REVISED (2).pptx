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2"/>
    <p:sldId id="308" r:id="rId3"/>
    <p:sldId id="359" r:id="rId4"/>
    <p:sldId id="360" r:id="rId5"/>
    <p:sldId id="361" r:id="rId6"/>
    <p:sldId id="362" r:id="rId7"/>
    <p:sldId id="363" r:id="rId8"/>
    <p:sldId id="364" r:id="rId9"/>
    <p:sldId id="365" r:id="rId10"/>
    <p:sldId id="366" r:id="rId11"/>
    <p:sldId id="367" r:id="rId12"/>
    <p:sldId id="368" r:id="rId13"/>
    <p:sldId id="369" r:id="rId14"/>
    <p:sldId id="370" r:id="rId15"/>
    <p:sldId id="371" r:id="rId16"/>
    <p:sldId id="372" r:id="rId17"/>
    <p:sldId id="373" r:id="rId18"/>
    <p:sldId id="374" r:id="rId19"/>
    <p:sldId id="375" r:id="rId20"/>
    <p:sldId id="376" r:id="rId21"/>
    <p:sldId id="377" r:id="rId22"/>
    <p:sldId id="378" r:id="rId23"/>
    <p:sldId id="379" r:id="rId24"/>
    <p:sldId id="380" r:id="rId25"/>
    <p:sldId id="381" r:id="rId26"/>
    <p:sldId id="382" r:id="rId27"/>
    <p:sldId id="383" r:id="rId28"/>
    <p:sldId id="384" r:id="rId29"/>
    <p:sldId id="385" r:id="rId30"/>
    <p:sldId id="386" r:id="rId31"/>
    <p:sldId id="387" r:id="rId32"/>
    <p:sldId id="388" r:id="rId33"/>
    <p:sldId id="389" r:id="rId34"/>
    <p:sldId id="390" r:id="rId35"/>
    <p:sldId id="391" r:id="rId36"/>
    <p:sldId id="3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start with the title. Put up the Presto still and ask the question on the next slide first.</a:t>
            </a: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Nothing in the frame is accidental. Every element has a purpose and should be considered when telling a story. One of the most important is the treatment of light.</a:t>
            </a:r>
          </a:p>
          <a:p>
            <a:r>
              <a:rPr lang="en-US" dirty="0"/>
              <a:t>What is the light doing here? </a:t>
            </a:r>
            <a:br>
              <a:rPr lang="en-US" dirty="0"/>
            </a:br>
            <a:r>
              <a:rPr dirty="0"/>
              <a:t>Where's it coming from</a:t>
            </a:r>
            <a:r>
              <a:rPr lang="en-US" dirty="0"/>
              <a:t>? W</a:t>
            </a:r>
            <a:r>
              <a:rPr dirty="0"/>
              <a:t>hat time is it, how does it make her read? </a:t>
            </a:r>
            <a:br>
              <a:rPr lang="en-US" dirty="0"/>
            </a:br>
            <a:r>
              <a:rPr dirty="0"/>
              <a:t>Let them answer; there's no wrong answer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early days of film, lighting was a necessity for proper exposure. As the technology got better, so did the uses for how light could serve a story. By the 1930s and 40s the lighting style was doing narrative work, not just exposure work.</a:t>
            </a:r>
          </a:p>
          <a:p>
            <a:r>
              <a:rPr dirty="0"/>
              <a:t>Most of this vocabulary is eighty or ninety years old and still completely current. That's not nostalgia — they solved these problems early and the solutions held.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Lighting design is one of the biggest artistic challenges in any medium — film, animation, or games. The general principle in animation is the same as live action. Film needs a physical setup; 3D uses virtual lights, and the artist is mimicking real-world lighting behavior in software.</a:t>
            </a:r>
          </a:p>
          <a:p>
            <a:r>
              <a:t>The restraint part matters: don't move a light until you know what mood you're going for. Otherwise you're just pushing sliders.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Three-point lighting became standard during classical Hollywood and continues today as the starting point for most productions. Key, fill, and back — three lights, three different jobs, which is why we'll take them one at a time.</a:t>
            </a:r>
          </a:p>
          <a:p>
            <a:r>
              <a:t>[IMAGE: three-point lighting diagram] Walk the diagram, then go to the next slide where we find all three in an actual frame.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light is the main source that defines the subject. Usually about 45 degrees off one side of the camera. It illuminates the subject and creates the shadows that bring out texture. The sun is a key light — though direct sun produces harsh shadows at certain times of day.</a:t>
            </a:r>
          </a:p>
          <a:p>
            <a:r>
              <a:t>[IMAGE: Pulp Fiction — Jules] This frame is a great three-point example because you can actually see all three lights working. Right now, just find the key: it's coming from camera left, and it's what's carving his face. Ask them to point at it before you 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fill light fills in or softens the shadows the key light created. It's an indirect source, and it lowers the contrast between light and dark.</a:t>
            </a:r>
          </a:p>
          <a:p>
            <a:r>
              <a:t>[IMAGE: same Pulp Fiction frame] Same frame. Now find the fill — look at the shadow side of his face. It isn't black. Something is putting a little light back into it, and that something is the fill. Ask them what it would look like with no fill at all, and then show them the Godfather frame later as the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Backlight is positioned behind the subject. It creates a highlight around them that lets them stand out from the background, and it gives form to things like hair and clothing that would otherwise fade back.</a:t>
            </a:r>
          </a:p>
          <a:p>
            <a:r>
              <a:t>[IMAGE: same Pulp Fiction frame] Third pass on the same frame. Look at the edge of his hair and the top of his shoulder — that bright line is the back light doing its job.</a:t>
            </a:r>
          </a:p>
          <a:p>
            <a:r>
              <a:t>This is the same separation problem we solved with value contrast in the composition class. Different tool, same job: the figure has to read against the ground.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appearance of a subject is usually defined by the key light. Outside, that's the sun or moon; inside, a main light or a window. High-key and low-key are the two families of approach, and they're worth being able to name on sight.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REPLACE IMAGE: swap the Dumbledore frame for GANDALF — Lord of the Rings. That's the example you actually want here. ***</a:t>
            </a:r>
          </a:p>
          <a:p>
            <a:r>
              <a:t>Why Gandalf: he's close to ambiguously divine in Tolkien, and he shows up out of nowhere when characters are in real trouble. Blasting him with high-key, low-contrast light gives him a holy quality without anyone having to say a word about it. Film is subjective and it can be read other ways — but as a choice it's extremely effective, and that's the point worth making.</a:t>
            </a:r>
          </a:p>
          <a:p>
            <a:r>
              <a:t>High-key conveys overall brightness with minimal shadow. It simulates daytime, and it's standard in comedy, upbeat adventure, sitcoms, news, and industrial video. It can also do something less obvious, which is what the Gandalf example is for: too much light, in the right context, reads as transcendent rather than just bright.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Low-key produces an uneven distribution of light: an abundance of shadow, concentrated pools of atmospheric light, and big areas of the frame left underlit and genuinely dark. The best-known low-key productions are film noir.</a:t>
            </a:r>
          </a:p>
          <a:p>
            <a:r>
              <a:t>[ADD IMAGE: a low-key / noir frame — optional, the Godfather frame later covers similar ground]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Overall contrast is the difference between the lightest and darkest parts of the frame. Using contrast, you focus the viewer's attention on specific areas — where if the whole image is uniformly lit, the focus is on everything, which means nothing.</a:t>
            </a:r>
          </a:p>
          <a:p>
            <a:r>
              <a:rPr dirty="0"/>
              <a:t>[IMAGE: Ansel Adams' Zone System] Adams built a whole system around this. You don't need the system, but you should know somebody thought this hard about it.</a:t>
            </a:r>
          </a:p>
          <a:p>
            <a:r>
              <a:rPr dirty="0"/>
              <a:t>This is the same instinct from the composition class, applied to a full lighting setup instead of one panel.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High-contrast designs emphasize the extreme difference between light and dark, creating dramatic images by setting one part of the frame off against another. Usually seen in thrillers, horror, and suspense.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 low-contrast setting there are no pure whites or blacks, just a range of grays. The viewer takes in the overall composition rather than its individual parts. Low contrast gets called boring because the images can feel flat — same trap as an evenly rendered storyboard panel where nothing is emphasized. It's only a problem when it's an accident.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understand the quality of light, go back to the sun as key. A sunny day creates harsh edges and shadows because it's directional. An overcast day is the opposite — soft, diffuse shadows, because the light is arriving from all directions at once. That's the whole concept, and everything else about hard and soft light follows from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Hard light emphasizes the dramatic, often by illuminating a character's imperfections in ways that aren't flattering. It casts clearly defined shadows with sharp edges.</a:t>
            </a:r>
          </a:p>
          <a:p>
            <a:r>
              <a:t>[IMAGE: The Godfather — Brando] This is the fill-light question from earlier, answered. Almost no fill. The eyes go dark. That was a deliberate choice and it's most of why the character reads the way he does.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 light softens the subject. Actresses in the 1940s were routinely shot in soft diffused light because it evens out skin tone and hides wrinkles and blemishes.</a:t>
            </a:r>
          </a:p>
          <a:p>
            <a:r>
              <a:t>[IMAGE: The Wizard of Oz] The choice between hard and soft is partly a choice about how honest the image is willing to be about the face in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where all of this becomes storyboarding instead of cinematography. Everything before it was so you could make this decision on purpose.</a:t>
            </a:r>
          </a:p>
          <a:p>
            <a:r>
              <a:t>When you draw a panel, the kind of shadow you draw depends on the quality of light you've chosen. Hard light means harsh, sharp-edged shadow shapes. Soft light means soft gradients. Drawing the hard edge takes confidence; drawing the soft one takes restraint. What matters is that you picked one.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light source can come from many directions — side, front, back, below, above. The direction changes the pattern of light and shadow, which changes the mood. It matters because direction is what casts the shadows that emphasize texture and detail. Next five slides, one direction at a time.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Frontal lighting creates a flat image with barely any separation between foreground and background. Minimal shadow and texture, which on its own tends to be a boring composition — though it's genuinely useful when you want the color relationships read clearly without shadows interfering.</a:t>
            </a:r>
          </a:p>
          <a:p>
            <a:r>
              <a:t>[IMAGE: Ted] Comedy uses this constantly. Bright, flat, nothing hidden — which is exactly right for the genre.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Fight Club — the narrator, side-lit]</a:t>
            </a:r>
          </a:p>
          <a:p>
            <a:r>
              <a:t>Strong contrast is created when one side is brightly lit and the other is in shadow. Side lighting creates a three-dimensional effect, and it brings out detail and texture — leaves on a tree, creases in a face.</a:t>
            </a:r>
          </a:p>
          <a:p>
            <a:r>
              <a:t>It's often used to convey a character's internal struggle, staged literally half in light and half in shadow. Fight Club's narrator is the classic case: a straight-cut, buttoned-up insomniac who invents a wild, unhinged version of himself, and the film splits him down the middle visually. Edward Norton is very good at holding both of those at once, which is part of why the lighting choice lands.</a:t>
            </a:r>
          </a:p>
          <a:p>
            <a:r>
              <a:t>If the room doesn't know the film (this happens more than it used to): 20 seconds of setup is enough. They don't need the plot — they need that the lighting is doing character work the dialogue isn't.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Backlighting is when the source is behind a subject that comes forward in frame. It creates the illusion of depth by separating background from subject — the same edge-definition job the back light does in a three-point setup, now promoted to the dominant light.</a:t>
            </a:r>
          </a:p>
          <a:p>
            <a:r>
              <a:t>[IMAGE: Star Wars — Rey at sunset] Push it far enough and the subject goes to silhouette, which connects straight back to the silhouette standard from the composition class.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Underlighting comes from below and produces odd-looking shadows. It lights the bottom half of a figure and shades the top, which makes a character read as malevolent. Horror and thrillers use it constantly.</a:t>
            </a:r>
          </a:p>
          <a:p>
            <a:r>
              <a:t>[IMAGE: Frankenstein, 1931] Once you know it, you can't un-see it — worth asking the room where else they've noticed this.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whole session in one exercise. </a:t>
            </a:r>
            <a:endParaRPr lang="en-US" dirty="0"/>
          </a:p>
          <a:p>
            <a:r>
              <a:rPr dirty="0"/>
              <a:t>The pose doesn't change. The story does.</a:t>
            </a:r>
          </a:p>
          <a:p>
            <a:r>
              <a:rPr dirty="0"/>
              <a:t>Post all four as your exit ticket </a:t>
            </a:r>
            <a:r>
              <a:rPr lang="en-US" dirty="0"/>
              <a:t>-</a:t>
            </a:r>
            <a:r>
              <a:rPr dirty="0"/>
              <a:t> graded on the decision, not the rendering.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through photography books. Watch the light in different environments, indoors and out, and notice the difference between morning, afternoon, and evening light. Observing it in real situations is what lets you draw it convincingly from imagination later — which is the actual goal.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productions aim for scenes that look realistic, suggesting to the audience that the light they're seeing could actually exist in that space. Candles and fireplaces enhance a realistic setting. Games use realistic lighting to make characters feel grounded in their environment.</a:t>
            </a:r>
          </a:p>
          <a:p>
            <a:r>
              <a:t>[IMAGE: Close Encounters]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stylistic approach makes the imagery more dramatic. Stylized lighting accentuates mood, and its roots in early cinema are in German Expressionism. Games use it to direct the player's focus toward what matters.</a:t>
            </a:r>
          </a:p>
          <a:p>
            <a:r>
              <a:t>[IMAGE: Nosferatu] The choice between realistic and dramatic is itself a storytelling decision. You are not required to default to realism.</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 palette plays a big role in the visual style of film, animation, and games. Color creates a sense of time and space, establishes mood and atmosphere, and provides emotional cues.</a:t>
            </a:r>
          </a:p>
          <a:p>
            <a:r>
              <a:t>[IMAGE: color-grading comparison strip] A color that causes one reaction in one person can cause a very different one in someone else — sometimes personal preference, sometimes cultural background. Keep that caveat in view for this whole section.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part worth getting across, more than any color-wheel vocabulary.</a:t>
            </a:r>
          </a:p>
          <a:p>
            <a:r>
              <a:t>Contrast is a tool of emphasis. That's the principle. Color is just one of many, many ways to get contrast — alongside value, sharpness, scale, density, and motion. All of them do the same job: bring attention to something, or take attention off something.</a:t>
            </a:r>
          </a:p>
          <a:p>
            <a:r>
              <a:t>So the question in front of a panel is never 'what colors go together.' It's 'what am I emphasizing, and what's the cheapest way to emphasize it.' Sometimes that's color. Often it isn't.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 move worth knowing, because it changes how students approach this.</a:t>
            </a:r>
          </a:p>
          <a:p>
            <a:r>
              <a:t>When you want a character to stand out, the instinct is always to make the character brighter, more saturated, more contrasty. That works, sometimes. But often the better move is the opposite: leave the character alone and lower the contrast of the background.</a:t>
            </a:r>
          </a:p>
          <a:p>
            <a:r>
              <a:t>Keep the background analogous — colors sitting next to each other on the wheel, close in value — and then put the character in something that contrasts with that. The character pops without you having to do anything to the character at all. Games do this constantly, because they have to guarantee you can find the player and the objective. Film does it too.</a:t>
            </a:r>
          </a:p>
          <a:p>
            <a:r>
              <a:t>The general lesson: you can subtract attention as easily as you can add it. Usually subtracting is cheaper and looks better.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12-color wheel]</a:t>
            </a:r>
          </a:p>
          <a:p>
            <a:r>
              <a:t>Here's the wheel, once, as reference. The most common version is twelve colors based on the RYB model.</a:t>
            </a:r>
          </a:p>
          <a:p>
            <a:r>
              <a:t>You don't need to memorize scheme names — triadic, split-complementary, tetradic. What you need is that opposite colors create contrast and tension, and adjacent colors create harmony. Those two facts do almost all the work, and they're what the previous slide was built on. Everything else you can look up the day a job calls for it.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Castlevania: Lords of Shadow — Gabriel]</a:t>
            </a:r>
          </a:p>
          <a:p>
            <a:r>
              <a:t>Warm colors are red, orange, yellow and their variations. Fire, autumn leaves, sunsets. They generally read as energizing, passionate, urgent, sometimes angry.</a:t>
            </a:r>
          </a:p>
          <a:p>
            <a:r>
              <a:t>This frame is a good one: Gabriel mid-slaughter in a yellowish, infernal environment. The red and yellow are carrying his rage, and that's consistent with both the gameplay and his backstory — he's a genuinely interesting character and the palette is doing part of that characterization. It isn't decoration; it agrees with what he is.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 Evangelion]</a:t>
            </a:r>
          </a:p>
          <a:p>
            <a:r>
              <a:t>Cool colors — green, blue, purple — are usually more subdued. Night, water, nature. Calming and reserved, and often reading as sad or isolated.</a:t>
            </a:r>
          </a:p>
          <a:p>
            <a:r>
              <a:t>Evangelion is worth putting up precisely because it's an anime about kids that is heavy and depressing and deals with genuinely difficult material. The cool palette accentuates that weight constantly — you feel it before you can explain it.</a:t>
            </a:r>
          </a:p>
          <a:p>
            <a:r>
              <a:t>Say this part honestly: warm-equals-energetic and cool-equals-sad is a cliché. But it's a cliché because it works, and the interesting conversation isn't whether it's true — it's what you can do with it once you know the audience already reads it that way. That's a good place to let the room argue.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[IMAGES: red lanterns / white ceremonial dress]</a:t>
            </a:r>
          </a:p>
          <a:p>
            <a:r>
              <a:t>Color carries real connotation. But none of it is universal, and this is where the caveat from the start of the section pays off.</a:t>
            </a:r>
          </a:p>
          <a:p>
            <a:r>
              <a:t>Red reads as danger and passion in a lot of Western media, and as luck, prosperity, and celebration elsewhere. White reads as purity and weddings in some places, and as mourning or ceremonial dress in others. Genre convention shifts it too — red in horror is not red in a romance.</a:t>
            </a:r>
          </a:p>
          <a:p>
            <a:r>
              <a:t>Use these associations as the starting point for a decision, not as a rule you're obligated to follow. And know who you're making it for.</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Bring one panel to critique where the lighting and color were decided rather than defaulted. One sentence on why is all I want — that sentence is the actual skill this session was building toward.</a:t>
            </a:r>
          </a:p>
          <a:p>
            <a:r>
              <a:t>If you can't say why, that's useful information too, and it's a fine thing to say out loud.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Lighting as storytelling took roughly a century of cinema to become something audiences read fluently without noticing. Games are visibly doing the same thing right now — building a visual grammar in real time, while you're a student, instead of long before you got here.</a:t>
            </a:r>
          </a:p>
          <a:p>
            <a:r>
              <a:t>Say this plainly: when I was in school, games weren't taken seriously in a room like this one. That was wrong then and it's clearly wrong now. The medium is established, or close enough that betting against it is the outdated position.</a:t>
            </a:r>
          </a:p>
          <a:p>
            <a:r>
              <a:t>You're learning the fundamentals of a language during the part of its history where it's still being actively written. That's rare, and it's worth knowing while it's happening to you.</a:t>
            </a:r>
          </a:p>
          <a:p>
            <a:r>
              <a:t>Good place to open the floor — if anyone wants to argue about where this goes next, that's a better use of the last ten minutes than anything else on this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b="0" dirty="0"/>
              <a:t>Storytelling Through Lighting</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Nothing Is Accidental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Every element in a frame has a purpose</a:t>
            </a:r>
          </a:p>
          <a:p>
            <a:r>
              <a:rPr lang="en-US" b="0" dirty="0"/>
              <a:t>Light is one of the most important of them</a:t>
            </a:r>
          </a:p>
          <a:p>
            <a:r>
              <a:rPr lang="en-US" b="0" dirty="0"/>
              <a:t>You already do this with composition — light is the same argument, different tool</a:t>
            </a:r>
          </a:p>
        </p:txBody>
      </p:sp>
      <p:pic>
        <p:nvPicPr>
          <p:cNvPr id="90" name="Picture 90"/>
          <p:cNvPicPr>
            <a:picLocks noChangeAspect="1"/>
          </p:cNvPicPr>
          <p:nvPr/>
        </p:nvPicPr>
        <p:blipFill>
          <a:blip r:embed="rId3"/>
          <a:stretch>
            <a:fillRect/>
          </a:stretch>
        </p:blipFill>
        <p:spPr>
          <a:xfrm>
            <a:off x="6945000" y="3053665"/>
            <a:ext cx="4475475" cy="2492669"/>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Where This Comes From</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Lighting started as a technical necessity </a:t>
            </a:r>
            <a:r>
              <a:rPr lang="en-US" dirty="0"/>
              <a:t>- </a:t>
            </a:r>
            <a:r>
              <a:rPr lang="en-US" b="0" dirty="0"/>
              <a:t>you needed enough light to expose film</a:t>
            </a:r>
          </a:p>
          <a:p>
            <a:r>
              <a:rPr lang="en-US" b="0" dirty="0"/>
              <a:t>Film noir turned it into a storytelling language in the 1930s and 40s</a:t>
            </a:r>
          </a:p>
          <a:p>
            <a:r>
              <a:rPr lang="en-US" b="0" dirty="0"/>
              <a:t>Most of what we use today was worked out back then, and it still holds up</a:t>
            </a:r>
          </a:p>
        </p:txBody>
      </p:sp>
      <p:pic>
        <p:nvPicPr>
          <p:cNvPr id="90" name="Picture 90"/>
          <p:cNvPicPr>
            <a:picLocks noChangeAspect="1"/>
          </p:cNvPicPr>
          <p:nvPr/>
        </p:nvPicPr>
        <p:blipFill>
          <a:blip r:embed="rId3"/>
          <a:stretch>
            <a:fillRect/>
          </a:stretch>
        </p:blipFill>
        <p:spPr>
          <a:xfrm>
            <a:off x="6945000" y="2659459"/>
            <a:ext cx="4475475" cy="3281082"/>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Film vs. 3D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Film: physical lights on a set</a:t>
            </a:r>
          </a:p>
          <a:p>
            <a:r>
              <a:rPr lang="en-US" b="0" dirty="0"/>
              <a:t>3D and animation: virtual lights in software, mimicking the same real-world behavior</a:t>
            </a:r>
          </a:p>
          <a:p>
            <a:r>
              <a:rPr lang="en-US" b="0" dirty="0"/>
              <a:t>Either way, you decide the mood before you touch a light</a:t>
            </a:r>
          </a:p>
        </p:txBody>
      </p:sp>
    </p:spTree>
    <p:extLst>
      <p:ext uri="{BB962C8B-B14F-4D97-AF65-F5344CB8AC3E}">
        <p14:creationId xmlns:p14="http://schemas.microsoft.com/office/powerpoint/2010/main" val="3640460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The Standard Setup</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Key light · fill light · back light</a:t>
            </a:r>
          </a:p>
          <a:p>
            <a:r>
              <a:rPr lang="en-US" b="0" dirty="0"/>
              <a:t>Became the standard in Hollywood in the 1930s and 40s</a:t>
            </a:r>
          </a:p>
          <a:p>
            <a:r>
              <a:rPr lang="en-US" b="0" dirty="0"/>
              <a:t>Still the default starting point on most productions</a:t>
            </a:r>
          </a:p>
        </p:txBody>
      </p:sp>
      <p:pic>
        <p:nvPicPr>
          <p:cNvPr id="90" name="Picture 90"/>
          <p:cNvPicPr>
            <a:picLocks noChangeAspect="1"/>
          </p:cNvPicPr>
          <p:nvPr/>
        </p:nvPicPr>
        <p:blipFill>
          <a:blip r:embed="rId3"/>
          <a:stretch>
            <a:fillRect/>
          </a:stretch>
        </p:blipFill>
        <p:spPr>
          <a:xfrm>
            <a:off x="6945000" y="2620578"/>
            <a:ext cx="4475475" cy="3358843"/>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Key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The main source — it defines the subject</a:t>
            </a:r>
          </a:p>
          <a:p>
            <a:r>
              <a:rPr lang="en-US" b="0" dirty="0"/>
              <a:t>Usually placed around 45° off to one side of the camera</a:t>
            </a:r>
          </a:p>
          <a:p>
            <a:r>
              <a:rPr lang="en-US" b="0" dirty="0"/>
              <a:t>It creates the shadows, which is what brings out texture and form</a:t>
            </a:r>
          </a:p>
        </p:txBody>
      </p:sp>
      <p:pic>
        <p:nvPicPr>
          <p:cNvPr id="90" name="Picture 90"/>
          <p:cNvPicPr>
            <a:picLocks noChangeAspect="1"/>
          </p:cNvPicPr>
          <p:nvPr/>
        </p:nvPicPr>
        <p:blipFill>
          <a:blip r:embed="rId3"/>
          <a:stretch>
            <a:fillRect/>
          </a:stretch>
        </p:blipFill>
        <p:spPr>
          <a:xfrm>
            <a:off x="6945000" y="2891608"/>
            <a:ext cx="4475475" cy="281678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Fill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Fills in — or softens — the shadows the key created</a:t>
            </a:r>
          </a:p>
          <a:p>
            <a:r>
              <a:rPr lang="en-US" b="0" dirty="0"/>
              <a:t>An indirect, softer source</a:t>
            </a:r>
          </a:p>
          <a:p>
            <a:r>
              <a:rPr lang="en-US" b="0" dirty="0"/>
              <a:t>Lowers the contrast between light and dark</a:t>
            </a:r>
          </a:p>
        </p:txBody>
      </p:sp>
      <p:pic>
        <p:nvPicPr>
          <p:cNvPr id="90" name="Picture 90"/>
          <p:cNvPicPr>
            <a:picLocks noChangeAspect="1"/>
          </p:cNvPicPr>
          <p:nvPr/>
        </p:nvPicPr>
        <p:blipFill>
          <a:blip r:embed="rId3"/>
          <a:stretch>
            <a:fillRect/>
          </a:stretch>
        </p:blipFill>
        <p:spPr>
          <a:xfrm>
            <a:off x="6945000" y="2891608"/>
            <a:ext cx="4475475" cy="281678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Backlight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Positioned behind the subject</a:t>
            </a:r>
          </a:p>
          <a:p>
            <a:r>
              <a:rPr lang="en-US" b="0" dirty="0"/>
              <a:t>Creates a rim of light that separates the subject from the background</a:t>
            </a:r>
          </a:p>
          <a:p>
            <a:r>
              <a:rPr lang="en-US" b="0" dirty="0"/>
              <a:t>Gives form to hair and clothing that would otherwise disappear</a:t>
            </a:r>
          </a:p>
        </p:txBody>
      </p:sp>
      <p:pic>
        <p:nvPicPr>
          <p:cNvPr id="90" name="Picture 90"/>
          <p:cNvPicPr>
            <a:picLocks noChangeAspect="1"/>
          </p:cNvPicPr>
          <p:nvPr/>
        </p:nvPicPr>
        <p:blipFill>
          <a:blip r:embed="rId3"/>
          <a:stretch>
            <a:fillRect/>
          </a:stretch>
        </p:blipFill>
        <p:spPr>
          <a:xfrm>
            <a:off x="6945000" y="2891608"/>
            <a:ext cx="4475475" cy="281678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The Two Families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A subject's look is mostly defined by its </a:t>
            </a:r>
            <a:r>
              <a:rPr lang="en-US" b="1" dirty="0"/>
              <a:t>key light</a:t>
            </a:r>
          </a:p>
          <a:p>
            <a:r>
              <a:rPr lang="en-US" b="0" dirty="0"/>
              <a:t>Outside that's the sun or the moon. Inside it's a lamp or a window</a:t>
            </a:r>
          </a:p>
          <a:p>
            <a:r>
              <a:rPr lang="en-US" b="1" dirty="0"/>
              <a:t>High-key </a:t>
            </a:r>
            <a:r>
              <a:rPr lang="en-US" b="0" dirty="0"/>
              <a:t>and </a:t>
            </a:r>
            <a:r>
              <a:rPr lang="en-US" b="1" dirty="0"/>
              <a:t>low-key</a:t>
            </a:r>
            <a:r>
              <a:rPr lang="en-US" b="0" dirty="0"/>
              <a:t> are the two basic approaches</a:t>
            </a:r>
          </a:p>
        </p:txBody>
      </p:sp>
    </p:spTree>
    <p:extLst>
      <p:ext uri="{BB962C8B-B14F-4D97-AF65-F5344CB8AC3E}">
        <p14:creationId xmlns:p14="http://schemas.microsoft.com/office/powerpoint/2010/main" val="3640460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High-Key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Overall brightness, minimal shadow</a:t>
            </a:r>
          </a:p>
          <a:p>
            <a:r>
              <a:rPr lang="en-US" b="0" dirty="0"/>
              <a:t>Used to simulate daytime, or something beyond daytime</a:t>
            </a:r>
          </a:p>
          <a:p>
            <a:r>
              <a:rPr lang="en-US" b="0" dirty="0"/>
              <a:t>Comedies, upbeat adventure, sitcoms, news, corporate video</a:t>
            </a:r>
          </a:p>
        </p:txBody>
      </p:sp>
      <p:pic>
        <p:nvPicPr>
          <p:cNvPr id="90" name="Picture 90"/>
          <p:cNvPicPr>
            <a:picLocks noChangeAspect="1"/>
          </p:cNvPicPr>
          <p:nvPr/>
        </p:nvPicPr>
        <p:blipFill>
          <a:blip r:embed="rId3"/>
          <a:stretch>
            <a:fillRect/>
          </a:stretch>
        </p:blipFill>
        <p:spPr>
          <a:xfrm>
            <a:off x="6945000" y="3366374"/>
            <a:ext cx="4475475" cy="1867251"/>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Low-Key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Uneven distribution of light</a:t>
            </a:r>
          </a:p>
          <a:p>
            <a:r>
              <a:rPr lang="en-US" b="0" dirty="0"/>
              <a:t>Lots of shadow, with concentrated pools of light</a:t>
            </a:r>
          </a:p>
          <a:p>
            <a:r>
              <a:rPr lang="en-US" b="0" dirty="0"/>
              <a:t>Large areas left underlit — the film-noir signature</a:t>
            </a:r>
          </a:p>
        </p:txBody>
      </p:sp>
    </p:spTree>
    <p:extLst>
      <p:ext uri="{BB962C8B-B14F-4D97-AF65-F5344CB8AC3E}">
        <p14:creationId xmlns:p14="http://schemas.microsoft.com/office/powerpoint/2010/main" val="3640460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What Contrast Does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The difference between the lightest and darkest parts of a frame</a:t>
            </a:r>
          </a:p>
          <a:p>
            <a:r>
              <a:rPr lang="en-US" b="0" dirty="0"/>
              <a:t>It directs attention — the same job value contrast does inside a single panel</a:t>
            </a:r>
          </a:p>
          <a:p>
            <a:r>
              <a:rPr lang="en-US" b="0" dirty="0"/>
              <a:t>If everything is equally lit, nothing is emphasized</a:t>
            </a:r>
          </a:p>
        </p:txBody>
      </p:sp>
      <p:pic>
        <p:nvPicPr>
          <p:cNvPr id="90" name="Picture 90"/>
          <p:cNvPicPr>
            <a:picLocks noChangeAspect="1"/>
          </p:cNvPicPr>
          <p:nvPr/>
        </p:nvPicPr>
        <p:blipFill>
          <a:blip r:embed="rId3"/>
          <a:stretch>
            <a:fillRect/>
          </a:stretch>
        </p:blipFill>
        <p:spPr>
          <a:xfrm>
            <a:off x="6945000" y="2998459"/>
            <a:ext cx="4475475" cy="2603082"/>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High Contrast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Emphasizes the extreme difference between light and dark</a:t>
            </a:r>
          </a:p>
          <a:p>
            <a:r>
              <a:rPr lang="en-US" b="0" dirty="0"/>
              <a:t>Sets one part of the frame hard against another</a:t>
            </a:r>
          </a:p>
          <a:p>
            <a:r>
              <a:rPr lang="en-US" b="0" dirty="0"/>
              <a:t>Thrillers, horror, suspense</a:t>
            </a:r>
          </a:p>
        </p:txBody>
      </p:sp>
    </p:spTree>
    <p:extLst>
      <p:ext uri="{BB962C8B-B14F-4D97-AF65-F5344CB8AC3E}">
        <p14:creationId xmlns:p14="http://schemas.microsoft.com/office/powerpoint/2010/main" val="3640460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Low Contrast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No pure whites or blacks — a range of grays</a:t>
            </a:r>
          </a:p>
          <a:p>
            <a:r>
              <a:rPr lang="en-US" b="0" dirty="0"/>
              <a:t>The viewer takes in the whole composition rather than its parts</a:t>
            </a:r>
          </a:p>
          <a:p>
            <a:r>
              <a:rPr lang="en-US" b="0" dirty="0"/>
              <a:t>Risk: reads as flat unless you meant it</a:t>
            </a:r>
          </a:p>
        </p:txBody>
      </p:sp>
    </p:spTree>
    <p:extLst>
      <p:ext uri="{BB962C8B-B14F-4D97-AF65-F5344CB8AC3E}">
        <p14:creationId xmlns:p14="http://schemas.microsoft.com/office/powerpoint/2010/main" val="3640460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Hard vs. Soft, Explained by the Sun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A sunny day: harsh edges and hard shadows — the light is directional</a:t>
            </a:r>
          </a:p>
          <a:p>
            <a:r>
              <a:rPr lang="en-US" b="0" dirty="0"/>
              <a:t>An overcast day: soft, diffuse shadows — the light comes from everywhere</a:t>
            </a:r>
          </a:p>
        </p:txBody>
      </p:sp>
    </p:spTree>
    <p:extLst>
      <p:ext uri="{BB962C8B-B14F-4D97-AF65-F5344CB8AC3E}">
        <p14:creationId xmlns:p14="http://schemas.microsoft.com/office/powerpoint/2010/main" val="3640460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Hard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Emphasizes the dramatic</a:t>
            </a:r>
          </a:p>
          <a:p>
            <a:r>
              <a:rPr lang="en-US" b="0" dirty="0"/>
              <a:t>Illuminates everything — texture and imperfections included</a:t>
            </a:r>
          </a:p>
          <a:p>
            <a:r>
              <a:rPr lang="en-US" b="0" dirty="0"/>
              <a:t>Sharp, clearly defined shadow edges</a:t>
            </a:r>
          </a:p>
        </p:txBody>
      </p:sp>
      <p:pic>
        <p:nvPicPr>
          <p:cNvPr id="90" name="Picture 90"/>
          <p:cNvPicPr>
            <a:picLocks noChangeAspect="1"/>
          </p:cNvPicPr>
          <p:nvPr/>
        </p:nvPicPr>
        <p:blipFill>
          <a:blip r:embed="rId3"/>
          <a:stretch>
            <a:fillRect/>
          </a:stretch>
        </p:blipFill>
        <p:spPr>
          <a:xfrm>
            <a:off x="6945000" y="3043137"/>
            <a:ext cx="4475475" cy="2513725"/>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Soft Light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Softens everything it touches</a:t>
            </a:r>
          </a:p>
          <a:p>
            <a:r>
              <a:rPr lang="en-US" b="0" dirty="0"/>
              <a:t>Used since the 1940s to even out skin and hide imperfections</a:t>
            </a:r>
          </a:p>
        </p:txBody>
      </p:sp>
      <p:pic>
        <p:nvPicPr>
          <p:cNvPr id="90" name="Picture 90"/>
          <p:cNvPicPr>
            <a:picLocks noChangeAspect="1"/>
          </p:cNvPicPr>
          <p:nvPr/>
        </p:nvPicPr>
        <p:blipFill>
          <a:blip r:embed="rId3"/>
          <a:stretch>
            <a:fillRect/>
          </a:stretch>
        </p:blipFill>
        <p:spPr>
          <a:xfrm>
            <a:off x="6945000" y="2620298"/>
            <a:ext cx="4475475" cy="3359403"/>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Drawing Light in a Storyboard Panel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The quality of light you've decided on determines how you draw the shadow</a:t>
            </a:r>
          </a:p>
          <a:p>
            <a:r>
              <a:rPr lang="en-US" b="0" dirty="0"/>
              <a:t>Hard light → sharp-edged shadow shapes</a:t>
            </a:r>
          </a:p>
          <a:p>
            <a:r>
              <a:rPr lang="en-US" b="0" dirty="0"/>
              <a:t>Soft light → soft gradients</a:t>
            </a:r>
          </a:p>
          <a:p>
            <a:r>
              <a:rPr lang="en-US" b="0" dirty="0"/>
              <a:t>Either way it's a decision, not a default</a:t>
            </a:r>
          </a:p>
        </p:txBody>
      </p:sp>
    </p:spTree>
    <p:extLst>
      <p:ext uri="{BB962C8B-B14F-4D97-AF65-F5344CB8AC3E}">
        <p14:creationId xmlns:p14="http://schemas.microsoft.com/office/powerpoint/2010/main" val="3640460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Direction Changes the Mood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Front · side · back · above · below</a:t>
            </a:r>
          </a:p>
          <a:p>
            <a:r>
              <a:rPr lang="en-US" b="0" dirty="0"/>
              <a:t>Same light, five completely different results</a:t>
            </a:r>
          </a:p>
          <a:p>
            <a:r>
              <a:rPr lang="en-US" b="0" dirty="0"/>
              <a:t>Direction is what casts the shadows that reveal texture and detail</a:t>
            </a:r>
          </a:p>
        </p:txBody>
      </p:sp>
    </p:spTree>
    <p:extLst>
      <p:ext uri="{BB962C8B-B14F-4D97-AF65-F5344CB8AC3E}">
        <p14:creationId xmlns:p14="http://schemas.microsoft.com/office/powerpoint/2010/main" val="3640460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Frontal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Flat image, little separation between foreground and background</a:t>
            </a:r>
          </a:p>
          <a:p>
            <a:r>
              <a:rPr lang="en-US" b="0" dirty="0"/>
              <a:t>Minimal shadow and texture</a:t>
            </a:r>
          </a:p>
          <a:p>
            <a:r>
              <a:rPr lang="en-US" b="0" dirty="0"/>
              <a:t>Good when you want color relationships read clearly</a:t>
            </a:r>
          </a:p>
        </p:txBody>
      </p:sp>
      <p:pic>
        <p:nvPicPr>
          <p:cNvPr id="90" name="Picture 90"/>
          <p:cNvPicPr>
            <a:picLocks noChangeAspect="1"/>
          </p:cNvPicPr>
          <p:nvPr/>
        </p:nvPicPr>
        <p:blipFill>
          <a:blip r:embed="rId3"/>
          <a:stretch>
            <a:fillRect/>
          </a:stretch>
        </p:blipFill>
        <p:spPr>
          <a:xfrm>
            <a:off x="6945000" y="3120652"/>
            <a:ext cx="4475475" cy="2358696"/>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Side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Strong contrast: one side lit, one side in shadow</a:t>
            </a:r>
          </a:p>
          <a:p>
            <a:r>
              <a:rPr lang="en-US" b="0" dirty="0"/>
              <a:t>Creates a three-dimensional effect through the shadow it casts</a:t>
            </a:r>
          </a:p>
          <a:p>
            <a:r>
              <a:rPr lang="en-US" b="0" dirty="0"/>
              <a:t>Often used for internal conflict — a character half in light, half in dark</a:t>
            </a:r>
          </a:p>
        </p:txBody>
      </p:sp>
      <p:pic>
        <p:nvPicPr>
          <p:cNvPr id="90" name="Picture 90"/>
          <p:cNvPicPr>
            <a:picLocks noChangeAspect="1"/>
          </p:cNvPicPr>
          <p:nvPr/>
        </p:nvPicPr>
        <p:blipFill>
          <a:blip r:embed="rId3"/>
          <a:stretch>
            <a:fillRect/>
          </a:stretch>
        </p:blipFill>
        <p:spPr>
          <a:xfrm>
            <a:off x="6945000" y="2718665"/>
            <a:ext cx="4475475" cy="3162669"/>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Backlighting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The source is behind the subject</a:t>
            </a:r>
          </a:p>
          <a:p>
            <a:r>
              <a:rPr lang="en-US" b="0" dirty="0"/>
              <a:t>Separates background from subject and creates depth</a:t>
            </a:r>
          </a:p>
          <a:p>
            <a:r>
              <a:rPr lang="en-US" b="0" dirty="0"/>
              <a:t>Push it far enough and you get pure silhouette</a:t>
            </a:r>
          </a:p>
        </p:txBody>
      </p:sp>
      <p:pic>
        <p:nvPicPr>
          <p:cNvPr id="90" name="Picture 90"/>
          <p:cNvPicPr>
            <a:picLocks noChangeAspect="1"/>
          </p:cNvPicPr>
          <p:nvPr/>
        </p:nvPicPr>
        <p:blipFill>
          <a:blip r:embed="rId3"/>
          <a:stretch>
            <a:fillRect/>
          </a:stretch>
        </p:blipFill>
        <p:spPr>
          <a:xfrm>
            <a:off x="6945000" y="3041273"/>
            <a:ext cx="4475475" cy="251745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Underlighting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Light from below — produces unnatural shadow patterns</a:t>
            </a:r>
          </a:p>
          <a:p>
            <a:r>
              <a:rPr lang="en-US" b="0" dirty="0"/>
              <a:t>Lights the bottom half of a figure, shades the top</a:t>
            </a:r>
          </a:p>
          <a:p>
            <a:r>
              <a:rPr lang="en-US" b="0" dirty="0"/>
              <a:t>Reads as sinister — a horror and thriller convention</a:t>
            </a:r>
          </a:p>
        </p:txBody>
      </p:sp>
      <p:pic>
        <p:nvPicPr>
          <p:cNvPr id="90" name="Picture 90"/>
          <p:cNvPicPr>
            <a:picLocks noChangeAspect="1"/>
          </p:cNvPicPr>
          <p:nvPr/>
        </p:nvPicPr>
        <p:blipFill>
          <a:blip r:embed="rId3"/>
          <a:stretch>
            <a:fillRect/>
          </a:stretch>
        </p:blipFill>
        <p:spPr>
          <a:xfrm>
            <a:off x="6945000" y="3123676"/>
            <a:ext cx="4475475" cy="2352648"/>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Exercise: Light the Same Pose Four Ways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Take one silhouette from your earlier work</a:t>
            </a:r>
          </a:p>
          <a:p>
            <a:r>
              <a:rPr lang="en-US" b="0" dirty="0"/>
              <a:t>Redraw it four times: front, side, back, and from below</a:t>
            </a:r>
          </a:p>
          <a:p>
            <a:r>
              <a:rPr lang="en-US" b="0" dirty="0"/>
              <a:t>Same figure, four different moods — no new drawing skill required</a:t>
            </a:r>
          </a:p>
        </p:txBody>
      </p:sp>
    </p:spTree>
    <p:extLst>
      <p:ext uri="{BB962C8B-B14F-4D97-AF65-F5344CB8AC3E}">
        <p14:creationId xmlns:p14="http://schemas.microsoft.com/office/powerpoint/2010/main" val="3640460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Train Your Eye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Watch real light — indoors, outdoors, morning versus evening</a:t>
            </a:r>
          </a:p>
          <a:p>
            <a:r>
              <a:rPr lang="en-US" b="0" dirty="0"/>
              <a:t>Photography books are full of people who studied this carefully</a:t>
            </a:r>
          </a:p>
          <a:p>
            <a:r>
              <a:rPr lang="en-US" b="0" dirty="0"/>
              <a:t>It's a habit, not a one-time lesson</a:t>
            </a:r>
          </a:p>
        </p:txBody>
      </p:sp>
    </p:spTree>
    <p:extLst>
      <p:ext uri="{BB962C8B-B14F-4D97-AF65-F5344CB8AC3E}">
        <p14:creationId xmlns:p14="http://schemas.microsoft.com/office/powerpoint/2010/main" val="3640460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Realistic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Most productions default here — light that could plausibly exist</a:t>
            </a:r>
          </a:p>
          <a:p>
            <a:r>
              <a:rPr lang="en-US" b="0" dirty="0"/>
              <a:t>Candles and firelight sell a real setting</a:t>
            </a:r>
          </a:p>
          <a:p>
            <a:r>
              <a:rPr lang="en-US" b="0" dirty="0"/>
              <a:t>Games lean on it to make characters feel grounded</a:t>
            </a:r>
          </a:p>
        </p:txBody>
      </p:sp>
      <p:pic>
        <p:nvPicPr>
          <p:cNvPr id="90" name="Picture 90"/>
          <p:cNvPicPr>
            <a:picLocks noChangeAspect="1"/>
          </p:cNvPicPr>
          <p:nvPr/>
        </p:nvPicPr>
        <p:blipFill>
          <a:blip r:embed="rId3"/>
          <a:stretch>
            <a:fillRect/>
          </a:stretch>
        </p:blipFill>
        <p:spPr>
          <a:xfrm>
            <a:off x="6945000" y="3038359"/>
            <a:ext cx="4475475" cy="2523282"/>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Dramatic / Stylized Lighting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Makes the image more dramatic, on purpose</a:t>
            </a:r>
          </a:p>
          <a:p>
            <a:r>
              <a:rPr lang="en-US" b="0" dirty="0"/>
              <a:t>Roots in early cinema — German Expressionism</a:t>
            </a:r>
          </a:p>
          <a:p>
            <a:r>
              <a:rPr lang="en-US" b="0" dirty="0"/>
              <a:t>Games use it to steer the player's focus</a:t>
            </a:r>
          </a:p>
        </p:txBody>
      </p:sp>
      <p:pic>
        <p:nvPicPr>
          <p:cNvPr id="90" name="Picture 90"/>
          <p:cNvPicPr>
            <a:picLocks noChangeAspect="1"/>
          </p:cNvPicPr>
          <p:nvPr/>
        </p:nvPicPr>
        <p:blipFill>
          <a:blip r:embed="rId3"/>
          <a:stretch>
            <a:fillRect/>
          </a:stretch>
        </p:blipFill>
        <p:spPr>
          <a:xfrm>
            <a:off x="6945000" y="3181131"/>
            <a:ext cx="4475475" cy="2237737"/>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What Color Does in a Story</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Establishes time, place, and mood</a:t>
            </a:r>
          </a:p>
          <a:p>
            <a:r>
              <a:rPr lang="en-US" b="0" dirty="0"/>
              <a:t>Reads differently from person to person — partly taste, partly culture</a:t>
            </a:r>
          </a:p>
          <a:p>
            <a:r>
              <a:rPr lang="en-US" b="0" dirty="0"/>
              <a:t>Worth saying out loud before we treat any of it as a rule</a:t>
            </a:r>
          </a:p>
        </p:txBody>
      </p:sp>
      <p:pic>
        <p:nvPicPr>
          <p:cNvPr id="90" name="Picture 90"/>
          <p:cNvPicPr>
            <a:picLocks noChangeAspect="1"/>
          </p:cNvPicPr>
          <p:nvPr/>
        </p:nvPicPr>
        <p:blipFill>
          <a:blip r:embed="rId3"/>
          <a:stretch>
            <a:fillRect/>
          </a:stretch>
        </p:blipFill>
        <p:spPr>
          <a:xfrm>
            <a:off x="6945000" y="3041273"/>
            <a:ext cx="4475475" cy="2517454"/>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Contrast Is the Real Tool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Contrast is a tool of emphasis — that's the actual principle</a:t>
            </a:r>
          </a:p>
          <a:p>
            <a:r>
              <a:rPr lang="en-US" b="0" dirty="0"/>
              <a:t>Value contrast, color contrast, sharpness, scale, motion — all the same job</a:t>
            </a:r>
          </a:p>
          <a:p>
            <a:r>
              <a:rPr lang="en-US" b="0" dirty="0"/>
              <a:t>Color is one of many ways to bring attention to something, or take it away</a:t>
            </a:r>
          </a:p>
        </p:txBody>
      </p:sp>
    </p:spTree>
    <p:extLst>
      <p:ext uri="{BB962C8B-B14F-4D97-AF65-F5344CB8AC3E}">
        <p14:creationId xmlns:p14="http://schemas.microsoft.com/office/powerpoint/2010/main" val="3640460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a:t>Making Something Stand Out — Or Getting Out of Its Way</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The obvious move: make the character brighter, more saturated, higher contrast</a:t>
            </a:r>
          </a:p>
          <a:p>
            <a:r>
              <a:rPr lang="en-US" b="0" dirty="0"/>
              <a:t>The better move, often: lower the contrast of everything else</a:t>
            </a:r>
          </a:p>
          <a:p>
            <a:r>
              <a:rPr lang="en-US" b="0" dirty="0"/>
              <a:t>Analogous background + contrasting character is a workhorse in games and film</a:t>
            </a:r>
          </a:p>
          <a:p>
            <a:r>
              <a:rPr lang="en-US" b="0" dirty="0"/>
              <a:t>You can subtract attention as easily as you can add it</a:t>
            </a:r>
          </a:p>
        </p:txBody>
      </p:sp>
    </p:spTree>
    <p:extLst>
      <p:ext uri="{BB962C8B-B14F-4D97-AF65-F5344CB8AC3E}">
        <p14:creationId xmlns:p14="http://schemas.microsoft.com/office/powerpoint/2010/main" val="3640460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The Wheel, Once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Primary · secondary · tertiary, on the standard 12-color wheel</a:t>
            </a:r>
          </a:p>
          <a:p>
            <a:r>
              <a:rPr lang="en-US" b="0" dirty="0"/>
              <a:t>Opposite on the wheel = contrast, tension, energy</a:t>
            </a:r>
          </a:p>
          <a:p>
            <a:r>
              <a:rPr lang="en-US" b="0" dirty="0"/>
              <a:t>Adjacent on the wheel = analogous, harmony, calm</a:t>
            </a:r>
          </a:p>
          <a:p>
            <a:r>
              <a:rPr lang="en-US" b="0" dirty="0"/>
              <a:t>You can look up the rest when a job calls for it</a:t>
            </a:r>
          </a:p>
        </p:txBody>
      </p:sp>
      <p:pic>
        <p:nvPicPr>
          <p:cNvPr id="90" name="Picture 90"/>
          <p:cNvPicPr>
            <a:picLocks noChangeAspect="1"/>
          </p:cNvPicPr>
          <p:nvPr/>
        </p:nvPicPr>
        <p:blipFill>
          <a:blip r:embed="rId3"/>
          <a:stretch>
            <a:fillRect/>
          </a:stretch>
        </p:blipFill>
        <p:spPr>
          <a:xfrm>
            <a:off x="7232737" y="2350000"/>
            <a:ext cx="3900000" cy="3900000"/>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Warm</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Red, orange, yellow</a:t>
            </a:r>
          </a:p>
          <a:p>
            <a:r>
              <a:rPr lang="en-US" b="0" dirty="0"/>
              <a:t>Fire, sunsets, heat — energy, passion, aggression, urgency</a:t>
            </a:r>
          </a:p>
          <a:p>
            <a:r>
              <a:rPr lang="en-US" b="0" dirty="0"/>
              <a:t>Consistent with what the character is doing, not just decoration</a:t>
            </a:r>
          </a:p>
        </p:txBody>
      </p:sp>
      <p:pic>
        <p:nvPicPr>
          <p:cNvPr id="90" name="Picture 90"/>
          <p:cNvPicPr>
            <a:picLocks noChangeAspect="1"/>
          </p:cNvPicPr>
          <p:nvPr/>
        </p:nvPicPr>
        <p:blipFill>
          <a:blip r:embed="rId3"/>
          <a:stretch>
            <a:fillRect/>
          </a:stretch>
        </p:blipFill>
        <p:spPr>
          <a:xfrm>
            <a:off x="6945000" y="2653025"/>
            <a:ext cx="4475475" cy="3293949"/>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Cool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Blue, green, purple</a:t>
            </a:r>
          </a:p>
          <a:p>
            <a:r>
              <a:rPr lang="en-US" b="0" dirty="0"/>
              <a:t>Night, water, distance — calm, reserved, isolated, heavy</a:t>
            </a:r>
          </a:p>
          <a:p>
            <a:r>
              <a:rPr lang="en-US" b="0" dirty="0"/>
              <a:t>Yes, this is a cliché. It's also load-bearing when it's used well.</a:t>
            </a:r>
          </a:p>
        </p:txBody>
      </p:sp>
      <p:pic>
        <p:nvPicPr>
          <p:cNvPr id="90" name="Picture 90"/>
          <p:cNvPicPr>
            <a:picLocks noChangeAspect="1"/>
          </p:cNvPicPr>
          <p:nvPr/>
        </p:nvPicPr>
        <p:blipFill>
          <a:blip r:embed="rId3"/>
          <a:stretch>
            <a:fillRect/>
          </a:stretch>
        </p:blipFill>
        <p:spPr>
          <a:xfrm>
            <a:off x="6945000" y="3040718"/>
            <a:ext cx="4475475" cy="2518563"/>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Color Meaning Is Cultural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350000" cy="3676443"/>
          </a:xfrm>
        </p:spPr>
        <p:txBody>
          <a:bodyPr>
            <a:normAutofit/>
          </a:bodyPr>
          <a:lstStyle/>
          <a:p>
            <a:r>
              <a:rPr lang="en-US" b="0" dirty="0"/>
              <a:t>Color carries real connotation — but connotation is not universal</a:t>
            </a:r>
          </a:p>
          <a:p>
            <a:r>
              <a:rPr lang="en-US" b="0" dirty="0"/>
              <a:t>Red: danger and passion in one place, luck and celebration in another</a:t>
            </a:r>
          </a:p>
          <a:p>
            <a:r>
              <a:rPr lang="en-US" b="0" dirty="0"/>
              <a:t>White: weddings in one culture, mourning or ceremony in another</a:t>
            </a:r>
          </a:p>
          <a:p>
            <a:r>
              <a:rPr lang="en-US" b="0" dirty="0"/>
              <a:t>Know your audience, then decide</a:t>
            </a:r>
          </a:p>
        </p:txBody>
      </p:sp>
      <p:pic>
        <p:nvPicPr>
          <p:cNvPr id="90" name="Picture 90"/>
          <p:cNvPicPr>
            <a:picLocks noChangeAspect="1"/>
          </p:cNvPicPr>
          <p:nvPr/>
        </p:nvPicPr>
        <p:blipFill>
          <a:blip r:embed="rId3"/>
          <a:stretch>
            <a:fillRect/>
          </a:stretch>
        </p:blipFill>
        <p:spPr>
          <a:xfrm>
            <a:off x="7798007" y="2350000"/>
            <a:ext cx="2769461" cy="1850000"/>
          </a:xfrm>
          <a:prstGeom prst="rect">
            <a:avLst/>
          </a:prstGeom>
          <a:ln w="12700">
            <a:solidFill>
              <a:srgbClr val="3A3A3A"/>
            </a:solidFill>
          </a:ln>
        </p:spPr>
      </p:pic>
      <p:pic>
        <p:nvPicPr>
          <p:cNvPr id="91" name="Picture 91"/>
          <p:cNvPicPr>
            <a:picLocks noChangeAspect="1"/>
          </p:cNvPicPr>
          <p:nvPr/>
        </p:nvPicPr>
        <p:blipFill>
          <a:blip r:embed="rId4"/>
          <a:stretch>
            <a:fillRect/>
          </a:stretch>
        </p:blipFill>
        <p:spPr>
          <a:xfrm>
            <a:off x="7492538" y="4400000"/>
            <a:ext cx="3380398" cy="1850000"/>
          </a:xfrm>
          <a:prstGeom prst="rect">
            <a:avLst/>
          </a:prstGeom>
          <a:ln w="12700">
            <a:solidFill>
              <a:srgbClr val="3A3A3A"/>
            </a:solidFill>
          </a:ln>
        </p:spPr>
      </p:pic>
    </p:spTree>
    <p:extLst>
      <p:ext uri="{BB962C8B-B14F-4D97-AF65-F5344CB8AC3E}">
        <p14:creationId xmlns:p14="http://schemas.microsoft.com/office/powerpoint/2010/main" val="3640460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Apply It: Light and Color, One Panel</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Take a panel from your current sequence</a:t>
            </a:r>
          </a:p>
          <a:p>
            <a:r>
              <a:rPr lang="en-US" b="0" dirty="0"/>
              <a:t>Pick a light direction and quality, on purpose</a:t>
            </a:r>
          </a:p>
          <a:p>
            <a:r>
              <a:rPr lang="en-US" b="0" dirty="0"/>
              <a:t>Pick a color temperature, on purpose</a:t>
            </a:r>
          </a:p>
          <a:p>
            <a:r>
              <a:rPr lang="en-US" b="0" dirty="0"/>
              <a:t>Be ready to say why in one sentence</a:t>
            </a:r>
          </a:p>
        </p:txBody>
      </p:sp>
    </p:spTree>
    <p:extLst>
      <p:ext uri="{BB962C8B-B14F-4D97-AF65-F5344CB8AC3E}">
        <p14:creationId xmlns:p14="http://schemas.microsoft.com/office/powerpoint/2010/main" val="3640460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0" dirty="0"/>
              <a:t>A Language Still Being Written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b="0" dirty="0"/>
              <a:t>Cinema took about a century to make this language fluent</a:t>
            </a:r>
          </a:p>
          <a:p>
            <a:r>
              <a:rPr lang="en-US" b="0" dirty="0"/>
              <a:t>Audiences now read it without noticing they're reading it</a:t>
            </a:r>
          </a:p>
          <a:p>
            <a:r>
              <a:rPr lang="en-US" b="0" dirty="0"/>
              <a:t>Games are building their own version of it right now, in public</a:t>
            </a:r>
          </a:p>
          <a:p>
            <a:r>
              <a:rPr lang="en-US" b="0" dirty="0"/>
              <a:t>You're learning fundamentals while that's still happening</a:t>
            </a:r>
          </a:p>
        </p:txBody>
      </p:sp>
    </p:spTree>
    <p:extLst>
      <p:ext uri="{BB962C8B-B14F-4D97-AF65-F5344CB8AC3E}">
        <p14:creationId xmlns:p14="http://schemas.microsoft.com/office/powerpoint/2010/main" val="364046007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