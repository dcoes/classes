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9"/>
  </p:notesMasterIdLst>
  <p:sldIdLst>
    <p:sldId id="256" r:id="rId2"/>
    <p:sldId id="257" r:id="rId3"/>
    <p:sldId id="258" r:id="rId44"/>
    <p:sldId id="259" r:id="rId5"/>
    <p:sldId id="260" r:id="rId21"/>
    <p:sldId id="261" r:id="rId25"/>
    <p:sldId id="262" r:id="rId16"/>
    <p:sldId id="263" r:id="rId45"/>
    <p:sldId id="264" r:id="rId22"/>
    <p:sldId id="265" r:id="rId46"/>
    <p:sldId id="266" r:id="rId6"/>
    <p:sldId id="267" r:id="rId7"/>
    <p:sldId id="268" r:id="rId8"/>
    <p:sldId id="269" r:id="rId9"/>
    <p:sldId id="270" r:id="rId11"/>
    <p:sldId id="271" r:id="rId14"/>
    <p:sldId id="272" r:id="rId23"/>
    <p:sldId id="273" r:id="rId18"/>
    <p:sldId id="274" r:id="rId26"/>
    <p:sldId id="275" r:id="rId27"/>
    <p:sldId id="276" r:id="rId28"/>
    <p:sldId id="277" r:id="rId29"/>
    <p:sldId id="278" r:id="rId30"/>
    <p:sldId id="279" r:id="rId32"/>
    <p:sldId id="280" r:id="rId33"/>
    <p:sldId id="281" r:id="rId35"/>
    <p:sldId id="282" r:id="rId47"/>
    <p:sldId id="283" r:id="rId36"/>
    <p:sldId id="284" r:id="rId48"/>
    <p:sldId id="285" r:id="rId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64678" autoAdjust="0"/>
  </p:normalViewPr>
  <p:slideViewPr>
    <p:cSldViewPr snapToGrid="0">
      <p:cViewPr varScale="1">
        <p:scale>
          <a:sx n="36" d="100"/>
          <a:sy n="36" d="100"/>
        </p:scale>
        <p:origin x="1430" y="24"/>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4.xml"/><Relationship Id="rId6" Type="http://schemas.openxmlformats.org/officeDocument/2006/relationships/slide" Target="slides/slide11.xml"/><Relationship Id="rId7" Type="http://schemas.openxmlformats.org/officeDocument/2006/relationships/slide" Target="slides/slide12.xml"/><Relationship Id="rId8" Type="http://schemas.openxmlformats.org/officeDocument/2006/relationships/slide" Target="slides/slide13.xml"/><Relationship Id="rId9" Type="http://schemas.openxmlformats.org/officeDocument/2006/relationships/slide" Target="slides/slide14.xml"/><Relationship Id="rId11" Type="http://schemas.openxmlformats.org/officeDocument/2006/relationships/slide" Target="slides/slide15.xml"/><Relationship Id="rId14" Type="http://schemas.openxmlformats.org/officeDocument/2006/relationships/slide" Target="slides/slide16.xml"/><Relationship Id="rId16" Type="http://schemas.openxmlformats.org/officeDocument/2006/relationships/slide" Target="slides/slide7.xml"/><Relationship Id="rId18" Type="http://schemas.openxmlformats.org/officeDocument/2006/relationships/slide" Target="slides/slide18.xml"/><Relationship Id="rId21" Type="http://schemas.openxmlformats.org/officeDocument/2006/relationships/slide" Target="slides/slide5.xml"/><Relationship Id="rId22" Type="http://schemas.openxmlformats.org/officeDocument/2006/relationships/slide" Target="slides/slide9.xml"/><Relationship Id="rId23" Type="http://schemas.openxmlformats.org/officeDocument/2006/relationships/slide" Target="slides/slide17.xml"/><Relationship Id="rId25" Type="http://schemas.openxmlformats.org/officeDocument/2006/relationships/slide" Target="slides/slide6.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8.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xml"/><Relationship Id="rId45" Type="http://schemas.openxmlformats.org/officeDocument/2006/relationships/slide" Target="slides/slide8.xml"/><Relationship Id="rId46" Type="http://schemas.openxmlformats.org/officeDocument/2006/relationships/slide" Target="slides/slide10.xml"/><Relationship Id="rId47" Type="http://schemas.openxmlformats.org/officeDocument/2006/relationships/slide" Target="slides/slide27.xml"/><Relationship Id="rId48" Type="http://schemas.openxmlformats.org/officeDocument/2006/relationships/slide" Target="slides/slide29.xml"/><Relationship Id="rId49"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EE8B73-20FE-4169-9595-E55E7D4C6C8A}" type="datetimeFigureOut">
              <a:rPr lang="en-US" smtClean="0"/>
              <a:t>8/5/2026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7FDB04-D1AC-46DB-9592-CA12D78D404F}" type="slidenum">
              <a:rPr lang="en-US" smtClean="0"/>
              <a:t>‹#›</a:t>
            </a:fld>
            <a:endParaRPr lang="en-US"/>
          </a:p>
        </p:txBody>
      </p:sp>
    </p:spTree>
    <p:extLst>
      <p:ext uri="{BB962C8B-B14F-4D97-AF65-F5344CB8AC3E}">
        <p14:creationId xmlns:p14="http://schemas.microsoft.com/office/powerpoint/2010/main" val="18440064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Delete the placeholder notes that were on this slide.</a:t>
            </a:r>
          </a:p>
          <a:p/>
          <a:p>
            <a:r>
              <a:rPr lang="en-US" dirty="0"/>
              <a:t>Set expectations immediately, because this is the session most likely to convince a weak draftsman that they cannot pass. It is not a draftsmanship test.</a:t>
            </a:r>
          </a:p>
          <a:p/>
          <a:p>
            <a:r>
              <a:rPr lang="en-US" dirty="0"/>
              <a:t>The deck is deliberately ordered so that the five techniques that work regardless of drawing ability come first, and constructed linear perspective comes second. That ordering is the argument: most of the depth in most panels does not come from vanishing points.</a:t>
            </a:r>
          </a:p>
        </p:txBody>
      </p:sp>
      <p:sp>
        <p:nvSpPr>
          <p:cNvPr id="4" name="Slide Number Placeholder 3"/>
          <p:cNvSpPr>
            <a:spLocks noGrp="1"/>
          </p:cNvSpPr>
          <p:nvPr>
            <p:ph type="sldNum" sz="quarter" idx="10"/>
          </p:nvPr>
        </p:nvSpPr>
        <p:spPr/>
        <p:txBody>
          <a:bodyPr/>
          <a:lstStyle/>
          <a:p>
            <a:fld id="{3C7FDB04-D1AC-46DB-9592-CA12D78D404F}" type="slidenum">
              <a:rPr lang="en-US" smtClean="0"/>
              <a:t>1</a:t>
            </a:fld>
            <a:endParaRPr lang="en-US"/>
          </a:p>
        </p:txBody>
      </p:sp>
    </p:spTree>
    <p:extLst>
      <p:ext uri="{BB962C8B-B14F-4D97-AF65-F5344CB8AC3E}">
        <p14:creationId xmlns:p14="http://schemas.microsoft.com/office/powerpoint/2010/main" val="27701507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setup, in one idea: depth on a flat surface is always a trick, and tricks can be learned.</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Your eye reconstructs space from a flat image using a handful of cues: overlap, relative size, haze, texture, and converging lines. Those cues are what the next twenty slides are about.</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Say: the good news is that most of them are free. You do not have to draw well to use them, you have to know they exist and decide to use them.</a:t>
            </a:r>
          </a:p>
        </p:txBody>
      </p:sp>
      <p:sp>
        <p:nvSpPr>
          <p:cNvPr id="4" name="Slide Number Placeholder 3"/>
          <p:cNvSpPr>
            <a:spLocks noGrp="1"/>
          </p:cNvSpPr>
          <p:nvPr>
            <p:ph type="sldNum" sz="quarter" idx="10"/>
          </p:nvPr>
        </p:nvSpPr>
        <p:spPr/>
        <p:txBody>
          <a:bodyPr/>
          <a:lstStyle/>
          <a:p>
            <a:fld id="{3C7FDB04-D1AC-46DB-9592-CA12D78D404F}" type="slidenum">
              <a:rPr lang="en-US" smtClean="0"/>
              <a:t>2</a:t>
            </a:fld>
            <a:endParaRPr lang="en-US"/>
          </a:p>
        </p:txBody>
      </p:sp>
    </p:spTree>
    <p:extLst>
      <p:ext uri="{BB962C8B-B14F-4D97-AF65-F5344CB8AC3E}">
        <p14:creationId xmlns:p14="http://schemas.microsoft.com/office/powerpoint/2010/main" val="41978575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Reframe the subject before teaching any of it.</a:t>
            </a:r>
          </a:p>
          <a:p/>
          <a:p>
            <a:r>
              <a:rPr lang="en-US" sz="1200" kern="1200" dirty="0">
                <a:solidFill>
                  <a:schemeClr val="tx1"/>
                </a:solidFill>
                <a:effectLst/>
                <a:latin typeface="+mn-lt"/>
                <a:ea typeface="+mn-ea"/>
                <a:cs typeface="+mn-cs"/>
              </a:rPr>
              <a:t>Linear perspective is not a property of the drawing. It is a property of where the camera is and what lens is on it. Change either and every convergence in the frame changes with it.</a:t>
            </a:r>
          </a:p>
          <a:p/>
          <a:p>
            <a:r>
              <a:rPr lang="en-US" sz="1200" kern="1200" dirty="0">
                <a:solidFill>
                  <a:schemeClr val="tx1"/>
                </a:solidFill>
                <a:effectLst/>
                <a:latin typeface="+mn-lt"/>
                <a:ea typeface="+mn-ea"/>
                <a:cs typeface="+mn-cs"/>
              </a:rPr>
              <a:t>Say: this is a camera topic that you happen to execute with a pencil. Which means the perspective questions in this session are the same questions as the angle questions from Deck 03, asked in a different vocabulary. Where is the camera, how high, how far, and how wide is the lens.</a:t>
            </a:r>
          </a:p>
        </p:txBody>
      </p:sp>
      <p:sp>
        <p:nvSpPr>
          <p:cNvPr id="4" name="Slide Number Placeholder 3"/>
          <p:cNvSpPr>
            <a:spLocks noGrp="1"/>
          </p:cNvSpPr>
          <p:nvPr>
            <p:ph type="sldNum" sz="quarter" idx="10"/>
          </p:nvPr>
        </p:nvSpPr>
        <p:spPr/>
        <p:txBody>
          <a:bodyPr/>
          <a:lstStyle/>
          <a:p>
            <a:fld id="{3C7FDB04-D1AC-46DB-9592-CA12D78D404F}" type="slidenum">
              <a:rPr lang="en-US" smtClean="0"/>
              <a:t>4</a:t>
            </a:fld>
            <a:endParaRPr lang="en-US"/>
          </a:p>
        </p:txBody>
      </p:sp>
    </p:spTree>
    <p:extLst>
      <p:ext uri="{BB962C8B-B14F-4D97-AF65-F5344CB8AC3E}">
        <p14:creationId xmlns:p14="http://schemas.microsoft.com/office/powerpoint/2010/main" val="233211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Now the constructed half, framed as the specialist tool rather than the foundation.</a:t>
            </a:r>
          </a:p>
          <a:p/>
          <a:p>
            <a:r>
              <a:rPr lang="en-US" sz="1200" kern="1200" dirty="0">
                <a:solidFill>
                  <a:schemeClr val="tx1"/>
                </a:solidFill>
                <a:effectLst/>
                <a:latin typeface="+mn-lt"/>
                <a:ea typeface="+mn-ea"/>
                <a:cs typeface="+mn-cs"/>
              </a:rPr>
              <a:t>The picture plane is the imaginary sheet of glass between the viewer and the scene. Everything you draw is a projection onto that glass. It is a useful mental model because it makes the geometry concrete: you are not drawing objects, you are drawing where they intersect a plane.</a:t>
            </a:r>
          </a:p>
        </p:txBody>
      </p:sp>
      <p:sp>
        <p:nvSpPr>
          <p:cNvPr id="4" name="Slide Number Placeholder 3"/>
          <p:cNvSpPr>
            <a:spLocks noGrp="1"/>
          </p:cNvSpPr>
          <p:nvPr>
            <p:ph type="sldNum" sz="quarter" idx="10"/>
          </p:nvPr>
        </p:nvSpPr>
        <p:spPr/>
        <p:txBody>
          <a:bodyPr/>
          <a:lstStyle/>
          <a:p>
            <a:fld id="{3C7FDB04-D1AC-46DB-9592-CA12D78D404F}" type="slidenum">
              <a:rPr lang="en-US" smtClean="0"/>
              <a:t>5</a:t>
            </a:fld>
            <a:endParaRPr lang="en-US"/>
          </a:p>
        </p:txBody>
      </p:sp>
    </p:spTree>
    <p:extLst>
      <p:ext uri="{BB962C8B-B14F-4D97-AF65-F5344CB8AC3E}">
        <p14:creationId xmlns:p14="http://schemas.microsoft.com/office/powerpoint/2010/main" val="8789629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is the most useful sentence in the deck, so land it and then repeat it.</a:t>
            </a:r>
          </a:p>
          <a:p/>
          <a:p>
            <a:r>
              <a:rPr lang="en-US" sz="1200" kern="1200" dirty="0">
                <a:solidFill>
                  <a:schemeClr val="tx1"/>
                </a:solidFill>
                <a:effectLst/>
                <a:latin typeface="+mn-lt"/>
                <a:ea typeface="+mn-ea"/>
                <a:cs typeface="+mn-cs"/>
              </a:rPr>
              <a:t>The horizon line is your camera height. That is not a metaphor, it is literally what it encodes. If the horizon crosses a standing figure at chest level, the camera is at chest level.</a:t>
            </a:r>
          </a:p>
          <a:p/>
          <a:p>
            <a:r>
              <a:rPr lang="en-US" sz="1200" kern="1200" dirty="0">
                <a:solidFill>
                  <a:schemeClr val="tx1"/>
                </a:solidFill>
                <a:effectLst/>
                <a:latin typeface="+mn-lt"/>
                <a:ea typeface="+mn-ea"/>
                <a:cs typeface="+mn-cs"/>
              </a:rPr>
              <a:t>Say: which means you can change the camera angle without drawing anything. Move the horizon line up and you are looking down. Move it down and you are looking up. You have just executed the high-angle and low-angle shots from Deck 03 with a single line.</a:t>
            </a:r>
          </a:p>
          <a:p/>
          <a:p>
            <a:r>
              <a:rPr lang="en-US" sz="1200" kern="1200" dirty="0">
                <a:solidFill>
                  <a:schemeClr val="tx1"/>
                </a:solidFill>
                <a:effectLst/>
                <a:latin typeface="+mn-lt"/>
                <a:ea typeface="+mn-ea"/>
                <a:cs typeface="+mn-cs"/>
              </a:rPr>
              <a:t>Ask them to find the horizon in a still and tell you how tall the camera operator was. It works, and it makes the point permanently.</a:t>
            </a:r>
          </a:p>
        </p:txBody>
      </p:sp>
      <p:sp>
        <p:nvSpPr>
          <p:cNvPr id="4" name="Slide Number Placeholder 3"/>
          <p:cNvSpPr>
            <a:spLocks noGrp="1"/>
          </p:cNvSpPr>
          <p:nvPr>
            <p:ph type="sldNum" sz="quarter" idx="10"/>
          </p:nvPr>
        </p:nvSpPr>
        <p:spPr/>
        <p:txBody>
          <a:bodyPr/>
          <a:lstStyle/>
          <a:p>
            <a:fld id="{3C7FDB04-D1AC-46DB-9592-CA12D78D404F}" type="slidenum">
              <a:rPr lang="en-US" smtClean="0"/>
              <a:t>6</a:t>
            </a:fld>
            <a:endParaRPr lang="en-US"/>
          </a:p>
        </p:txBody>
      </p:sp>
    </p:spTree>
    <p:extLst>
      <p:ext uri="{BB962C8B-B14F-4D97-AF65-F5344CB8AC3E}">
        <p14:creationId xmlns:p14="http://schemas.microsoft.com/office/powerpoint/2010/main" val="3144195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Parallels converge as they recede, and where they meet is a vanishing point on the horizon line.</a:t>
            </a:r>
          </a:p>
          <a:p/>
          <a:p>
            <a:r>
              <a:rPr lang="en-US" sz="1200" kern="1200" dirty="0">
                <a:solidFill>
                  <a:schemeClr val="tx1"/>
                </a:solidFill>
                <a:effectLst/>
                <a:latin typeface="+mn-lt"/>
                <a:ea typeface="+mn-ea"/>
                <a:cs typeface="+mn-cs"/>
              </a:rPr>
              <a:t>The bit students miss: a scene can have many vanishing points. Every set of parallel edges pointing in its own direction gets one. A street of buildings all facing the same way share one; a building turned at an angle to the street has its own.</a:t>
            </a:r>
          </a:p>
          <a:p/>
          <a:p>
            <a:r>
              <a:rPr lang="en-US" sz="1200" kern="1200" dirty="0">
                <a:solidFill>
                  <a:schemeClr val="tx1"/>
                </a:solidFill>
                <a:effectLst/>
                <a:latin typeface="+mn-lt"/>
                <a:ea typeface="+mn-ea"/>
                <a:cs typeface="+mn-cs"/>
              </a:rPr>
              <a:t>Say: this is why a drawing can be "in perspective" and still look wrong. Usually it means two things that should share a vanishing point do not.</a:t>
            </a:r>
          </a:p>
        </p:txBody>
      </p:sp>
      <p:sp>
        <p:nvSpPr>
          <p:cNvPr id="4" name="Slide Number Placeholder 3"/>
          <p:cNvSpPr>
            <a:spLocks noGrp="1"/>
          </p:cNvSpPr>
          <p:nvPr>
            <p:ph type="sldNum" sz="quarter" idx="10"/>
          </p:nvPr>
        </p:nvSpPr>
        <p:spPr/>
        <p:txBody>
          <a:bodyPr/>
          <a:lstStyle/>
          <a:p>
            <a:fld id="{3C7FDB04-D1AC-46DB-9592-CA12D78D404F}" type="slidenum">
              <a:rPr lang="en-US" smtClean="0"/>
              <a:t>7</a:t>
            </a:fld>
            <a:endParaRPr lang="en-US"/>
          </a:p>
        </p:txBody>
      </p:sp>
    </p:spTree>
    <p:extLst>
      <p:ext uri="{BB962C8B-B14F-4D97-AF65-F5344CB8AC3E}">
        <p14:creationId xmlns:p14="http://schemas.microsoft.com/office/powerpoint/2010/main" val="1166131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simplest construction and the most recognizable.</a:t>
            </a:r>
          </a:p>
          <a:p/>
          <a:p>
            <a:r>
              <a:rPr lang="en-US" sz="1200" kern="1200" dirty="0">
                <a:solidFill>
                  <a:schemeClr val="tx1"/>
                </a:solidFill>
                <a:effectLst/>
                <a:latin typeface="+mn-lt"/>
                <a:ea typeface="+mn-ea"/>
                <a:cs typeface="+mn-cs"/>
              </a:rPr>
              <a:t>One vanishing point. Verticals stay vertical, horizontals stay horizontal, and everything receding runs to the single point.</a:t>
            </a:r>
          </a:p>
          <a:p/>
          <a:p>
            <a:r>
              <a:rPr lang="en-US" sz="1200" kern="1200" dirty="0">
                <a:solidFill>
                  <a:schemeClr val="tx1"/>
                </a:solidFill>
                <a:effectLst/>
                <a:latin typeface="+mn-lt"/>
                <a:ea typeface="+mn-ea"/>
                <a:cs typeface="+mn-cs"/>
              </a:rPr>
              <a:t>Say: it is also the most conspicuous. Kubrick built a career on one-point corridors, and the reason those shots feel formal and unnerving is that perfect one-point symmetry almost never happens by accident. Use it when you want the audience to feel the geometry.</a:t>
            </a:r>
          </a:p>
        </p:txBody>
      </p:sp>
      <p:sp>
        <p:nvSpPr>
          <p:cNvPr id="4" name="Slide Number Placeholder 3"/>
          <p:cNvSpPr>
            <a:spLocks noGrp="1"/>
          </p:cNvSpPr>
          <p:nvPr>
            <p:ph type="sldNum" sz="quarter" idx="10"/>
          </p:nvPr>
        </p:nvSpPr>
        <p:spPr/>
        <p:txBody>
          <a:bodyPr/>
          <a:lstStyle/>
          <a:p>
            <a:fld id="{3C7FDB04-D1AC-46DB-9592-CA12D78D404F}" type="slidenum">
              <a:rPr lang="en-US" smtClean="0"/>
              <a:t>8</a:t>
            </a:fld>
            <a:endParaRPr lang="en-US"/>
          </a:p>
        </p:txBody>
      </p:sp>
    </p:spTree>
    <p:extLst>
      <p:ext uri="{BB962C8B-B14F-4D97-AF65-F5344CB8AC3E}">
        <p14:creationId xmlns:p14="http://schemas.microsoft.com/office/powerpoint/2010/main" val="10907736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Two points, which means you are looking at an object cornerwise rather than face-on.</a:t>
            </a:r>
          </a:p>
          <a:p/>
          <a:p>
            <a:r>
              <a:rPr lang="en-US" sz="1200" kern="1200" dirty="0">
                <a:solidFill>
                  <a:schemeClr val="tx1"/>
                </a:solidFill>
                <a:effectLst/>
                <a:latin typeface="+mn-lt"/>
                <a:ea typeface="+mn-ea"/>
                <a:cs typeface="+mn-cs"/>
              </a:rPr>
              <a:t>It opens the frame up. Instead of staring down a hallway at a single point, you get two planes receding in different directions, which reads as a real place rather than a diagram.</a:t>
            </a:r>
          </a:p>
          <a:p/>
          <a:p>
            <a:r>
              <a:rPr lang="en-US" sz="1200" kern="1200" dirty="0">
                <a:solidFill>
                  <a:schemeClr val="tx1"/>
                </a:solidFill>
                <a:effectLst/>
                <a:latin typeface="+mn-lt"/>
                <a:ea typeface="+mn-ea"/>
                <a:cs typeface="+mn-cs"/>
              </a:rPr>
              <a:t>Say: this is the default for most environments, and it is worth noticing how much less formal it feels than one-point. Moving the two vanishing points closer together exaggerates the corner and makes the space feel tighter; further apart flattens it out.</a:t>
            </a:r>
          </a:p>
        </p:txBody>
      </p:sp>
      <p:sp>
        <p:nvSpPr>
          <p:cNvPr id="4" name="Slide Number Placeholder 3"/>
          <p:cNvSpPr>
            <a:spLocks noGrp="1"/>
          </p:cNvSpPr>
          <p:nvPr>
            <p:ph type="sldNum" sz="quarter" idx="10"/>
          </p:nvPr>
        </p:nvSpPr>
        <p:spPr/>
        <p:txBody>
          <a:bodyPr/>
          <a:lstStyle/>
          <a:p>
            <a:fld id="{3C7FDB04-D1AC-46DB-9592-CA12D78D404F}" type="slidenum">
              <a:rPr lang="en-US" smtClean="0"/>
              <a:t>10</a:t>
            </a:fld>
            <a:endParaRPr lang="en-US"/>
          </a:p>
        </p:txBody>
      </p:sp>
    </p:spTree>
    <p:extLst>
      <p:ext uri="{BB962C8B-B14F-4D97-AF65-F5344CB8AC3E}">
        <p14:creationId xmlns:p14="http://schemas.microsoft.com/office/powerpoint/2010/main" val="32964384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dramatic one. Add a third vanishing point off the horizon and vertical lines start converging as well.</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Third point high above means a low-angle view up a tall thing. Third point far below means a bird's-eye down onto one.</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Say: three-point is what you reach for when the angle is the point: the low angle up the tower, the drop down onto the street. It is the angles section of Deck 03, executed as geometry. And it is the construction most worth practicing, because it is the one you cannot fake convincingly.</a:t>
            </a:r>
          </a:p>
        </p:txBody>
      </p:sp>
      <p:sp>
        <p:nvSpPr>
          <p:cNvPr id="4" name="Slide Number Placeholder 3"/>
          <p:cNvSpPr>
            <a:spLocks noGrp="1"/>
          </p:cNvSpPr>
          <p:nvPr>
            <p:ph type="sldNum" sz="quarter" idx="10"/>
          </p:nvPr>
        </p:nvSpPr>
        <p:spPr/>
        <p:txBody>
          <a:bodyPr/>
          <a:lstStyle/>
          <a:p>
            <a:fld id="{3C7FDB04-D1AC-46DB-9592-CA12D78D404F}" type="slidenum">
              <a:rPr lang="en-US" smtClean="0"/>
              <a:t>13</a:t>
            </a:fld>
            <a:endParaRPr lang="en-US"/>
          </a:p>
        </p:txBody>
      </p:sp>
    </p:spTree>
    <p:extLst>
      <p:ext uri="{BB962C8B-B14F-4D97-AF65-F5344CB8AC3E}">
        <p14:creationId xmlns:p14="http://schemas.microsoft.com/office/powerpoint/2010/main" val="21446254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third free cue, and the one that gives you the most for the least effort.</a:t>
            </a:r>
          </a:p>
          <a:p/>
          <a:p>
            <a:r>
              <a:rPr lang="en-US" sz="1200" kern="1200" dirty="0">
                <a:solidFill>
                  <a:schemeClr val="tx1"/>
                </a:solidFill>
                <a:effectLst/>
                <a:latin typeface="+mn-lt"/>
                <a:ea typeface="+mn-ea"/>
                <a:cs typeface="+mn-cs"/>
              </a:rPr>
              <a:t>Air is not transparent. Dust and moisture scatter light, so distant objects lose contrast, get lighter, and pick up a blue cast. Paint that and the eye reads distance without any lines converging anywhere.</a:t>
            </a:r>
          </a:p>
          <a:p/>
          <a:p>
            <a:r>
              <a:rPr lang="en-US" sz="1200" kern="1200" dirty="0">
                <a:solidFill>
                  <a:schemeClr val="tx1"/>
                </a:solidFill>
                <a:effectLst/>
                <a:latin typeface="+mn-lt"/>
                <a:ea typeface="+mn-ea"/>
                <a:cs typeface="+mn-cs"/>
              </a:rPr>
              <a:t>The reference on the slide is The Two Towers, and note the correction, because the original deck said "Twin Towers", which is a different thing entirely. The Dead Marshes sequence is a sustained demonstration of atmospheric perspective.</a:t>
            </a:r>
          </a:p>
          <a:p/>
          <a:p>
            <a:r>
              <a:rPr lang="en-US" sz="1200" kern="1200" dirty="0">
                <a:solidFill>
                  <a:schemeClr val="tx1"/>
                </a:solidFill>
                <a:effectLst/>
                <a:latin typeface="+mn-lt"/>
                <a:ea typeface="+mn-ea"/>
                <a:cs typeface="+mn-cs"/>
              </a:rPr>
              <a:t>Say: on a black-and-white board you cannot use the color shift, but you can absolutely use the contrast shift, and that is the part that does the work anyway.</a:t>
            </a:r>
          </a:p>
        </p:txBody>
      </p:sp>
      <p:sp>
        <p:nvSpPr>
          <p:cNvPr id="4" name="Slide Number Placeholder 3"/>
          <p:cNvSpPr>
            <a:spLocks noGrp="1"/>
          </p:cNvSpPr>
          <p:nvPr>
            <p:ph type="sldNum" sz="quarter" idx="10"/>
          </p:nvPr>
        </p:nvSpPr>
        <p:spPr/>
        <p:txBody>
          <a:bodyPr/>
          <a:lstStyle/>
          <a:p>
            <a:fld id="{3C7FDB04-D1AC-46DB-9592-CA12D78D404F}" type="slidenum">
              <a:rPr lang="en-US" smtClean="0"/>
              <a:t>15</a:t>
            </a:fld>
            <a:endParaRPr lang="en-US"/>
          </a:p>
        </p:txBody>
      </p:sp>
    </p:spTree>
    <p:extLst>
      <p:ext uri="{BB962C8B-B14F-4D97-AF65-F5344CB8AC3E}">
        <p14:creationId xmlns:p14="http://schemas.microsoft.com/office/powerpoint/2010/main" val="22873535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hardest thing in this session, and worth being honest about that.</a:t>
            </a:r>
          </a:p>
          <a:p/>
          <a:p>
            <a:r>
              <a:rPr lang="en-US" sz="1200" kern="1200" dirty="0">
                <a:solidFill>
                  <a:schemeClr val="tx1"/>
                </a:solidFill>
                <a:effectLst/>
                <a:latin typeface="+mn-lt"/>
                <a:ea typeface="+mn-ea"/>
                <a:cs typeface="+mn-cs"/>
              </a:rPr>
              <a:t>Foreshortening is perspective applied within a single object. A pointing arm, a leg kicking towards camera, a body falling towards you. The near end enlarges and the length collapses, usually far more than your hand wants to draw.</a:t>
            </a:r>
          </a:p>
          <a:p/>
          <a:p>
            <a:r>
              <a:rPr lang="en-US" sz="1200" kern="1200" dirty="0">
                <a:solidFill>
                  <a:schemeClr val="tx1"/>
                </a:solidFill>
                <a:effectLst/>
                <a:latin typeface="+mn-lt"/>
                <a:ea typeface="+mn-ea"/>
                <a:cs typeface="+mn-cs"/>
              </a:rPr>
              <a:t>Say: this is the one item on today's list where the Marvel Way material on Canvas earns your time. It is enrichment: it is not required to pass this class and it is not what I am grading.</a:t>
            </a:r>
          </a:p>
          <a:p/>
          <a:p>
            <a:r>
              <a:rPr lang="en-US" sz="1200" kern="1200" dirty="0">
                <a:solidFill>
                  <a:schemeClr val="tx1"/>
                </a:solidFill>
                <a:effectLst/>
                <a:latin typeface="+mn-lt"/>
                <a:ea typeface="+mn-ea"/>
                <a:cs typeface="+mn-cs"/>
              </a:rPr>
              <a:t>And the boarding workaround, which is legitimate: if a foreshortened pose is fighting you, change the camera angle so it is not foreshortened. That is a real professional decision, not a cop-out, though do notice whether you are choosing the angle or avoiding the drawing.</a:t>
            </a:r>
          </a:p>
        </p:txBody>
      </p:sp>
      <p:sp>
        <p:nvSpPr>
          <p:cNvPr id="4" name="Slide Number Placeholder 3"/>
          <p:cNvSpPr>
            <a:spLocks noGrp="1"/>
          </p:cNvSpPr>
          <p:nvPr>
            <p:ph type="sldNum" sz="quarter" idx="10"/>
          </p:nvPr>
        </p:nvSpPr>
        <p:spPr/>
        <p:txBody>
          <a:bodyPr/>
          <a:lstStyle/>
          <a:p>
            <a:fld id="{3C7FDB04-D1AC-46DB-9592-CA12D78D404F}" type="slidenum">
              <a:rPr lang="en-US" smtClean="0"/>
              <a:t>17</a:t>
            </a:fld>
            <a:endParaRPr lang="en-US"/>
          </a:p>
        </p:txBody>
      </p:sp>
    </p:spTree>
    <p:extLst>
      <p:ext uri="{BB962C8B-B14F-4D97-AF65-F5344CB8AC3E}">
        <p14:creationId xmlns:p14="http://schemas.microsoft.com/office/powerpoint/2010/main" val="5345956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is the whole slide, and it is almost embarrassingly simple.</a:t>
            </a:r>
          </a:p>
          <a:p/>
          <a:p>
            <a:r>
              <a:rPr lang="en-US" sz="1200" kern="1200" dirty="0">
                <a:solidFill>
                  <a:schemeClr val="tx1"/>
                </a:solidFill>
                <a:effectLst/>
                <a:latin typeface="+mn-lt"/>
                <a:ea typeface="+mn-ea"/>
                <a:cs typeface="+mn-cs"/>
              </a:rPr>
              <a:t>Put something in front of something. The object that is interrupted is behind. The brain does the rest instantly, with no construction and no accuracy required.</a:t>
            </a:r>
          </a:p>
          <a:p/>
          <a:p>
            <a:r>
              <a:rPr lang="en-US" sz="1200" kern="1200" dirty="0">
                <a:solidFill>
                  <a:schemeClr val="tx1"/>
                </a:solidFill>
                <a:effectLst/>
                <a:latin typeface="+mn-lt"/>
                <a:ea typeface="+mn-ea"/>
                <a:cs typeface="+mn-cs"/>
              </a:rPr>
              <a:t>Say: that is it. That is the entire technique. If your panel reads flat, the first question is not "is my perspective wrong," it is "is anything in front of anything."</a:t>
            </a:r>
          </a:p>
          <a:p/>
          <a:p>
            <a:r>
              <a:rPr lang="en-US" sz="1200" kern="1200" dirty="0">
                <a:solidFill>
                  <a:schemeClr val="tx1"/>
                </a:solidFill>
                <a:effectLst/>
                <a:latin typeface="+mn-lt"/>
                <a:ea typeface="+mn-ea"/>
                <a:cs typeface="+mn-cs"/>
              </a:rPr>
              <a:t>Overlap also survives bad drawing completely intact. A crude shape in front of another crude shape still reads as depth.</a:t>
            </a:r>
          </a:p>
        </p:txBody>
      </p:sp>
      <p:sp>
        <p:nvSpPr>
          <p:cNvPr id="4" name="Slide Number Placeholder 3"/>
          <p:cNvSpPr>
            <a:spLocks noGrp="1"/>
          </p:cNvSpPr>
          <p:nvPr>
            <p:ph type="sldNum" sz="quarter" idx="10"/>
          </p:nvPr>
        </p:nvSpPr>
        <p:spPr/>
        <p:txBody>
          <a:bodyPr/>
          <a:lstStyle/>
          <a:p>
            <a:fld id="{3C7FDB04-D1AC-46DB-9592-CA12D78D404F}" type="slidenum">
              <a:rPr lang="en-US" smtClean="0"/>
              <a:t>20</a:t>
            </a:fld>
            <a:endParaRPr lang="en-US"/>
          </a:p>
        </p:txBody>
      </p:sp>
    </p:spTree>
    <p:extLst>
      <p:ext uri="{BB962C8B-B14F-4D97-AF65-F5344CB8AC3E}">
        <p14:creationId xmlns:p14="http://schemas.microsoft.com/office/powerpoint/2010/main" val="84691742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fourth free cue, and the one students almost never think to use.</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Any repeating surface (cobbles, tiles, grass, waves, a crowd) has a texture that compresses with distance. Draw the near ones big and separated and the far ones small and merged, and the surface recedes.</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Say: this is the cheapest way to make a floor or a road read as going somewhere. It also means you can suggest an enormous crowd with about nine drawn faces and a gray tone behind them.</a:t>
            </a:r>
          </a:p>
        </p:txBody>
      </p:sp>
      <p:sp>
        <p:nvSpPr>
          <p:cNvPr id="4" name="Slide Number Placeholder 3"/>
          <p:cNvSpPr>
            <a:spLocks noGrp="1"/>
          </p:cNvSpPr>
          <p:nvPr>
            <p:ph type="sldNum" sz="quarter" idx="10"/>
          </p:nvPr>
        </p:nvSpPr>
        <p:spPr/>
        <p:txBody>
          <a:bodyPr/>
          <a:lstStyle/>
          <a:p>
            <a:fld id="{3C7FDB04-D1AC-46DB-9592-CA12D78D404F}" type="slidenum">
              <a:rPr lang="en-US" smtClean="0"/>
              <a:t>21</a:t>
            </a:fld>
            <a:endParaRPr lang="en-US"/>
          </a:p>
        </p:txBody>
      </p:sp>
    </p:spTree>
    <p:extLst>
      <p:ext uri="{BB962C8B-B14F-4D97-AF65-F5344CB8AC3E}">
        <p14:creationId xmlns:p14="http://schemas.microsoft.com/office/powerpoint/2010/main" val="23469455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reliable method: never draw the ellipse freehand. Draw the square that contains it, in perspective, then inscribe the ellipse touching the middle of each side.</a:t>
            </a:r>
          </a:p>
          <a:p/>
          <a:p>
            <a:r>
              <a:rPr lang="en-US" sz="1200" kern="1200" dirty="0">
                <a:solidFill>
                  <a:schemeClr val="tx1"/>
                </a:solidFill>
                <a:effectLst/>
                <a:latin typeface="+mn-lt"/>
                <a:ea typeface="+mn-ea"/>
                <a:cs typeface="+mn-cs"/>
              </a:rPr>
              <a:t>The further an ellipse is from the horizon line, the more open it gets. On the horizon it collapses to a straight line. That single rule fixes most wheel drawings.</a:t>
            </a:r>
          </a:p>
          <a:p/>
          <a:p>
            <a:r>
              <a:rPr lang="en-US" sz="1200" kern="1200" dirty="0">
                <a:solidFill>
                  <a:schemeClr val="tx1"/>
                </a:solidFill>
                <a:effectLst/>
                <a:latin typeface="+mn-lt"/>
                <a:ea typeface="+mn-ea"/>
                <a:cs typeface="+mn-cs"/>
              </a:rPr>
              <a:t>Say: this is fiddly and it is worth about twenty minutes of your life, because vehicles, cups and doorways are everywhere and a wrong ellipse is instantly visible to everybody.</a:t>
            </a:r>
          </a:p>
        </p:txBody>
      </p:sp>
      <p:sp>
        <p:nvSpPr>
          <p:cNvPr id="4" name="Slide Number Placeholder 3"/>
          <p:cNvSpPr>
            <a:spLocks noGrp="1"/>
          </p:cNvSpPr>
          <p:nvPr>
            <p:ph type="sldNum" sz="quarter" idx="10"/>
          </p:nvPr>
        </p:nvSpPr>
        <p:spPr/>
        <p:txBody>
          <a:bodyPr/>
          <a:lstStyle/>
          <a:p>
            <a:fld id="{3C7FDB04-D1AC-46DB-9592-CA12D78D404F}" type="slidenum">
              <a:rPr lang="en-US" smtClean="0"/>
              <a:t>22</a:t>
            </a:fld>
            <a:endParaRPr lang="en-US"/>
          </a:p>
        </p:txBody>
      </p:sp>
    </p:spTree>
    <p:extLst>
      <p:ext uri="{BB962C8B-B14F-4D97-AF65-F5344CB8AC3E}">
        <p14:creationId xmlns:p14="http://schemas.microsoft.com/office/powerpoint/2010/main" val="228704715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second free cue, and it does two jobs at once.</a:t>
            </a:r>
          </a:p>
          <a:p/>
          <a:p>
            <a:r>
              <a:rPr lang="en-US" sz="1200" kern="1200" dirty="0">
                <a:solidFill>
                  <a:schemeClr val="tx1"/>
                </a:solidFill>
                <a:effectLst/>
                <a:latin typeface="+mn-lt"/>
                <a:ea typeface="+mn-ea"/>
                <a:cs typeface="+mn-cs"/>
              </a:rPr>
              <a:t>Relative size gives you distance: the same figure drawn small reads as far away. And a known-size object next to an unknown-size one tells the audience how big the unknown thing is, which is why the extreme long shot from Deck 03 needs a human-scaled reference in it.</a:t>
            </a:r>
          </a:p>
          <a:p/>
          <a:p>
            <a:r>
              <a:rPr lang="en-US" sz="1200" kern="1200" dirty="0">
                <a:solidFill>
                  <a:schemeClr val="tx1"/>
                </a:solidFill>
                <a:effectLst/>
                <a:latin typeface="+mn-lt"/>
                <a:ea typeface="+mn-ea"/>
                <a:cs typeface="+mn-cs"/>
              </a:rPr>
              <a:t>Say: this is why establishing shots put a person in the frame. Without one, a mountain and a rock look identical.</a:t>
            </a:r>
          </a:p>
        </p:txBody>
      </p:sp>
      <p:sp>
        <p:nvSpPr>
          <p:cNvPr id="4" name="Slide Number Placeholder 3"/>
          <p:cNvSpPr>
            <a:spLocks noGrp="1"/>
          </p:cNvSpPr>
          <p:nvPr>
            <p:ph type="sldNum" sz="quarter" idx="10"/>
          </p:nvPr>
        </p:nvSpPr>
        <p:spPr/>
        <p:txBody>
          <a:bodyPr/>
          <a:lstStyle/>
          <a:p>
            <a:fld id="{3C7FDB04-D1AC-46DB-9592-CA12D78D404F}" type="slidenum">
              <a:rPr lang="en-US" smtClean="0"/>
              <a:t>24</a:t>
            </a:fld>
            <a:endParaRPr lang="en-US"/>
          </a:p>
        </p:txBody>
      </p:sp>
    </p:spTree>
    <p:extLst>
      <p:ext uri="{BB962C8B-B14F-4D97-AF65-F5344CB8AC3E}">
        <p14:creationId xmlns:p14="http://schemas.microsoft.com/office/powerpoint/2010/main" val="79059178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This is parallax, and it is the one depth cue you cannot use on a still panel.</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When you move, things close to you slide past quickly and distant things hardly move. Your brain reads that speed difference as distance.</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Say: which makes it an animatic tool rather than a board tool. Board a pan across a landscape, put something close in the foreground (a branch, a post, a rock) and let it sweep past. Your animatic does the rest and the shot suddenly has depth that the individual panel did not.</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Plan it at the boarding stage though, because it means drawing that foreground element on its own layer.</a:t>
            </a:r>
          </a:p>
        </p:txBody>
      </p:sp>
      <p:sp>
        <p:nvSpPr>
          <p:cNvPr id="4" name="Slide Number Placeholder 3"/>
          <p:cNvSpPr>
            <a:spLocks noGrp="1"/>
          </p:cNvSpPr>
          <p:nvPr>
            <p:ph type="sldNum" sz="quarter" idx="10"/>
          </p:nvPr>
        </p:nvSpPr>
        <p:spPr/>
        <p:txBody>
          <a:bodyPr/>
          <a:lstStyle/>
          <a:p>
            <a:fld id="{3C7FDB04-D1AC-46DB-9592-CA12D78D404F}" type="slidenum">
              <a:rPr lang="en-US" smtClean="0"/>
              <a:t>25</a:t>
            </a:fld>
            <a:endParaRPr lang="en-US"/>
          </a:p>
        </p:txBody>
      </p:sp>
    </p:spTree>
    <p:extLst>
      <p:ext uri="{BB962C8B-B14F-4D97-AF65-F5344CB8AC3E}">
        <p14:creationId xmlns:p14="http://schemas.microsoft.com/office/powerpoint/2010/main" val="29540282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Focus is a depth cue and a direction of attention at the same time.</a:t>
            </a:r>
          </a:p>
          <a:p/>
          <a:p>
            <a:r>
              <a:rPr lang="en-US" sz="1200" kern="1200" dirty="0">
                <a:solidFill>
                  <a:schemeClr val="tx1"/>
                </a:solidFill>
                <a:effectLst/>
                <a:latin typeface="+mn-lt"/>
                <a:ea typeface="+mn-ea"/>
                <a:cs typeface="+mn-cs"/>
              </a:rPr>
              <a:t>Depth of field is how deep the sharp zone is. A shallow depth of field isolates a subject from a soft background; a wide one keeps everything legible.</a:t>
            </a:r>
          </a:p>
          <a:p/>
          <a:p>
            <a:r>
              <a:rPr lang="en-US" sz="1200" kern="1200" dirty="0">
                <a:solidFill>
                  <a:schemeClr val="tx1"/>
                </a:solidFill>
                <a:effectLst/>
                <a:latin typeface="+mn-lt"/>
                <a:ea typeface="+mn-ea"/>
                <a:cs typeface="+mn-cs"/>
              </a:rPr>
              <a:t>Say: on a board you indicate it rather than render it. A few soft, low-contrast lines behind a crisply drawn subject reads as shallow focus immediately, and it is faster than drawing the background properly.</a:t>
            </a:r>
          </a:p>
        </p:txBody>
      </p:sp>
      <p:sp>
        <p:nvSpPr>
          <p:cNvPr id="4" name="Slide Number Placeholder 3"/>
          <p:cNvSpPr>
            <a:spLocks noGrp="1"/>
          </p:cNvSpPr>
          <p:nvPr>
            <p:ph type="sldNum" sz="quarter" idx="10"/>
          </p:nvPr>
        </p:nvSpPr>
        <p:spPr/>
        <p:txBody>
          <a:bodyPr/>
          <a:lstStyle/>
          <a:p>
            <a:fld id="{3C7FDB04-D1AC-46DB-9592-CA12D78D404F}" type="slidenum">
              <a:rPr lang="en-US" smtClean="0"/>
              <a:t>26</a:t>
            </a:fld>
            <a:endParaRPr lang="en-US"/>
          </a:p>
        </p:txBody>
      </p:sp>
    </p:spTree>
    <p:extLst>
      <p:ext uri="{BB962C8B-B14F-4D97-AF65-F5344CB8AC3E}">
        <p14:creationId xmlns:p14="http://schemas.microsoft.com/office/powerpoint/2010/main" val="8843321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Deep focus keeps every plane sharp, which changes the relationship with the audience: instead of the camera telling you where to look, the composition has to.</a:t>
            </a:r>
          </a:p>
          <a:p/>
          <a:p>
            <a:r>
              <a:rPr lang="en-US" sz="1200" kern="1200" dirty="0">
                <a:solidFill>
                  <a:schemeClr val="tx1"/>
                </a:solidFill>
                <a:effectLst/>
                <a:latin typeface="+mn-lt"/>
                <a:ea typeface="+mn-ea"/>
                <a:cs typeface="+mn-cs"/>
              </a:rPr>
              <a:t>Kane is the standard reference: Welles and Toland staged action in depth so that foreground, middle and background all carried story simultaneously.</a:t>
            </a:r>
          </a:p>
          <a:p/>
          <a:p>
            <a:r>
              <a:rPr lang="en-US" sz="1200" kern="1200" dirty="0">
                <a:solidFill>
                  <a:schemeClr val="tx1"/>
                </a:solidFill>
                <a:effectLst/>
                <a:latin typeface="+mn-lt"/>
                <a:ea typeface="+mn-ea"/>
                <a:cs typeface="+mn-cs"/>
              </a:rPr>
              <a:t>Say: this is composition doing the work that focus usually does. If everything is sharp, your value structure and your leading lines have to be strong enough to direct attention on their own. It is the harder way to shoot and it is why those frames are still studied.</a:t>
            </a:r>
          </a:p>
        </p:txBody>
      </p:sp>
      <p:sp>
        <p:nvSpPr>
          <p:cNvPr id="4" name="Slide Number Placeholder 3"/>
          <p:cNvSpPr>
            <a:spLocks noGrp="1"/>
          </p:cNvSpPr>
          <p:nvPr>
            <p:ph type="sldNum" sz="quarter" idx="10"/>
          </p:nvPr>
        </p:nvSpPr>
        <p:spPr/>
        <p:txBody>
          <a:bodyPr/>
          <a:lstStyle/>
          <a:p>
            <a:fld id="{3C7FDB04-D1AC-46DB-9592-CA12D78D404F}" type="slidenum">
              <a:rPr lang="en-US" smtClean="0"/>
              <a:t>27</a:t>
            </a:fld>
            <a:endParaRPr lang="en-US"/>
          </a:p>
        </p:txBody>
      </p:sp>
    </p:spTree>
    <p:extLst>
      <p:ext uri="{BB962C8B-B14F-4D97-AF65-F5344CB8AC3E}">
        <p14:creationId xmlns:p14="http://schemas.microsoft.com/office/powerpoint/2010/main" val="179357743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slide had the wrong notes attached in the original (it carried a duplicate of the deep-focus text), and the word aperture had been mis-transcribed as "preacher" both in the notes and on the slide itself. Both are corrected.</a:t>
            </a:r>
          </a:p>
          <a:p/>
          <a:p>
            <a:r>
              <a:rPr lang="en-US" sz="1200" kern="1200" dirty="0">
                <a:solidFill>
                  <a:schemeClr val="tx1"/>
                </a:solidFill>
                <a:effectLst/>
                <a:latin typeface="+mn-lt"/>
                <a:ea typeface="+mn-ea"/>
                <a:cs typeface="+mn-cs"/>
              </a:rPr>
              <a:t>The relationship worth remembering: small aperture, more in focus. Wide aperture, less in focus. It is counterintuitive the first time and then it never leaves you.</a:t>
            </a:r>
          </a:p>
          <a:p/>
          <a:p>
            <a:r>
              <a:rPr lang="en-US" sz="1200" kern="1200" dirty="0">
                <a:solidFill>
                  <a:schemeClr val="tx1"/>
                </a:solidFill>
                <a:effectLst/>
                <a:latin typeface="+mn-lt"/>
                <a:ea typeface="+mn-ea"/>
                <a:cs typeface="+mn-cs"/>
              </a:rPr>
              <a:t>Say: you do not need the f-numbers. What you need is to know that a cinematographer choosing a shallow-focus look is trading light for isolation, and that if you board a shot that depends on a soft background, somebody has to be able to light it that way.</a:t>
            </a:r>
          </a:p>
        </p:txBody>
      </p:sp>
      <p:sp>
        <p:nvSpPr>
          <p:cNvPr id="4" name="Slide Number Placeholder 3"/>
          <p:cNvSpPr>
            <a:spLocks noGrp="1"/>
          </p:cNvSpPr>
          <p:nvPr>
            <p:ph type="sldNum" sz="quarter" idx="10"/>
          </p:nvPr>
        </p:nvSpPr>
        <p:spPr/>
        <p:txBody>
          <a:bodyPr/>
          <a:lstStyle/>
          <a:p>
            <a:fld id="{3C7FDB04-D1AC-46DB-9592-CA12D78D404F}" type="slidenum">
              <a:rPr lang="en-US" smtClean="0"/>
              <a:t>28</a:t>
            </a:fld>
            <a:endParaRPr lang="en-US"/>
          </a:p>
        </p:txBody>
      </p:sp>
    </p:spTree>
    <p:extLst>
      <p:ext uri="{BB962C8B-B14F-4D97-AF65-F5344CB8AC3E}">
        <p14:creationId xmlns:p14="http://schemas.microsoft.com/office/powerpoint/2010/main" val="38590546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Lens choice is a storytelling decision, not a technical one, and Sidney Lumet's account in Making Movies is the best example.</a:t>
            </a:r>
          </a:p>
          <a:p/>
          <a:p>
            <a:r>
              <a:rPr lang="en-US" sz="1200" kern="1200" dirty="0">
                <a:solidFill>
                  <a:schemeClr val="tx1"/>
                </a:solidFill>
                <a:effectLst/>
                <a:latin typeface="+mn-lt"/>
                <a:ea typeface="+mn-ea"/>
                <a:cs typeface="+mn-cs"/>
              </a:rPr>
              <a:t>On Orient Express the body of the film uses normal lenses, and the flashbacks switch to wide, which stretches the space, distorts faces slightly, and makes the recollections feel less trustworthy.</a:t>
            </a:r>
          </a:p>
          <a:p/>
          <a:p>
            <a:r>
              <a:rPr lang="en-US" sz="1200" kern="1200" dirty="0">
                <a:solidFill>
                  <a:schemeClr val="tx1"/>
                </a:solidFill>
                <a:effectLst/>
                <a:latin typeface="+mn-lt"/>
                <a:ea typeface="+mn-ea"/>
                <a:cs typeface="+mn-cs"/>
              </a:rPr>
              <a:t>Say: nobody in the audience notices the lens changed. Everybody notices the flashbacks feel different. That is the entire craft in one example.</a:t>
            </a:r>
          </a:p>
        </p:txBody>
      </p:sp>
      <p:sp>
        <p:nvSpPr>
          <p:cNvPr id="4" name="Slide Number Placeholder 3"/>
          <p:cNvSpPr>
            <a:spLocks noGrp="1"/>
          </p:cNvSpPr>
          <p:nvPr>
            <p:ph type="sldNum" sz="quarter" idx="10"/>
          </p:nvPr>
        </p:nvSpPr>
        <p:spPr/>
        <p:txBody>
          <a:bodyPr/>
          <a:lstStyle/>
          <a:p>
            <a:fld id="{3C7FDB04-D1AC-46DB-9592-CA12D78D404F}" type="slidenum">
              <a:rPr lang="en-US" smtClean="0"/>
              <a:t>29</a:t>
            </a:fld>
            <a:endParaRPr lang="en-US"/>
          </a:p>
        </p:txBody>
      </p:sp>
    </p:spTree>
    <p:extLst>
      <p:ext uri="{BB962C8B-B14F-4D97-AF65-F5344CB8AC3E}">
        <p14:creationId xmlns:p14="http://schemas.microsoft.com/office/powerpoint/2010/main" val="423793140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neutral option. A normal lens renders spatial relationships approximately as your eye does, so nothing calls attention to itself.</a:t>
            </a:r>
          </a:p>
          <a:p/>
          <a:p>
            <a:r>
              <a:rPr lang="en-US" sz="1200" kern="1200" dirty="0">
                <a:solidFill>
                  <a:schemeClr val="tx1"/>
                </a:solidFill>
                <a:effectLst/>
                <a:latin typeface="+mn-lt"/>
                <a:ea typeface="+mn-ea"/>
                <a:cs typeface="+mn-cs"/>
              </a:rPr>
              <a:t>Say: which makes it invisible, and invisible is often exactly right. Most of most films is shot on normal-ish lenses for the same reason most shots are eye level: you save the conspicuous choices for the moments that deserve them.</a:t>
            </a:r>
          </a:p>
        </p:txBody>
      </p:sp>
      <p:sp>
        <p:nvSpPr>
          <p:cNvPr id="4" name="Slide Number Placeholder 3"/>
          <p:cNvSpPr>
            <a:spLocks noGrp="1"/>
          </p:cNvSpPr>
          <p:nvPr>
            <p:ph type="sldNum" sz="quarter" idx="10"/>
          </p:nvPr>
        </p:nvSpPr>
        <p:spPr/>
        <p:txBody>
          <a:bodyPr/>
          <a:lstStyle/>
          <a:p>
            <a:fld id="{3C7FDB04-D1AC-46DB-9592-CA12D78D404F}" type="slidenum">
              <a:rPr lang="en-US" smtClean="0"/>
              <a:t>31</a:t>
            </a:fld>
            <a:endParaRPr lang="en-US"/>
          </a:p>
        </p:txBody>
      </p:sp>
    </p:spTree>
    <p:extLst>
      <p:ext uri="{BB962C8B-B14F-4D97-AF65-F5344CB8AC3E}">
        <p14:creationId xmlns:p14="http://schemas.microsoft.com/office/powerpoint/2010/main" val="244251685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Wide angle stretches depth. The gap between foreground and background is exaggerated, so a room feels bigger and a corridor feels longer than it is.</a:t>
            </a:r>
          </a:p>
          <a:p/>
          <a:p>
            <a:r>
              <a:rPr lang="en-US" sz="1200" kern="1200" dirty="0">
                <a:solidFill>
                  <a:schemeClr val="tx1"/>
                </a:solidFill>
                <a:effectLst/>
                <a:latin typeface="+mn-lt"/>
                <a:ea typeface="+mn-ea"/>
                <a:cs typeface="+mn-cs"/>
              </a:rPr>
              <a:t>It also distorts, particularly at the frame edges and particularly on faces: noses enlarge, edges bow.</a:t>
            </a:r>
          </a:p>
          <a:p/>
          <a:p>
            <a:r>
              <a:rPr lang="en-US" sz="1200" kern="1200" dirty="0">
                <a:solidFill>
                  <a:schemeClr val="tx1"/>
                </a:solidFill>
                <a:effectLst/>
                <a:latin typeface="+mn-lt"/>
                <a:ea typeface="+mn-ea"/>
                <a:cs typeface="+mn-cs"/>
              </a:rPr>
              <a:t>Say: a wide angle makes a room feel bigger and a face feel wrong. Both of those are useful, and the second one is used deliberately far more often than students expect.</a:t>
            </a:r>
          </a:p>
          <a:p/>
          <a:p>
            <a:r>
              <a:rPr lang="en-US" sz="1200" kern="1200" dirty="0">
                <a:solidFill>
                  <a:schemeClr val="tx1"/>
                </a:solidFill>
                <a:effectLst/>
                <a:latin typeface="+mn-lt"/>
                <a:ea typeface="+mn-ea"/>
                <a:cs typeface="+mn-cs"/>
              </a:rPr>
              <a:t>For boarding: wide angle means strong convergence. If you draw a wide-lens shot with gentle perspective, it will not read as wide.</a:t>
            </a:r>
          </a:p>
        </p:txBody>
      </p:sp>
      <p:sp>
        <p:nvSpPr>
          <p:cNvPr id="4" name="Slide Number Placeholder 3"/>
          <p:cNvSpPr>
            <a:spLocks noGrp="1"/>
          </p:cNvSpPr>
          <p:nvPr>
            <p:ph type="sldNum" sz="quarter" idx="10"/>
          </p:nvPr>
        </p:nvSpPr>
        <p:spPr/>
        <p:txBody>
          <a:bodyPr/>
          <a:lstStyle/>
          <a:p>
            <a:fld id="{3C7FDB04-D1AC-46DB-9592-CA12D78D404F}" type="slidenum">
              <a:rPr lang="en-US" smtClean="0"/>
              <a:t>32</a:t>
            </a:fld>
            <a:endParaRPr lang="en-US"/>
          </a:p>
        </p:txBody>
      </p:sp>
    </p:spTree>
    <p:extLst>
      <p:ext uri="{BB962C8B-B14F-4D97-AF65-F5344CB8AC3E}">
        <p14:creationId xmlns:p14="http://schemas.microsoft.com/office/powerpoint/2010/main" val="211149124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opposite of wide. Telephoto compresses depth: things at different distances look flattened together, and the background sits right behind the subject like a painted backdrop.</a:t>
            </a:r>
          </a:p>
          <a:p/>
          <a:p>
            <a:r>
              <a:rPr lang="en-US" sz="1200" kern="1200" dirty="0">
                <a:solidFill>
                  <a:schemeClr val="tx1"/>
                </a:solidFill>
                <a:effectLst/>
                <a:latin typeface="+mn-lt"/>
                <a:ea typeface="+mn-ea"/>
                <a:cs typeface="+mn-cs"/>
              </a:rPr>
              <a:t>The classic use is a character running towards camera who never seems to get any closer. The compression is doing that, and you can absolutely draw it.</a:t>
            </a:r>
          </a:p>
          <a:p/>
          <a:p>
            <a:r>
              <a:rPr lang="en-US" sz="1200" kern="1200" dirty="0">
                <a:solidFill>
                  <a:schemeClr val="tx1"/>
                </a:solidFill>
                <a:effectLst/>
                <a:latin typeface="+mn-lt"/>
                <a:ea typeface="+mn-ea"/>
                <a:cs typeface="+mn-cs"/>
              </a:rPr>
              <a:t>Say: the practical version for you is that a telephoto shot has almost no convergence. Parallel lines stay nearly parallel. So if you want a shot to read as long-lens, flatten the perspective rather than sharpening it, which is one of the few places in this session where less construction is more accurate.</a:t>
            </a:r>
          </a:p>
        </p:txBody>
      </p:sp>
      <p:sp>
        <p:nvSpPr>
          <p:cNvPr id="4" name="Slide Number Placeholder 3"/>
          <p:cNvSpPr>
            <a:spLocks noGrp="1"/>
          </p:cNvSpPr>
          <p:nvPr>
            <p:ph type="sldNum" sz="quarter" idx="10"/>
          </p:nvPr>
        </p:nvSpPr>
        <p:spPr/>
        <p:txBody>
          <a:bodyPr/>
          <a:lstStyle/>
          <a:p>
            <a:fld id="{3C7FDB04-D1AC-46DB-9592-CA12D78D404F}" type="slidenum">
              <a:rPr lang="en-US" smtClean="0"/>
              <a:t>34</a:t>
            </a:fld>
            <a:endParaRPr lang="en-US"/>
          </a:p>
        </p:txBody>
      </p:sp>
    </p:spTree>
    <p:extLst>
      <p:ext uri="{BB962C8B-B14F-4D97-AF65-F5344CB8AC3E}">
        <p14:creationId xmlns:p14="http://schemas.microsoft.com/office/powerpoint/2010/main" val="419000094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Pull the whole session into one list and put the free cues first, in the same order you taught them.</a:t>
            </a:r>
          </a:p>
          <a:p/>
          <a:p>
            <a:r>
              <a:rPr lang="en-US" sz="1200" kern="1200" dirty="0">
                <a:solidFill>
                  <a:schemeClr val="tx1"/>
                </a:solidFill>
                <a:effectLst/>
                <a:latin typeface="+mn-lt"/>
                <a:ea typeface="+mn-ea"/>
                <a:cs typeface="+mn-cs"/>
              </a:rPr>
              <a:t>Then the two things worth carrying out of the room: three planes and overlap will give you most of the depth you need, and the horizon line is your camera height.</a:t>
            </a:r>
          </a:p>
          <a:p/>
          <a:p>
            <a:r>
              <a:rPr lang="en-US" sz="1200" kern="1200" dirty="0">
                <a:solidFill>
                  <a:schemeClr val="tx1"/>
                </a:solidFill>
                <a:effectLst/>
                <a:latin typeface="+mn-lt"/>
                <a:ea typeface="+mn-ea"/>
                <a:cs typeface="+mn-cs"/>
              </a:rPr>
              <a:t>Say: if perspective has frightened you before, notice what happened today. Five of the six tools never required you to construct anything. The sixth is worth learning and it is not the price of entry.</a:t>
            </a:r>
          </a:p>
        </p:txBody>
      </p:sp>
      <p:sp>
        <p:nvSpPr>
          <p:cNvPr id="4" name="Slide Number Placeholder 3"/>
          <p:cNvSpPr>
            <a:spLocks noGrp="1"/>
          </p:cNvSpPr>
          <p:nvPr>
            <p:ph type="sldNum" sz="quarter" idx="10"/>
          </p:nvPr>
        </p:nvSpPr>
        <p:spPr/>
        <p:txBody>
          <a:bodyPr/>
          <a:lstStyle/>
          <a:p>
            <a:fld id="{3C7FDB04-D1AC-46DB-9592-CA12D78D404F}" type="slidenum">
              <a:rPr lang="en-US" smtClean="0"/>
              <a:t>35</a:t>
            </a:fld>
            <a:endParaRPr lang="en-US"/>
          </a:p>
        </p:txBody>
      </p:sp>
    </p:spTree>
    <p:extLst>
      <p:ext uri="{BB962C8B-B14F-4D97-AF65-F5344CB8AC3E}">
        <p14:creationId xmlns:p14="http://schemas.microsoft.com/office/powerpoint/2010/main" val="113964460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new and it is the most important one in the deck. Say it plainly and do not soften it.</a:t>
            </a:r>
          </a:p>
          <a:p/>
          <a:p>
            <a:r>
              <a:rPr lang="en-US" dirty="0"/>
              <a:t>Perspective has a reputation as the gatekeeping skill in drawing, and that reputation frightens people out of a discipline they would otherwise be good at. In boarding it is simply not the highest-leverage tool.</a:t>
            </a:r>
          </a:p>
          <a:p/>
          <a:p>
            <a:r>
              <a:rPr lang="en-US" dirty="0"/>
              <a:t>Say: overlap, scale, atmosphere, value and texture will give you most of the depth in most panels, and none of them require you to construct anything. Linear perspective is the sixth, it is harder, and it is worth learning, after the other five, because the other five are what you will use every day.</a:t>
            </a:r>
          </a:p>
          <a:p/>
          <a:p>
            <a:r>
              <a:rPr lang="en-US" dirty="0"/>
              <a:t>This also connects to the course's grading standard: I grade clarity and judgment, not rendering. A panel with clear depth and crude drawing beats a beautifully constructed one that reads flat.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New slide, lifted directly from the composition lecture (deliberately, word for word).</a:t>
            </a:r>
          </a:p>
          <a:p/>
          <a:p>
            <a:r>
              <a:rPr lang="en-US" dirty="0"/>
              <a:t>Say it verbatim, because they have heard it before and the repetition is the point: this is the cheapest depth cue you own, and it works even if your perspective is wrong.</a:t>
            </a:r>
          </a:p>
          <a:p/>
          <a:p>
            <a:r>
              <a:rPr lang="en-US" dirty="0"/>
              <a:t>Three values. Foreground dark, midground mid, background light. That alone will separate three planes in a panel with no construction whatsoever.</a:t>
            </a:r>
          </a:p>
          <a:p/>
          <a:p>
            <a:r>
              <a:rPr lang="en-US" dirty="0"/>
              <a:t>Say: notice this is the same three-value discipline from composition and from lighting. Three sessions, one tool, three different jobs. That is not a coincidence, it is the sign that you are learning a system rather than a list.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New slide, and it is the practical summary of everything in this section.</a:t>
            </a:r>
          </a:p>
          <a:p/>
          <a:p>
            <a:r>
              <a:rPr lang="en-US" dirty="0"/>
              <a:t>Three planes. Put something in the foreground: a branch, a doorframe, a shoulder, a silhouetted edge. Keep your subject in the midground. Put something in the background and lighten it.</a:t>
            </a:r>
          </a:p>
          <a:p/>
          <a:p>
            <a:r>
              <a:rPr lang="en-US" dirty="0"/>
              <a:t>Say: if you use nothing else from this session, use three planes and overlap them. That is ninety percent of the depth in a professional board, and none of it required you to construct anything.</a:t>
            </a:r>
          </a:p>
          <a:p/>
          <a:p>
            <a:r>
              <a:rPr lang="en-US" dirty="0"/>
              <a:t>This is a direct callback to the composition deck. Same idea, and now they have five different reasons for it.</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New slide, and it is the decision this session has to land on.</a:t>
            </a:r>
          </a:p>
          <a:p/>
          <a:p>
            <a:r>
              <a:rPr lang="en-US" dirty="0"/>
              <a:t>Put up three stills: ideally one built on atmosphere, one on overlap and value, one on hard linear construction. Ask the class to name the cues.</a:t>
            </a:r>
          </a:p>
          <a:p/>
          <a:p>
            <a:r>
              <a:rPr lang="en-US" dirty="0"/>
              <a:t>Say: I want to hear "overlap and value", not "good perspective". Naming the specific mechanism is the skill, because it is the only version you can then go and use.</a:t>
            </a:r>
          </a:p>
          <a:p/>
          <a:p>
            <a:r>
              <a:rPr lang="en-US" dirty="0"/>
              <a:t>Push the second question if there is time: which cue is carrying the shot, and what would you lose if you removed it? That is the question that turns recognition into judgment.</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Set it clearly and be honest about what you expect to happen.</a:t>
            </a:r>
          </a:p>
          <a:p/>
          <a:p>
            <a:r>
              <a:rPr lang="en-US" dirty="0"/>
              <a:t>Same panel twice. Once fast, using only the free cues. Once slow, constructed properly. Time both.</a:t>
            </a:r>
          </a:p>
          <a:p/>
          <a:p>
            <a:r>
              <a:rPr lang="en-US" dirty="0"/>
              <a:t>Say: I am not trying to prove perspective is useless: the constructed version will usually be better. I am trying to show you what it costs, so that you spend it where it counts and skip it where it does not. On a twelve-panel sequence with a deadline, that judgment is worth more than the construction skill.</a:t>
            </a:r>
          </a:p>
          <a:p/>
          <a:p>
            <a:r>
              <a:rPr lang="en-US" dirty="0"/>
              <a:t>Post both before you leave. Graded on existing, not on quality.</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Close on the handout, because the depth material lives there rather than in a perspective-specific sheet.</a:t>
            </a:r>
          </a:p>
          <a:p/>
          <a:p>
            <a:r>
              <a:rPr lang="en-US" dirty="0"/>
              <a:t>H3 is the composition checklist and it carries the three items from today that you will use every week: overlap, three planes, and near-dark / far-light.</a:t>
            </a:r>
          </a:p>
          <a:p/>
          <a:p>
            <a:r>
              <a:rPr lang="en-US" dirty="0"/>
              <a:t>Say the last line as the takeaway: squint at your panel. If the foreground, midground and background do not separate at thumbnail size, no amount of correct vanishing points will save it, and if they do separate, nobody will ever check your construction.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7" name="Picture 6" descr="HD-PanelTitle-GrommetsCombine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783C7E8E-FD18-4999-BA7E-E42594F7B785}" type="slidenum">
              <a:rPr lang="en-US" smtClean="0"/>
              <a:t>‹#›</a:t>
            </a:fld>
            <a:endParaRPr lang="en-US"/>
          </a:p>
        </p:txBody>
      </p:sp>
      <p:cxnSp>
        <p:nvCxnSpPr>
          <p:cNvPr id="15" name="Straight Connector 14"/>
          <p:cNvCxnSpPr/>
          <p:nvPr/>
        </p:nvCxnSpPr>
        <p:spPr>
          <a:xfrm>
            <a:off x="2692399" y="3522131"/>
            <a:ext cx="681566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39532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28497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2012723" y="3710585"/>
            <a:ext cx="8163380"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014564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92E33A7-84C6-449C-AE67-6E7B8B6855DE}"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526212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1"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80671"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92E33A7-84C6-449C-AE67-6E7B8B6855DE}" type="datetimeFigureOut">
              <a:rPr lang="en-US" smtClean="0"/>
              <a:t>8/5/2026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83C7E8E-FD18-4999-BA7E-E42594F7B785}" type="slidenum">
              <a:rPr lang="en-US" smtClean="0"/>
              <a:t>‹#›</a:t>
            </a:fld>
            <a:endParaRPr lang="en-US"/>
          </a:p>
        </p:txBody>
      </p:sp>
      <p:cxnSp>
        <p:nvCxnSpPr>
          <p:cNvPr id="18" name="Straight Connector 1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66839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92E33A7-84C6-449C-AE67-6E7B8B6855DE}" type="datetimeFigureOut">
              <a:rPr lang="en-US" smtClean="0"/>
              <a:t>8/5/2026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21324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92E33A7-84C6-449C-AE67-6E7B8B6855DE}" type="datetimeFigureOut">
              <a:rPr lang="en-US" smtClean="0"/>
              <a:t>8/5/2026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69941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1396169" y="2912533"/>
            <a:ext cx="35144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000149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33869325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5789411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7206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19" name="Straight Connector 18"/>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296793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9658508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4"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26" name="Straight Connector 25"/>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836220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1"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81542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46629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8863890" y="990600"/>
            <a:ext cx="0" cy="487680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0857335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7" name="Picture 6" descr="HD-PanelContent-GrommetsCombined.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92E33A7-84C6-449C-AE67-6E7B8B6855DE}" type="datetimeFigureOut">
              <a:rPr lang="en-US" smtClean="0"/>
              <a:t>8/5/2026</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83C7E8E-FD18-4999-BA7E-E42594F7B785}" type="slidenum">
              <a:rPr lang="en-US" smtClean="0"/>
              <a:t>‹#›</a:t>
            </a:fld>
            <a:endParaRPr lang="en-US"/>
          </a:p>
        </p:txBody>
      </p:sp>
    </p:spTree>
    <p:extLst>
      <p:ext uri="{BB962C8B-B14F-4D97-AF65-F5344CB8AC3E}">
        <p14:creationId xmlns:p14="http://schemas.microsoft.com/office/powerpoint/2010/main" val="36926841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5.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8.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23.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9.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6.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7.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7.jpeg"/><Relationship Id="rId4" Type="http://schemas.openxmlformats.org/officeDocument/2006/relationships/image" Target="../media/image8.png"/><Relationship Id="rId5" Type="http://schemas.openxmlformats.org/officeDocument/2006/relationships/image" Target="../media/image9.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0.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2.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0.png"/><Relationship Id="rId4" Type="http://schemas.openxmlformats.org/officeDocument/2006/relationships/image" Target="../media/image21.jpeg"/><Relationship Id="rId5" Type="http://schemas.openxmlformats.org/officeDocument/2006/relationships/image" Target="../media/image22.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jpeg"/><Relationship Id="rId4" Type="http://schemas.openxmlformats.org/officeDocument/2006/relationships/image" Target="../media/image17.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4.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24.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24.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25.jpeg"/><Relationship Id="rId4" Type="http://schemas.openxmlformats.org/officeDocument/2006/relationships/image" Target="../media/image26.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27.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28.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9.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333625" y="1871131"/>
            <a:ext cx="7448549" cy="1515533"/>
          </a:xfrm>
        </p:spPr>
        <p:txBody>
          <a:bodyPr/>
          <a:lstStyle/>
          <a:p>
            <a:r>
              <a:rPr lang="en-US" sz="4400" dirty="0"/>
              <a:t>Drawing in Perspective</a:t>
            </a:r>
          </a:p>
        </p:txBody>
      </p:sp>
      <p:sp>
        <p:nvSpPr>
          <p:cNvPr id="5" name="Subtitle 4">
            <a:extLst>
              <a:ext uri="{FF2B5EF4-FFF2-40B4-BE49-F238E27FC236}">
                <a16:creationId xmlns:a16="http://schemas.microsoft.com/office/drawing/2014/main" id="{70C6AD92-1E75-4AE6-A160-8290338F1B5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2352824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2EF5C-2B72-41F0-B3B5-0B612BD04A5E}"/>
              </a:ext>
            </a:extLst>
          </p:cNvPr>
          <p:cNvSpPr>
            <a:spLocks noGrp="1"/>
          </p:cNvSpPr>
          <p:nvPr>
            <p:ph type="title"/>
          </p:nvPr>
        </p:nvSpPr>
        <p:spPr/>
        <p:txBody>
          <a:bodyPr/>
          <a:lstStyle/>
          <a:p>
            <a:r>
              <a:rPr lang="en-US" dirty="0"/>
              <a:t>Flat Surface, Dimensional World</a:t>
            </a:r>
          </a:p>
        </p:txBody>
      </p:sp>
      <p:sp>
        <p:nvSpPr>
          <p:cNvPr id="3" name="Content Placeholder 2">
            <a:extLst>
              <a:ext uri="{FF2B5EF4-FFF2-40B4-BE49-F238E27FC236}">
                <a16:creationId xmlns:a16="http://schemas.microsoft.com/office/drawing/2014/main" id="{F10934EF-5B0C-415F-A3C2-FA3BC76906F6}"/>
              </a:ext>
            </a:extLst>
          </p:cNvPr>
          <p:cNvSpPr>
            <a:spLocks noGrp="1"/>
          </p:cNvSpPr>
          <p:nvPr>
            <p:ph idx="1"/>
          </p:nvPr>
        </p:nvSpPr>
        <p:spPr>
          <a:xfrm>
            <a:off x="1298448" y="2560320"/>
            <a:ext cx="5394960" cy="3291840"/>
          </a:xfrm>
        </p:spPr>
        <p:txBody>
          <a:bodyPr>
            <a:normAutofit/>
          </a:bodyPr>
          <a:lstStyle/>
          <a:p>
            <a:r>
              <a:rPr lang="en-US" dirty="0">
                <a:solidFill>
                  <a:schemeClr val="tx1"/>
                </a:solidFill>
              </a:rPr>
              <a:t>We see in three dimensions. Film, video and paper are two.</a:t>
            </a:r>
          </a:p>
          <a:p>
            <a:r>
              <a:rPr lang="en-US" dirty="0">
                <a:solidFill>
                  <a:schemeClr val="tx1"/>
                </a:solidFill>
              </a:rPr>
              <a:t>Depth becomes an illusion, and an illusion is something you construct on purpose.</a:t>
            </a:r>
          </a:p>
          <a:p>
            <a:r>
              <a:rPr lang="en-US" dirty="0">
                <a:solidFill>
                  <a:schemeClr val="tx1"/>
                </a:solidFill>
              </a:rPr>
              <a:t>Perspective is what your eye uses to reconstruct space from a flat image.</a:t>
            </a:r>
          </a:p>
        </p:txBody>
      </p:sp>
      <p:pic>
        <p:nvPicPr>
          <p:cNvPr id="4" name="Perspective example"/>
          <p:cNvPicPr>
            <a:picLocks noChangeAspect="1"/>
          </p:cNvPicPr>
          <p:nvPr/>
        </p:nvPicPr>
        <p:blipFill>
          <a:blip r:embed="rId3"/>
          <a:stretch>
            <a:fillRect/>
          </a:stretch>
        </p:blipFill>
        <p:spPr>
          <a:xfrm>
            <a:off x="7086600" y="2697480"/>
            <a:ext cx="3840480" cy="2560320"/>
          </a:xfrm>
          <a:prstGeom prst="rect">
            <a:avLst/>
          </a:prstGeom>
        </p:spPr>
      </p:pic>
    </p:spTree>
    <p:extLst>
      <p:ext uri="{BB962C8B-B14F-4D97-AF65-F5344CB8AC3E}">
        <p14:creationId xmlns:p14="http://schemas.microsoft.com/office/powerpoint/2010/main" val="24721470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2EF5C-2B72-41F0-B3B5-0B612BD04A5E}"/>
              </a:ext>
            </a:extLst>
          </p:cNvPr>
          <p:cNvSpPr>
            <a:spLocks noGrp="1"/>
          </p:cNvSpPr>
          <p:nvPr>
            <p:ph type="title"/>
          </p:nvPr>
        </p:nvSpPr>
        <p:spPr/>
        <p:txBody>
          <a:bodyPr/>
          <a:lstStyle/>
          <a:p>
            <a:r>
              <a:rPr lang="en-US" dirty="0"/>
              <a:t>You Do Not Need to Be Good at This to Be Good at This</a:t>
            </a:r>
          </a:p>
        </p:txBody>
      </p:sp>
      <p:sp>
        <p:nvSpPr>
          <p:cNvPr id="3" name="Content Placeholder 2">
            <a:extLst>
              <a:ext uri="{FF2B5EF4-FFF2-40B4-BE49-F238E27FC236}">
                <a16:creationId xmlns:a16="http://schemas.microsoft.com/office/drawing/2014/main" id="{F10934EF-5B0C-415F-A3C2-FA3BC76906F6}"/>
              </a:ext>
            </a:extLst>
          </p:cNvPr>
          <p:cNvSpPr>
            <a:spLocks noGrp="1"/>
          </p:cNvSpPr>
          <p:nvPr>
            <p:ph idx="1"/>
          </p:nvPr>
        </p:nvSpPr>
        <p:spPr/>
        <p:txBody>
          <a:bodyPr>
            <a:normAutofit/>
          </a:bodyPr>
          <a:lstStyle/>
          <a:p>
            <a:r>
              <a:rPr lang="en-US" dirty="0">
                <a:solidFill>
                  <a:schemeClr val="tx1"/>
                </a:solidFill>
              </a:rPr>
              <a:t>Six ways to create depth.</a:t>
            </a:r>
          </a:p>
          <a:p>
            <a:r>
              <a:rPr lang="en-US" dirty="0">
                <a:solidFill>
                  <a:schemeClr val="tx1"/>
                </a:solidFill>
              </a:rPr>
              <a:t>Five of them work no matter how well you draw.</a:t>
            </a:r>
          </a:p>
          <a:p>
            <a:r>
              <a:rPr lang="en-US" dirty="0">
                <a:solidFill>
                  <a:schemeClr val="tx1"/>
                </a:solidFill>
              </a:rPr>
              <a:t>The sixth, constructed linear perspective, is the only one that requires construction.</a:t>
            </a:r>
          </a:p>
          <a:p>
            <a:r>
              <a:rPr lang="en-US" dirty="0">
                <a:solidFill>
                  <a:schemeClr val="tx1"/>
                </a:solidFill>
              </a:rPr>
              <a:t>We are doing the five first, on purpose.</a:t>
            </a:r>
          </a:p>
        </p:txBody>
      </p:sp>
    </p:spTree>
    <p:extLst>
      <p:ext uri="{BB962C8B-B14F-4D97-AF65-F5344CB8AC3E}">
        <p14:creationId xmlns:p14="http://schemas.microsoft.com/office/powerpoint/2010/main" val="24721470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9544D-697C-4204-845F-935F61D5F522}"/>
              </a:ext>
            </a:extLst>
          </p:cNvPr>
          <p:cNvSpPr>
            <a:spLocks noGrp="1"/>
          </p:cNvSpPr>
          <p:nvPr>
            <p:ph type="title"/>
          </p:nvPr>
        </p:nvSpPr>
        <p:spPr/>
        <p:txBody>
          <a:bodyPr/>
          <a:lstStyle/>
          <a:p>
            <a:r>
              <a:rPr lang="en-US" dirty="0"/>
              <a:t>Perspective Changes Every Time the Camera Moves</a:t>
            </a:r>
          </a:p>
        </p:txBody>
      </p:sp>
      <p:sp>
        <p:nvSpPr>
          <p:cNvPr id="3" name="Content Placeholder 2">
            <a:extLst>
              <a:ext uri="{FF2B5EF4-FFF2-40B4-BE49-F238E27FC236}">
                <a16:creationId xmlns:a16="http://schemas.microsoft.com/office/drawing/2014/main" id="{AA55BF89-11CB-4B8C-BD56-32505D725057}"/>
              </a:ext>
            </a:extLst>
          </p:cNvPr>
          <p:cNvSpPr>
            <a:spLocks noGrp="1"/>
          </p:cNvSpPr>
          <p:nvPr>
            <p:ph idx="1"/>
          </p:nvPr>
        </p:nvSpPr>
        <p:spPr>
          <a:xfrm>
            <a:off x="1295401" y="2556932"/>
            <a:ext cx="9601196" cy="3318936"/>
          </a:xfrm>
        </p:spPr>
        <p:txBody>
          <a:bodyPr>
            <a:normAutofit/>
          </a:bodyPr>
          <a:lstStyle/>
          <a:p>
            <a:r>
              <a:rPr lang="en-US" dirty="0">
                <a:solidFill>
                  <a:schemeClr val="tx1"/>
                </a:solidFill>
              </a:rPr>
              <a:t>Lens choice and camera-to-subject distance are both perspective decisions.</a:t>
            </a:r>
          </a:p>
          <a:p>
            <a:r>
              <a:rPr lang="en-US" dirty="0">
                <a:solidFill>
                  <a:schemeClr val="tx1"/>
                </a:solidFill>
              </a:rPr>
              <a:t>Move the camera and you have re-framed the shot, and changed the perspective in it.</a:t>
            </a:r>
          </a:p>
          <a:p>
            <a:r>
              <a:rPr lang="en-US" dirty="0">
                <a:solidFill>
                  <a:schemeClr val="tx1"/>
                </a:solidFill>
              </a:rPr>
              <a:t>Which means perspective is not a drawing topic. It is a camera topic you happen to execute with a pencil.</a:t>
            </a:r>
          </a:p>
        </p:txBody>
      </p:sp>
    </p:spTree>
    <p:extLst>
      <p:ext uri="{BB962C8B-B14F-4D97-AF65-F5344CB8AC3E}">
        <p14:creationId xmlns:p14="http://schemas.microsoft.com/office/powerpoint/2010/main" val="40622860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DF7D6-BE27-43BB-B6F9-33CD52CDE55C}"/>
              </a:ext>
            </a:extLst>
          </p:cNvPr>
          <p:cNvSpPr>
            <a:spLocks noGrp="1"/>
          </p:cNvSpPr>
          <p:nvPr>
            <p:ph type="title"/>
          </p:nvPr>
        </p:nvSpPr>
        <p:spPr/>
        <p:txBody>
          <a:bodyPr>
            <a:normAutofit/>
          </a:bodyPr>
          <a:lstStyle/>
          <a:p>
            <a:r>
              <a:rPr lang="en-US" dirty="0"/>
              <a:t>Overlap</a:t>
            </a:r>
          </a:p>
        </p:txBody>
      </p:sp>
      <p:sp>
        <p:nvSpPr>
          <p:cNvPr id="3" name="Content Placeholder 2">
            <a:extLst>
              <a:ext uri="{FF2B5EF4-FFF2-40B4-BE49-F238E27FC236}">
                <a16:creationId xmlns:a16="http://schemas.microsoft.com/office/drawing/2014/main" id="{2C54E48A-1E58-45FD-B47E-8CEEF5681B97}"/>
              </a:ext>
            </a:extLst>
          </p:cNvPr>
          <p:cNvSpPr>
            <a:spLocks noGrp="1"/>
          </p:cNvSpPr>
          <p:nvPr>
            <p:ph idx="1"/>
          </p:nvPr>
        </p:nvSpPr>
        <p:spPr>
          <a:xfrm>
            <a:off x="6424612" y="2600324"/>
            <a:ext cx="4676774" cy="3571875"/>
          </a:xfrm>
        </p:spPr>
        <p:txBody>
          <a:bodyPr>
            <a:normAutofit/>
          </a:bodyPr>
          <a:lstStyle/>
          <a:p>
            <a:pPr algn="r"/>
            <a:r>
              <a:rPr lang="en-US" dirty="0">
                <a:solidFill>
                  <a:schemeClr val="tx1"/>
                </a:solidFill>
              </a:rPr>
              <a:t>One object in front of another.</a:t>
            </a:r>
          </a:p>
          <a:p>
            <a:pPr algn="r"/>
            <a:r>
              <a:rPr lang="en-US" dirty="0">
                <a:solidFill>
                  <a:schemeClr val="tx1"/>
                </a:solidFill>
              </a:rPr>
              <a:t>The nearer object is complete. The farther one is interrupted.</a:t>
            </a:r>
          </a:p>
          <a:p>
            <a:pPr algn="r"/>
            <a:r>
              <a:rPr lang="en-US" dirty="0">
                <a:solidFill>
                  <a:schemeClr val="tx1"/>
                </a:solidFill>
              </a:rPr>
              <a:t>Probably the cheapest depth cue there is, and it works at any skill level.</a:t>
            </a:r>
          </a:p>
        </p:txBody>
      </p:sp>
      <p:pic>
        <p:nvPicPr>
          <p:cNvPr id="3074" name="Picture 2" descr="Image result for sunset behind mountains">
            <a:extLst>
              <a:ext uri="{FF2B5EF4-FFF2-40B4-BE49-F238E27FC236}">
                <a16:creationId xmlns:a16="http://schemas.microsoft.com/office/drawing/2014/main" id="{51E6F0AB-54D0-4B52-ADBE-487525FDFA3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7611"/>
          <a:stretch/>
        </p:blipFill>
        <p:spPr bwMode="auto">
          <a:xfrm>
            <a:off x="1033463" y="2600324"/>
            <a:ext cx="5191125" cy="344328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29241248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D5BD0E-9901-45BD-BE6B-C9C67EDD1DC9}"/>
              </a:ext>
            </a:extLst>
          </p:cNvPr>
          <p:cNvSpPr>
            <a:spLocks noGrp="1"/>
          </p:cNvSpPr>
          <p:nvPr>
            <p:ph type="title"/>
          </p:nvPr>
        </p:nvSpPr>
        <p:spPr/>
        <p:txBody>
          <a:bodyPr/>
          <a:lstStyle/>
          <a:p>
            <a:r>
              <a:rPr lang="en-US" dirty="0"/>
              <a:t>Size and Scale</a:t>
            </a:r>
          </a:p>
        </p:txBody>
      </p:sp>
      <p:sp>
        <p:nvSpPr>
          <p:cNvPr id="3" name="Content Placeholder 2">
            <a:extLst>
              <a:ext uri="{FF2B5EF4-FFF2-40B4-BE49-F238E27FC236}">
                <a16:creationId xmlns:a16="http://schemas.microsoft.com/office/drawing/2014/main" id="{92BF1B6E-B9A0-407E-9E49-E27FA5D8FDBC}"/>
              </a:ext>
            </a:extLst>
          </p:cNvPr>
          <p:cNvSpPr>
            <a:spLocks noGrp="1"/>
          </p:cNvSpPr>
          <p:nvPr>
            <p:ph idx="1"/>
          </p:nvPr>
        </p:nvSpPr>
        <p:spPr>
          <a:xfrm>
            <a:off x="1295401" y="2556932"/>
            <a:ext cx="7091361" cy="3318936"/>
          </a:xfrm>
        </p:spPr>
        <p:txBody>
          <a:bodyPr/>
          <a:lstStyle/>
          <a:p>
            <a:r>
              <a:rPr lang="en-US" dirty="0"/>
              <a:t>Closer is bigger. Farther is smaller.</a:t>
            </a:r>
          </a:p>
          <a:p>
            <a:r>
              <a:rPr lang="en-US" dirty="0"/>
              <a:t>Scale also tells the audience how big the thing itself is: the horse beside the castle.</a:t>
            </a:r>
          </a:p>
          <a:p>
            <a:r>
              <a:rPr lang="en-US" dirty="0"/>
              <a:t>Two identical shapes at different sizes read as the same object at different distances.</a:t>
            </a:r>
          </a:p>
        </p:txBody>
      </p:sp>
      <p:pic>
        <p:nvPicPr>
          <p:cNvPr id="8194" name="Picture 2" descr="Image result for scale optical illusion">
            <a:extLst>
              <a:ext uri="{FF2B5EF4-FFF2-40B4-BE49-F238E27FC236}">
                <a16:creationId xmlns:a16="http://schemas.microsoft.com/office/drawing/2014/main" id="{C64352BF-BC2F-4192-BB3E-25D53F41EF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01098" y="2556932"/>
            <a:ext cx="2095500" cy="314325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3345798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1376B-40B4-41C0-9240-6D227347FF03}"/>
              </a:ext>
            </a:extLst>
          </p:cNvPr>
          <p:cNvSpPr>
            <a:spLocks noGrp="1"/>
          </p:cNvSpPr>
          <p:nvPr>
            <p:ph type="title"/>
          </p:nvPr>
        </p:nvSpPr>
        <p:spPr>
          <a:xfrm>
            <a:off x="1295402" y="982132"/>
            <a:ext cx="9601196" cy="1303867"/>
          </a:xfrm>
        </p:spPr>
        <p:txBody>
          <a:bodyPr/>
          <a:lstStyle/>
          <a:p>
            <a:r>
              <a:rPr lang="en-US" dirty="0"/>
              <a:t>Atmospheric Perspective</a:t>
            </a:r>
          </a:p>
        </p:txBody>
      </p:sp>
      <p:sp>
        <p:nvSpPr>
          <p:cNvPr id="3" name="Content Placeholder 2">
            <a:extLst>
              <a:ext uri="{FF2B5EF4-FFF2-40B4-BE49-F238E27FC236}">
                <a16:creationId xmlns:a16="http://schemas.microsoft.com/office/drawing/2014/main" id="{D10DDA52-389F-4C0D-994A-9B3846CD7753}"/>
              </a:ext>
            </a:extLst>
          </p:cNvPr>
          <p:cNvSpPr>
            <a:spLocks noGrp="1"/>
          </p:cNvSpPr>
          <p:nvPr>
            <p:ph idx="1"/>
          </p:nvPr>
        </p:nvSpPr>
        <p:spPr>
          <a:xfrm>
            <a:off x="6229255" y="2485622"/>
            <a:ext cx="5181425" cy="2034862"/>
          </a:xfrm>
        </p:spPr>
        <p:txBody>
          <a:bodyPr>
            <a:normAutofit fontScale="92500" lnSpcReduction="10000"/>
          </a:bodyPr>
          <a:lstStyle/>
          <a:p>
            <a:r>
              <a:rPr lang="en-US" dirty="0">
                <a:solidFill>
                  <a:schemeClr val="tx1"/>
                </a:solidFill>
              </a:rPr>
              <a:t>Distance means haze: particles of dust and moisture between you and the subject.</a:t>
            </a:r>
          </a:p>
          <a:p>
            <a:r>
              <a:rPr lang="en-US" dirty="0">
                <a:solidFill>
                  <a:schemeClr val="tx1"/>
                </a:solidFill>
              </a:rPr>
              <a:t>Far away: less contrast, lighter value, cooler and bluer.</a:t>
            </a:r>
          </a:p>
          <a:p>
            <a:r>
              <a:rPr lang="en-US" dirty="0">
                <a:solidFill>
                  <a:schemeClr val="tx1"/>
                </a:solidFill>
              </a:rPr>
              <a:t>Near: darker, higher contrast, warmer.</a:t>
            </a:r>
          </a:p>
          <a:p>
            <a:r>
              <a:rPr lang="en-US" dirty="0">
                <a:solidFill>
                  <a:schemeClr val="tx1"/>
                </a:solidFill>
              </a:rPr>
              <a:t>The Lord of the Rings: The Two Towers. The Dead Marshes are built on this.</a:t>
            </a:r>
          </a:p>
        </p:txBody>
      </p:sp>
      <p:pic>
        <p:nvPicPr>
          <p:cNvPr id="16386" name="Picture 2" descr="ÐÐ¾Ð²Ð¾ÑÑÐ¸">
            <a:extLst>
              <a:ext uri="{FF2B5EF4-FFF2-40B4-BE49-F238E27FC236}">
                <a16:creationId xmlns:a16="http://schemas.microsoft.com/office/drawing/2014/main" id="{9E84A00D-0207-4A86-8140-5503CD16CE1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4930" b="51361"/>
          <a:stretch/>
        </p:blipFill>
        <p:spPr bwMode="auto">
          <a:xfrm>
            <a:off x="914400" y="2532888"/>
            <a:ext cx="4297680" cy="1691640"/>
          </a:xfrm>
          <a:prstGeom prst="rect">
            <a:avLst/>
          </a:prstGeom>
          <a:noFill/>
          <a:extLst>
            <a:ext uri="{909E8E84-426E-40DD-AFC4-6F175D3DCCD1}">
              <a14:hiddenFill xmlns:a14="http://schemas.microsoft.com/office/drawing/2010/main">
                <a:solidFill>
                  <a:srgbClr val="FFFFFF"/>
                </a:solidFill>
              </a14:hiddenFill>
            </a:ext>
          </a:extLst>
        </p:spPr>
      </p:pic>
      <p:pic>
        <p:nvPicPr>
          <p:cNvPr id="16388" name="Picture 4" descr="Image result for grand canyon">
            <a:extLst>
              <a:ext uri="{FF2B5EF4-FFF2-40B4-BE49-F238E27FC236}">
                <a16:creationId xmlns:a16="http://schemas.microsoft.com/office/drawing/2014/main" id="{9D4DAE34-CFC2-4CD2-A196-986F9E4C6D0D}"/>
              </a:ext>
            </a:extLst>
          </p:cNvPr>
          <p:cNvPicPr>
            <a:picLocks noChangeAspect="1" noChangeArrowheads="1"/>
          </p:cNvPicPr>
          <p:nvPr/>
        </p:nvPicPr>
        <p:blipFill rotWithShape="1">
          <a:blip r:embed="rId4" cstate="hqprint">
            <a:extLst>
              <a:ext uri="{28A0092B-C50C-407E-A947-70E740481C1C}">
                <a14:useLocalDpi xmlns:a14="http://schemas.microsoft.com/office/drawing/2010/main" val="0"/>
              </a:ext>
            </a:extLst>
          </a:blip>
          <a:srcRect t="15979" b="25978"/>
          <a:stretch/>
        </p:blipFill>
        <p:spPr bwMode="auto">
          <a:xfrm>
            <a:off x="914400" y="4343400"/>
            <a:ext cx="4297680" cy="1874520"/>
          </a:xfrm>
          <a:prstGeom prst="rect">
            <a:avLst/>
          </a:prstGeom>
          <a:noFill/>
          <a:extLst>
            <a:ext uri="{909E8E84-426E-40DD-AFC4-6F175D3DCCD1}">
              <a14:hiddenFill xmlns:a14="http://schemas.microsoft.com/office/drawing/2010/main">
                <a:solidFill>
                  <a:srgbClr val="FFFFFF"/>
                </a:solidFill>
              </a14:hiddenFill>
            </a:ext>
          </a:extLst>
        </p:spPr>
      </p:pic>
      <p:pic>
        <p:nvPicPr>
          <p:cNvPr id="16389" name="Dead marshes"/>
          <p:cNvPicPr>
            <a:picLocks noChangeAspect="1"/>
          </p:cNvPicPr>
          <p:nvPr/>
        </p:nvPicPr>
        <p:blipFill>
          <a:blip r:embed="rId5"/>
          <a:stretch>
            <a:fillRect/>
          </a:stretch>
        </p:blipFill>
        <p:spPr>
          <a:xfrm>
            <a:off x="6227064" y="4681728"/>
            <a:ext cx="4663440" cy="1737360"/>
          </a:xfrm>
          <a:prstGeom prst="rect">
            <a:avLst/>
          </a:prstGeom>
        </p:spPr>
      </p:pic>
    </p:spTree>
    <p:extLst>
      <p:ext uri="{BB962C8B-B14F-4D97-AF65-F5344CB8AC3E}">
        <p14:creationId xmlns:p14="http://schemas.microsoft.com/office/powerpoint/2010/main" val="26122848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2EF5C-2B72-41F0-B3B5-0B612BD04A5E}"/>
              </a:ext>
            </a:extLst>
          </p:cNvPr>
          <p:cNvSpPr>
            <a:spLocks noGrp="1"/>
          </p:cNvSpPr>
          <p:nvPr>
            <p:ph type="title"/>
          </p:nvPr>
        </p:nvSpPr>
        <p:spPr/>
        <p:txBody>
          <a:bodyPr/>
          <a:lstStyle/>
          <a:p>
            <a:r>
              <a:rPr lang="en-US" dirty="0"/>
              <a:t>Value as Depth</a:t>
            </a:r>
          </a:p>
        </p:txBody>
      </p:sp>
      <p:sp>
        <p:nvSpPr>
          <p:cNvPr id="3" name="Content Placeholder 2">
            <a:extLst>
              <a:ext uri="{FF2B5EF4-FFF2-40B4-BE49-F238E27FC236}">
                <a16:creationId xmlns:a16="http://schemas.microsoft.com/office/drawing/2014/main" id="{F10934EF-5B0C-415F-A3C2-FA3BC76906F6}"/>
              </a:ext>
            </a:extLst>
          </p:cNvPr>
          <p:cNvSpPr>
            <a:spLocks noGrp="1"/>
          </p:cNvSpPr>
          <p:nvPr>
            <p:ph idx="1"/>
          </p:nvPr>
        </p:nvSpPr>
        <p:spPr/>
        <p:txBody>
          <a:bodyPr>
            <a:normAutofit/>
          </a:bodyPr>
          <a:lstStyle/>
          <a:p>
            <a:r>
              <a:rPr lang="en-US" dirty="0">
                <a:solidFill>
                  <a:schemeClr val="tx1"/>
                </a:solidFill>
              </a:rPr>
              <a:t>Near: darker, higher contrast.</a:t>
            </a:r>
          </a:p>
          <a:p>
            <a:r>
              <a:rPr lang="en-US" dirty="0">
                <a:solidFill>
                  <a:schemeClr val="tx1"/>
                </a:solidFill>
              </a:rPr>
              <a:t>Far: lighter, lower contrast.</a:t>
            </a:r>
          </a:p>
          <a:p>
            <a:r>
              <a:rPr lang="en-US" dirty="0">
                <a:solidFill>
                  <a:schemeClr val="tx1"/>
                </a:solidFill>
              </a:rPr>
              <a:t>This is the cheapest depth cue you own, and it works even if your perspective is wrong.</a:t>
            </a:r>
          </a:p>
        </p:txBody>
      </p:sp>
    </p:spTree>
    <p:extLst>
      <p:ext uri="{BB962C8B-B14F-4D97-AF65-F5344CB8AC3E}">
        <p14:creationId xmlns:p14="http://schemas.microsoft.com/office/powerpoint/2010/main" val="24721470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DF7D6-BE27-43BB-B6F9-33CD52CDE55C}"/>
              </a:ext>
            </a:extLst>
          </p:cNvPr>
          <p:cNvSpPr>
            <a:spLocks noGrp="1"/>
          </p:cNvSpPr>
          <p:nvPr>
            <p:ph type="title"/>
          </p:nvPr>
        </p:nvSpPr>
        <p:spPr/>
        <p:txBody>
          <a:bodyPr/>
          <a:lstStyle/>
          <a:p>
            <a:r>
              <a:rPr lang="en-US" dirty="0"/>
              <a:t>Texture Gradient</a:t>
            </a:r>
          </a:p>
        </p:txBody>
      </p:sp>
      <p:sp>
        <p:nvSpPr>
          <p:cNvPr id="3" name="Content Placeholder 2">
            <a:extLst>
              <a:ext uri="{FF2B5EF4-FFF2-40B4-BE49-F238E27FC236}">
                <a16:creationId xmlns:a16="http://schemas.microsoft.com/office/drawing/2014/main" id="{2C54E48A-1E58-45FD-B47E-8CEEF5681B97}"/>
              </a:ext>
            </a:extLst>
          </p:cNvPr>
          <p:cNvSpPr>
            <a:spLocks noGrp="1"/>
          </p:cNvSpPr>
          <p:nvPr>
            <p:ph idx="1"/>
          </p:nvPr>
        </p:nvSpPr>
        <p:spPr>
          <a:xfrm>
            <a:off x="1295401" y="2743200"/>
            <a:ext cx="4119562" cy="3132668"/>
          </a:xfrm>
        </p:spPr>
        <p:txBody>
          <a:bodyPr>
            <a:normAutofit lnSpcReduction="10000"/>
          </a:bodyPr>
          <a:lstStyle/>
          <a:p>
            <a:pPr marL="0" indent="0">
              <a:buNone/>
            </a:pPr>
            <a:r>
              <a:rPr lang="en-US" dirty="0">
                <a:solidFill>
                  <a:schemeClr val="tx1"/>
                </a:solidFill>
              </a:rPr>
              <a:t>Most surfaces have texture: walls, roads, fields, water, crowds.</a:t>
            </a:r>
          </a:p>
          <a:p>
            <a:pPr marL="0" indent="0">
              <a:buNone/>
            </a:pPr>
            <a:r>
              <a:rPr lang="en-US" dirty="0">
                <a:solidFill>
                  <a:schemeClr val="tx1"/>
                </a:solidFill>
              </a:rPr>
              <a:t>Close up, the texture is coarse and you can see individual units.</a:t>
            </a:r>
          </a:p>
          <a:p>
            <a:pPr marL="0" indent="0">
              <a:buNone/>
            </a:pPr>
            <a:r>
              <a:rPr lang="en-US" dirty="0">
                <a:solidFill>
                  <a:schemeClr val="tx1"/>
                </a:solidFill>
              </a:rPr>
              <a:t>With distance it gets finer and smoother until it disappears into an even tone.</a:t>
            </a:r>
          </a:p>
        </p:txBody>
      </p:sp>
      <p:pic>
        <p:nvPicPr>
          <p:cNvPr id="5124" name="Picture 4" descr="Image result for texture gradient">
            <a:extLst>
              <a:ext uri="{FF2B5EF4-FFF2-40B4-BE49-F238E27FC236}">
                <a16:creationId xmlns:a16="http://schemas.microsoft.com/office/drawing/2014/main" id="{93DAFC5B-DFFC-4F41-B07B-9187604146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78224" y="2600325"/>
            <a:ext cx="5823188" cy="327554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9581251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2EF5C-2B72-41F0-B3B5-0B612BD04A5E}"/>
              </a:ext>
            </a:extLst>
          </p:cNvPr>
          <p:cNvSpPr>
            <a:spLocks noGrp="1"/>
          </p:cNvSpPr>
          <p:nvPr>
            <p:ph type="title"/>
          </p:nvPr>
        </p:nvSpPr>
        <p:spPr/>
        <p:txBody>
          <a:bodyPr/>
          <a:lstStyle/>
          <a:p>
            <a:r>
              <a:rPr lang="en-US" dirty="0"/>
              <a:t>Foreground, Midground, Background</a:t>
            </a:r>
          </a:p>
        </p:txBody>
      </p:sp>
      <p:sp>
        <p:nvSpPr>
          <p:cNvPr id="3" name="Content Placeholder 2">
            <a:extLst>
              <a:ext uri="{FF2B5EF4-FFF2-40B4-BE49-F238E27FC236}">
                <a16:creationId xmlns:a16="http://schemas.microsoft.com/office/drawing/2014/main" id="{F10934EF-5B0C-415F-A3C2-FA3BC76906F6}"/>
              </a:ext>
            </a:extLst>
          </p:cNvPr>
          <p:cNvSpPr>
            <a:spLocks noGrp="1"/>
          </p:cNvSpPr>
          <p:nvPr>
            <p:ph idx="1"/>
          </p:nvPr>
        </p:nvSpPr>
        <p:spPr/>
        <p:txBody>
          <a:bodyPr>
            <a:normAutofit/>
          </a:bodyPr>
          <a:lstStyle/>
          <a:p>
            <a:r>
              <a:rPr lang="en-US" dirty="0">
                <a:solidFill>
                  <a:schemeClr val="tx1"/>
                </a:solidFill>
              </a:rPr>
              <a:t>Three planes is enough. Most student panels use one.</a:t>
            </a:r>
          </a:p>
          <a:p>
            <a:r>
              <a:rPr lang="en-US" dirty="0">
                <a:solidFill>
                  <a:schemeClr val="tx1"/>
                </a:solidFill>
              </a:rPr>
              <a:t>Something near, something at the subject's distance, something far.</a:t>
            </a:r>
          </a:p>
          <a:p>
            <a:r>
              <a:rPr lang="en-US" dirty="0">
                <a:solidFill>
                  <a:schemeClr val="tx1"/>
                </a:solidFill>
              </a:rPr>
              <a:t>Overlap them, separate them by value, and you have depth without a single construction line.</a:t>
            </a:r>
          </a:p>
        </p:txBody>
      </p:sp>
    </p:spTree>
    <p:extLst>
      <p:ext uri="{BB962C8B-B14F-4D97-AF65-F5344CB8AC3E}">
        <p14:creationId xmlns:p14="http://schemas.microsoft.com/office/powerpoint/2010/main" val="24721470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9C4E8-DAD5-4FBC-AA55-4918F5430ACD}"/>
              </a:ext>
            </a:extLst>
          </p:cNvPr>
          <p:cNvSpPr>
            <a:spLocks noGrp="1"/>
          </p:cNvSpPr>
          <p:nvPr>
            <p:ph type="title"/>
          </p:nvPr>
        </p:nvSpPr>
        <p:spPr/>
        <p:txBody>
          <a:bodyPr/>
          <a:lstStyle/>
          <a:p>
            <a:r>
              <a:rPr lang="en-US" dirty="0"/>
              <a:t>Picture Plane</a:t>
            </a:r>
          </a:p>
        </p:txBody>
      </p:sp>
      <p:sp>
        <p:nvSpPr>
          <p:cNvPr id="3" name="Content Placeholder 2">
            <a:extLst>
              <a:ext uri="{FF2B5EF4-FFF2-40B4-BE49-F238E27FC236}">
                <a16:creationId xmlns:a16="http://schemas.microsoft.com/office/drawing/2014/main" id="{4D66659F-F451-4EBB-A9AA-86E553B75941}"/>
              </a:ext>
            </a:extLst>
          </p:cNvPr>
          <p:cNvSpPr>
            <a:spLocks noGrp="1"/>
          </p:cNvSpPr>
          <p:nvPr>
            <p:ph idx="1"/>
          </p:nvPr>
        </p:nvSpPr>
        <p:spPr>
          <a:xfrm>
            <a:off x="1295401" y="2556932"/>
            <a:ext cx="5401613" cy="3318936"/>
          </a:xfrm>
        </p:spPr>
        <p:txBody>
          <a:bodyPr/>
          <a:lstStyle/>
          <a:p>
            <a:r>
              <a:rPr lang="en-US" dirty="0"/>
              <a:t>Think of it as a window between you and the world.</a:t>
            </a:r>
          </a:p>
          <a:p>
            <a:r>
              <a:rPr lang="en-US" dirty="0"/>
              <a:t>What you draw is what you would trace on that glass.</a:t>
            </a:r>
          </a:p>
          <a:p>
            <a:r>
              <a:rPr lang="en-US" dirty="0"/>
              <a:t>Your line of sight (your eyeline) points through it at the subject.</a:t>
            </a:r>
          </a:p>
        </p:txBody>
      </p:sp>
      <p:pic>
        <p:nvPicPr>
          <p:cNvPr id="4102" name="Picture 6" descr="https://i1.wp.com/www.realistacademy.com/wp-content/uploads/2015/11/Picture-Plane1.jpg?ssl=1">
            <a:extLst>
              <a:ext uri="{FF2B5EF4-FFF2-40B4-BE49-F238E27FC236}">
                <a16:creationId xmlns:a16="http://schemas.microsoft.com/office/drawing/2014/main" id="{4A3D76A9-4EA4-4409-BAA8-8911B3508B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32602" y="2556932"/>
            <a:ext cx="4063996" cy="22859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65205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9C4E8-DAD5-4FBC-AA55-4918F5430ACD}"/>
              </a:ext>
            </a:extLst>
          </p:cNvPr>
          <p:cNvSpPr>
            <a:spLocks noGrp="1"/>
          </p:cNvSpPr>
          <p:nvPr>
            <p:ph type="title"/>
          </p:nvPr>
        </p:nvSpPr>
        <p:spPr/>
        <p:txBody>
          <a:bodyPr/>
          <a:lstStyle/>
          <a:p>
            <a:r>
              <a:rPr lang="en-US" dirty="0"/>
              <a:t>Horizon Line = Eye Level</a:t>
            </a:r>
          </a:p>
        </p:txBody>
      </p:sp>
      <p:sp>
        <p:nvSpPr>
          <p:cNvPr id="3" name="Content Placeholder 2">
            <a:extLst>
              <a:ext uri="{FF2B5EF4-FFF2-40B4-BE49-F238E27FC236}">
                <a16:creationId xmlns:a16="http://schemas.microsoft.com/office/drawing/2014/main" id="{4D66659F-F451-4EBB-A9AA-86E553B75941}"/>
              </a:ext>
            </a:extLst>
          </p:cNvPr>
          <p:cNvSpPr>
            <a:spLocks noGrp="1"/>
          </p:cNvSpPr>
          <p:nvPr>
            <p:ph idx="1"/>
          </p:nvPr>
        </p:nvSpPr>
        <p:spPr>
          <a:xfrm>
            <a:off x="1295401" y="2556932"/>
            <a:ext cx="4800599" cy="3318936"/>
          </a:xfrm>
        </p:spPr>
        <p:txBody>
          <a:bodyPr>
            <a:normAutofit/>
          </a:bodyPr>
          <a:lstStyle/>
          <a:p>
            <a:r>
              <a:rPr lang="en-US" dirty="0"/>
              <a:t>The horizon line is always at the viewer's eye level. Always.</a:t>
            </a:r>
          </a:p>
          <a:p>
            <a:r>
              <a:rPr lang="en-US" dirty="0"/>
              <a:t>Where an object sits relative to it tells you whether the shot is high, low or neutral.</a:t>
            </a:r>
          </a:p>
          <a:p>
            <a:r>
              <a:rPr lang="en-US" dirty="0"/>
              <a:t>Move the horizon line and you have moved the camera.</a:t>
            </a:r>
          </a:p>
        </p:txBody>
      </p:sp>
      <p:pic>
        <p:nvPicPr>
          <p:cNvPr id="6148" name="Picture 4" descr="Image result for shoreline horizon line drawing">
            <a:extLst>
              <a:ext uri="{FF2B5EF4-FFF2-40B4-BE49-F238E27FC236}">
                <a16:creationId xmlns:a16="http://schemas.microsoft.com/office/drawing/2014/main" id="{45142E0C-C9BE-48BB-9DD4-D775FDA2477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7143"/>
          <a:stretch/>
        </p:blipFill>
        <p:spPr bwMode="auto">
          <a:xfrm>
            <a:off x="6096000" y="2573030"/>
            <a:ext cx="4941548" cy="330283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28453292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9C4E8-DAD5-4FBC-AA55-4918F5430ACD}"/>
              </a:ext>
            </a:extLst>
          </p:cNvPr>
          <p:cNvSpPr>
            <a:spLocks noGrp="1"/>
          </p:cNvSpPr>
          <p:nvPr>
            <p:ph type="title"/>
          </p:nvPr>
        </p:nvSpPr>
        <p:spPr/>
        <p:txBody>
          <a:bodyPr/>
          <a:lstStyle/>
          <a:p>
            <a:r>
              <a:rPr lang="en-US" dirty="0"/>
              <a:t>Vanishing Point</a:t>
            </a:r>
          </a:p>
        </p:txBody>
      </p:sp>
      <p:sp>
        <p:nvSpPr>
          <p:cNvPr id="3" name="Content Placeholder 2">
            <a:extLst>
              <a:ext uri="{FF2B5EF4-FFF2-40B4-BE49-F238E27FC236}">
                <a16:creationId xmlns:a16="http://schemas.microsoft.com/office/drawing/2014/main" id="{4D66659F-F451-4EBB-A9AA-86E553B75941}"/>
              </a:ext>
            </a:extLst>
          </p:cNvPr>
          <p:cNvSpPr>
            <a:spLocks noGrp="1"/>
          </p:cNvSpPr>
          <p:nvPr>
            <p:ph idx="1"/>
          </p:nvPr>
        </p:nvSpPr>
        <p:spPr>
          <a:xfrm>
            <a:off x="1295401" y="2556932"/>
            <a:ext cx="4800599" cy="3318936"/>
          </a:xfrm>
        </p:spPr>
        <p:txBody>
          <a:bodyPr>
            <a:normAutofit/>
          </a:bodyPr>
          <a:lstStyle/>
          <a:p>
            <a:r>
              <a:rPr lang="en-US" dirty="0">
                <a:solidFill>
                  <a:schemeClr val="tx1"/>
                </a:solidFill>
              </a:rPr>
              <a:t>The point on the horizon where parallel lines appear to converge.</a:t>
            </a:r>
          </a:p>
          <a:p>
            <a:r>
              <a:rPr lang="en-US" dirty="0">
                <a:solidFill>
                  <a:schemeClr val="tx1"/>
                </a:solidFill>
              </a:rPr>
              <a:t>Objects parallel to each other share a vanishing point.</a:t>
            </a:r>
          </a:p>
          <a:p>
            <a:r>
              <a:rPr lang="en-US" dirty="0">
                <a:solidFill>
                  <a:schemeClr val="tx1"/>
                </a:solidFill>
              </a:rPr>
              <a:t>Objects at different angles get their own.</a:t>
            </a:r>
          </a:p>
        </p:txBody>
      </p:sp>
      <p:pic>
        <p:nvPicPr>
          <p:cNvPr id="6148" name="Picture 4" descr="Image result for shoreline horizon line drawing">
            <a:extLst>
              <a:ext uri="{FF2B5EF4-FFF2-40B4-BE49-F238E27FC236}">
                <a16:creationId xmlns:a16="http://schemas.microsoft.com/office/drawing/2014/main" id="{45142E0C-C9BE-48BB-9DD4-D775FDA2477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7143"/>
          <a:stretch/>
        </p:blipFill>
        <p:spPr bwMode="auto">
          <a:xfrm>
            <a:off x="6096000" y="2573030"/>
            <a:ext cx="4941548" cy="330283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6" name="Graphic 5" descr="Close">
            <a:extLst>
              <a:ext uri="{FF2B5EF4-FFF2-40B4-BE49-F238E27FC236}">
                <a16:creationId xmlns:a16="http://schemas.microsoft.com/office/drawing/2014/main" id="{5DF0C28B-0C99-4884-8C17-374FD033244E}"/>
              </a:ext>
            </a:extLst>
          </p:cNvPr>
          <p:cNvPicPr>
            <a:picLocks noChangeAspect="1"/>
          </p:cNvPicPr>
          <p:nvPr/>
        </p:nvPicPr>
        <p:blipFill>
          <a:blip r:embed="rId4"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885267" y="3628622"/>
            <a:ext cx="914400" cy="914400"/>
          </a:xfrm>
          <a:prstGeom prst="rect">
            <a:avLst/>
          </a:prstGeom>
        </p:spPr>
      </p:pic>
      <p:cxnSp>
        <p:nvCxnSpPr>
          <p:cNvPr id="8" name="Straight Connector 7">
            <a:extLst>
              <a:ext uri="{FF2B5EF4-FFF2-40B4-BE49-F238E27FC236}">
                <a16:creationId xmlns:a16="http://schemas.microsoft.com/office/drawing/2014/main" id="{DC4C77E6-6594-46FC-A92A-861B7209E415}"/>
              </a:ext>
            </a:extLst>
          </p:cNvPr>
          <p:cNvCxnSpPr/>
          <p:nvPr/>
        </p:nvCxnSpPr>
        <p:spPr>
          <a:xfrm>
            <a:off x="8332631" y="4095482"/>
            <a:ext cx="2563967" cy="1796483"/>
          </a:xfrm>
          <a:prstGeom prst="line">
            <a:avLst/>
          </a:prstGeom>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90597FC5-D193-4307-AF3E-4F03562E6EC9}"/>
              </a:ext>
            </a:extLst>
          </p:cNvPr>
          <p:cNvCxnSpPr>
            <a:cxnSpLocks/>
          </p:cNvCxnSpPr>
          <p:nvPr/>
        </p:nvCxnSpPr>
        <p:spPr>
          <a:xfrm flipV="1">
            <a:off x="7885267" y="4085823"/>
            <a:ext cx="457200" cy="1790044"/>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5F4B85B2-9E64-483B-869F-F0177E0588D7}"/>
              </a:ext>
            </a:extLst>
          </p:cNvPr>
          <p:cNvCxnSpPr/>
          <p:nvPr/>
        </p:nvCxnSpPr>
        <p:spPr>
          <a:xfrm flipV="1">
            <a:off x="6194738" y="4085822"/>
            <a:ext cx="2147729" cy="1561446"/>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7FCA6D62-5B57-428E-A180-5B3EB1599AF2}"/>
              </a:ext>
            </a:extLst>
          </p:cNvPr>
          <p:cNvCxnSpPr>
            <a:cxnSpLocks/>
          </p:cNvCxnSpPr>
          <p:nvPr/>
        </p:nvCxnSpPr>
        <p:spPr>
          <a:xfrm flipV="1">
            <a:off x="8332631" y="2963812"/>
            <a:ext cx="2471399" cy="1122010"/>
          </a:xfrm>
          <a:prstGeom prst="line">
            <a:avLst/>
          </a:prstGeom>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20537AC9-0A06-4D76-B741-958BB4D10B79}"/>
              </a:ext>
            </a:extLst>
          </p:cNvPr>
          <p:cNvCxnSpPr>
            <a:cxnSpLocks/>
          </p:cNvCxnSpPr>
          <p:nvPr/>
        </p:nvCxnSpPr>
        <p:spPr>
          <a:xfrm>
            <a:off x="6096000" y="2643687"/>
            <a:ext cx="2236631" cy="1458233"/>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328524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1376B-40B4-41C0-9240-6D227347FF03}"/>
              </a:ext>
            </a:extLst>
          </p:cNvPr>
          <p:cNvSpPr>
            <a:spLocks noGrp="1"/>
          </p:cNvSpPr>
          <p:nvPr>
            <p:ph type="title"/>
          </p:nvPr>
        </p:nvSpPr>
        <p:spPr/>
        <p:txBody>
          <a:bodyPr/>
          <a:lstStyle/>
          <a:p>
            <a:r>
              <a:rPr lang="en-US" dirty="0"/>
              <a:t>One-Point Perspective</a:t>
            </a:r>
          </a:p>
        </p:txBody>
      </p:sp>
      <p:sp>
        <p:nvSpPr>
          <p:cNvPr id="3" name="Content Placeholder 2">
            <a:extLst>
              <a:ext uri="{FF2B5EF4-FFF2-40B4-BE49-F238E27FC236}">
                <a16:creationId xmlns:a16="http://schemas.microsoft.com/office/drawing/2014/main" id="{D10DDA52-389F-4C0D-994A-9B3846CD7753}"/>
              </a:ext>
            </a:extLst>
          </p:cNvPr>
          <p:cNvSpPr>
            <a:spLocks noGrp="1"/>
          </p:cNvSpPr>
          <p:nvPr>
            <p:ph idx="1"/>
          </p:nvPr>
        </p:nvSpPr>
        <p:spPr>
          <a:xfrm>
            <a:off x="1295401" y="2408349"/>
            <a:ext cx="5478886" cy="3902299"/>
          </a:xfrm>
        </p:spPr>
        <p:txBody>
          <a:bodyPr>
            <a:normAutofit/>
          </a:bodyPr>
          <a:lstStyle/>
          <a:p>
            <a:r>
              <a:rPr lang="en-US" dirty="0">
                <a:solidFill>
                  <a:schemeClr val="tx1"/>
                </a:solidFill>
              </a:rPr>
              <a:t>One vanishing point on the horizon.</a:t>
            </a:r>
          </a:p>
          <a:p>
            <a:r>
              <a:rPr lang="en-US" dirty="0">
                <a:solidFill>
                  <a:schemeClr val="tx1"/>
                </a:solidFill>
              </a:rPr>
              <a:t>Three kinds of line: verticals, horizontals, and orthogonals that recede to the point.</a:t>
            </a:r>
          </a:p>
          <a:p>
            <a:r>
              <a:rPr lang="en-US" dirty="0">
                <a:solidFill>
                  <a:schemeClr val="tx1"/>
                </a:solidFill>
              </a:rPr>
              <a:t>Corridors, roads, tunnels, receding rooms: anything you are looking straight down.</a:t>
            </a:r>
          </a:p>
        </p:txBody>
      </p:sp>
      <p:pic>
        <p:nvPicPr>
          <p:cNvPr id="8194" name="Picture 2" descr="Image result for one point perspective">
            <a:extLst>
              <a:ext uri="{FF2B5EF4-FFF2-40B4-BE49-F238E27FC236}">
                <a16:creationId xmlns:a16="http://schemas.microsoft.com/office/drawing/2014/main" id="{6DED10CC-07C3-4E1C-8963-89CCD4D7849A}"/>
              </a:ext>
            </a:extLst>
          </p:cNvPr>
          <p:cNvPicPr>
            <a:picLocks noChangeAspect="1" noChangeArrowheads="1"/>
          </p:cNvPicPr>
          <p:nvPr/>
        </p:nvPicPr>
        <p:blipFill>
          <a:blip r:embed="rId3" cstate="hqprint">
            <a:extLst>
              <a:ext uri="{28A0092B-C50C-407E-A947-70E740481C1C}">
                <a14:useLocalDpi xmlns:a14="http://schemas.microsoft.com/office/drawing/2010/main" val="0"/>
              </a:ext>
            </a:extLst>
          </a:blip>
          <a:srcRect/>
          <a:stretch>
            <a:fillRect/>
          </a:stretch>
        </p:blipFill>
        <p:spPr bwMode="auto">
          <a:xfrm>
            <a:off x="6950657" y="2537138"/>
            <a:ext cx="4421388" cy="317440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89575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1376B-40B4-41C0-9240-6D227347FF03}"/>
              </a:ext>
            </a:extLst>
          </p:cNvPr>
          <p:cNvSpPr>
            <a:spLocks noGrp="1"/>
          </p:cNvSpPr>
          <p:nvPr>
            <p:ph type="title"/>
          </p:nvPr>
        </p:nvSpPr>
        <p:spPr/>
        <p:txBody>
          <a:bodyPr/>
          <a:lstStyle/>
          <a:p>
            <a:r>
              <a:rPr lang="en-US" dirty="0"/>
              <a:t>Two-Point Perspective</a:t>
            </a:r>
          </a:p>
        </p:txBody>
      </p:sp>
      <p:sp>
        <p:nvSpPr>
          <p:cNvPr id="3" name="Content Placeholder 2">
            <a:extLst>
              <a:ext uri="{FF2B5EF4-FFF2-40B4-BE49-F238E27FC236}">
                <a16:creationId xmlns:a16="http://schemas.microsoft.com/office/drawing/2014/main" id="{D10DDA52-389F-4C0D-994A-9B3846CD7753}"/>
              </a:ext>
            </a:extLst>
          </p:cNvPr>
          <p:cNvSpPr>
            <a:spLocks noGrp="1"/>
          </p:cNvSpPr>
          <p:nvPr>
            <p:ph idx="1"/>
          </p:nvPr>
        </p:nvSpPr>
        <p:spPr>
          <a:xfrm>
            <a:off x="6095999" y="2485622"/>
            <a:ext cx="5314681" cy="3580328"/>
          </a:xfrm>
        </p:spPr>
        <p:txBody>
          <a:bodyPr>
            <a:normAutofit/>
          </a:bodyPr>
          <a:lstStyle/>
          <a:p>
            <a:r>
              <a:rPr lang="en-US" dirty="0">
                <a:solidFill>
                  <a:schemeClr val="tx1"/>
                </a:solidFill>
              </a:rPr>
              <a:t>Two vanishing points, both on the horizon.</a:t>
            </a:r>
          </a:p>
          <a:p>
            <a:r>
              <a:rPr lang="en-US" dirty="0">
                <a:solidFill>
                  <a:schemeClr val="tx1"/>
                </a:solidFill>
              </a:rPr>
              <a:t>Verticals stay vertical; the two sets of receding lines run to their own points.</a:t>
            </a:r>
          </a:p>
          <a:p>
            <a:r>
              <a:rPr lang="en-US" dirty="0">
                <a:solidFill>
                  <a:schemeClr val="tx1"/>
                </a:solidFill>
              </a:rPr>
              <a:t>You are looking at a corner rather than a face. Most exteriors live here.</a:t>
            </a:r>
          </a:p>
        </p:txBody>
      </p:sp>
      <p:pic>
        <p:nvPicPr>
          <p:cNvPr id="10242" name="Picture 2" descr="Image result for two point perspective drawing">
            <a:extLst>
              <a:ext uri="{FF2B5EF4-FFF2-40B4-BE49-F238E27FC236}">
                <a16:creationId xmlns:a16="http://schemas.microsoft.com/office/drawing/2014/main" id="{8A3821BC-8590-4EBE-861F-3431F28D4C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4259" y="2485622"/>
            <a:ext cx="5191741" cy="320590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3248706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70C7F3-539E-4A7B-9784-3DD5D1E23A30}"/>
              </a:ext>
            </a:extLst>
          </p:cNvPr>
          <p:cNvSpPr>
            <a:spLocks noGrp="1"/>
          </p:cNvSpPr>
          <p:nvPr>
            <p:ph type="title"/>
          </p:nvPr>
        </p:nvSpPr>
        <p:spPr/>
        <p:txBody>
          <a:bodyPr/>
          <a:lstStyle/>
          <a:p>
            <a:r>
              <a:rPr lang="en-US" dirty="0"/>
              <a:t>Three-Point Perspective</a:t>
            </a:r>
          </a:p>
        </p:txBody>
      </p:sp>
      <p:sp>
        <p:nvSpPr>
          <p:cNvPr id="3" name="Content Placeholder 2">
            <a:extLst>
              <a:ext uri="{FF2B5EF4-FFF2-40B4-BE49-F238E27FC236}">
                <a16:creationId xmlns:a16="http://schemas.microsoft.com/office/drawing/2014/main" id="{BB6F5A4E-CBEC-489A-8FF8-711A00DE5B60}"/>
              </a:ext>
            </a:extLst>
          </p:cNvPr>
          <p:cNvSpPr>
            <a:spLocks noGrp="1"/>
          </p:cNvSpPr>
          <p:nvPr>
            <p:ph idx="1"/>
          </p:nvPr>
        </p:nvSpPr>
        <p:spPr>
          <a:xfrm>
            <a:off x="1295400" y="2556932"/>
            <a:ext cx="6667499" cy="3318936"/>
          </a:xfrm>
        </p:spPr>
        <p:txBody>
          <a:bodyPr>
            <a:normAutofit/>
          </a:bodyPr>
          <a:lstStyle/>
          <a:p>
            <a:r>
              <a:rPr lang="en-US" dirty="0">
                <a:solidFill>
                  <a:schemeClr val="tx1"/>
                </a:solidFill>
              </a:rPr>
              <a:t>Two vanishing points on the horizon, and a third above or below it.</a:t>
            </a:r>
          </a:p>
          <a:p>
            <a:r>
              <a:rPr lang="en-US" dirty="0">
                <a:solidFill>
                  <a:schemeClr val="tx1"/>
                </a:solidFill>
              </a:rPr>
              <a:t>Now the verticals converge too.</a:t>
            </a:r>
          </a:p>
          <a:p>
            <a:r>
              <a:rPr lang="en-US" dirty="0">
                <a:solidFill>
                  <a:schemeClr val="tx1"/>
                </a:solidFill>
              </a:rPr>
              <a:t>Third point above the horizon: you are looking up. Below: you are looking down.</a:t>
            </a:r>
          </a:p>
        </p:txBody>
      </p:sp>
      <p:pic>
        <p:nvPicPr>
          <p:cNvPr id="12292" name="Picture 4" descr="Image result for 3 point perspective building photo">
            <a:extLst>
              <a:ext uri="{FF2B5EF4-FFF2-40B4-BE49-F238E27FC236}">
                <a16:creationId xmlns:a16="http://schemas.microsoft.com/office/drawing/2014/main" id="{DF04C0C7-07AF-45AB-A245-803FA83E2E45}"/>
              </a:ext>
            </a:extLst>
          </p:cNvPr>
          <p:cNvPicPr>
            <a:picLocks noChangeAspect="1" noChangeArrowheads="1"/>
          </p:cNvPicPr>
          <p:nvPr/>
        </p:nvPicPr>
        <p:blipFill>
          <a:blip r:embed="rId3" cstate="hqprint">
            <a:extLst>
              <a:ext uri="{28A0092B-C50C-407E-A947-70E740481C1C}">
                <a14:useLocalDpi xmlns:a14="http://schemas.microsoft.com/office/drawing/2010/main" val="0"/>
              </a:ext>
            </a:extLst>
          </a:blip>
          <a:srcRect/>
          <a:stretch>
            <a:fillRect/>
          </a:stretch>
        </p:blipFill>
        <p:spPr bwMode="auto">
          <a:xfrm>
            <a:off x="8177847" y="2569631"/>
            <a:ext cx="2540953" cy="33879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831868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1376B-40B4-41C0-9240-6D227347FF03}"/>
              </a:ext>
            </a:extLst>
          </p:cNvPr>
          <p:cNvSpPr>
            <a:spLocks noGrp="1"/>
          </p:cNvSpPr>
          <p:nvPr>
            <p:ph type="title"/>
          </p:nvPr>
        </p:nvSpPr>
        <p:spPr>
          <a:xfrm>
            <a:off x="1295402" y="982132"/>
            <a:ext cx="9601196" cy="1303867"/>
          </a:xfrm>
        </p:spPr>
        <p:txBody>
          <a:bodyPr/>
          <a:lstStyle/>
          <a:p>
            <a:r>
              <a:rPr lang="en-US" dirty="0">
                <a:solidFill>
                  <a:schemeClr val="tx1"/>
                </a:solidFill>
              </a:rPr>
              <a:t>Circles in Perspective</a:t>
            </a:r>
          </a:p>
        </p:txBody>
      </p:sp>
      <p:sp>
        <p:nvSpPr>
          <p:cNvPr id="3" name="Content Placeholder 2">
            <a:extLst>
              <a:ext uri="{FF2B5EF4-FFF2-40B4-BE49-F238E27FC236}">
                <a16:creationId xmlns:a16="http://schemas.microsoft.com/office/drawing/2014/main" id="{D10DDA52-389F-4C0D-994A-9B3846CD7753}"/>
              </a:ext>
            </a:extLst>
          </p:cNvPr>
          <p:cNvSpPr>
            <a:spLocks noGrp="1"/>
          </p:cNvSpPr>
          <p:nvPr>
            <p:ph idx="1"/>
          </p:nvPr>
        </p:nvSpPr>
        <p:spPr>
          <a:xfrm>
            <a:off x="6309360" y="2514600"/>
            <a:ext cx="4846320" cy="2148840"/>
          </a:xfrm>
        </p:spPr>
        <p:txBody>
          <a:bodyPr>
            <a:normAutofit/>
          </a:bodyPr>
          <a:lstStyle/>
          <a:p>
            <a:r>
              <a:rPr lang="en-US" dirty="0">
                <a:solidFill>
                  <a:schemeClr val="tx1"/>
                </a:solidFill>
              </a:rPr>
              <a:t>A circle in perspective is an ellipse.</a:t>
            </a:r>
          </a:p>
          <a:p>
            <a:r>
              <a:rPr lang="en-US" dirty="0">
                <a:solidFill>
                  <a:schemeClr val="tx1"/>
                </a:solidFill>
              </a:rPr>
              <a:t>Draw the square in perspective first, then fit the ellipse inside it, touching all four sides.</a:t>
            </a:r>
          </a:p>
          <a:p>
            <a:r>
              <a:rPr lang="en-US" dirty="0">
                <a:solidFill>
                  <a:schemeClr val="tx1"/>
                </a:solidFill>
              </a:rPr>
              <a:t>Wheels, plates, lamps, tables, archways, tunnel mouths.</a:t>
            </a:r>
          </a:p>
        </p:txBody>
      </p:sp>
      <p:pic>
        <p:nvPicPr>
          <p:cNvPr id="6146" name="Picture 2" descr="Image result for circles in perspective">
            <a:extLst>
              <a:ext uri="{FF2B5EF4-FFF2-40B4-BE49-F238E27FC236}">
                <a16:creationId xmlns:a16="http://schemas.microsoft.com/office/drawing/2014/main" id="{1878EB4E-0B49-4B37-B2B9-701B4AA150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17320" y="2615184"/>
            <a:ext cx="3063240" cy="2871216"/>
          </a:xfrm>
          <a:prstGeom prst="rect">
            <a:avLst/>
          </a:prstGeom>
          <a:blipFill dpi="0" rotWithShape="1">
            <a:blip r:embed="rId4"/>
            <a:srcRect/>
            <a:tile tx="0" ty="0" sx="100000" sy="100000" flip="none" algn="tl"/>
          </a:blipFill>
        </p:spPr>
      </p:pic>
      <p:pic>
        <p:nvPicPr>
          <p:cNvPr id="6147" name="Circle construction"/>
          <p:cNvPicPr>
            <a:picLocks noChangeAspect="1"/>
          </p:cNvPicPr>
          <p:nvPr/>
        </p:nvPicPr>
        <p:blipFill>
          <a:blip r:embed="rId5"/>
          <a:stretch>
            <a:fillRect/>
          </a:stretch>
        </p:blipFill>
        <p:spPr>
          <a:xfrm>
            <a:off x="6446520" y="4617720"/>
            <a:ext cx="2834640" cy="1591056"/>
          </a:xfrm>
          <a:prstGeom prst="rect">
            <a:avLst/>
          </a:prstGeom>
        </p:spPr>
      </p:pic>
    </p:spTree>
    <p:extLst>
      <p:ext uri="{BB962C8B-B14F-4D97-AF65-F5344CB8AC3E}">
        <p14:creationId xmlns:p14="http://schemas.microsoft.com/office/powerpoint/2010/main" val="12426445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DF7D6-BE27-43BB-B6F9-33CD52CDE55C}"/>
              </a:ext>
            </a:extLst>
          </p:cNvPr>
          <p:cNvSpPr>
            <a:spLocks noGrp="1"/>
          </p:cNvSpPr>
          <p:nvPr>
            <p:ph type="title"/>
          </p:nvPr>
        </p:nvSpPr>
        <p:spPr/>
        <p:txBody>
          <a:bodyPr/>
          <a:lstStyle/>
          <a:p>
            <a:r>
              <a:rPr lang="en-US" dirty="0"/>
              <a:t>Foreshortening</a:t>
            </a:r>
          </a:p>
        </p:txBody>
      </p:sp>
      <p:sp>
        <p:nvSpPr>
          <p:cNvPr id="3" name="Content Placeholder 2">
            <a:extLst>
              <a:ext uri="{FF2B5EF4-FFF2-40B4-BE49-F238E27FC236}">
                <a16:creationId xmlns:a16="http://schemas.microsoft.com/office/drawing/2014/main" id="{2C54E48A-1E58-45FD-B47E-8CEEF5681B97}"/>
              </a:ext>
            </a:extLst>
          </p:cNvPr>
          <p:cNvSpPr>
            <a:spLocks noGrp="1"/>
          </p:cNvSpPr>
          <p:nvPr>
            <p:ph idx="1"/>
          </p:nvPr>
        </p:nvSpPr>
        <p:spPr>
          <a:xfrm>
            <a:off x="1298448" y="2697480"/>
            <a:ext cx="4480560" cy="3429000"/>
          </a:xfrm>
        </p:spPr>
        <p:txBody>
          <a:bodyPr/>
          <a:lstStyle/>
          <a:p>
            <a:r>
              <a:rPr lang="en-US" dirty="0" sz="1500">
                <a:solidFill>
                  <a:schemeClr val="tx1"/>
                </a:solidFill>
              </a:rPr>
              <a:t>Applying perspective to a single form, so one part reads as much closer than another.</a:t>
            </a:r>
          </a:p>
          <a:p>
            <a:r>
              <a:rPr lang="en-US" dirty="0" sz="1500">
                <a:solidFill>
                  <a:schemeClr val="tx1"/>
                </a:solidFill>
              </a:rPr>
              <a:t>Easy on a pipe or a box. Hard on an arm or a leg.</a:t>
            </a:r>
          </a:p>
          <a:p>
            <a:r>
              <a:rPr lang="en-US" dirty="0" sz="1500">
                <a:solidFill>
                  <a:schemeClr val="tx1"/>
                </a:solidFill>
              </a:rPr>
              <a:t>The near part gets larger and the length compresses, usually far more than feels right.</a:t>
            </a:r>
          </a:p>
        </p:txBody>
      </p:sp>
      <p:pic>
        <p:nvPicPr>
          <p:cNvPr id="1026" name="Picture 2" descr="Image result for pipeline">
            <a:extLst>
              <a:ext uri="{FF2B5EF4-FFF2-40B4-BE49-F238E27FC236}">
                <a16:creationId xmlns:a16="http://schemas.microsoft.com/office/drawing/2014/main" id="{ADE59D91-8A82-4488-9BAD-4456481A15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35040" y="2743200"/>
            <a:ext cx="2377440" cy="158191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027" name="Foreshortened figure"/>
          <p:cNvPicPr>
            <a:picLocks noChangeAspect="1"/>
          </p:cNvPicPr>
          <p:nvPr/>
        </p:nvPicPr>
        <p:blipFill>
          <a:blip r:embed="rId4"/>
          <a:stretch>
            <a:fillRect/>
          </a:stretch>
        </p:blipFill>
        <p:spPr>
          <a:xfrm>
            <a:off x="8641080" y="2743200"/>
            <a:ext cx="2377440" cy="1993392"/>
          </a:xfrm>
          <a:prstGeom prst="rect">
            <a:avLst/>
          </a:prstGeom>
        </p:spPr>
      </p:pic>
    </p:spTree>
    <p:extLst>
      <p:ext uri="{BB962C8B-B14F-4D97-AF65-F5344CB8AC3E}">
        <p14:creationId xmlns:p14="http://schemas.microsoft.com/office/powerpoint/2010/main" val="32225284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06657F-84A3-4985-AF4F-DFD1DF173A22}"/>
              </a:ext>
            </a:extLst>
          </p:cNvPr>
          <p:cNvSpPr>
            <a:spLocks noGrp="1"/>
          </p:cNvSpPr>
          <p:nvPr>
            <p:ph type="title"/>
          </p:nvPr>
        </p:nvSpPr>
        <p:spPr/>
        <p:txBody>
          <a:bodyPr/>
          <a:lstStyle/>
          <a:p>
            <a:r>
              <a:rPr lang="en-US" dirty="0"/>
              <a:t>Relative Motion</a:t>
            </a:r>
          </a:p>
        </p:txBody>
      </p:sp>
      <p:sp>
        <p:nvSpPr>
          <p:cNvPr id="3" name="Content Placeholder 2">
            <a:extLst>
              <a:ext uri="{FF2B5EF4-FFF2-40B4-BE49-F238E27FC236}">
                <a16:creationId xmlns:a16="http://schemas.microsoft.com/office/drawing/2014/main" id="{30932560-3A9A-48F1-9D4B-F728D29FC0CB}"/>
              </a:ext>
            </a:extLst>
          </p:cNvPr>
          <p:cNvSpPr>
            <a:spLocks noGrp="1"/>
          </p:cNvSpPr>
          <p:nvPr>
            <p:ph idx="1"/>
          </p:nvPr>
        </p:nvSpPr>
        <p:spPr>
          <a:xfrm>
            <a:off x="1295400" y="2556931"/>
            <a:ext cx="9963149" cy="3643843"/>
          </a:xfrm>
        </p:spPr>
        <p:txBody>
          <a:bodyPr>
            <a:normAutofit/>
          </a:bodyPr>
          <a:lstStyle/>
          <a:p>
            <a:r>
              <a:rPr lang="en-US" dirty="0">
                <a:solidFill>
                  <a:schemeClr val="tx1"/>
                </a:solidFill>
              </a:rPr>
              <a:t>When the camera moves, near objects sweep past faster than far ones.</a:t>
            </a:r>
          </a:p>
          <a:p>
            <a:r>
              <a:rPr lang="en-US" dirty="0">
                <a:solidFill>
                  <a:schemeClr val="tx1"/>
                </a:solidFill>
              </a:rPr>
              <a:t>Distant mountains barely move at all.</a:t>
            </a:r>
          </a:p>
          <a:p>
            <a:r>
              <a:rPr lang="en-US" dirty="0">
                <a:solidFill>
                  <a:schemeClr val="tx1"/>
                </a:solidFill>
              </a:rPr>
              <a:t>The difference in speed is itself a depth cue, and the only one that needs motion.</a:t>
            </a:r>
          </a:p>
        </p:txBody>
      </p:sp>
    </p:spTree>
    <p:extLst>
      <p:ext uri="{BB962C8B-B14F-4D97-AF65-F5344CB8AC3E}">
        <p14:creationId xmlns:p14="http://schemas.microsoft.com/office/powerpoint/2010/main" val="3656551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DD0C2-F0F8-4326-9E71-D56C18BA1037}"/>
              </a:ext>
            </a:extLst>
          </p:cNvPr>
          <p:cNvSpPr>
            <a:spLocks noGrp="1"/>
          </p:cNvSpPr>
          <p:nvPr>
            <p:ph type="title"/>
          </p:nvPr>
        </p:nvSpPr>
        <p:spPr/>
        <p:txBody>
          <a:bodyPr/>
          <a:lstStyle/>
          <a:p>
            <a:r>
              <a:rPr lang="en-US" dirty="0"/>
              <a:t>Depth of Field</a:t>
            </a:r>
          </a:p>
        </p:txBody>
      </p:sp>
      <p:pic>
        <p:nvPicPr>
          <p:cNvPr id="9218" name="Picture 2" descr="Image result for depth of field">
            <a:extLst>
              <a:ext uri="{FF2B5EF4-FFF2-40B4-BE49-F238E27FC236}">
                <a16:creationId xmlns:a16="http://schemas.microsoft.com/office/drawing/2014/main" id="{AF4AF78A-8A9E-409F-99E9-0907AE5A94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5402" y="2556402"/>
            <a:ext cx="5395912" cy="3597275"/>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202188F2-1493-476A-BC91-8183F15733A7}"/>
              </a:ext>
            </a:extLst>
          </p:cNvPr>
          <p:cNvSpPr>
            <a:spLocks noGrp="1"/>
          </p:cNvSpPr>
          <p:nvPr>
            <p:ph idx="1"/>
          </p:nvPr>
        </p:nvSpPr>
        <p:spPr>
          <a:xfrm>
            <a:off x="6829425" y="2556931"/>
            <a:ext cx="4429124" cy="3643843"/>
          </a:xfrm>
        </p:spPr>
        <p:txBody>
          <a:bodyPr>
            <a:normAutofit/>
          </a:bodyPr>
          <a:lstStyle/>
          <a:p>
            <a:r>
              <a:rPr lang="en-US" dirty="0"/>
              <a:t>How much of the frame is in focus, in front of and behind the point focused on.</a:t>
            </a:r>
          </a:p>
          <a:p>
            <a:r>
              <a:rPr lang="en-US" dirty="0"/>
              <a:t>Shallow: a thin slice sharp, everything else soft.</a:t>
            </a:r>
          </a:p>
          <a:p>
            <a:r>
              <a:rPr lang="en-US" dirty="0"/>
              <a:t>Wide: most of the frame sharp at once.</a:t>
            </a:r>
          </a:p>
        </p:txBody>
      </p:sp>
    </p:spTree>
    <p:extLst>
      <p:ext uri="{BB962C8B-B14F-4D97-AF65-F5344CB8AC3E}">
        <p14:creationId xmlns:p14="http://schemas.microsoft.com/office/powerpoint/2010/main" val="36879999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DD0C2-F0F8-4326-9E71-D56C18BA1037}"/>
              </a:ext>
            </a:extLst>
          </p:cNvPr>
          <p:cNvSpPr>
            <a:spLocks noGrp="1"/>
          </p:cNvSpPr>
          <p:nvPr>
            <p:ph type="title"/>
          </p:nvPr>
        </p:nvSpPr>
        <p:spPr/>
        <p:txBody>
          <a:bodyPr/>
          <a:lstStyle/>
          <a:p>
            <a:r>
              <a:rPr lang="en-US" dirty="0"/>
              <a:t>Deep Focus</a:t>
            </a:r>
          </a:p>
        </p:txBody>
      </p:sp>
      <p:pic>
        <p:nvPicPr>
          <p:cNvPr id="9218" name="Picture 2" descr="Image result for depth of field">
            <a:extLst>
              <a:ext uri="{FF2B5EF4-FFF2-40B4-BE49-F238E27FC236}">
                <a16:creationId xmlns:a16="http://schemas.microsoft.com/office/drawing/2014/main" id="{AF4AF78A-8A9E-409F-99E9-0907AE5A94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5402" y="2556402"/>
            <a:ext cx="5395912" cy="3597275"/>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4469E8AC-6BE4-4017-8343-FCA420467896}"/>
              </a:ext>
            </a:extLst>
          </p:cNvPr>
          <p:cNvSpPr>
            <a:spLocks noGrp="1"/>
          </p:cNvSpPr>
          <p:nvPr>
            <p:ph idx="1"/>
          </p:nvPr>
        </p:nvSpPr>
        <p:spPr>
          <a:xfrm>
            <a:off x="6900863" y="2556931"/>
            <a:ext cx="4357686" cy="3643843"/>
          </a:xfrm>
        </p:spPr>
        <p:txBody>
          <a:bodyPr>
            <a:normAutofit/>
          </a:bodyPr>
          <a:lstStyle/>
          <a:p>
            <a:r>
              <a:rPr lang="en-US" dirty="0">
                <a:solidFill>
                  <a:schemeClr val="tx1"/>
                </a:solidFill>
              </a:rPr>
              <a:t>Foreground, midground and background all sharp.</a:t>
            </a:r>
          </a:p>
          <a:p>
            <a:r>
              <a:rPr lang="en-US" dirty="0">
                <a:solidFill>
                  <a:schemeClr val="tx1"/>
                </a:solidFill>
              </a:rPr>
              <a:t>Every plane equally available, so the audience chooses where to look.</a:t>
            </a:r>
          </a:p>
          <a:p>
            <a:r>
              <a:rPr lang="en-US" dirty="0">
                <a:solidFill>
                  <a:schemeClr val="tx1"/>
                </a:solidFill>
              </a:rPr>
              <a:t>Orson Welles and Gregg Toland, Citizen Kane.</a:t>
            </a:r>
          </a:p>
        </p:txBody>
      </p:sp>
    </p:spTree>
    <p:extLst>
      <p:ext uri="{BB962C8B-B14F-4D97-AF65-F5344CB8AC3E}">
        <p14:creationId xmlns:p14="http://schemas.microsoft.com/office/powerpoint/2010/main" val="12641674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DD0C2-F0F8-4326-9E71-D56C18BA1037}"/>
              </a:ext>
            </a:extLst>
          </p:cNvPr>
          <p:cNvSpPr>
            <a:spLocks noGrp="1"/>
          </p:cNvSpPr>
          <p:nvPr>
            <p:ph type="title"/>
          </p:nvPr>
        </p:nvSpPr>
        <p:spPr/>
        <p:txBody>
          <a:bodyPr/>
          <a:lstStyle/>
          <a:p>
            <a:r>
              <a:rPr lang="en-US" dirty="0"/>
              <a:t>Aperture</a:t>
            </a:r>
          </a:p>
        </p:txBody>
      </p:sp>
      <p:pic>
        <p:nvPicPr>
          <p:cNvPr id="9218" name="Picture 2" descr="Image result for depth of field">
            <a:extLst>
              <a:ext uri="{FF2B5EF4-FFF2-40B4-BE49-F238E27FC236}">
                <a16:creationId xmlns:a16="http://schemas.microsoft.com/office/drawing/2014/main" id="{AF4AF78A-8A9E-409F-99E9-0907AE5A94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5402" y="2556402"/>
            <a:ext cx="5395912" cy="3597275"/>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4469E8AC-6BE4-4017-8343-FCA420467896}"/>
              </a:ext>
            </a:extLst>
          </p:cNvPr>
          <p:cNvSpPr>
            <a:spLocks noGrp="1"/>
          </p:cNvSpPr>
          <p:nvPr>
            <p:ph idx="1"/>
          </p:nvPr>
        </p:nvSpPr>
        <p:spPr>
          <a:xfrm>
            <a:off x="6900863" y="2556931"/>
            <a:ext cx="4357686" cy="3643843"/>
          </a:xfrm>
        </p:spPr>
        <p:txBody>
          <a:bodyPr>
            <a:normAutofit fontScale="92500" lnSpcReduction="10000"/>
          </a:bodyPr>
          <a:lstStyle/>
          <a:p>
            <a:r>
              <a:rPr lang="en-US" dirty="0">
                <a:solidFill>
                  <a:schemeClr val="tx1"/>
                </a:solidFill>
              </a:rPr>
              <a:t>Aperture is the opening in the lens that lets light in.</a:t>
            </a:r>
          </a:p>
          <a:p>
            <a:r>
              <a:rPr lang="en-US" dirty="0">
                <a:solidFill>
                  <a:schemeClr val="tx1"/>
                </a:solidFill>
              </a:rPr>
              <a:t>Small aperture: less light, greater depth of field. More of the frame is sharp.</a:t>
            </a:r>
          </a:p>
          <a:p>
            <a:r>
              <a:rPr lang="en-US" dirty="0">
                <a:solidFill>
                  <a:schemeClr val="tx1"/>
                </a:solidFill>
              </a:rPr>
              <a:t>Wide aperture: more light, shallower depth of field. A thinner slice is sharp.</a:t>
            </a:r>
          </a:p>
        </p:txBody>
      </p:sp>
    </p:spTree>
    <p:extLst>
      <p:ext uri="{BB962C8B-B14F-4D97-AF65-F5344CB8AC3E}">
        <p14:creationId xmlns:p14="http://schemas.microsoft.com/office/powerpoint/2010/main" val="28192831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EBC2C4-7A2B-46A9-9162-63AAE527E1D1}"/>
              </a:ext>
            </a:extLst>
          </p:cNvPr>
          <p:cNvSpPr>
            <a:spLocks noGrp="1"/>
          </p:cNvSpPr>
          <p:nvPr>
            <p:ph type="title"/>
          </p:nvPr>
        </p:nvSpPr>
        <p:spPr/>
        <p:txBody>
          <a:bodyPr/>
          <a:lstStyle/>
          <a:p>
            <a:r>
              <a:rPr lang="en-US" dirty="0"/>
              <a:t>Lenses Tell the Story</a:t>
            </a:r>
          </a:p>
        </p:txBody>
      </p:sp>
      <p:sp>
        <p:nvSpPr>
          <p:cNvPr id="3" name="Content Placeholder 2">
            <a:extLst>
              <a:ext uri="{FF2B5EF4-FFF2-40B4-BE49-F238E27FC236}">
                <a16:creationId xmlns:a16="http://schemas.microsoft.com/office/drawing/2014/main" id="{81008BD6-BEE5-43BB-A5EF-52A28E2085BE}"/>
              </a:ext>
            </a:extLst>
          </p:cNvPr>
          <p:cNvSpPr>
            <a:spLocks noGrp="1"/>
          </p:cNvSpPr>
          <p:nvPr>
            <p:ph idx="1"/>
          </p:nvPr>
        </p:nvSpPr>
        <p:spPr>
          <a:xfrm>
            <a:off x="1295401" y="2556932"/>
            <a:ext cx="9973613" cy="1409761"/>
          </a:xfrm>
        </p:spPr>
        <p:txBody>
          <a:bodyPr>
            <a:normAutofit lnSpcReduction="10000"/>
          </a:bodyPr>
          <a:lstStyle/>
          <a:p>
            <a:pPr marL="0" indent="0" algn="ctr">
              <a:buNone/>
            </a:pPr>
            <a:r>
              <a:rPr lang="en-US" dirty="0">
                <a:solidFill>
                  <a:schemeClr val="tx1"/>
                </a:solidFill>
              </a:rPr>
              <a:t>Three main lenses: wide angle, normal, telephoto.</a:t>
            </a:r>
          </a:p>
          <a:p>
            <a:pPr marL="0" indent="0" algn="ctr">
              <a:buNone/>
            </a:pPr>
            <a:r>
              <a:rPr lang="en-US" dirty="0">
                <a:solidFill>
                  <a:schemeClr val="tx1"/>
                </a:solidFill>
              </a:rPr>
              <a:t>Each one describes space differently: the same scene, three different worlds.</a:t>
            </a:r>
          </a:p>
          <a:p>
            <a:pPr marL="0" indent="0" algn="ctr">
              <a:buNone/>
            </a:pPr>
            <a:r>
              <a:rPr lang="en-US" dirty="0">
                <a:solidFill>
                  <a:schemeClr val="tx1"/>
                </a:solidFill>
              </a:rPr>
              <a:t>In Murder on the Orient Express, the flashbacks are shot on wide lenses to make them feel dramatic and distorted.</a:t>
            </a:r>
          </a:p>
        </p:txBody>
      </p:sp>
      <p:pic>
        <p:nvPicPr>
          <p:cNvPr id="2050" name="Picture 2" descr="Three differrent pictures taken with different focal lengths by Robert Berdan Â©">
            <a:extLst>
              <a:ext uri="{FF2B5EF4-FFF2-40B4-BE49-F238E27FC236}">
                <a16:creationId xmlns:a16="http://schemas.microsoft.com/office/drawing/2014/main" id="{1A7D6950-B97C-4016-A5EC-643A7B7DF4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17320" y="4023360"/>
            <a:ext cx="4617720" cy="1490472"/>
          </a:xfrm>
          <a:prstGeom prst="rect">
            <a:avLst/>
          </a:prstGeom>
          <a:noFill/>
          <a:extLst>
            <a:ext uri="{909E8E84-426E-40DD-AFC4-6F175D3DCCD1}">
              <a14:hiddenFill xmlns:a14="http://schemas.microsoft.com/office/drawing/2010/main">
                <a:solidFill>
                  <a:srgbClr val="FFFFFF"/>
                </a:solidFill>
              </a14:hiddenFill>
            </a:ext>
          </a:extLst>
        </p:spPr>
      </p:pic>
      <p:pic>
        <p:nvPicPr>
          <p:cNvPr id="2051" name="Lens comparison"/>
          <p:cNvPicPr>
            <a:picLocks noChangeAspect="1"/>
          </p:cNvPicPr>
          <p:nvPr/>
        </p:nvPicPr>
        <p:blipFill>
          <a:blip r:embed="rId4"/>
          <a:stretch>
            <a:fillRect/>
          </a:stretch>
        </p:blipFill>
        <p:spPr>
          <a:xfrm>
            <a:off x="6446520" y="4023360"/>
            <a:ext cx="4389120" cy="1865376"/>
          </a:xfrm>
          <a:prstGeom prst="rect">
            <a:avLst/>
          </a:prstGeom>
        </p:spPr>
      </p:pic>
    </p:spTree>
    <p:extLst>
      <p:ext uri="{BB962C8B-B14F-4D97-AF65-F5344CB8AC3E}">
        <p14:creationId xmlns:p14="http://schemas.microsoft.com/office/powerpoint/2010/main" val="14381636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EBC2C4-7A2B-46A9-9162-63AAE527E1D1}"/>
              </a:ext>
            </a:extLst>
          </p:cNvPr>
          <p:cNvSpPr>
            <a:spLocks noGrp="1"/>
          </p:cNvSpPr>
          <p:nvPr>
            <p:ph type="title"/>
          </p:nvPr>
        </p:nvSpPr>
        <p:spPr/>
        <p:txBody>
          <a:bodyPr/>
          <a:lstStyle/>
          <a:p>
            <a:r>
              <a:rPr lang="en-US" dirty="0"/>
              <a:t>Normal Lens</a:t>
            </a:r>
          </a:p>
        </p:txBody>
      </p:sp>
      <p:sp>
        <p:nvSpPr>
          <p:cNvPr id="5" name="Content Placeholder 4">
            <a:extLst>
              <a:ext uri="{FF2B5EF4-FFF2-40B4-BE49-F238E27FC236}">
                <a16:creationId xmlns:a16="http://schemas.microsoft.com/office/drawing/2014/main" id="{61E05A5F-B35C-4EFC-86E1-3C4514223275}"/>
              </a:ext>
            </a:extLst>
          </p:cNvPr>
          <p:cNvSpPr>
            <a:spLocks noGrp="1"/>
          </p:cNvSpPr>
          <p:nvPr>
            <p:ph idx="1"/>
          </p:nvPr>
        </p:nvSpPr>
        <p:spPr>
          <a:xfrm>
            <a:off x="1178420" y="2556932"/>
            <a:ext cx="6226932" cy="3318936"/>
          </a:xfrm>
        </p:spPr>
        <p:txBody>
          <a:bodyPr>
            <a:normAutofit/>
          </a:bodyPr>
          <a:lstStyle/>
          <a:p>
            <a:r>
              <a:rPr lang="en-US" dirty="0">
                <a:solidFill>
                  <a:schemeClr val="tx1"/>
                </a:solidFill>
              </a:rPr>
              <a:t>Roughly mimics the perspective of human vision.</a:t>
            </a:r>
          </a:p>
          <a:p>
            <a:r>
              <a:rPr lang="en-US" dirty="0">
                <a:solidFill>
                  <a:schemeClr val="tx1"/>
                </a:solidFill>
              </a:rPr>
              <a:t>Relationships look the way you expect: figures sized and spaced normally relative to each other.</a:t>
            </a:r>
          </a:p>
          <a:p>
            <a:r>
              <a:rPr lang="en-US" dirty="0">
                <a:solidFill>
                  <a:schemeClr val="tx1"/>
                </a:solidFill>
              </a:rPr>
              <a:t>Looking through it is close to looking with your own eye.</a:t>
            </a:r>
          </a:p>
        </p:txBody>
      </p:sp>
      <p:pic>
        <p:nvPicPr>
          <p:cNvPr id="3074" name="Picture 2" descr="Image result for 55mm lens perspective">
            <a:extLst>
              <a:ext uri="{FF2B5EF4-FFF2-40B4-BE49-F238E27FC236}">
                <a16:creationId xmlns:a16="http://schemas.microsoft.com/office/drawing/2014/main" id="{43A13160-D302-4239-A3AA-674325E543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78144" y="2717442"/>
            <a:ext cx="3529536" cy="27530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859289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4D3BA-6E67-4132-B692-ECBFF9798908}"/>
              </a:ext>
            </a:extLst>
          </p:cNvPr>
          <p:cNvSpPr>
            <a:spLocks noGrp="1"/>
          </p:cNvSpPr>
          <p:nvPr>
            <p:ph type="title"/>
          </p:nvPr>
        </p:nvSpPr>
        <p:spPr/>
        <p:txBody>
          <a:bodyPr/>
          <a:lstStyle/>
          <a:p>
            <a:r>
              <a:rPr lang="en-US" dirty="0"/>
              <a:t>Wide Angle</a:t>
            </a:r>
          </a:p>
        </p:txBody>
      </p:sp>
      <p:sp>
        <p:nvSpPr>
          <p:cNvPr id="3" name="Content Placeholder 2">
            <a:extLst>
              <a:ext uri="{FF2B5EF4-FFF2-40B4-BE49-F238E27FC236}">
                <a16:creationId xmlns:a16="http://schemas.microsoft.com/office/drawing/2014/main" id="{E7F841F4-3BBB-42F4-AE17-5A69F6F6AA1E}"/>
              </a:ext>
            </a:extLst>
          </p:cNvPr>
          <p:cNvSpPr>
            <a:spLocks noGrp="1"/>
          </p:cNvSpPr>
          <p:nvPr>
            <p:ph idx="1"/>
          </p:nvPr>
        </p:nvSpPr>
        <p:spPr>
          <a:xfrm>
            <a:off x="1298448" y="2606040"/>
            <a:ext cx="4206240" cy="3474720"/>
          </a:xfrm>
        </p:spPr>
        <p:txBody>
          <a:bodyPr/>
          <a:lstStyle/>
          <a:p>
            <a:r>
              <a:rPr lang="en-US" dirty="0" sz="1500">
                <a:solidFill>
                  <a:schemeClr val="tx1"/>
                </a:solidFill>
              </a:rPr>
              <a:t>Takes in a much larger area than a normal lens.</a:t>
            </a:r>
          </a:p>
          <a:p>
            <a:r>
              <a:rPr lang="en-US" dirty="0" sz="1500">
                <a:solidFill>
                  <a:schemeClr val="tx1"/>
                </a:solidFill>
              </a:rPr>
              <a:t>Exaggerates the space between near and far.</a:t>
            </a:r>
          </a:p>
          <a:p>
            <a:r>
              <a:rPr lang="en-US" dirty="0" sz="1500">
                <a:solidFill>
                  <a:schemeClr val="tx1"/>
                </a:solidFill>
              </a:rPr>
              <a:t>Foreground and background both tend to stay in focus.</a:t>
            </a:r>
          </a:p>
          <a:p>
            <a:r>
              <a:rPr lang="en-US" dirty="0" sz="1500">
                <a:solidFill>
                  <a:schemeClr val="tx1"/>
                </a:solidFill>
              </a:rPr>
              <a:t>The wider the lens, the more distortion, especially at the edges, and on faces.</a:t>
            </a:r>
          </a:p>
        </p:txBody>
      </p:sp>
      <p:pic>
        <p:nvPicPr>
          <p:cNvPr id="4098" name="Picture 2" descr="Image result for wide angle lens landscape">
            <a:extLst>
              <a:ext uri="{FF2B5EF4-FFF2-40B4-BE49-F238E27FC236}">
                <a16:creationId xmlns:a16="http://schemas.microsoft.com/office/drawing/2014/main" id="{584EA714-9FDF-4535-82A8-E4A1F30B429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580" y="2530698"/>
            <a:ext cx="4800602" cy="32004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89246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FD8E0C-CE91-477E-A87A-704A8ACBFF89}"/>
              </a:ext>
            </a:extLst>
          </p:cNvPr>
          <p:cNvSpPr>
            <a:spLocks noGrp="1"/>
          </p:cNvSpPr>
          <p:nvPr>
            <p:ph type="title"/>
          </p:nvPr>
        </p:nvSpPr>
        <p:spPr/>
        <p:txBody>
          <a:bodyPr/>
          <a:lstStyle/>
          <a:p>
            <a:r>
              <a:rPr lang="en-US" dirty="0"/>
              <a:t>Telephoto</a:t>
            </a:r>
          </a:p>
        </p:txBody>
      </p:sp>
      <p:sp>
        <p:nvSpPr>
          <p:cNvPr id="3" name="Content Placeholder 2">
            <a:extLst>
              <a:ext uri="{FF2B5EF4-FFF2-40B4-BE49-F238E27FC236}">
                <a16:creationId xmlns:a16="http://schemas.microsoft.com/office/drawing/2014/main" id="{9F2B690E-8751-409C-BB73-0357CA5DAE6F}"/>
              </a:ext>
            </a:extLst>
          </p:cNvPr>
          <p:cNvSpPr>
            <a:spLocks noGrp="1"/>
          </p:cNvSpPr>
          <p:nvPr>
            <p:ph idx="1"/>
          </p:nvPr>
        </p:nvSpPr>
        <p:spPr>
          <a:xfrm>
            <a:off x="6096000" y="2556932"/>
            <a:ext cx="4800596" cy="3318936"/>
          </a:xfrm>
        </p:spPr>
        <p:txBody>
          <a:bodyPr/>
          <a:lstStyle/>
          <a:p>
            <a:pPr algn="r"/>
            <a:r>
              <a:rPr lang="en-US" dirty="0">
                <a:solidFill>
                  <a:schemeClr val="tx1"/>
                </a:solidFill>
              </a:rPr>
              <a:t>Shallow depth of field: a thin slice in focus, everything else soft.</a:t>
            </a:r>
          </a:p>
          <a:p>
            <a:pPr algn="r"/>
            <a:r>
              <a:rPr lang="en-US" dirty="0">
                <a:solidFill>
                  <a:schemeClr val="tx1"/>
                </a:solidFill>
              </a:rPr>
              <a:t>Compresses foreground and background together.</a:t>
            </a:r>
          </a:p>
          <a:p>
            <a:pPr algn="r"/>
            <a:r>
              <a:rPr lang="en-US" dirty="0">
                <a:solidFill>
                  <a:schemeClr val="tx1"/>
                </a:solidFill>
              </a:rPr>
              <a:t>Objects at different distances appear stacked, closer together than they really are.</a:t>
            </a:r>
          </a:p>
        </p:txBody>
      </p:sp>
      <p:pic>
        <p:nvPicPr>
          <p:cNvPr id="5122" name="Picture 2" descr="File:Photographer with telephoto lens on football game.jpg">
            <a:extLst>
              <a:ext uri="{FF2B5EF4-FFF2-40B4-BE49-F238E27FC236}">
                <a16:creationId xmlns:a16="http://schemas.microsoft.com/office/drawing/2014/main" id="{3FA5955D-6770-4376-B698-05E0EC26C4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4022" y="2618272"/>
            <a:ext cx="4694350" cy="3127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38191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2EF5C-2B72-41F0-B3B5-0B612BD04A5E}"/>
              </a:ext>
            </a:extLst>
          </p:cNvPr>
          <p:cNvSpPr>
            <a:spLocks noGrp="1"/>
          </p:cNvSpPr>
          <p:nvPr>
            <p:ph type="title"/>
          </p:nvPr>
        </p:nvSpPr>
        <p:spPr/>
        <p:txBody>
          <a:bodyPr/>
          <a:lstStyle/>
          <a:p>
            <a:r>
              <a:rPr lang="en-US" dirty="0"/>
              <a:t>Which Cue Is This Shot Using?</a:t>
            </a:r>
          </a:p>
        </p:txBody>
      </p:sp>
      <p:sp>
        <p:nvSpPr>
          <p:cNvPr id="3" name="Content Placeholder 2">
            <a:extLst>
              <a:ext uri="{FF2B5EF4-FFF2-40B4-BE49-F238E27FC236}">
                <a16:creationId xmlns:a16="http://schemas.microsoft.com/office/drawing/2014/main" id="{F10934EF-5B0C-415F-A3C2-FA3BC76906F6}"/>
              </a:ext>
            </a:extLst>
          </p:cNvPr>
          <p:cNvSpPr>
            <a:spLocks noGrp="1"/>
          </p:cNvSpPr>
          <p:nvPr>
            <p:ph idx="1"/>
          </p:nvPr>
        </p:nvSpPr>
        <p:spPr/>
        <p:txBody>
          <a:bodyPr>
            <a:normAutofit/>
          </a:bodyPr>
          <a:lstStyle/>
          <a:p>
            <a:r>
              <a:rPr lang="en-US" dirty="0">
                <a:solidFill>
                  <a:schemeClr val="tx1"/>
                </a:solidFill>
              </a:rPr>
              <a:t>Three film stills. Name the depth cues in each.</a:t>
            </a:r>
          </a:p>
          <a:p>
            <a:r>
              <a:rPr lang="en-US" dirty="0">
                <a:solidFill>
                  <a:schemeClr val="tx1"/>
                </a:solidFill>
              </a:rPr>
              <a:t>I want to hear "overlap and value", not "good perspective".</a:t>
            </a:r>
          </a:p>
          <a:p>
            <a:r>
              <a:rPr lang="en-US" dirty="0">
                <a:solidFill>
                  <a:schemeClr val="tx1"/>
                </a:solidFill>
              </a:rPr>
              <a:t>Then: which cue is doing the most work, and what would the frame lose without it?</a:t>
            </a:r>
          </a:p>
        </p:txBody>
      </p:sp>
    </p:spTree>
    <p:extLst>
      <p:ext uri="{BB962C8B-B14F-4D97-AF65-F5344CB8AC3E}">
        <p14:creationId xmlns:p14="http://schemas.microsoft.com/office/powerpoint/2010/main" val="24721470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A2734-7E87-4FB2-A954-901D4C94B014}"/>
              </a:ext>
            </a:extLst>
          </p:cNvPr>
          <p:cNvSpPr>
            <a:spLocks noGrp="1"/>
          </p:cNvSpPr>
          <p:nvPr>
            <p:ph type="title"/>
          </p:nvPr>
        </p:nvSpPr>
        <p:spPr/>
        <p:txBody>
          <a:bodyPr/>
          <a:lstStyle/>
          <a:p>
            <a:r>
              <a:rPr lang="en-US" dirty="0"/>
              <a:t>In Conclusion</a:t>
            </a:r>
          </a:p>
        </p:txBody>
      </p:sp>
      <p:sp>
        <p:nvSpPr>
          <p:cNvPr id="3" name="Content Placeholder 2">
            <a:extLst>
              <a:ext uri="{FF2B5EF4-FFF2-40B4-BE49-F238E27FC236}">
                <a16:creationId xmlns:a16="http://schemas.microsoft.com/office/drawing/2014/main" id="{235E8B78-057B-4A65-959F-B1C86414CCA1}"/>
              </a:ext>
            </a:extLst>
          </p:cNvPr>
          <p:cNvSpPr>
            <a:spLocks noGrp="1"/>
          </p:cNvSpPr>
          <p:nvPr>
            <p:ph idx="1"/>
          </p:nvPr>
        </p:nvSpPr>
        <p:spPr/>
        <p:txBody>
          <a:bodyPr/>
          <a:lstStyle/>
          <a:p>
            <a:r>
              <a:rPr lang="en-US" dirty="0"/>
              <a:t>Six ways to build depth: overlap, size, atmosphere, value, texture, and linear perspective.</a:t>
            </a:r>
          </a:p>
          <a:p>
            <a:r>
              <a:rPr lang="en-US" dirty="0"/>
              <a:t>Five of them cost you nothing but the decision to use them.</a:t>
            </a:r>
          </a:p>
          <a:p>
            <a:r>
              <a:rPr lang="en-US" dirty="0"/>
              <a:t>Plus the lens: depth of field, and what wide and long lenses do to space.</a:t>
            </a:r>
          </a:p>
          <a:p>
            <a:r>
              <a:rPr lang="en-US" dirty="0"/>
              <a:t>The horizon line is your camera height. Move it and you have moved the camera.</a:t>
            </a:r>
          </a:p>
        </p:txBody>
      </p:sp>
    </p:spTree>
    <p:extLst>
      <p:ext uri="{BB962C8B-B14F-4D97-AF65-F5344CB8AC3E}">
        <p14:creationId xmlns:p14="http://schemas.microsoft.com/office/powerpoint/2010/main" val="9407948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2EF5C-2B72-41F0-B3B5-0B612BD04A5E}"/>
              </a:ext>
            </a:extLst>
          </p:cNvPr>
          <p:cNvSpPr>
            <a:spLocks noGrp="1"/>
          </p:cNvSpPr>
          <p:nvPr>
            <p:ph type="title"/>
          </p:nvPr>
        </p:nvSpPr>
        <p:spPr/>
        <p:txBody>
          <a:bodyPr/>
          <a:lstStyle/>
          <a:p>
            <a:r>
              <a:rPr lang="en-US" dirty="0"/>
              <a:t>Exit Exercise</a:t>
            </a:r>
          </a:p>
        </p:txBody>
      </p:sp>
      <p:sp>
        <p:nvSpPr>
          <p:cNvPr id="3" name="Content Placeholder 2">
            <a:extLst>
              <a:ext uri="{FF2B5EF4-FFF2-40B4-BE49-F238E27FC236}">
                <a16:creationId xmlns:a16="http://schemas.microsoft.com/office/drawing/2014/main" id="{F10934EF-5B0C-415F-A3C2-FA3BC76906F6}"/>
              </a:ext>
            </a:extLst>
          </p:cNvPr>
          <p:cNvSpPr>
            <a:spLocks noGrp="1"/>
          </p:cNvSpPr>
          <p:nvPr>
            <p:ph idx="1"/>
          </p:nvPr>
        </p:nvSpPr>
        <p:spPr/>
        <p:txBody>
          <a:bodyPr>
            <a:normAutofit/>
          </a:bodyPr>
          <a:lstStyle/>
          <a:p>
            <a:r>
              <a:rPr lang="en-US" dirty="0">
                <a:solidFill>
                  <a:schemeClr val="tx1"/>
                </a:solidFill>
              </a:rPr>
              <a:t>One panel, drawn twice.</a:t>
            </a:r>
          </a:p>
          <a:p>
            <a:r>
              <a:rPr lang="en-US" dirty="0">
                <a:solidFill>
                  <a:schemeClr val="tx1"/>
                </a:solidFill>
              </a:rPr>
              <a:t>First: using only the free cues (overlap, size, value, texture, three planes).</a:t>
            </a:r>
          </a:p>
          <a:p>
            <a:r>
              <a:rPr lang="en-US" dirty="0">
                <a:solidFill>
                  <a:schemeClr val="tx1"/>
                </a:solidFill>
              </a:rPr>
              <a:t>Second: with constructed linear perspective.</a:t>
            </a:r>
          </a:p>
          <a:p>
            <a:r>
              <a:rPr lang="en-US" dirty="0">
                <a:solidFill>
                  <a:schemeClr val="tx1"/>
                </a:solidFill>
              </a:rPr>
              <a:t>Time both. Then compare how much depth you actually gained for the extra time.</a:t>
            </a:r>
          </a:p>
        </p:txBody>
      </p:sp>
    </p:spTree>
    <p:extLst>
      <p:ext uri="{BB962C8B-B14F-4D97-AF65-F5344CB8AC3E}">
        <p14:creationId xmlns:p14="http://schemas.microsoft.com/office/powerpoint/2010/main" val="24721470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2EF5C-2B72-41F0-B3B5-0B612BD04A5E}"/>
              </a:ext>
            </a:extLst>
          </p:cNvPr>
          <p:cNvSpPr>
            <a:spLocks noGrp="1"/>
          </p:cNvSpPr>
          <p:nvPr>
            <p:ph type="title"/>
          </p:nvPr>
        </p:nvSpPr>
        <p:spPr/>
        <p:txBody>
          <a:bodyPr/>
          <a:lstStyle/>
          <a:p>
            <a:r>
              <a:rPr lang="en-US" dirty="0"/>
              <a:t>Take H3 With You</a:t>
            </a:r>
          </a:p>
        </p:txBody>
      </p:sp>
      <p:sp>
        <p:nvSpPr>
          <p:cNvPr id="3" name="Content Placeholder 2">
            <a:extLst>
              <a:ext uri="{FF2B5EF4-FFF2-40B4-BE49-F238E27FC236}">
                <a16:creationId xmlns:a16="http://schemas.microsoft.com/office/drawing/2014/main" id="{F10934EF-5B0C-415F-A3C2-FA3BC76906F6}"/>
              </a:ext>
            </a:extLst>
          </p:cNvPr>
          <p:cNvSpPr>
            <a:spLocks noGrp="1"/>
          </p:cNvSpPr>
          <p:nvPr>
            <p:ph idx="1"/>
          </p:nvPr>
        </p:nvSpPr>
        <p:spPr/>
        <p:txBody>
          <a:bodyPr>
            <a:normAutofit/>
          </a:bodyPr>
          <a:lstStyle/>
          <a:p>
            <a:r>
              <a:rPr lang="en-US" dirty="0">
                <a:solidFill>
                  <a:schemeClr val="tx1"/>
                </a:solidFill>
              </a:rPr>
              <a:t>Handout H3: Composition Checklist.</a:t>
            </a:r>
          </a:p>
          <a:p>
            <a:r>
              <a:rPr lang="en-US" dirty="0">
                <a:solidFill>
                  <a:schemeClr val="tx1"/>
                </a:solidFill>
              </a:rPr>
              <a:t>It carries the depth section: overlap, three planes, and value as depth.</a:t>
            </a:r>
          </a:p>
          <a:p>
            <a:r>
              <a:rPr lang="en-US" dirty="0">
                <a:solidFill>
                  <a:schemeClr val="tx1"/>
                </a:solidFill>
              </a:rPr>
              <a:t>Value contrast is doing more work than line, shape, direction, size and texture combined.</a:t>
            </a:r>
          </a:p>
          <a:p>
            <a:r>
              <a:rPr lang="en-US" dirty="0">
                <a:solidFill>
                  <a:schemeClr val="tx1"/>
                </a:solidFill>
              </a:rPr>
              <a:t>Squint at your own work. If the planes do not separate at thumbnail size, they do not separate.</a:t>
            </a:r>
          </a:p>
        </p:txBody>
      </p:sp>
    </p:spTree>
    <p:extLst>
      <p:ext uri="{BB962C8B-B14F-4D97-AF65-F5344CB8AC3E}">
        <p14:creationId xmlns:p14="http://schemas.microsoft.com/office/powerpoint/2010/main" val="247214702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s>
</file>

<file path=ppt/theme/theme1.xml><?xml version="1.0" encoding="utf-8"?>
<a:theme xmlns:a="http://schemas.openxmlformats.org/drawingml/2006/main" name="Game Design Theme">
  <a:themeElements>
    <a:clrScheme name="Organic">
      <a:dk1>
        <a:sysClr val="windowText" lastClr="000000"/>
      </a:dk1>
      <a:lt1>
        <a:sysClr val="window" lastClr="FFFFFF"/>
      </a:lt1>
      <a:dk2>
        <a:srgbClr val="212121"/>
      </a:dk2>
      <a:lt2>
        <a:srgbClr val="DADADA"/>
      </a:lt2>
      <a:accent1>
        <a:srgbClr val="D9B247"/>
      </a:accent1>
      <a:accent2>
        <a:srgbClr val="CC702D"/>
      </a:accent2>
      <a:accent3>
        <a:srgbClr val="B53A31"/>
      </a:accent3>
      <a:accent4>
        <a:srgbClr val="815F56"/>
      </a:accent4>
      <a:accent5>
        <a:srgbClr val="AE9E7C"/>
      </a:accent5>
      <a:accent6>
        <a:srgbClr val="7B8865"/>
      </a:accent6>
      <a:hlink>
        <a:srgbClr val="BB7826"/>
      </a:hlink>
      <a:folHlink>
        <a:srgbClr val="CF9C5F"/>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Game Design Theme" id="{FDF2760C-01FA-4CD6-92F4-89C50AE1AED8}" vid="{701598FD-A452-4D8B-8848-C96AAD2A0DD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Game Design Theme</Template>
  <TotalTime>6715</TotalTime>
  <Words>4589</Words>
  <Application>Microsoft Office PowerPoint</Application>
  <PresentationFormat>Widescreen</PresentationFormat>
  <Paragraphs>345</Paragraphs>
  <Slides>37</Slides>
  <Notes>37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37</vt:i4>
      </vt:variant>
    </vt:vector>
  </HeadingPairs>
  <TitlesOfParts>
    <vt:vector size="41" baseType="lpstr">
      <vt:lpstr>Arial</vt:lpstr>
      <vt:lpstr>Calibri</vt:lpstr>
      <vt:lpstr>Garamond</vt:lpstr>
      <vt:lpstr>Game Design Theme</vt:lpstr>
      <vt:lpstr>Drawing in Perspective</vt:lpstr>
      <vt:lpstr>Intro to Perspective</vt:lpstr>
      <vt:lpstr>Intro to Perspective</vt:lpstr>
      <vt:lpstr>Intro to Perspective</vt:lpstr>
      <vt:lpstr>Picture Plane</vt:lpstr>
      <vt:lpstr>Horizon Line and Vanishing Point</vt:lpstr>
      <vt:lpstr>Horizon Line and Vanishing Point</vt:lpstr>
      <vt:lpstr>One Point Perspective</vt:lpstr>
      <vt:lpstr>One Point Perspective</vt:lpstr>
      <vt:lpstr>Two Point Perspective</vt:lpstr>
      <vt:lpstr>Two Point Perspective</vt:lpstr>
      <vt:lpstr>Two Point Perspective</vt:lpstr>
      <vt:lpstr>Three Point perspective</vt:lpstr>
      <vt:lpstr>Three Point perspective</vt:lpstr>
      <vt:lpstr>Atmospheric Perspective</vt:lpstr>
      <vt:lpstr>Atmospheric Perspective</vt:lpstr>
      <vt:lpstr>Foreshortening</vt:lpstr>
      <vt:lpstr>Foreshortening</vt:lpstr>
      <vt:lpstr>Foreshortening</vt:lpstr>
      <vt:lpstr>Overlap</vt:lpstr>
      <vt:lpstr>Texture Gradient</vt:lpstr>
      <vt:lpstr>Circles in Perspective</vt:lpstr>
      <vt:lpstr>Circles in Perspective</vt:lpstr>
      <vt:lpstr>Size Perspective</vt:lpstr>
      <vt:lpstr>Relative Motion</vt:lpstr>
      <vt:lpstr>Depth of Field</vt:lpstr>
      <vt:lpstr>Depth of Field</vt:lpstr>
      <vt:lpstr>Depth of Field</vt:lpstr>
      <vt:lpstr>Lenses</vt:lpstr>
      <vt:lpstr>Lenses</vt:lpstr>
      <vt:lpstr>Normal Lenses</vt:lpstr>
      <vt:lpstr>Wide Angle Lens</vt:lpstr>
      <vt:lpstr>Wide Angle Lens</vt:lpstr>
      <vt:lpstr>Telephoto Lens</vt:lpstr>
      <vt:lpstr>In Conclusion</vt:lpstr>
      <vt:lpstr>In Conclusion</vt:lpstr>
      <vt:lpstr>In 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Acting for Animation</dc:title>
  <dc:creator>User</dc:creator>
  <cp:lastModifiedBy>Daniel Coes</cp:lastModifiedBy>
  <cp:revision>207</cp:revision>
  <dcterms:created xsi:type="dcterms:W3CDTF">2016-05-07T19:16:27Z</dcterms:created>
  <dcterms:modified xsi:type="dcterms:W3CDTF">2026-08-05T06:20:46Z</dcterms:modified>
</cp:coreProperties>
</file>