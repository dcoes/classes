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4678" autoAdjust="0"/>
  </p:normalViewPr>
  <p:slideViewPr>
    <p:cSldViewPr snapToGrid="0">
      <p:cViewPr varScale="1">
        <p:scale>
          <a:sx n="71" d="100"/>
          <a:sy n="71" d="100"/>
        </p:scale>
        <p:origin x="1170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E8B73-20FE-4169-9595-E55E7D4C6C8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FDB04-D1AC-46DB-9592-CA12D78D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the placeholder notes that were on this slide.</a:t>
            </a:r>
          </a:p>
          <a:p>
            <a:endParaRPr lang="en-US" dirty="0"/>
          </a:p>
          <a:p>
            <a:r>
              <a:rPr lang="en-US" dirty="0"/>
              <a:t>Set expectations immediately, because this is the session most likely to convince a weak draftsman that they cannot pass. It is not a draftsmanship test.</a:t>
            </a:r>
          </a:p>
          <a:p>
            <a:endParaRPr lang="en-US" dirty="0"/>
          </a:p>
          <a:p>
            <a:r>
              <a:rPr lang="en-US" dirty="0"/>
              <a:t>The deck is deliberately ordered so that the five techniques that work regardless of drawing ability come first, and constructed linear perspective comes second. That ordering is the argument: most of the depth in most panels does not come from vanishing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50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 on a flat surface is always a trick,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a translation from one medium to another.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eye reconstructs space from a flat image using a handful of cues: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overlap, relative size, haze, texture, and converging lines.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cues are what the next twenty slides are about.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Perspective is something we take for granted, because it is built into our understanding of reality.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 not have to draw well to use them, you have to know they exist and decide to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5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Perspective has a reputation as the gatekeeping skill in drawing, </a:t>
            </a:r>
          </a:p>
          <a:p>
            <a:r>
              <a:rPr lang="en-US" dirty="0"/>
              <a:t>and that reputation frightens people out of a discipline they would otherwise be good at. </a:t>
            </a:r>
          </a:p>
          <a:p>
            <a:r>
              <a:rPr lang="en-US" dirty="0"/>
              <a:t>In storyboarding it is simply not the highest-leverage tool.</a:t>
            </a:r>
          </a:p>
          <a:p>
            <a:endParaRPr lang="en-US" dirty="0"/>
          </a:p>
          <a:p>
            <a:r>
              <a:rPr lang="en-US" dirty="0"/>
              <a:t>Overlap, scale, atmosphere, value and texture will give you most of the depth in most panels, </a:t>
            </a:r>
          </a:p>
          <a:p>
            <a:r>
              <a:rPr lang="en-US" dirty="0"/>
              <a:t>and none of them require you to construct anything.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perspective is not a property of the drawing.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property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camera 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lens is on 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either of these and every convergence in the frame changes with it.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camera topic that you happen to execute with a pencil.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means the perspective questions in this session are the same questions as the angle questions from a previous lecture, asked in a different vocabulary. Where is the camera, how high, how far, and how wide is the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1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 something in front of something.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 that is interrupted is behind.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brain fills the rest instantly, with no construction and no accuracy required.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it - That is the entire technique.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panel reads flat, the first question is not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 my perspective wrong,"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it’s -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 anything in front of anything."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Overlap also survives bad drawing completely intact.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crude shape in front of another crude shape still reads as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17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 size gives you distance: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(Pretty basic stuff) - the same figure drawn small reads as far away.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known-size object next to an unknown-size one tells the audience how big the unknown thing is,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why the extreme long shot from our previous lecture needs a human-scaled reference in it.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establishing shots often put a person in the frame.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one, a mountain and a rock look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91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really great cue for telling distance is called “Atmospheric Perspective”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simply is based on the idea that Air is not transparent.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Dust and moisture scatter light, so distant objects lose contrast, get lighter, and pick up a blue cast.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Paint that and the eye reads distance without any lines converging anywhere.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reference on the slide is The Two Towers.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Dead Marshes sequence is a sustained demonstration of atmospheric perspective as a way of illustrating the story of the characters getting lost in those wetlands, without proper reference of where they were going to.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black-and-white board you cannot use the color shift,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you can absolutely use the CONTRAST,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 is the part that does the work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53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slide, lifted directly from the composition lecture</a:t>
            </a:r>
          </a:p>
          <a:p>
            <a:endParaRPr lang="en-US" dirty="0"/>
          </a:p>
          <a:p>
            <a:r>
              <a:rPr lang="en-US" dirty="0"/>
              <a:t>Say it verbatim, because they have heard it before and the repetition is the point: this is the cheapest depth cue you own, and it works even if your perspective is wrong.</a:t>
            </a:r>
          </a:p>
          <a:p>
            <a:endParaRPr lang="en-US" dirty="0"/>
          </a:p>
          <a:p>
            <a:r>
              <a:rPr lang="en-US" dirty="0"/>
              <a:t>Three values. Foreground dark, midground mid, background light. That alone will separate three planes in a panel with no construction whatsoever.</a:t>
            </a:r>
          </a:p>
          <a:p>
            <a:endParaRPr lang="en-US" dirty="0"/>
          </a:p>
          <a:p>
            <a:r>
              <a:rPr lang="en-US" dirty="0"/>
              <a:t>Say: notice this is the same three-value discipline from composition and from lighting. Three sessions, one tool, three different jobs. That is not a coincidence, it is the sign that you are learning a system rather than a list.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great way of representing distance is through textures.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repeating surface (cobbles, tiles, grass, waves, a crowd) has a texture that compresses with distance.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 the near ones big and separated and the far ones small and merged, and the surface recedes.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45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have three planes. </a:t>
            </a:r>
          </a:p>
          <a:p>
            <a:r>
              <a:rPr lang="en-US" dirty="0"/>
              <a:t>Put something in the foreground: a branch, a doorframe, a shoulder, a silhouetted edge. </a:t>
            </a:r>
          </a:p>
          <a:p>
            <a:r>
              <a:rPr lang="en-US" dirty="0"/>
              <a:t>Keep your subject in the midground. </a:t>
            </a:r>
          </a:p>
          <a:p>
            <a:r>
              <a:rPr lang="en-US" dirty="0"/>
              <a:t>Put something in the background and lighten it.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constructed half, framed as the specialist tool rather than the foundation.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picture plane is the imaginary sheet of glass between the viewer and the scene.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 you draw is a projection onto that glass.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useful mental model because it makes the geometry concrete: you are not drawing objects, you are drawing where they intersect a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62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horizon line is your camera height.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not a metaphor, it is literally what it encodes.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horizon crosses a standing figure at chest level, the camera is at chest level.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means you can change the camera angle without drawing anything.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the horizon line up and you are looking down. Move it down and you are looking up. You have just executed the high-angle and low-angle shots from Deck 03 with a single line.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them to find the horizon in a still and tell you how tall the camera operator was. It works, and it makes the point permanently.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9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Parallels converge as they recede, and where they meet is a vanishing point on the horizon line.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scene can have many vanishing points.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set of parallel edges pointing in its own direction gets one.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street of buildings all facing the same way share one; a building turned at an angle to the street has its own.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a drawing can be "in perspective" and still look wrong.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 it means two things that should share a vanishing point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3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simplest construction and the most recognizable.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vanishing point. Verticals stay vertical, horizontals stay horizontal, and everything receding runs to the single point.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also the most conspicuous.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Stanley Kubrick built a career on one-point corridors,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reason those shots feel formal and unnerving is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perfect one-point symmetry almost never happens by accident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it when you want the audience to feel the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73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points, which means you are looking at an object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corner rather than face-on.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opens the frame up.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staring down a hallway at a single point,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get two planes receding in different directions,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reads as a real place rather than a diagram.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default for most environments,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is worth noticing how much less formal it feels than one-point.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the two vanishing points closer together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exaggerates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corner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 the space feel tighter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further apart flattens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38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point perspective is often thought of as the most dramatic perspective.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add a third vanishing point off the horizon, the vertical lines start converging as well.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third point high above means a low-angle view up a tall thing.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third point far below means a bird's-eye down onto 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Three-point is what you reach for when the angle is the point: the low angle up the tower, the drop down onto the street.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angles section of Deck 03, executed as geometry.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 is the construction most worth practicing, because it is the one you cannot fake convincingly.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25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simple rule has been to trace corners back to the vanishing points –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what if there are no corners?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Curved objects and circles can be represented the same way by inscribing the curve/ellipse inside the square, with their middles touching each side.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further an ellipse is from the horizon line, the more open it gets.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horizon it collapses to a straight line. That single rule fixes most wheel drawings.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47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Foreshortening is perspective applied within a single object.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pointing arm, a leg kicking towards camera, a body falling towards you. The near end enlarges and the length collapses, usually far more than your hand wants to draw.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boarding workaround, which is legitimate: if a foreshortened pose is fighting you, change the camera angle so it is not foreshortened. That is a real professional decision, not a cop-out, though do notice whether you are choosing the angle or avoiding the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95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often called parallax, and it is the one depth cue you cannot use on a still panel.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move, things close to you slide past quickly and distant things hardly move.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brain reads that speed difference as distance.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makes it an animatic tool rather than a board tool.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Board a pan across a landscape, put something close in the foreground (a branch, a post, a rock) and let it sweep past.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animatic does the rest and the shot suddenly has depth that the individual panel did not.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it at the storyboarding stage though, because it means drawing that foreground element on its own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2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is a depth cue and a direction of attention at the same time.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Depth of field is how deep the sharp zone is. A shallow depth of field isolates a subject from a soft background; a wide one keeps everything legible.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board you indicate it rather than render it. A few soft, low-contrast lines behind a crisply drawn subject reads as shallow focus immediately, and it is faster than drawing the background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32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focus keeps every plane sharp, which changes the relationship with the audience: instead of the camera telling you where to look, the composition has to.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 Kane is the standard reference: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Orson Welles and Gregg Toland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staged action in depth so that foreground, middle and background all carried story simultaneously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composition doing the work that focus usually does.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everything is sharp, your value structure and your leading lines have to be strong enough to direct attention on their own.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harder way to shoot and it is why those frames are still studied.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77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aperture, more in focus.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 aperture, less in focus.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counterintuitive the first time and then it never leaves you.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 not need the f-numbers. What you need is to know that a cinematographer choosing a shallow-focus look is trading light for isolation, and that if you board a shot that depends on a soft background, somebody has to be able to light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54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Lens choice is a storytelling decision, not a technical one, and Sidney Lumet's account in Making Movies is the best example.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Orient Express the body of the film uses normal lenses,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flashbacks switch to wide, which stretches the space, distorts faces slightly, and makes the recollections feel less trustworthy.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 in the audience notices the lens changed.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Everybody notices the flashbacks feel different.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31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normal lens renders spatial relationships approximately as your eye does, so nothing calls attention to itself.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makes it invisible, and invisible is often exactly right.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of most films is shot on normal-ish lenses for the same reason most shots are eye level: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save the conspicuous choices for the moments that deserve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16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 angle stretches depth. The gap between foreground and background is exaggerated, so a room feels bigger and a corridor feels longer than it is.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distorts, particularly at the frame edges and particularly on faces: noses enlarge, edges bow.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wide angle makes a room feel bigger and a face feel wrong. Both of those are useful, and the second one is used deliberately far more often than students expect.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boarding: wide angle means strong convergence.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draw a wide-lens shot with gentle perspective, it will not read as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91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opposite of wide. Telephoto compresses depth: things at different distances look flattened together, and the background sits right behind the subject like a painted backdrop.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classic use is a character running towards camera who never seems to get any closer. The compression is doing that, and you can absolutely draw it.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practical version for you is that a telephoto shot has almost no convergence.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 lines stay nearly parallel. So if you want a shot to read as long-lens, flatten the perspective rather than sharpening it, which is one of the few places in this session where less construction is more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00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slide, and it is the decision this session has to land on.</a:t>
            </a:r>
          </a:p>
          <a:p>
            <a:endParaRPr lang="en-US" dirty="0"/>
          </a:p>
          <a:p>
            <a:r>
              <a:rPr lang="en-US" dirty="0"/>
              <a:t>ideally one built on atmosphere, one on overlap and value, one on hard linear construction. Ask the class to name the cues.</a:t>
            </a:r>
          </a:p>
          <a:p>
            <a:endParaRPr lang="en-US" dirty="0"/>
          </a:p>
          <a:p>
            <a:r>
              <a:rPr lang="en-US" dirty="0"/>
              <a:t>Say: I want to hear "overlap and value", not "good perspective". Naming the specific mechanism is the skill, because it is the only version you can then go and use.</a:t>
            </a:r>
          </a:p>
          <a:p>
            <a:endParaRPr lang="en-US" dirty="0"/>
          </a:p>
          <a:p>
            <a:r>
              <a:rPr lang="en-US" dirty="0"/>
              <a:t>Push the second question if there is time: which cue is carrying the shot, and what would you lose if you removed it? That is the question that turns recognition into judgment.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FDB04-D1AC-46DB-9592-CA12D78D404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95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9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45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3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32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1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01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3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4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720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67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50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622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542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62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57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2E33A7-84C6-449C-AE67-6E7B8B6855D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3C7E8E-FD18-4999-BA7E-E42594F7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8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3625" y="1871131"/>
            <a:ext cx="7448549" cy="1515533"/>
          </a:xfrm>
        </p:spPr>
        <p:txBody>
          <a:bodyPr/>
          <a:lstStyle/>
          <a:p>
            <a:r>
              <a:rPr lang="en-US" sz="4400" dirty="0"/>
              <a:t>Drawing in Perspective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C6AD92-1E75-4AE6-A160-8290338F1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8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EF5C-2B72-41F0-B3B5-0B612BD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Surface, Dimensional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34EF-5B0C-415F-A3C2-FA3BC769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2560320"/>
            <a:ext cx="5394960" cy="3291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 see in three dimensions. Film, video and paper are two.</a:t>
            </a:r>
          </a:p>
          <a:p>
            <a:r>
              <a:rPr lang="en-US" dirty="0">
                <a:solidFill>
                  <a:schemeClr val="tx1"/>
                </a:solidFill>
              </a:rPr>
              <a:t>Depth becomes an illusion, and an illusion is something you construct on purpose.</a:t>
            </a:r>
          </a:p>
          <a:p>
            <a:r>
              <a:rPr lang="en-US" dirty="0">
                <a:solidFill>
                  <a:schemeClr val="tx1"/>
                </a:solidFill>
              </a:rPr>
              <a:t>Perspective is what your eye uses to reconstruct space from a flat image.</a:t>
            </a:r>
          </a:p>
        </p:txBody>
      </p:sp>
      <p:pic>
        <p:nvPicPr>
          <p:cNvPr id="4" name="Perspective ex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97480"/>
            <a:ext cx="384048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4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EF5C-2B72-41F0-B3B5-0B612BD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 Do Not Need to Be Good at This to Be Good at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34EF-5B0C-415F-A3C2-FA3BC769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Six ways to create depth.</a:t>
            </a:r>
          </a:p>
          <a:p>
            <a:r>
              <a:rPr lang="en-US" dirty="0">
                <a:solidFill>
                  <a:schemeClr val="tx1"/>
                </a:solidFill>
              </a:rPr>
              <a:t>Five of them work no matter how well you draw.</a:t>
            </a:r>
          </a:p>
          <a:p>
            <a:r>
              <a:rPr lang="en-US" dirty="0">
                <a:solidFill>
                  <a:schemeClr val="tx1"/>
                </a:solidFill>
              </a:rPr>
              <a:t>The sixth, constructed linear perspective, is the only one that requires construction.</a:t>
            </a:r>
          </a:p>
          <a:p>
            <a:r>
              <a:rPr lang="en-US" dirty="0">
                <a:solidFill>
                  <a:schemeClr val="tx1"/>
                </a:solidFill>
              </a:rPr>
              <a:t>We are doing the five first, on purpose.</a:t>
            </a:r>
          </a:p>
        </p:txBody>
      </p:sp>
    </p:spTree>
    <p:extLst>
      <p:ext uri="{BB962C8B-B14F-4D97-AF65-F5344CB8AC3E}">
        <p14:creationId xmlns:p14="http://schemas.microsoft.com/office/powerpoint/2010/main" val="247214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544D-697C-4204-845F-935F61D5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Perspective Changes Every Time the Camera Moves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5BF89-11CB-4B8C-BD56-32505D72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Lens choice and camera-to-subject distance are both perspective decisions.</a:t>
            </a:r>
          </a:p>
          <a:p>
            <a:r>
              <a:rPr lang="en-US" dirty="0">
                <a:solidFill>
                  <a:schemeClr val="tx1"/>
                </a:solidFill>
              </a:rPr>
              <a:t>Move the camera and you have re-framed the shot, and changed the perspective in it.</a:t>
            </a:r>
          </a:p>
          <a:p>
            <a:r>
              <a:rPr lang="en-US" dirty="0">
                <a:solidFill>
                  <a:schemeClr val="tx1"/>
                </a:solidFill>
              </a:rPr>
              <a:t>Which means perspective is not a drawing topic. It is a camera topic you happen to execute with a pencil.</a:t>
            </a:r>
          </a:p>
        </p:txBody>
      </p:sp>
    </p:spTree>
    <p:extLst>
      <p:ext uri="{BB962C8B-B14F-4D97-AF65-F5344CB8AC3E}">
        <p14:creationId xmlns:p14="http://schemas.microsoft.com/office/powerpoint/2010/main" val="406228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F7D6-BE27-43BB-B6F9-33CD52CD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E48A-1E58-45FD-B47E-8CEEF5681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4612" y="2600324"/>
            <a:ext cx="4676774" cy="3571875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One object in front of another.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The nearer object is complete. The farther one is interrupted.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Probably the cheapest depth cue there is, and it works at any skill level.</a:t>
            </a:r>
          </a:p>
        </p:txBody>
      </p:sp>
      <p:pic>
        <p:nvPicPr>
          <p:cNvPr id="3074" name="Picture 2" descr="Image result for sunset behind mountains">
            <a:extLst>
              <a:ext uri="{FF2B5EF4-FFF2-40B4-BE49-F238E27FC236}">
                <a16:creationId xmlns:a16="http://schemas.microsoft.com/office/drawing/2014/main" id="{51E6F0AB-54D0-4B52-ADBE-487525FDFA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1"/>
          <a:stretch/>
        </p:blipFill>
        <p:spPr bwMode="auto">
          <a:xfrm>
            <a:off x="1033463" y="2600324"/>
            <a:ext cx="5191125" cy="34432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2412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BD0E-9901-45BD-BE6B-C9C67EDD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and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1B6E-B9A0-407E-9E49-E27FA5D8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7091361" cy="3318936"/>
          </a:xfrm>
        </p:spPr>
        <p:txBody>
          <a:bodyPr/>
          <a:lstStyle/>
          <a:p>
            <a:r>
              <a:rPr lang="en-US" dirty="0"/>
              <a:t>Closer is bigger. Farther is smaller.</a:t>
            </a:r>
          </a:p>
          <a:p>
            <a:r>
              <a:rPr lang="en-US" dirty="0"/>
              <a:t>Scale also tells the audience how big the thing itself is: the horse beside the castle.</a:t>
            </a:r>
          </a:p>
          <a:p>
            <a:r>
              <a:rPr lang="en-US" dirty="0"/>
              <a:t>Two identical shapes at different sizes read as the same object at different distances.</a:t>
            </a:r>
          </a:p>
        </p:txBody>
      </p:sp>
      <p:pic>
        <p:nvPicPr>
          <p:cNvPr id="8194" name="Picture 2" descr="Image result for scale optical illusion">
            <a:extLst>
              <a:ext uri="{FF2B5EF4-FFF2-40B4-BE49-F238E27FC236}">
                <a16:creationId xmlns:a16="http://schemas.microsoft.com/office/drawing/2014/main" id="{C64352BF-BC2F-4192-BB3E-25D53F41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098" y="2556932"/>
            <a:ext cx="2095500" cy="31432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457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76B-40B4-41C0-9240-6D227347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Atmospheric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DDA52-389F-4C0D-994A-9B3846CD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255" y="2485622"/>
            <a:ext cx="5181425" cy="2034862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Distance means haze: particles of dust and moisture between you and the subject.</a:t>
            </a:r>
          </a:p>
          <a:p>
            <a:r>
              <a:rPr lang="en-US" dirty="0">
                <a:solidFill>
                  <a:schemeClr val="tx1"/>
                </a:solidFill>
              </a:rPr>
              <a:t>Far away: less contrast, lighter value, cooler and bluer.</a:t>
            </a:r>
          </a:p>
          <a:p>
            <a:r>
              <a:rPr lang="en-US" dirty="0">
                <a:solidFill>
                  <a:schemeClr val="tx1"/>
                </a:solidFill>
              </a:rPr>
              <a:t>Near: darker, higher contrast, warmer.</a:t>
            </a:r>
          </a:p>
          <a:p>
            <a:r>
              <a:rPr lang="en-US" dirty="0">
                <a:solidFill>
                  <a:schemeClr val="tx1"/>
                </a:solidFill>
              </a:rPr>
              <a:t>The Lord of the Rings: The Two Towers. The Dead Marshes are built on this.</a:t>
            </a:r>
          </a:p>
        </p:txBody>
      </p:sp>
      <p:pic>
        <p:nvPicPr>
          <p:cNvPr id="16386" name="Picture 2" descr="ÐÐ¾Ð²Ð¾ÑÑÐ¸">
            <a:extLst>
              <a:ext uri="{FF2B5EF4-FFF2-40B4-BE49-F238E27FC236}">
                <a16:creationId xmlns:a16="http://schemas.microsoft.com/office/drawing/2014/main" id="{9E84A00D-0207-4A86-8140-5503CD16C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30" b="51361"/>
          <a:stretch/>
        </p:blipFill>
        <p:spPr bwMode="auto">
          <a:xfrm>
            <a:off x="914400" y="2532888"/>
            <a:ext cx="4297680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Image result for grand canyon">
            <a:extLst>
              <a:ext uri="{FF2B5EF4-FFF2-40B4-BE49-F238E27FC236}">
                <a16:creationId xmlns:a16="http://schemas.microsoft.com/office/drawing/2014/main" id="{9D4DAE34-CFC2-4CD2-A196-986F9E4C6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79" b="25978"/>
          <a:stretch/>
        </p:blipFill>
        <p:spPr bwMode="auto">
          <a:xfrm>
            <a:off x="914400" y="4343400"/>
            <a:ext cx="4297680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" name="Dead marsh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4681728"/>
            <a:ext cx="466344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8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EF5C-2B72-41F0-B3B5-0B612BD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as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34EF-5B0C-415F-A3C2-FA3BC769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Near: darker, higher contrast.</a:t>
            </a:r>
          </a:p>
          <a:p>
            <a:r>
              <a:rPr lang="en-US" dirty="0">
                <a:solidFill>
                  <a:schemeClr val="tx1"/>
                </a:solidFill>
              </a:rPr>
              <a:t>Far: lighter, lower contrast.</a:t>
            </a:r>
          </a:p>
          <a:p>
            <a:r>
              <a:rPr lang="en-US" dirty="0">
                <a:solidFill>
                  <a:schemeClr val="tx1"/>
                </a:solidFill>
              </a:rPr>
              <a:t>This is the cheapest depth cue you own, and it works even if your perspective is wrong.</a:t>
            </a:r>
          </a:p>
        </p:txBody>
      </p:sp>
    </p:spTree>
    <p:extLst>
      <p:ext uri="{BB962C8B-B14F-4D97-AF65-F5344CB8AC3E}">
        <p14:creationId xmlns:p14="http://schemas.microsoft.com/office/powerpoint/2010/main" val="247214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F7D6-BE27-43BB-B6F9-33CD52CD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E48A-1E58-45FD-B47E-8CEEF5681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743200"/>
            <a:ext cx="4119562" cy="3132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Most surfaces have texture: walls, roads, fields, water, crowds.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Close up, the texture is coarse and you can see individual units.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With distance it gets finer and smoother until it disappears into an even tone.</a:t>
            </a:r>
          </a:p>
        </p:txBody>
      </p:sp>
      <p:pic>
        <p:nvPicPr>
          <p:cNvPr id="5124" name="Picture 4" descr="Image result for texture gradient">
            <a:extLst>
              <a:ext uri="{FF2B5EF4-FFF2-40B4-BE49-F238E27FC236}">
                <a16:creationId xmlns:a16="http://schemas.microsoft.com/office/drawing/2014/main" id="{93DAFC5B-DFFC-4F41-B07B-918760414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224" y="2600325"/>
            <a:ext cx="5823188" cy="3275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58125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EF5C-2B72-41F0-B3B5-0B612BD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Foreground, Midground,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34EF-5B0C-415F-A3C2-FA3BC769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Three planes is enough. Most student panels use one.</a:t>
            </a:r>
          </a:p>
          <a:p>
            <a:r>
              <a:rPr lang="en-US" dirty="0">
                <a:solidFill>
                  <a:schemeClr val="tx1"/>
                </a:solidFill>
              </a:rPr>
              <a:t>Something near, something at the subject's distance, something far.</a:t>
            </a:r>
          </a:p>
          <a:p>
            <a:r>
              <a:rPr lang="en-US" dirty="0">
                <a:solidFill>
                  <a:schemeClr val="tx1"/>
                </a:solidFill>
              </a:rPr>
              <a:t>Overlap them, separate them by value, and you have depth without a single construction line.</a:t>
            </a:r>
          </a:p>
        </p:txBody>
      </p:sp>
    </p:spTree>
    <p:extLst>
      <p:ext uri="{BB962C8B-B14F-4D97-AF65-F5344CB8AC3E}">
        <p14:creationId xmlns:p14="http://schemas.microsoft.com/office/powerpoint/2010/main" val="247214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C4E8-DAD5-4FBC-AA55-4918F543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659F-F451-4EBB-A9AA-86E553B7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401613" cy="3318936"/>
          </a:xfrm>
        </p:spPr>
        <p:txBody>
          <a:bodyPr/>
          <a:lstStyle/>
          <a:p>
            <a:r>
              <a:rPr lang="en-US" dirty="0"/>
              <a:t>Think of it as a window between you and the world.</a:t>
            </a:r>
          </a:p>
          <a:p>
            <a:r>
              <a:rPr lang="en-US" dirty="0"/>
              <a:t>What you draw is what you would trace on that glass.</a:t>
            </a:r>
          </a:p>
          <a:p>
            <a:r>
              <a:rPr lang="en-US" dirty="0"/>
              <a:t>Your line of sight (your eyeline) points through it at the subject.</a:t>
            </a:r>
          </a:p>
        </p:txBody>
      </p:sp>
      <p:pic>
        <p:nvPicPr>
          <p:cNvPr id="4102" name="Picture 6" descr="https://i1.wp.com/www.realistacademy.com/wp-content/uploads/2015/11/Picture-Plane1.jpg?ssl=1">
            <a:extLst>
              <a:ext uri="{FF2B5EF4-FFF2-40B4-BE49-F238E27FC236}">
                <a16:creationId xmlns:a16="http://schemas.microsoft.com/office/drawing/2014/main" id="{4A3D76A9-4EA4-4409-BAA8-8911B3508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2" y="2556932"/>
            <a:ext cx="4063996" cy="228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52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C4E8-DAD5-4FBC-AA55-4918F543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 Line = Eye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659F-F451-4EBB-A9AA-86E553B7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318936"/>
          </a:xfrm>
        </p:spPr>
        <p:txBody>
          <a:bodyPr>
            <a:normAutofit/>
          </a:bodyPr>
          <a:lstStyle/>
          <a:p>
            <a:r>
              <a:rPr lang="en-US" dirty="0"/>
              <a:t>The horizon line is always at the viewer's eye level.</a:t>
            </a:r>
          </a:p>
          <a:p>
            <a:r>
              <a:rPr lang="en-US" dirty="0"/>
              <a:t>Where an object sits relative to it tells you whether the shot is high, low or neutral.</a:t>
            </a:r>
          </a:p>
          <a:p>
            <a:r>
              <a:rPr lang="en-US" dirty="0"/>
              <a:t>Move the horizon line and you have moved the camera.</a:t>
            </a:r>
          </a:p>
        </p:txBody>
      </p:sp>
      <p:pic>
        <p:nvPicPr>
          <p:cNvPr id="6148" name="Picture 4" descr="Image result for shoreline horizon line drawing">
            <a:extLst>
              <a:ext uri="{FF2B5EF4-FFF2-40B4-BE49-F238E27FC236}">
                <a16:creationId xmlns:a16="http://schemas.microsoft.com/office/drawing/2014/main" id="{45142E0C-C9BE-48BB-9DD4-D775FDA24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/>
        </p:blipFill>
        <p:spPr bwMode="auto">
          <a:xfrm>
            <a:off x="6096000" y="2573030"/>
            <a:ext cx="4941548" cy="3302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45329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C4E8-DAD5-4FBC-AA55-4918F543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659F-F451-4EBB-A9AA-86E553B7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point on the horizon where parallel lines appear to converge.</a:t>
            </a:r>
          </a:p>
          <a:p>
            <a:r>
              <a:rPr lang="en-US" dirty="0">
                <a:solidFill>
                  <a:schemeClr val="tx1"/>
                </a:solidFill>
              </a:rPr>
              <a:t>Objects parallel to each other share a vanishing point.</a:t>
            </a:r>
          </a:p>
          <a:p>
            <a:r>
              <a:rPr lang="en-US" dirty="0">
                <a:solidFill>
                  <a:schemeClr val="tx1"/>
                </a:solidFill>
              </a:rPr>
              <a:t>Objects at different angles get their own.</a:t>
            </a:r>
          </a:p>
        </p:txBody>
      </p:sp>
      <p:pic>
        <p:nvPicPr>
          <p:cNvPr id="6148" name="Picture 4" descr="Image result for shoreline horizon line drawing">
            <a:extLst>
              <a:ext uri="{FF2B5EF4-FFF2-40B4-BE49-F238E27FC236}">
                <a16:creationId xmlns:a16="http://schemas.microsoft.com/office/drawing/2014/main" id="{45142E0C-C9BE-48BB-9DD4-D775FDA24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/>
        </p:blipFill>
        <p:spPr bwMode="auto">
          <a:xfrm>
            <a:off x="6096000" y="2573030"/>
            <a:ext cx="4941548" cy="3302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Graphic 5" descr="Close">
            <a:extLst>
              <a:ext uri="{FF2B5EF4-FFF2-40B4-BE49-F238E27FC236}">
                <a16:creationId xmlns:a16="http://schemas.microsoft.com/office/drawing/2014/main" id="{5DF0C28B-0C99-4884-8C17-374FD033244E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5267" y="3628622"/>
            <a:ext cx="914400" cy="914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4C77E6-6594-46FC-A92A-861B7209E415}"/>
              </a:ext>
            </a:extLst>
          </p:cNvPr>
          <p:cNvCxnSpPr/>
          <p:nvPr/>
        </p:nvCxnSpPr>
        <p:spPr>
          <a:xfrm>
            <a:off x="8332631" y="4095482"/>
            <a:ext cx="2563967" cy="17964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597FC5-D193-4307-AF3E-4F03562E6EC9}"/>
              </a:ext>
            </a:extLst>
          </p:cNvPr>
          <p:cNvCxnSpPr>
            <a:cxnSpLocks/>
          </p:cNvCxnSpPr>
          <p:nvPr/>
        </p:nvCxnSpPr>
        <p:spPr>
          <a:xfrm flipV="1">
            <a:off x="7885267" y="4085823"/>
            <a:ext cx="457200" cy="17900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4B85B2-9E64-483B-869F-F0177E0588D7}"/>
              </a:ext>
            </a:extLst>
          </p:cNvPr>
          <p:cNvCxnSpPr/>
          <p:nvPr/>
        </p:nvCxnSpPr>
        <p:spPr>
          <a:xfrm flipV="1">
            <a:off x="6194738" y="4085822"/>
            <a:ext cx="2147729" cy="1561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CA6D62-5B57-428E-A180-5B3EB1599AF2}"/>
              </a:ext>
            </a:extLst>
          </p:cNvPr>
          <p:cNvCxnSpPr>
            <a:cxnSpLocks/>
          </p:cNvCxnSpPr>
          <p:nvPr/>
        </p:nvCxnSpPr>
        <p:spPr>
          <a:xfrm flipV="1">
            <a:off x="8332631" y="2963812"/>
            <a:ext cx="2471399" cy="1122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37AC9-0A06-4D76-B741-958BB4D10B79}"/>
              </a:ext>
            </a:extLst>
          </p:cNvPr>
          <p:cNvCxnSpPr>
            <a:cxnSpLocks/>
          </p:cNvCxnSpPr>
          <p:nvPr/>
        </p:nvCxnSpPr>
        <p:spPr>
          <a:xfrm>
            <a:off x="6096000" y="2643687"/>
            <a:ext cx="2236631" cy="1458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52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76B-40B4-41C0-9240-6D227347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One-Point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DDA52-389F-4C0D-994A-9B3846CD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8349"/>
            <a:ext cx="4661646" cy="39022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One vanishing point on the horizon.</a:t>
            </a:r>
          </a:p>
          <a:p>
            <a:r>
              <a:rPr lang="en-US" dirty="0">
                <a:solidFill>
                  <a:schemeClr val="tx1"/>
                </a:solidFill>
              </a:rPr>
              <a:t>Three kinds of line: verticals, horizontals, and orthogonals that recede to the point.</a:t>
            </a:r>
          </a:p>
          <a:p>
            <a:r>
              <a:rPr lang="en-US" dirty="0">
                <a:solidFill>
                  <a:schemeClr val="tx1"/>
                </a:solidFill>
              </a:rPr>
              <a:t>Corridors, roads, tunnels, receding rooms: anything you are looking straight down.</a:t>
            </a:r>
          </a:p>
        </p:txBody>
      </p:sp>
      <p:pic>
        <p:nvPicPr>
          <p:cNvPr id="6" name="Picture 5" descr="Using Lines in Shot Composition – A Journey of Visual Mastery with Film  Examples | CineD">
            <a:extLst>
              <a:ext uri="{FF2B5EF4-FFF2-40B4-BE49-F238E27FC236}">
                <a16:creationId xmlns:a16="http://schemas.microsoft.com/office/drawing/2014/main" id="{42ED35F8-BB95-CD4C-CF96-BD3631A7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047" y="2712447"/>
            <a:ext cx="5074907" cy="28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76B-40B4-41C0-9240-6D227347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Two-Point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DDA52-389F-4C0D-994A-9B3846CD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485622"/>
            <a:ext cx="5314681" cy="35803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Two vanishing points, both on the horizon.</a:t>
            </a:r>
          </a:p>
          <a:p>
            <a:r>
              <a:rPr lang="en-US" dirty="0">
                <a:solidFill>
                  <a:schemeClr val="tx1"/>
                </a:solidFill>
              </a:rPr>
              <a:t>Verticals stay vertical; the two sets of receding lines run to their own points.</a:t>
            </a:r>
          </a:p>
          <a:p>
            <a:r>
              <a:rPr lang="en-US" dirty="0">
                <a:solidFill>
                  <a:schemeClr val="tx1"/>
                </a:solidFill>
              </a:rPr>
              <a:t>You are looking at a corner rather than a face. Most exteriors live here.</a:t>
            </a:r>
          </a:p>
        </p:txBody>
      </p:sp>
      <p:pic>
        <p:nvPicPr>
          <p:cNvPr id="10242" name="Picture 2" descr="Image result for two point perspective drawing">
            <a:extLst>
              <a:ext uri="{FF2B5EF4-FFF2-40B4-BE49-F238E27FC236}">
                <a16:creationId xmlns:a16="http://schemas.microsoft.com/office/drawing/2014/main" id="{8A3821BC-8590-4EBE-861F-3431F28D4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59" y="2485622"/>
            <a:ext cx="5191741" cy="3205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24870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C7F3-539E-4A7B-9784-3DD5D1E2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Three-Point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5A4E-CBEC-489A-8FF8-711A00DE5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6667499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Two vanishing points on the horizon, and a third above or below it.</a:t>
            </a:r>
          </a:p>
          <a:p>
            <a:r>
              <a:rPr lang="en-US" dirty="0">
                <a:solidFill>
                  <a:schemeClr val="tx1"/>
                </a:solidFill>
              </a:rPr>
              <a:t>Now the verticals converge too.</a:t>
            </a:r>
          </a:p>
          <a:p>
            <a:r>
              <a:rPr lang="en-US" dirty="0">
                <a:solidFill>
                  <a:schemeClr val="tx1"/>
                </a:solidFill>
              </a:rPr>
              <a:t>Third point above the horizon: you are looking up. Below: you are looking down.</a:t>
            </a:r>
          </a:p>
        </p:txBody>
      </p:sp>
      <p:pic>
        <p:nvPicPr>
          <p:cNvPr id="12292" name="Picture 4" descr="Image result for 3 point perspective building photo">
            <a:extLst>
              <a:ext uri="{FF2B5EF4-FFF2-40B4-BE49-F238E27FC236}">
                <a16:creationId xmlns:a16="http://schemas.microsoft.com/office/drawing/2014/main" id="{DF04C0C7-07AF-45AB-A245-803FA83E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847" y="2569631"/>
            <a:ext cx="2540953" cy="338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186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76B-40B4-41C0-9240-6D227347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Circles in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DDA52-389F-4C0D-994A-9B3846CD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0" y="2514600"/>
            <a:ext cx="4846320" cy="214884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 circle in perspective is an ellipse.</a:t>
            </a:r>
          </a:p>
          <a:p>
            <a:r>
              <a:rPr lang="en-US" dirty="0">
                <a:solidFill>
                  <a:schemeClr val="tx1"/>
                </a:solidFill>
              </a:rPr>
              <a:t>Draw the square in perspective first, then fit the ellipse inside it, touching all four sides.</a:t>
            </a:r>
          </a:p>
          <a:p>
            <a:r>
              <a:rPr lang="en-US" dirty="0">
                <a:solidFill>
                  <a:schemeClr val="tx1"/>
                </a:solidFill>
              </a:rPr>
              <a:t>Wheels, plates, lamps, tables, archways, tunnel mouths.</a:t>
            </a:r>
          </a:p>
        </p:txBody>
      </p:sp>
      <p:pic>
        <p:nvPicPr>
          <p:cNvPr id="6146" name="Picture 2" descr="Image result for circles in perspective">
            <a:extLst>
              <a:ext uri="{FF2B5EF4-FFF2-40B4-BE49-F238E27FC236}">
                <a16:creationId xmlns:a16="http://schemas.microsoft.com/office/drawing/2014/main" id="{1878EB4E-0B49-4B37-B2B9-701B4AA15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320" y="2615184"/>
            <a:ext cx="3063240" cy="2871216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</p:spPr>
      </p:pic>
      <p:pic>
        <p:nvPicPr>
          <p:cNvPr id="6147" name="Circle constru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617720"/>
            <a:ext cx="2834640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44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F7D6-BE27-43BB-B6F9-33CD52CD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Foreshortening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E48A-1E58-45FD-B47E-8CEEF5681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2697480"/>
            <a:ext cx="4480560" cy="3429000"/>
          </a:xfrm>
        </p:spPr>
        <p:txBody>
          <a:bodyPr/>
          <a:lstStyle/>
          <a:p>
            <a:r>
              <a:rPr lang="en-US" sz="1500" dirty="0">
                <a:solidFill>
                  <a:schemeClr val="tx1"/>
                </a:solidFill>
              </a:rPr>
              <a:t>Applying perspective to a single form, so one part reads as much closer than another.</a:t>
            </a:r>
          </a:p>
          <a:p>
            <a:r>
              <a:rPr lang="en-US" sz="1500" dirty="0">
                <a:solidFill>
                  <a:schemeClr val="tx1"/>
                </a:solidFill>
              </a:rPr>
              <a:t>Easy on a pipe or a box. Hard on an arm or a leg.</a:t>
            </a:r>
          </a:p>
          <a:p>
            <a:r>
              <a:rPr lang="en-US" sz="1500" dirty="0">
                <a:solidFill>
                  <a:schemeClr val="tx1"/>
                </a:solidFill>
              </a:rPr>
              <a:t>The near part gets larger and the length compresses, usually far more than feels right.</a:t>
            </a:r>
          </a:p>
        </p:txBody>
      </p:sp>
      <p:pic>
        <p:nvPicPr>
          <p:cNvPr id="1026" name="Picture 2" descr="Image result for pipeline">
            <a:extLst>
              <a:ext uri="{FF2B5EF4-FFF2-40B4-BE49-F238E27FC236}">
                <a16:creationId xmlns:a16="http://schemas.microsoft.com/office/drawing/2014/main" id="{ADE59D91-8A82-4488-9BAD-4456481A1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2743200"/>
            <a:ext cx="2377440" cy="15819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Foreshortened fig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743200"/>
            <a:ext cx="2377440" cy="19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28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657F-84A3-4985-AF4F-DFD1DF17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2560-3A9A-48F1-9D4B-F728D29F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9963149" cy="36438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the camera moves, near objects sweep past faster than far ones.</a:t>
            </a:r>
          </a:p>
          <a:p>
            <a:r>
              <a:rPr lang="en-US" dirty="0">
                <a:solidFill>
                  <a:schemeClr val="tx1"/>
                </a:solidFill>
              </a:rPr>
              <a:t>Distant mountains barely move at all.</a:t>
            </a:r>
          </a:p>
          <a:p>
            <a:r>
              <a:rPr lang="en-US" dirty="0">
                <a:solidFill>
                  <a:schemeClr val="tx1"/>
                </a:solidFill>
              </a:rPr>
              <a:t>The difference in speed is itself a depth cue, and the only one that needs motion.</a:t>
            </a:r>
          </a:p>
        </p:txBody>
      </p:sp>
    </p:spTree>
    <p:extLst>
      <p:ext uri="{BB962C8B-B14F-4D97-AF65-F5344CB8AC3E}">
        <p14:creationId xmlns:p14="http://schemas.microsoft.com/office/powerpoint/2010/main" val="365655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D0C2-F0F8-4326-9E71-D56C18BA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of Field</a:t>
            </a:r>
          </a:p>
        </p:txBody>
      </p:sp>
      <p:pic>
        <p:nvPicPr>
          <p:cNvPr id="9218" name="Picture 2" descr="Image result for depth of field">
            <a:extLst>
              <a:ext uri="{FF2B5EF4-FFF2-40B4-BE49-F238E27FC236}">
                <a16:creationId xmlns:a16="http://schemas.microsoft.com/office/drawing/2014/main" id="{AF4AF78A-8A9E-409F-99E9-0907AE5A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556402"/>
            <a:ext cx="5395912" cy="359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2188F2-1493-476A-BC91-8183F1573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425" y="2556931"/>
            <a:ext cx="4429124" cy="3643843"/>
          </a:xfrm>
        </p:spPr>
        <p:txBody>
          <a:bodyPr>
            <a:normAutofit/>
          </a:bodyPr>
          <a:lstStyle/>
          <a:p>
            <a:r>
              <a:rPr lang="en-US" dirty="0"/>
              <a:t>How much of the frame is in focus, in front of and behind the point focused on.</a:t>
            </a:r>
          </a:p>
          <a:p>
            <a:r>
              <a:rPr lang="en-US" dirty="0"/>
              <a:t>Shallow: a thin slice sharp, everything else soft.</a:t>
            </a:r>
          </a:p>
          <a:p>
            <a:r>
              <a:rPr lang="en-US" dirty="0"/>
              <a:t>Wide: most of the frame sharp at once.</a:t>
            </a:r>
          </a:p>
        </p:txBody>
      </p:sp>
    </p:spTree>
    <p:extLst>
      <p:ext uri="{BB962C8B-B14F-4D97-AF65-F5344CB8AC3E}">
        <p14:creationId xmlns:p14="http://schemas.microsoft.com/office/powerpoint/2010/main" val="368799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D0C2-F0F8-4326-9E71-D56C18BA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Focus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69E8AC-6BE4-4017-8343-FCA42046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863" y="2556931"/>
            <a:ext cx="4357686" cy="36438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Foreground, midground and background all sharp.</a:t>
            </a:r>
          </a:p>
          <a:p>
            <a:r>
              <a:rPr lang="en-US" dirty="0">
                <a:solidFill>
                  <a:schemeClr val="tx1"/>
                </a:solidFill>
              </a:rPr>
              <a:t>Every plane equally available, so the audience chooses where to look.</a:t>
            </a:r>
          </a:p>
          <a:p>
            <a:r>
              <a:rPr lang="en-US" dirty="0">
                <a:solidFill>
                  <a:schemeClr val="tx1"/>
                </a:solidFill>
              </a:rPr>
              <a:t>Orson Welles and Gregg Toland, Citizen Kane.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D3E11-7531-B44C-1E31-C22DC2159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556930"/>
            <a:ext cx="5348568" cy="327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67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D0C2-F0F8-4326-9E71-D56C18BA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Aperture</a:t>
            </a:r>
          </a:p>
        </p:txBody>
      </p:sp>
      <p:pic>
        <p:nvPicPr>
          <p:cNvPr id="9218" name="Picture 2" descr="Image result for depth of field">
            <a:extLst>
              <a:ext uri="{FF2B5EF4-FFF2-40B4-BE49-F238E27FC236}">
                <a16:creationId xmlns:a16="http://schemas.microsoft.com/office/drawing/2014/main" id="{AF4AF78A-8A9E-409F-99E9-0907AE5A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556402"/>
            <a:ext cx="5395912" cy="359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69E8AC-6BE4-4017-8343-FCA42046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863" y="2556931"/>
            <a:ext cx="4357686" cy="36438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Aperture is the opening in the lens that lets light in.</a:t>
            </a:r>
          </a:p>
          <a:p>
            <a:r>
              <a:rPr lang="en-US" dirty="0">
                <a:solidFill>
                  <a:schemeClr val="tx1"/>
                </a:solidFill>
              </a:rPr>
              <a:t>Small aperture: less light, greater depth of field. More of the frame is sharp.</a:t>
            </a:r>
          </a:p>
          <a:p>
            <a:r>
              <a:rPr lang="en-US" dirty="0">
                <a:solidFill>
                  <a:schemeClr val="tx1"/>
                </a:solidFill>
              </a:rPr>
              <a:t>Wide aperture: more light, shallower depth of field. A thinner slice is sharp.</a:t>
            </a:r>
          </a:p>
        </p:txBody>
      </p:sp>
    </p:spTree>
    <p:extLst>
      <p:ext uri="{BB962C8B-B14F-4D97-AF65-F5344CB8AC3E}">
        <p14:creationId xmlns:p14="http://schemas.microsoft.com/office/powerpoint/2010/main" val="281928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C2C4-7A2B-46A9-9162-63AAE527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Lenses Tell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08BD6-BEE5-43BB-A5EF-52A28E20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973613" cy="140976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Three main lenses: wide angle, normal, telephoto.</a:t>
            </a:r>
          </a:p>
          <a:p>
            <a:r>
              <a:rPr lang="en-US" dirty="0">
                <a:solidFill>
                  <a:schemeClr val="tx1"/>
                </a:solidFill>
              </a:rPr>
              <a:t>Each one describes space differently: the same scene, three different worlds.</a:t>
            </a:r>
          </a:p>
          <a:p>
            <a:r>
              <a:rPr lang="en-US" dirty="0">
                <a:solidFill>
                  <a:schemeClr val="tx1"/>
                </a:solidFill>
              </a:rPr>
              <a:t>In Murder on the Orient Express, the flashbacks are shot on wide lenses to make them feel dramatic and distorted.</a:t>
            </a:r>
          </a:p>
        </p:txBody>
      </p:sp>
      <p:pic>
        <p:nvPicPr>
          <p:cNvPr id="2050" name="Picture 2" descr="Three differrent pictures taken with different focal lengths by Robert Berdan Â©">
            <a:extLst>
              <a:ext uri="{FF2B5EF4-FFF2-40B4-BE49-F238E27FC236}">
                <a16:creationId xmlns:a16="http://schemas.microsoft.com/office/drawing/2014/main" id="{1A7D6950-B97C-4016-A5EC-643A7B7DF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" y="4237626"/>
            <a:ext cx="461772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Lens compari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612" y="3966693"/>
            <a:ext cx="3399416" cy="19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C2C4-7A2B-46A9-9162-63AAE527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Lens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E05A5F-B35C-4EFC-86E1-3C4514223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420" y="2556932"/>
            <a:ext cx="6226932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Roughly mimics the perspective of human vision.</a:t>
            </a:r>
          </a:p>
          <a:p>
            <a:r>
              <a:rPr lang="en-US" dirty="0">
                <a:solidFill>
                  <a:schemeClr val="tx1"/>
                </a:solidFill>
              </a:rPr>
              <a:t>Relationships look the way you expect: figures sized and spaced normally relative to each other.</a:t>
            </a:r>
          </a:p>
          <a:p>
            <a:r>
              <a:rPr lang="en-US" dirty="0">
                <a:solidFill>
                  <a:schemeClr val="tx1"/>
                </a:solidFill>
              </a:rPr>
              <a:t>Looking through it is close to looking with your own eye.</a:t>
            </a:r>
          </a:p>
        </p:txBody>
      </p:sp>
      <p:pic>
        <p:nvPicPr>
          <p:cNvPr id="3074" name="Picture 2" descr="Image result for 55mm lens perspective">
            <a:extLst>
              <a:ext uri="{FF2B5EF4-FFF2-40B4-BE49-F238E27FC236}">
                <a16:creationId xmlns:a16="http://schemas.microsoft.com/office/drawing/2014/main" id="{43A13160-D302-4239-A3AA-674325E54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144" y="2717442"/>
            <a:ext cx="3529536" cy="275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928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D3BA-6E67-4132-B692-ECBFF979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41F4-3BBB-42F4-AE17-5A69F6F6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8" y="2606040"/>
            <a:ext cx="4206240" cy="3474720"/>
          </a:xfrm>
        </p:spPr>
        <p:txBody>
          <a:bodyPr/>
          <a:lstStyle/>
          <a:p>
            <a:r>
              <a:rPr lang="en-US" sz="1500" dirty="0">
                <a:solidFill>
                  <a:schemeClr val="tx1"/>
                </a:solidFill>
              </a:rPr>
              <a:t>Takes in a much larger area than a normal lens.</a:t>
            </a:r>
          </a:p>
          <a:p>
            <a:r>
              <a:rPr lang="en-US" sz="1500" dirty="0">
                <a:solidFill>
                  <a:schemeClr val="tx1"/>
                </a:solidFill>
              </a:rPr>
              <a:t>Exaggerates the space between near and far.</a:t>
            </a:r>
          </a:p>
          <a:p>
            <a:r>
              <a:rPr lang="en-US" sz="1500" dirty="0">
                <a:solidFill>
                  <a:schemeClr val="tx1"/>
                </a:solidFill>
              </a:rPr>
              <a:t>Foreground and background both tend to stay in focus.</a:t>
            </a:r>
          </a:p>
          <a:p>
            <a:r>
              <a:rPr lang="en-US" sz="1500" dirty="0">
                <a:solidFill>
                  <a:schemeClr val="tx1"/>
                </a:solidFill>
              </a:rPr>
              <a:t>The wider the lens, the more distortion, especially at the edges, and on faces.</a:t>
            </a:r>
          </a:p>
        </p:txBody>
      </p:sp>
      <p:pic>
        <p:nvPicPr>
          <p:cNvPr id="4098" name="Picture 2" descr="Image result for wide angle lens landscape">
            <a:extLst>
              <a:ext uri="{FF2B5EF4-FFF2-40B4-BE49-F238E27FC236}">
                <a16:creationId xmlns:a16="http://schemas.microsoft.com/office/drawing/2014/main" id="{584EA714-9FDF-4535-82A8-E4A1F30B4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580" y="2530698"/>
            <a:ext cx="4800602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924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8E0C-CE91-477E-A87A-704A8ACB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B690E-8751-409C-BB73-0357CA5D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556932"/>
            <a:ext cx="4800596" cy="3318936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Shallow depth of field: a thin slice in focus, everything else soft.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Compresses foreground and background together.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Objects at different distances appear stacked, closer together than they really are.</a:t>
            </a:r>
          </a:p>
        </p:txBody>
      </p:sp>
      <p:pic>
        <p:nvPicPr>
          <p:cNvPr id="5122" name="Picture 2" descr="File:Photographer with telephoto lens on football game.jpg">
            <a:extLst>
              <a:ext uri="{FF2B5EF4-FFF2-40B4-BE49-F238E27FC236}">
                <a16:creationId xmlns:a16="http://schemas.microsoft.com/office/drawing/2014/main" id="{3FA5955D-6770-4376-B698-05E0EC26C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22" y="2618272"/>
            <a:ext cx="4694350" cy="312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819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EF5C-2B72-41F0-B3B5-0B612BD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Cue Is This Shot Using?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34EF-5B0C-415F-A3C2-FA3BC769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326" y="2556932"/>
            <a:ext cx="10688168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Name the depth cues in each.</a:t>
            </a:r>
          </a:p>
          <a:p>
            <a:r>
              <a:rPr lang="en-US" dirty="0">
                <a:solidFill>
                  <a:schemeClr val="tx1"/>
                </a:solidFill>
              </a:rPr>
              <a:t>Which cue is doing the most work, and what would the frame lose without it?</a:t>
            </a:r>
          </a:p>
        </p:txBody>
      </p:sp>
      <p:pic>
        <p:nvPicPr>
          <p:cNvPr id="5" name="Picture 4" descr="Star Wars: What Happened to Coruscant After the Empire Fell">
            <a:extLst>
              <a:ext uri="{FF2B5EF4-FFF2-40B4-BE49-F238E27FC236}">
                <a16:creationId xmlns:a16="http://schemas.microsoft.com/office/drawing/2014/main" id="{CAC9A151-5381-6BC2-C66D-78839B3FE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99" y="3794591"/>
            <a:ext cx="3099547" cy="1937217"/>
          </a:xfrm>
          <a:prstGeom prst="rect">
            <a:avLst/>
          </a:prstGeom>
        </p:spPr>
      </p:pic>
      <p:pic>
        <p:nvPicPr>
          <p:cNvPr id="6" name="Picture 5" descr="What We Can Learn from Movie Composition – Adam Marelli Workshops">
            <a:extLst>
              <a:ext uri="{FF2B5EF4-FFF2-40B4-BE49-F238E27FC236}">
                <a16:creationId xmlns:a16="http://schemas.microsoft.com/office/drawing/2014/main" id="{8BFA256E-C9B7-6DEE-EC06-CF1EE1EC8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3" y="3794591"/>
            <a:ext cx="4262716" cy="193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47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2734-7E87-4FB2-A954-901D4C94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8B78-057B-4A65-959F-B1C86414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ways to build depth: overlap, size, atmosphere, value, texture, and linear perspective.</a:t>
            </a:r>
          </a:p>
          <a:p>
            <a:r>
              <a:rPr lang="en-US" dirty="0"/>
              <a:t>The Lens plays a big role in perspective: depth of field, and what wide and long lenses do to space.</a:t>
            </a:r>
          </a:p>
          <a:p>
            <a:r>
              <a:rPr lang="en-US" dirty="0"/>
              <a:t>The horizon line is your camera height. Move it and you have moved the camera.</a:t>
            </a:r>
          </a:p>
        </p:txBody>
      </p:sp>
    </p:spTree>
    <p:extLst>
      <p:ext uri="{BB962C8B-B14F-4D97-AF65-F5344CB8AC3E}">
        <p14:creationId xmlns:p14="http://schemas.microsoft.com/office/powerpoint/2010/main" val="940794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ame Design Theme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me Design Theme" id="{FDF2760C-01FA-4CD6-92F4-89C50AE1AED8}" vid="{701598FD-A452-4D8B-8848-C96AAD2A0D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Game Design Theme</Template>
  <TotalTime>6920</TotalTime>
  <Words>3723</Words>
  <Application>Microsoft Office PowerPoint</Application>
  <PresentationFormat>Widescreen</PresentationFormat>
  <Paragraphs>320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Garamond</vt:lpstr>
      <vt:lpstr>Game Design Theme</vt:lpstr>
      <vt:lpstr>Drawing in Perspective</vt:lpstr>
      <vt:lpstr>Flat Surface, Dimensional World</vt:lpstr>
      <vt:lpstr>You Do Not Need to Be Good at This to Be Good at This</vt:lpstr>
      <vt:lpstr>Perspective Changes Every Time the Camera Moves</vt:lpstr>
      <vt:lpstr>Overlap</vt:lpstr>
      <vt:lpstr>Size and Scale</vt:lpstr>
      <vt:lpstr>Atmospheric Perspective</vt:lpstr>
      <vt:lpstr>Value as Depth</vt:lpstr>
      <vt:lpstr>Texture Gradient</vt:lpstr>
      <vt:lpstr>Foreground, Midground, Background</vt:lpstr>
      <vt:lpstr>Picture Plane</vt:lpstr>
      <vt:lpstr>Horizon Line = Eye Level</vt:lpstr>
      <vt:lpstr>Vanishing Point</vt:lpstr>
      <vt:lpstr>One-Point Perspective</vt:lpstr>
      <vt:lpstr>Two-Point Perspective</vt:lpstr>
      <vt:lpstr>Three-Point Perspective</vt:lpstr>
      <vt:lpstr>Circles in Perspective</vt:lpstr>
      <vt:lpstr>Foreshortening</vt:lpstr>
      <vt:lpstr>Relative Motion</vt:lpstr>
      <vt:lpstr>Depth of Field</vt:lpstr>
      <vt:lpstr>Deep Focus</vt:lpstr>
      <vt:lpstr>Aperture</vt:lpstr>
      <vt:lpstr>Lenses Tell the Story</vt:lpstr>
      <vt:lpstr>Normal Lens</vt:lpstr>
      <vt:lpstr>Wide Angle</vt:lpstr>
      <vt:lpstr>Telephoto</vt:lpstr>
      <vt:lpstr>Which Cue Is This Shot Using?</vt:lpstr>
      <vt:lpstr>In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Acting for Animation</dc:title>
  <dc:creator>User</dc:creator>
  <cp:lastModifiedBy>Daniel Coes</cp:lastModifiedBy>
  <cp:revision>233</cp:revision>
  <dcterms:created xsi:type="dcterms:W3CDTF">2016-05-07T19:16:27Z</dcterms:created>
  <dcterms:modified xsi:type="dcterms:W3CDTF">2026-08-31T05:46:28Z</dcterms:modified>
</cp:coreProperties>
</file>