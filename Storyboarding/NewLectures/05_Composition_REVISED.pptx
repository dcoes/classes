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2"/>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50" d="100"/>
          <a:sy n="50" d="100"/>
        </p:scale>
        <p:origin x="1638" y="4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58" Type="http://schemas.openxmlformats.org/officeDocument/2006/relationships/slide" Target="slides/slide2.xml"/><Relationship Id="rId59" Type="http://schemas.openxmlformats.org/officeDocument/2006/relationships/slide" Target="slides/slide3.xml"/><Relationship Id="rId60" Type="http://schemas.openxmlformats.org/officeDocument/2006/relationships/slide" Target="slides/slide4.xml"/><Relationship Id="rId61" Type="http://schemas.openxmlformats.org/officeDocument/2006/relationships/slide" Target="slides/slide5.xml"/><Relationship Id="rId62" Type="http://schemas.openxmlformats.org/officeDocument/2006/relationships/slide" Target="slides/slide6.xml"/><Relationship Id="rId63" Type="http://schemas.openxmlformats.org/officeDocument/2006/relationships/slide" Target="slides/slide7.xml"/><Relationship Id="rId64" Type="http://schemas.openxmlformats.org/officeDocument/2006/relationships/slide" Target="slides/slide8.xml"/><Relationship Id="rId65" Type="http://schemas.openxmlformats.org/officeDocument/2006/relationships/slide" Target="slides/slide9.xml"/><Relationship Id="rId66" Type="http://schemas.openxmlformats.org/officeDocument/2006/relationships/slide" Target="slides/slide10.xml"/><Relationship Id="rId67" Type="http://schemas.openxmlformats.org/officeDocument/2006/relationships/slide" Target="slides/slide11.xml"/><Relationship Id="rId68" Type="http://schemas.openxmlformats.org/officeDocument/2006/relationships/slide" Target="slides/slide12.xml"/><Relationship Id="rId69" Type="http://schemas.openxmlformats.org/officeDocument/2006/relationships/slide" Target="slides/slide13.xml"/><Relationship Id="rId70" Type="http://schemas.openxmlformats.org/officeDocument/2006/relationships/slide" Target="slides/slide14.xml"/><Relationship Id="rId71" Type="http://schemas.openxmlformats.org/officeDocument/2006/relationships/slide" Target="slides/slide15.xml"/><Relationship Id="rId72" Type="http://schemas.openxmlformats.org/officeDocument/2006/relationships/slide" Target="slides/slide16.xml"/><Relationship Id="rId73" Type="http://schemas.openxmlformats.org/officeDocument/2006/relationships/slide" Target="slides/slide17.xml"/><Relationship Id="rId74" Type="http://schemas.openxmlformats.org/officeDocument/2006/relationships/slide" Target="slides/slide18.xml"/><Relationship Id="rId75" Type="http://schemas.openxmlformats.org/officeDocument/2006/relationships/slide" Target="slides/slide19.xml"/><Relationship Id="rId76" Type="http://schemas.openxmlformats.org/officeDocument/2006/relationships/slide" Target="slides/slide20.xml"/><Relationship Id="rId77" Type="http://schemas.openxmlformats.org/officeDocument/2006/relationships/slide" Target="slides/slide21.xml"/><Relationship Id="rId78" Type="http://schemas.openxmlformats.org/officeDocument/2006/relationships/slide" Target="slides/slide22.xml"/><Relationship Id="rId79" Type="http://schemas.openxmlformats.org/officeDocument/2006/relationships/slide" Target="slides/slide23.xml"/><Relationship Id="rId80" Type="http://schemas.openxmlformats.org/officeDocument/2006/relationships/slide" Target="slides/slide24.xml"/><Relationship Id="rId81" Type="http://schemas.openxmlformats.org/officeDocument/2006/relationships/slide" Target="slides/slide25.xml"/><Relationship Id="rId82" Type="http://schemas.openxmlformats.org/officeDocument/2006/relationships/slide" Target="slides/slide26.xml"/><Relationship Id="rId83" Type="http://schemas.openxmlformats.org/officeDocument/2006/relationships/slide" Target="slides/slide27.xml"/><Relationship Id="rId84" Type="http://schemas.openxmlformats.org/officeDocument/2006/relationships/slide" Target="slides/slide28.xml"/><Relationship Id="rId85" Type="http://schemas.openxmlformats.org/officeDocument/2006/relationships/slide" Target="slides/slide29.xml"/><Relationship Id="rId86" Type="http://schemas.openxmlformats.org/officeDocument/2006/relationships/slide" Target="slides/slide30.xml"/><Relationship Id="rId87" Type="http://schemas.openxmlformats.org/officeDocument/2006/relationships/slide" Target="slides/slide31.xml"/><Relationship Id="rId88" Type="http://schemas.openxmlformats.org/officeDocument/2006/relationships/slide" Target="slides/slide32.xml"/><Relationship Id="rId89" Type="http://schemas.openxmlformats.org/officeDocument/2006/relationships/slide" Target="slides/slide33.xml"/><Relationship Id="rId90" Type="http://schemas.openxmlformats.org/officeDocument/2006/relationships/slide" Target="slides/slide34.xml"/><Relationship Id="rId91" Type="http://schemas.openxmlformats.org/officeDocument/2006/relationships/slide" Target="slides/slide35.xml"/><Relationship Id="rId92" Type="http://schemas.openxmlformats.org/officeDocument/2006/relationships/slide" Target="slides/slide36.xml"/><Relationship Id="rId93" Type="http://schemas.openxmlformats.org/officeDocument/2006/relationships/slide" Target="slides/slide37.xml"/><Relationship Id="rId94" Type="http://schemas.openxmlformats.org/officeDocument/2006/relationships/slide" Target="slides/slide38.xml"/><Relationship Id="rId95" Type="http://schemas.openxmlformats.org/officeDocument/2006/relationships/slide" Target="slides/slide39.xml"/><Relationship Id="rId96" Type="http://schemas.openxmlformats.org/officeDocument/2006/relationships/slide" Target="slides/slide40.xml"/><Relationship Id="rId97" Type="http://schemas.openxmlformats.org/officeDocument/2006/relationships/slide" Target="slides/slide41.xml"/><Relationship Id="rId98" Type="http://schemas.openxmlformats.org/officeDocument/2006/relationships/slide" Target="slides/slide42.xml"/><Relationship Id="rId99" Type="http://schemas.openxmlformats.org/officeDocument/2006/relationships/slide" Target="slides/slide43.xml"/><Relationship Id="rId100" Type="http://schemas.openxmlformats.org/officeDocument/2006/relationships/slide" Target="slides/slide44.xml"/><Relationship Id="rId101" Type="http://schemas.openxmlformats.org/officeDocument/2006/relationships/slide" Target="slides/slide45.xml"/><Relationship Id="rId102" Type="http://schemas.openxmlformats.org/officeDocument/2006/relationships/slide" Target="slides/slide46.xml"/><Relationship Id="rId103" Type="http://schemas.openxmlformats.org/officeDocument/2006/relationships/slide" Target="slides/slide47.xml"/><Relationship Id="rId104" Type="http://schemas.openxmlformats.org/officeDocument/2006/relationships/slide" Target="slides/slide48.xml"/><Relationship Id="rId105" Type="http://schemas.openxmlformats.org/officeDocument/2006/relationships/slide" Target="slides/slide49.xml"/><Relationship Id="rId106" Type="http://schemas.openxmlformats.org/officeDocument/2006/relationships/slide" Target="slides/slide50.xml"/><Relationship Id="rId107" Type="http://schemas.openxmlformats.org/officeDocument/2006/relationships/slide" Target="slides/slide51.xml"/><Relationship Id="rId10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11/5/2018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start with the title. Put up the Presto still and ask the question on the next slide first.</a:t>
            </a:r>
          </a:p>
        </p:txBody>
      </p:sp>
      <p:sp>
        <p:nvSpPr>
          <p:cNvPr id="4" name="Slide Number Placeholder 3"/>
          <p:cNvSpPr>
            <a:spLocks noGrp="1"/>
          </p:cNvSpPr>
          <p:nvPr>
            <p:ph type="sldNum" sz="quarter" idx="10"/>
          </p:nvPr>
        </p:nvSpPr>
        <p:spPr/>
        <p:txBody>
          <a:bodyPr/>
          <a:lstStyle/>
          <a:p>
            <a:fld id="{3C7FDB04-D1AC-46DB-9592-CA12D78D404F}" type="slidenum">
              <a:rPr lang="en-US" smtClean="0"/>
              <a:t>1</a:t>
            </a:fld>
            <a:endParaRPr lang="en-US"/>
          </a:p>
        </p:txBody>
      </p:sp>
    </p:spTree>
    <p:extLst>
      <p:ext uri="{BB962C8B-B14F-4D97-AF65-F5344CB8AC3E}">
        <p14:creationId xmlns:p14="http://schemas.microsoft.com/office/powerpoint/2010/main" val="2770150718"/>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IMAGE: the still from Pixar's Presto: the magician pulling the rabbit from the hat.]</a:t>
            </a:r>
          </a:p>
          <a:p/>
          <a:p>
            <a:r>
              <a:t>This is exactly what you are doing. When an audience watches a sequence you have boarded, they are not supposed to be thinking about the frame, the cut, or the staging. They are supposed to be inside the story. A magician does not succeed by moving faster than your eye. They succeed by making sure your eye is somewhere else at the important moment. You have exactly the same job and exactly the same tools.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thing students find hardest to believe: the audience is almost completely under your control. Value contrast, movement, a face, a line pointing somewhere: these are not suggestions, they are instructions the eye follows automatically. The danger is not that the audience will refuse to look where you point. It is that if you have not pointed, they will look at whatever is brightest or busiest, which is often the thing that does not matter. An unplanned frame still directs attention. It just directs it somewhere useless.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composition works, nobody compliments it. They just follow the story. When it fails, everyone notices, though almost nobody can say why. They say it looks off, or cheap, or confusing. That is your diagnostic. When someone tells you a shot feels wrong, translate it into: my eye went to the wrong place, or my eye did not know where to go at all. Then it is a fixable problem instead of a vague complaint.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of you have taken design courses. Some of you have never taken one and got put in this class anyway. That is fine, and this section exists for you. You already know all of this. You have watched thousands of hours of film and television and games, and every one of them was training your eye. What you do not yet have is the vocabulary, and without vocabulary you cannot make a decision on purpose or explain it to a director. That is what we are fixing.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in the first section. Graphic design mostly solves a single static frame that a viewer can study for as long as they like. You are doing something different. Your frame appears, does its job, and is destroyed by a cut. Then another one arrives and has to relate to the one before it. So every principle here has two versions: the version inside one frame, and the version across a sequence. We will do the first half of the lecture on single frames, and then in the last section every rule expands.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can talk about arranging things, we need names for the things. This is deliberately basic. If you have a design background, give me ten minutes and we will be past it. If you do not, this is the vocabulary that the rest of the semester assumes you have.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elements. Line, shape, direction, size, texture, value. Notice colour is not on this list. Colour matters enormously in a finished film and it will come up in the lighting session, but the overwhelming majority of storyboards are made in greyscale, so it is not one of the tools you will use here. Of these six, one is doing more work than the other five combined.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 is the difference between light and dark, and it is the single most powerful compositional tool you own. Here is why it matters more to you than to a graphic designer. Your panel might be on screen for twelve frames. The eye resolves value before it resolves detail, before it resolves colour, before it can read a face. If your values are working, a very rough drawing communicates instantly. If they are not, all the rendering in the world will not save the shot. We will come back to this with a whole section.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is the most basic element and also the most invisible, because most lines in a shot are not drawn as lines. They are the edge of a building, the angle of an arm, the line of a horizon, the direction someone is looking. Once you start seeing them, you cannot stop, and that is the goal of the next five slides.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Horizontal lines communicate rest and stability. They echo the horizon and a body at rest. Practical application: if you want a moment to feel calm, or you want to give the audience a beat to breathe after an action sequence, load the frame with horizontals. And when you want to break that calm, break the horizontal.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Verticals are more active than horizontals. They imply things standing up against gravity, which reads as strength, formality, or aspiration. But watch the flip side. A row of verticals in front of a character is a cage, and audiences feel that instantly without being told. Same element, opposite meaning, depending on where you put your character relative to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Diagonals imply movement. They read as something in the middle of falling, running, or being knocked over, because that is literally what they are. This is why the canted or Dutch angle works. You take a stable frame and rotate it, and every vertical in the shot becomes a diagonal at once. The whole frame gets nervous. For your action sequences, count your diagonals. If a chase is composed entirely of horizontals and verticals, it will feel slow no matter how fast you cut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Curves are what nature is made of, so they read as organic and comfortable. For storyboarding specifically, the curve matters most as the line of action running through a figure. A pose built on a curve is alive. A pose built on a straight vertical is a mannequin. We will spend a whole session on that later, but it starts 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Jagged lines are a series of hard direction changes and they read as violence or chaos. Broken glass, lightning, a ruined skyline. The warning matters: they are tiring. A frame that is entirely jagged has no resting place, and the audience cannot find the subject. Chaos still needs a focal point, which is a harder problem than it sounds and a good thing to think about for your final.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Shape is the next level up from line. When you thumbnail, you are working almost entirely in shape: big masses, no detail. That is not laziness, it is the correct order of operations. If the shapes are wrong the detail cannot fix it, and if the shapes are right the detail is almost optional.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triangle gives you stability and a focal point at the same time, which is why it is everywhere. For three characters it is almost automatic. Put the character who has power in this scene at the apex and the composition has already told the audience the relationship before anyone speaks. Then flip it: put the apex at the bottom and the whole thing feels precarious.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Circles and arches enclose. A group staged in a circle reads as a unit, which is useful when you want a character excluded from that unit. You simply leave them outside the circle and the audience understands immediately. An arch over a character elevates them. This is old, it is in religious painting, and it still works because audiences have been trained on it for centuries.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animation figured out long before anyone wrote it down, and your animation majors will recognise it immediately. Round shapes read as safe and appealing. Squares read as dependable and immovable. Angles read as threat. Look at almost any animated cast and the villain has sharper shapes than the hero. It applies to environments and props too, not just characters. A room built from angles is not a safe room, and you did not have to tell anyone that.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Half a second. Twelve frames. That is a normal hold for a cut in an action sequence. A poster designer gets as long as the viewer is willing to stand there. You get less time than it takes to read this sentence. Composition is not a refinement you add at the end. It is the only reason the shot communicates at all.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priority list and it is close to automatic in human vision. Highest contrast wins first. Then anything that moves. Then faces. We are relentless about faces. Then areas of fine detail. You can use this two ways. Put the thing that matters at the top of the list, or deliberately hide something by placing it low on the list. That second one is the magician's version, and it is how you plant a detail the audience only notices on the second viewing.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eye enters most frames from the left and travels right, follows near before far, and lands on light before dark. You are allowed to violate every one of these. Violating them creates tension, and tension is often exactly what a scene wants. What you cannot afford is violating them by accident and then wondering why the shot feels uncomfortable.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Squint until everything blurs into masses of light and dark. That blurred version is roughly what the audience gets in half a second. If your character disappears into the background when you squint, no amount of line work will save it. Shrink your panel to thumbnail size: same test, and it is why we thumbnail in the first place. This takes two seconds and it will catch more problems than any other habit I can give you.</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and ground. Your subject is the figure; everything behind it is the ground. They have to be different in value or the eye cannot separate them. The most common student failure is a mid-grey character standing in front of a mid-grey background. Every line is drawn correctly and the panel is still unreadable. The good news is that this has nothing whatsoever to do with drawing ability. It is a decision, and you can make it correctly on the very first panel you ever draw.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values. Black, mid, white. That is all a board needs and it is what most professional boards actually use. When students add a fourth and fifth value, it is almost never because the shot needed it. It is because rendering is comfortable and deciding is not. Limit yourself to three and you are forced to make the decision that actually matters: what is dark, what is light, and what is neither.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silhouette test. Fill the figure in solid black and see whether the action still reads. Animation has used this for a century, and it is a hiring criterion in games for character design. It is also completely independent of your skill level, which is why I keep coming back to it. A badly drawn figure with a strong silhouette communicates. A beautifully drawn figure with a weak one does not. In this class, the first one gets the better grade.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Things further away are lighter and lower in contrast because there is air in the way. Painters have used this for centuries and it is the cheapest depth cue you own. Here is why I am emphasising it: it does not require you to be good at perspective. If your vanishing points are a mess but your value depth is right, the panel still reads as deep. For a lot of you that is an important escape hatch, and it is not a compromise: professionals rely on it too.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is the distance between your extremes, and it does two jobs at once. It sets mood: thrillers and horror run high contrast, gentle scenes run low. And it directs attention, which is the magician's use. The highest contrast area in your frame is where the audience is looking, whether or not you chose it. So choose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 the frame into thirds horizontally and vertically and you get four intersection points. Subjects placed there tend to be more interesting than subjects dead centre. This is genuinely useful and also genuinely overrated: treat it as the answer when you do not have a better one, not as a rule you must obey. It is a floor, not a ceiling.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Sometimes dead centre is exactly right. Symmetry reads as formal and controlled, which is why it shows up for thrones, altars, and villains. Kubrick built a career on it. There is also a practical reason. Mad Max: Fury Road centred nearly every shot on purpose, because at that cutting speed the audience needs to find the subject instantly and the centre is where the eye already is. Worth knowing when you are boarding fast action.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Symmetrical balance means the visual weight is even on both sides of a central axis. It is also called formal balance and it reads as stable, deliberate, and often institutional. Reframed for us: a symmetrical frame tells the audience that nothing is about to happen. Which means it is a wonderful setup for something happening.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Asymmetrical balance is when things are not mirrored but the frame still feels resolved: a large form on one side balanced by several small ones on the other. It carries more visual tension than symmetry, and it is what most shots use most of the time, because it feels observed rather than arranged.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frame needs a hierarchy: one dominant element, some sub-dominant, and the rest subordinate. This is the vocabulary I will use in critique, so learn it now. When I say a panel does not read, what I usually mean is that two things are competing to be dominant and the eye cannot choose. One dominant per frame. If two things matter equally, you probably need two shots.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Positive space is the subject, negative space is everything around it. The mistake is treating negative space as leftover. Think about two characters at opposite edges of a wide frame with nothing between them. The empty middle is the entire content of the shot. It is the relationship. You did not draw it, and it is what the scene is about.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specific, checkable rules, and they will improve your panels faster than anything else on this slide deck. Leave space in front of a look and in front of a movement. A character walking frame-right with all the space behind them feels like they are about to hit a wall. Give the eye somewhere to go. And when you want discomfort (a character trapped, cornered, about to be hit) take the room away on purpose. The audience feels it before they can name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Framing the subject inside something else: a doorway, a window, a gap between foreground shapes. It does three things at once: it isolates the subject, it creates depth by giving you a foreground, and it can carry meaning. A character framed in a doorway is contained by it. And it is genuinely easy to draw. Two dark shapes at the edges of your panel will do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Leading lines are the most direct tool on this list. The eye travels along a line and stops at whatever is at the end of it. The most useful ones are not the obvious roads and railway tracks. They are the ones built out of characters. An arm, a weapon, a look. Those are lines you can add to any shot without changing the environment at all.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a character looks, the audience looks. It is close to involuntary. Which is why the look-see-react triad works so reliably: someone looks, we see what they see, we see them react. Three panels, three simple drawings, and it is complete storytelling. It is also a promise. If you show a character looking off-screen, the audience now expects to be shown what they are looking at. That is where composition hands off to continuity.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Gestalt is a psychology idea, and it matters to you because it describes what the audience's brain is doing without being asked. Things placed close together get read as a group. Things that look alike get read as related. Things that line up get read as connected. Practical version: if you put two characters close together, you have said they are on the same side. You did not need dialogue and you cannot easily undo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Closure is the brain completing shapes that are not fully there. This is the single most reassuring idea in the course. It is the reason a professional board made of rough shapes and three marks for a face communicates perfectly. The audience is finishing it for you. It also means suggestion often beats depiction. The thing half-seen in shadow is more frightening than the thing fully rendered, because the viewer's brain builds something worse than you could draw.</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planes: foreground, midground, background. Most student panels use one, which is why they feel flat regardless of how accurate the perspective is. The fastest fix in this entire lecture: add a dark shape in the foreground. A branch, a shoulder, a doorframe, a rock. It takes ten seconds, it creates depth through overlap, and it frames your subject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up to this point applies to a single image, and it would be true in a painting class. Here is what makes our version different. Your frame is going to be replaced. The audience experiences your composition in relation to the one before it and the one after it. So every principle we just covered has a second version that only exists in motion. That is the rest of this lecture, and it is the part you cannot get from a design textbook.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Rhythm in the graphic design sense is repetition inside a single frame. A row of columns, a line of streetlamps, a crowd. Regular rhythm has even intervals and reads as ordered or mechanical. Flowing rhythm curves and reads as natural. Progressive rhythm changes as it repeats and creates a sense of direction, which means it is also a leading line.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meaning that a graphic design course will never give you. In motion, rhythm is also temporal: the pattern of your cutting. Long, long, long, short. Short short short short. A held silence where the audience expects a cut. This is the musical sense of the word and it is doing the same job that beat and tempo do in music: creating expectation and then satisfying or denying it. You will feel this properly when you build your animatic. Right now, just know that when I say rhythm, I might mean either one.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interesting work happens when you use both at once. A character running past a line of evenly spaced columns, cut on an even rhythm: the two reinforce each other and the sequence feels mechanical and relentless. Now cut against that even spacing, irregularly, and it feels like something is wrong. Neither drawing changed. The relationship between the rhythms changed. This is a tool almost no student uses and it is available to all of you.</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animation instructor I heard years ago called this ballistics, and the word has stuck with me. Information has momentum. The audience does not reset at a cut. They carry what they just learned, and their eye is still physically pointed where the last shot left it. So the question is never just "does this frame work." It is "where is the audience arriving from, and where am I sending them next." That trajectory is the thing you are actually designing.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Consecutive shots should be different enough that the cut registers. Change the shot size, or the value, or how full the frame is. The failure is two similar compositions in a row: the audience is not sure whether anything changed, and the cut reads as an error rather than a decision. This is closely related to the jump cut, which you will meet in the continuity session.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moment of a cut the audience's eye is at a specific point on the screen. If you place the new subject at that same point, the cut feels seamless. They were already looking at it. If you place it on the opposite side, they have to hunt, and that hunt is felt as a small shock. Both are useful. Smooth for conversation, jolting for a scare. What you cannot do is choose randomly.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graphic match is when the shape or composition of one shot rhymes with the next. The famous one is 2001: an ape throws a bone into the air, and it cuts to a spacecraft with the same shape in the same position. Four million years, one cut, and it works because of composition alone. This is the point where you can no longer separate design from editing, which is exactly the argument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IMAGE: the E.T. bicycle-across-the-moon frame.]</a:t>
            </a:r>
          </a:p>
          <a:p/>
          <a:p>
            <a:r>
              <a:t>A motif is a visual element you repeat until it carries meaning. E.T. is the clean example. The bicycle is established as the ordinary world: kids, suburbs, the everyday. So when the bicycle lifts off the ground and crosses the moon, the image is doing far more than showing flight. It is the ordinary transformed, and you understand that instantly because the film taught you the vocabulary first. You can do this in a two-minute sequence. Establish something, then transform it. It costs you nothing except planning, and it is the difference between a sequence and a story.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visual echo is the motif's most powerful form: use the same composition twice, and let what happened in between change what it means. Star Wars does it with the binary sunset: the same framing returns, and Luke is a different person standing in it. This costs you nothing but a decision made early. If you take one thing from this entire lecture into your final project, take this one. Plan your last shot to echo your first.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questions. Run them on every panel before you call it finished. None of them is about drawing ability. Every one of them is a decision you can make correctly on your very first attempt, and every one of them will improve your work more than another hour of rendering would. Print this. Put it next to your monitor. Then let us take a weak panel and fix it together using nothing but this list: no redrawing allowed.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11/5/2018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11/5/2018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11/5/2018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11/5/2018</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3625" y="1871131"/>
            <a:ext cx="7448549" cy="1515533"/>
          </a:xfrm>
        </p:spPr>
        <p:txBody>
          <a:bodyPr/>
          <a:lstStyle/>
          <a:p>
            <a:r>
              <a:rPr lang="en-US" sz="4400" dirty="0" b="0"/>
              <a:t>Composition</a:t>
            </a:r>
          </a:p>
        </p:txBody>
      </p:sp>
      <p:sp>
        <p:nvSpPr>
          <p:cNvPr id="5" name="Subtitle 4">
            <a:extLst>
              <a:ext uri="{FF2B5EF4-FFF2-40B4-BE49-F238E27FC236}">
                <a16:creationId xmlns:a16="http://schemas.microsoft.com/office/drawing/2014/main" id="{70C6AD92-1E75-4AE6-A160-8290338F1B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35282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You Are the Magician</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A magician does not hide the trick by being fast</a:t>
            </a:r>
          </a:p>
          <a:p>
            <a:r>
              <a:rPr lang="en-US" dirty="0" b="0"/>
              <a:t>They hide it by controlling where you look</a:t>
            </a:r>
          </a:p>
          <a:p>
            <a:r>
              <a:rPr lang="en-US" dirty="0" b="0"/>
              <a:t>That is the entire job description</a:t>
            </a:r>
          </a:p>
        </p:txBody>
      </p:sp>
    </p:spTree>
    <p:extLst>
      <p:ext uri="{BB962C8B-B14F-4D97-AF65-F5344CB8AC3E}">
        <p14:creationId xmlns:p14="http://schemas.microsoft.com/office/powerpoint/2010/main" val="3640460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Misdirection Is the Job</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The audience will look wherever you send them</a:t>
            </a:r>
          </a:p>
          <a:p>
            <a:r>
              <a:rPr lang="en-US" dirty="0" b="0"/>
              <a:t>If you do not send them somewhere, they choose, and they choose badly</a:t>
            </a:r>
          </a:p>
          <a:p>
            <a:r>
              <a:rPr lang="en-US" dirty="0" b="0"/>
              <a:t>Design is how you send them</a:t>
            </a:r>
          </a:p>
          <a:p>
            <a:r>
              <a:rPr lang="en-US" dirty="0" b="0"/>
              <a:t>Every frame is a decision about attention</a:t>
            </a:r>
          </a:p>
        </p:txBody>
      </p:sp>
    </p:spTree>
    <p:extLst>
      <p:ext uri="{BB962C8B-B14F-4D97-AF65-F5344CB8AC3E}">
        <p14:creationId xmlns:p14="http://schemas.microsoft.com/office/powerpoint/2010/main" val="3640460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Nobody Should See the Curtain</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Good composition is invisible</a:t>
            </a:r>
          </a:p>
          <a:p>
            <a:r>
              <a:rPr lang="en-US" dirty="0" b="0"/>
              <a:t>Bad composition is the only kind anyone notices</a:t>
            </a:r>
          </a:p>
          <a:p>
            <a:r>
              <a:rPr lang="en-US" dirty="0" b="0"/>
              <a:t>"It looks weird" usually means "I looked at the wrong thing"</a:t>
            </a:r>
          </a:p>
        </p:txBody>
      </p:sp>
    </p:spTree>
    <p:extLst>
      <p:ext uri="{BB962C8B-B14F-4D97-AF65-F5344CB8AC3E}">
        <p14:creationId xmlns:p14="http://schemas.microsoft.com/office/powerpoint/2010/main" val="3640460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What Design Actually Is Here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Not decoration</a:t>
            </a:r>
          </a:p>
          <a:p>
            <a:r>
              <a:rPr lang="en-US" dirty="0" b="0"/>
              <a:t>Not making it pretty</a:t>
            </a:r>
          </a:p>
          <a:p>
            <a:r>
              <a:rPr lang="en-US" dirty="0" b="0"/>
              <a:t>A set of tools for controlling where attention goes and how it moves</a:t>
            </a:r>
          </a:p>
          <a:p>
            <a:r>
              <a:rPr lang="en-US" dirty="0" b="0"/>
              <a:t>You already respond to all of it: today you learn to use it on purpose</a:t>
            </a:r>
          </a:p>
        </p:txBody>
      </p:sp>
    </p:spTree>
    <p:extLst>
      <p:ext uri="{BB962C8B-B14F-4D97-AF65-F5344CB8AC3E}">
        <p14:creationId xmlns:p14="http://schemas.microsoft.com/office/powerpoint/2010/main" val="3640460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Design for Motion Is Not Graphic Design</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A poster has one frame and unlimited time</a:t>
            </a:r>
          </a:p>
          <a:p>
            <a:r>
              <a:rPr lang="en-US" dirty="0" b="0"/>
              <a:t>You have many frames and about one second each</a:t>
            </a:r>
          </a:p>
          <a:p>
            <a:r>
              <a:rPr lang="en-US" dirty="0" b="0"/>
              <a:t>Your composition has to survive being replaced</a:t>
            </a:r>
          </a:p>
          <a:p>
            <a:r>
              <a:rPr lang="en-US" dirty="0" b="0"/>
              <a:t>Every rule you learn today gets a second meaning in motion</a:t>
            </a:r>
          </a:p>
        </p:txBody>
      </p:sp>
    </p:spTree>
    <p:extLst>
      <p:ext uri="{BB962C8B-B14F-4D97-AF65-F5344CB8AC3E}">
        <p14:creationId xmlns:p14="http://schemas.microsoft.com/office/powerpoint/2010/main" val="3640460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The Raw Materials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An element is a single piece of a composition</a:t>
            </a:r>
          </a:p>
          <a:p>
            <a:r>
              <a:rPr lang="en-US" dirty="0" b="0"/>
              <a:t>Think of them as the particles everything else is built from</a:t>
            </a:r>
          </a:p>
          <a:p>
            <a:r>
              <a:rPr lang="en-US" dirty="0" b="0"/>
              <a:t>Six of them do almost all the work</a:t>
            </a:r>
          </a:p>
        </p:txBody>
      </p:sp>
    </p:spTree>
    <p:extLst>
      <p:ext uri="{BB962C8B-B14F-4D97-AF65-F5344CB8AC3E}">
        <p14:creationId xmlns:p14="http://schemas.microsoft.com/office/powerpoint/2010/main" val="3640460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The Six Elements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LINE: the mark between two points</a:t>
            </a:r>
          </a:p>
          <a:p>
            <a:r>
              <a:rPr lang="en-US" dirty="0" b="0"/>
              <a:t>SHAPE: a self-contained area, geometric or organic</a:t>
            </a:r>
          </a:p>
          <a:p>
            <a:r>
              <a:rPr lang="en-US" dirty="0" b="0"/>
              <a:t>DIRECTION. Every line has one: horizontal, vertical, or oblique</a:t>
            </a:r>
          </a:p>
          <a:p>
            <a:r>
              <a:rPr lang="en-US" dirty="0" b="0"/>
              <a:t>SIZE: the area one shape occupies relative to another</a:t>
            </a:r>
          </a:p>
          <a:p>
            <a:r>
              <a:rPr lang="en-US" dirty="0" b="0"/>
              <a:t>TEXTURE: the surface quality: rough, smooth, soft, hard</a:t>
            </a:r>
          </a:p>
          <a:p>
            <a:r>
              <a:rPr lang="en-US" dirty="0" b="0"/>
              <a:t>VALUE: the lightness or darkness of a thing</a:t>
            </a:r>
          </a:p>
        </p:txBody>
      </p:sp>
    </p:spTree>
    <p:extLst>
      <p:ext uri="{BB962C8B-B14F-4D97-AF65-F5344CB8AC3E}">
        <p14:creationId xmlns:p14="http://schemas.microsoft.com/office/powerpoint/2010/main" val="3640460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Value Does Most of the Work</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Value is lightness and darkness. Nothing else.</a:t>
            </a:r>
          </a:p>
          <a:p>
            <a:r>
              <a:rPr lang="en-US" dirty="0" b="0"/>
              <a:t>It is the first thing the eye resolves</a:t>
            </a:r>
          </a:p>
          <a:p>
            <a:r>
              <a:rPr lang="en-US" dirty="0" b="0"/>
              <a:t>It works at any size, at any speed, in any medium</a:t>
            </a:r>
          </a:p>
          <a:p>
            <a:r>
              <a:rPr lang="en-US" dirty="0" b="0"/>
              <a:t>If the values are right, a crude drawing reads. If they are wrong, a beautiful one does not.</a:t>
            </a:r>
          </a:p>
        </p:txBody>
      </p:sp>
    </p:spTree>
    <p:extLst>
      <p:ext uri="{BB962C8B-B14F-4D97-AF65-F5344CB8AC3E}">
        <p14:creationId xmlns:p14="http://schemas.microsoft.com/office/powerpoint/2010/main" val="3640460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Line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The connection between two points</a:t>
            </a:r>
          </a:p>
          <a:p>
            <a:r>
              <a:rPr lang="en-US" dirty="0" b="0"/>
              <a:t>Lines exist even when nothing is drawn as a line</a:t>
            </a:r>
          </a:p>
          <a:p>
            <a:r>
              <a:rPr lang="en-US" dirty="0" b="0"/>
              <a:t>An arm, a road, a shadow edge, a row of windows, a gaze</a:t>
            </a:r>
          </a:p>
          <a:p>
            <a:r>
              <a:rPr lang="en-US" dirty="0" b="0"/>
              <a:t>Every line has a direction, and every direction has a feeling</a:t>
            </a:r>
          </a:p>
        </p:txBody>
      </p:sp>
    </p:spTree>
    <p:extLst>
      <p:ext uri="{BB962C8B-B14F-4D97-AF65-F5344CB8AC3E}">
        <p14:creationId xmlns:p14="http://schemas.microsoft.com/office/powerpoint/2010/main" val="3640460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Horizontal Lines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828800" y="2743200"/>
            <a:ext cx="8531352" cy="292608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2377440" y="3621024"/>
            <a:ext cx="7434072" cy="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377440" y="4352544"/>
            <a:ext cx="7434072" cy="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377440" y="5084064"/>
            <a:ext cx="7434072" cy="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828800" y="5806440"/>
            <a:ext cx="8531352" cy="365760"/>
          </a:xfrm>
          <a:prstGeom prst="rect">
            <a:avLst/>
          </a:prstGeom>
          <a:noFill/>
        </p:spPr>
        <p:txBody>
          <a:bodyPr wrap="square" anchor="ctr" lIns="0" rIns="0" tIns="0" bIns="0">
            <a:spAutoFit/>
          </a:bodyPr>
          <a:lstStyle/>
          <a:p>
            <a:pPr algn="ctr"/>
            <a:r>
              <a:rPr sz="1500" b="0" i="1">
                <a:solidFill>
                  <a:srgbClr val="CC702D"/>
                </a:solidFill>
                <a:latin typeface="Garamond"/>
              </a:rPr>
              <a:t>Calm  ·  Stable  ·  At Rest</a:t>
            </a:r>
          </a:p>
        </p:txBody>
      </p:sp>
    </p:spTree>
    <p:extLst>
      <p:ext uri="{BB962C8B-B14F-4D97-AF65-F5344CB8AC3E}">
        <p14:creationId xmlns:p14="http://schemas.microsoft.com/office/powerpoint/2010/main" val="3640460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Vertical Lines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828800" y="2743200"/>
            <a:ext cx="8531352" cy="292608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2895219" y="3108960"/>
            <a:ext cx="0" cy="219456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961637" y="3108960"/>
            <a:ext cx="0" cy="219456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8057" y="3108960"/>
            <a:ext cx="0" cy="219456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94476" y="3108960"/>
            <a:ext cx="0" cy="219456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160895" y="3108960"/>
            <a:ext cx="0" cy="219456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227314" y="3108960"/>
            <a:ext cx="0" cy="219456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293733" y="3108960"/>
            <a:ext cx="0" cy="219456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828800" y="5806440"/>
            <a:ext cx="8531352" cy="365760"/>
          </a:xfrm>
          <a:prstGeom prst="rect">
            <a:avLst/>
          </a:prstGeom>
          <a:noFill/>
        </p:spPr>
        <p:txBody>
          <a:bodyPr wrap="square" anchor="ctr" lIns="0" rIns="0" tIns="0" bIns="0">
            <a:spAutoFit/>
          </a:bodyPr>
          <a:lstStyle/>
          <a:p>
            <a:pPr algn="ctr"/>
            <a:r>
              <a:rPr sz="1500" b="0" i="1">
                <a:solidFill>
                  <a:srgbClr val="CC702D"/>
                </a:solidFill>
                <a:latin typeface="Garamond"/>
              </a:rPr>
              <a:t>Strong  ·  Formal  ·  Also: Confinement</a:t>
            </a:r>
          </a:p>
        </p:txBody>
      </p:sp>
    </p:spTree>
    <p:extLst>
      <p:ext uri="{BB962C8B-B14F-4D97-AF65-F5344CB8AC3E}">
        <p14:creationId xmlns:p14="http://schemas.microsoft.com/office/powerpoint/2010/main" val="36404600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Diagonal Lines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828800" y="2743200"/>
            <a:ext cx="8531352" cy="292608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flipV="1">
            <a:off x="2194560" y="3108960"/>
            <a:ext cx="2011680" cy="219456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3657600" y="3108960"/>
            <a:ext cx="2011680" cy="219456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5120640" y="3108960"/>
            <a:ext cx="2011680" cy="219456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583679" y="3108960"/>
            <a:ext cx="2011680" cy="219456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8046720" y="3108960"/>
            <a:ext cx="2011680" cy="219456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828800" y="5806440"/>
            <a:ext cx="8531352" cy="365760"/>
          </a:xfrm>
          <a:prstGeom prst="rect">
            <a:avLst/>
          </a:prstGeom>
          <a:noFill/>
        </p:spPr>
        <p:txBody>
          <a:bodyPr wrap="square" anchor="ctr" lIns="0" rIns="0" tIns="0" bIns="0">
            <a:spAutoFit/>
          </a:bodyPr>
          <a:lstStyle/>
          <a:p>
            <a:pPr algn="ctr"/>
            <a:r>
              <a:rPr sz="1500" b="0" i="1">
                <a:solidFill>
                  <a:srgbClr val="CC702D"/>
                </a:solidFill>
                <a:latin typeface="Garamond"/>
              </a:rPr>
              <a:t>Movement  ·  Instability  ·  Danger</a:t>
            </a:r>
          </a:p>
        </p:txBody>
      </p:sp>
    </p:spTree>
    <p:extLst>
      <p:ext uri="{BB962C8B-B14F-4D97-AF65-F5344CB8AC3E}">
        <p14:creationId xmlns:p14="http://schemas.microsoft.com/office/powerpoint/2010/main" val="3640460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Curved Lines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828800" y="2743200"/>
            <a:ext cx="8531352" cy="292608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flipH="1">
            <a:off x="4467261" y="3383280"/>
            <a:ext cx="13299" cy="171868"/>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427592" y="3555148"/>
            <a:ext cx="39669" cy="168928"/>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4362232" y="3724076"/>
            <a:ext cx="65360" cy="163097"/>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4272299" y="3887173"/>
            <a:ext cx="89933" cy="154475"/>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4159331" y="4041648"/>
            <a:ext cx="112968" cy="14321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025263" y="4184858"/>
            <a:ext cx="134068" cy="12949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872387" y="4314352"/>
            <a:ext cx="152876" cy="11356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3703320" y="4427916"/>
            <a:ext cx="169067" cy="9569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520953" y="4523606"/>
            <a:ext cx="182367" cy="76179"/>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328409" y="4599785"/>
            <a:ext cx="192544" cy="5536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128980" y="4655149"/>
            <a:ext cx="199429" cy="33602"/>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926080" y="4688751"/>
            <a:ext cx="202900" cy="11265"/>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2723179" y="4688751"/>
            <a:ext cx="202901" cy="11265"/>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2523750" y="4655149"/>
            <a:ext cx="199429" cy="33602"/>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2331206" y="4599785"/>
            <a:ext cx="192544" cy="5536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2148840" y="4523606"/>
            <a:ext cx="182366" cy="76179"/>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979772" y="4427916"/>
            <a:ext cx="169068" cy="9569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826896" y="4314352"/>
            <a:ext cx="152876" cy="11356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1692828" y="4184858"/>
            <a:ext cx="134068" cy="12949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1579860" y="4041648"/>
            <a:ext cx="112968" cy="14321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1489927" y="3887173"/>
            <a:ext cx="89933" cy="154475"/>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424567" y="3724076"/>
            <a:ext cx="65360" cy="163097"/>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1384898" y="3555148"/>
            <a:ext cx="39669" cy="168928"/>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1371600" y="3383280"/>
            <a:ext cx="13298" cy="171868"/>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4572000" y="4217251"/>
            <a:ext cx="13298" cy="171869"/>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585298" y="4048323"/>
            <a:ext cx="39669" cy="168928"/>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624967" y="3885226"/>
            <a:ext cx="65360" cy="163097"/>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4690327" y="3730752"/>
            <a:ext cx="89933" cy="15447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4780260" y="3587541"/>
            <a:ext cx="112968" cy="143211"/>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893228" y="3458047"/>
            <a:ext cx="134068" cy="12949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5027296" y="3344483"/>
            <a:ext cx="152876" cy="11356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180172" y="3248793"/>
            <a:ext cx="169068" cy="9569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349240" y="3172614"/>
            <a:ext cx="182366" cy="76179"/>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531606" y="3117250"/>
            <a:ext cx="192544" cy="5536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724150" y="3083648"/>
            <a:ext cx="199429" cy="33602"/>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923579" y="3072383"/>
            <a:ext cx="202901" cy="11265"/>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26480" y="3072383"/>
            <a:ext cx="202900" cy="11265"/>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329380" y="3083648"/>
            <a:ext cx="199429" cy="33602"/>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528809" y="3117250"/>
            <a:ext cx="192544" cy="5536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721353" y="3172614"/>
            <a:ext cx="182366" cy="76179"/>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903719" y="3248793"/>
            <a:ext cx="169068" cy="9569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072787" y="3344483"/>
            <a:ext cx="152876" cy="11356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225663" y="3458047"/>
            <a:ext cx="134068" cy="12949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359731" y="3587541"/>
            <a:ext cx="112968" cy="143211"/>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472699" y="3730752"/>
            <a:ext cx="89933" cy="15447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562632" y="3885226"/>
            <a:ext cx="65360" cy="163097"/>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627992" y="4048323"/>
            <a:ext cx="39669" cy="168928"/>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667661" y="4217251"/>
            <a:ext cx="13299" cy="171869"/>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0595305" y="3566160"/>
            <a:ext cx="11735" cy="15038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0560303" y="3716544"/>
            <a:ext cx="35002" cy="147812"/>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10502633" y="3864356"/>
            <a:ext cx="57670" cy="14271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10423280" y="4007066"/>
            <a:ext cx="79353" cy="135165"/>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0323603" y="4142231"/>
            <a:ext cx="99677" cy="125309"/>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0205307" y="4267540"/>
            <a:ext cx="118296" cy="113308"/>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0070417" y="4380848"/>
            <a:ext cx="134890" cy="99369"/>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9921240" y="4480217"/>
            <a:ext cx="149177" cy="83728"/>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9760328" y="4563945"/>
            <a:ext cx="160912" cy="66657"/>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9590436" y="4630602"/>
            <a:ext cx="169892" cy="48443"/>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9414469" y="4679045"/>
            <a:ext cx="175967" cy="29402"/>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9235440" y="4708447"/>
            <a:ext cx="179029" cy="9857"/>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9056410" y="4708447"/>
            <a:ext cx="179030" cy="9857"/>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8880443" y="4679045"/>
            <a:ext cx="175967" cy="29402"/>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8710551" y="4630602"/>
            <a:ext cx="169892" cy="48443"/>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8549640" y="4563945"/>
            <a:ext cx="160911" cy="66657"/>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8400462" y="4480217"/>
            <a:ext cx="149178" cy="83728"/>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8265572" y="4380848"/>
            <a:ext cx="134890" cy="99369"/>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8147276" y="4267540"/>
            <a:ext cx="118296" cy="113308"/>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8047599" y="4142231"/>
            <a:ext cx="99677" cy="125309"/>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7968246" y="4007066"/>
            <a:ext cx="79353" cy="135165"/>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7910576" y="3864356"/>
            <a:ext cx="57670" cy="142710"/>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flipV="1">
            <a:off x="7875574" y="3716544"/>
            <a:ext cx="35002" cy="147812"/>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flipV="1">
            <a:off x="7863840" y="3566160"/>
            <a:ext cx="11734" cy="150384"/>
          </a:xfrm>
          <a:prstGeom prst="line">
            <a:avLst/>
          </a:prstGeom>
          <a:ln w="38100">
            <a:solidFill>
              <a:srgbClr val="212121"/>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1828800" y="5806440"/>
            <a:ext cx="8531352" cy="365760"/>
          </a:xfrm>
          <a:prstGeom prst="rect">
            <a:avLst/>
          </a:prstGeom>
          <a:noFill/>
        </p:spPr>
        <p:txBody>
          <a:bodyPr wrap="square" anchor="ctr" lIns="0" rIns="0" tIns="0" bIns="0">
            <a:spAutoFit/>
          </a:bodyPr>
          <a:lstStyle/>
          <a:p>
            <a:pPr algn="ctr"/>
            <a:r>
              <a:rPr sz="1500" b="0" i="1">
                <a:solidFill>
                  <a:srgbClr val="CC702D"/>
                </a:solidFill>
                <a:latin typeface="Garamond"/>
              </a:rPr>
              <a:t>Natural  ·  Organic  ·  Soothing</a:t>
            </a:r>
          </a:p>
        </p:txBody>
      </p:sp>
    </p:spTree>
    <p:extLst>
      <p:ext uri="{BB962C8B-B14F-4D97-AF65-F5344CB8AC3E}">
        <p14:creationId xmlns:p14="http://schemas.microsoft.com/office/powerpoint/2010/main" val="3640460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Jagged Lines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828800" y="2743200"/>
            <a:ext cx="8531352" cy="292608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flipV="1">
            <a:off x="2286000" y="28803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788920" y="2880360"/>
            <a:ext cx="502919"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3291839" y="28803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794759" y="28803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4297679" y="28803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800599" y="28803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5303519" y="28803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806439" y="28803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309359" y="28803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12279" y="28803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315199" y="28803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818119" y="2880360"/>
            <a:ext cx="502921"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321040" y="28803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823960" y="28803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326880" y="28803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86000" y="37947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788920" y="3794760"/>
            <a:ext cx="502919"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291839" y="37947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94759" y="37947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297679" y="37947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800599" y="37947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303519" y="37947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806439" y="37947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309359" y="37947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12279" y="37947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315199" y="37947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818119" y="3794760"/>
            <a:ext cx="502921"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8321040" y="37947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823960" y="37947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9326880" y="37947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286000" y="47091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788920" y="4709160"/>
            <a:ext cx="502919"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291839" y="47091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794759" y="47091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297679" y="47091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800599" y="47091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303519" y="47091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806439" y="47091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6309359" y="47091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812279" y="47091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7315199" y="47091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818119" y="4709160"/>
            <a:ext cx="502921"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321040" y="47091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823960" y="47091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9326880" y="4709160"/>
            <a:ext cx="502920" cy="640080"/>
          </a:xfrm>
          <a:prstGeom prst="line">
            <a:avLst/>
          </a:prstGeom>
          <a:ln w="31750">
            <a:solidFill>
              <a:srgbClr val="212121"/>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828800" y="5806440"/>
            <a:ext cx="8531352" cy="365760"/>
          </a:xfrm>
          <a:prstGeom prst="rect">
            <a:avLst/>
          </a:prstGeom>
          <a:noFill/>
        </p:spPr>
        <p:txBody>
          <a:bodyPr wrap="square" anchor="ctr" lIns="0" rIns="0" tIns="0" bIns="0">
            <a:spAutoFit/>
          </a:bodyPr>
          <a:lstStyle/>
          <a:p>
            <a:pPr algn="ctr"/>
            <a:r>
              <a:rPr sz="1500" b="0" i="1">
                <a:solidFill>
                  <a:srgbClr val="CC702D"/>
                </a:solidFill>
                <a:latin typeface="Garamond"/>
              </a:rPr>
              <a:t>Chaos  ·  Anxiety  ·  Damage: use sparingly</a:t>
            </a:r>
          </a:p>
        </p:txBody>
      </p:sp>
    </p:spTree>
    <p:extLst>
      <p:ext uri="{BB962C8B-B14F-4D97-AF65-F5344CB8AC3E}">
        <p14:creationId xmlns:p14="http://schemas.microsoft.com/office/powerpoint/2010/main" val="3640460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Shape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An area defined by its outline: height and width</a:t>
            </a:r>
          </a:p>
          <a:p>
            <a:r>
              <a:rPr lang="en-US" dirty="0" b="0"/>
              <a:t>Geometric: circle, square, triangle</a:t>
            </a:r>
          </a:p>
          <a:p>
            <a:r>
              <a:rPr lang="en-US" dirty="0" b="0"/>
              <a:t>Organic: everything nature makes</a:t>
            </a:r>
          </a:p>
          <a:p>
            <a:r>
              <a:rPr lang="en-US" dirty="0" b="0"/>
              <a:t>You compose with shapes long before you compose with details</a:t>
            </a:r>
          </a:p>
        </p:txBody>
      </p:sp>
    </p:spTree>
    <p:extLst>
      <p:ext uri="{BB962C8B-B14F-4D97-AF65-F5344CB8AC3E}">
        <p14:creationId xmlns:p14="http://schemas.microsoft.com/office/powerpoint/2010/main" val="3640460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Triangular Composition</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2103120" y="2651760"/>
            <a:ext cx="7955279" cy="329184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flipH="1">
            <a:off x="2651760" y="2971800"/>
            <a:ext cx="3428999" cy="2651760"/>
          </a:xfrm>
          <a:prstGeom prst="line">
            <a:avLst/>
          </a:prstGeom>
          <a:ln w="25400">
            <a:solidFill>
              <a:srgbClr val="AE9E7C"/>
            </a:solidFill>
            <a:prstDash val="dash"/>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80759" y="2971800"/>
            <a:ext cx="3429001" cy="2651760"/>
          </a:xfrm>
          <a:prstGeom prst="line">
            <a:avLst/>
          </a:prstGeom>
          <a:ln w="25400">
            <a:solidFill>
              <a:srgbClr val="AE9E7C"/>
            </a:solidFill>
            <a:prstDash val="dash"/>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51760" y="5623560"/>
            <a:ext cx="6858000" cy="0"/>
          </a:xfrm>
          <a:prstGeom prst="line">
            <a:avLst/>
          </a:prstGeom>
          <a:ln w="25400">
            <a:solidFill>
              <a:srgbClr val="AE9E7C"/>
            </a:solidFill>
            <a:prstDash val="dash"/>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5824727" y="2715768"/>
            <a:ext cx="512064" cy="512064"/>
          </a:xfrm>
          <a:prstGeom prst="ellipse">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450591" y="5422392"/>
            <a:ext cx="402336" cy="402336"/>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308592" y="5422392"/>
            <a:ext cx="402336" cy="402336"/>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0" y="6080760"/>
            <a:ext cx="7955279" cy="365760"/>
          </a:xfrm>
          <a:prstGeom prst="rect">
            <a:avLst/>
          </a:prstGeom>
          <a:noFill/>
        </p:spPr>
        <p:txBody>
          <a:bodyPr wrap="square" anchor="ctr" lIns="0" rIns="0" tIns="0" bIns="0">
            <a:spAutoFit/>
          </a:bodyPr>
          <a:lstStyle/>
          <a:p>
            <a:pPr algn="ctr"/>
            <a:r>
              <a:rPr sz="1500" b="0" i="1">
                <a:solidFill>
                  <a:srgbClr val="CC702D"/>
                </a:solidFill>
                <a:latin typeface="Garamond"/>
              </a:rPr>
              <a:t>One subject at the apex sets the hierarchy</a:t>
            </a:r>
          </a:p>
        </p:txBody>
      </p:sp>
    </p:spTree>
    <p:extLst>
      <p:ext uri="{BB962C8B-B14F-4D97-AF65-F5344CB8AC3E}">
        <p14:creationId xmlns:p14="http://schemas.microsoft.com/office/powerpoint/2010/main" val="3640460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Circular and Arch Composition</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2286000" y="2651760"/>
            <a:ext cx="7589520" cy="329184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480206" y="3063240"/>
            <a:ext cx="2468880" cy="2468880"/>
          </a:xfrm>
          <a:prstGeom prst="ellipse">
            <a:avLst/>
          </a:prstGeom>
          <a:noFill/>
          <a:ln w="25400">
            <a:solidFill>
              <a:srgbClr val="AE9E7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495190" y="3312871"/>
            <a:ext cx="438912" cy="438912"/>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832375" y="4460900"/>
            <a:ext cx="438912" cy="438912"/>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158005" y="4460900"/>
            <a:ext cx="438912" cy="438912"/>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7295083" y="3974563"/>
            <a:ext cx="14635" cy="185957"/>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7309718" y="3793185"/>
            <a:ext cx="43545" cy="181378"/>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353263" y="3620852"/>
            <a:ext cx="71382" cy="172333"/>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7424645" y="3461807"/>
            <a:ext cx="97463" cy="159045"/>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522108" y="3319968"/>
            <a:ext cx="121143" cy="141839"/>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7643251" y="3198825"/>
            <a:ext cx="141840" cy="121143"/>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785091" y="3101362"/>
            <a:ext cx="159044" cy="97463"/>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944135" y="3029980"/>
            <a:ext cx="172333" cy="71382"/>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116468" y="2986435"/>
            <a:ext cx="181378" cy="43545"/>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297846" y="2971800"/>
            <a:ext cx="185957" cy="14635"/>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483803" y="2971800"/>
            <a:ext cx="185956" cy="14635"/>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69759" y="2986435"/>
            <a:ext cx="181378" cy="43545"/>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851137" y="3029980"/>
            <a:ext cx="172333" cy="71382"/>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023470" y="3101362"/>
            <a:ext cx="159045" cy="97463"/>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182515" y="3198825"/>
            <a:ext cx="141840" cy="121143"/>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324355" y="3319968"/>
            <a:ext cx="121142" cy="141839"/>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445497" y="3461807"/>
            <a:ext cx="97463" cy="159045"/>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42960" y="3620852"/>
            <a:ext cx="71383" cy="172333"/>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14343" y="3793185"/>
            <a:ext cx="43545" cy="181378"/>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57888" y="3974563"/>
            <a:ext cx="14635" cy="185957"/>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295083" y="4160520"/>
            <a:ext cx="0" cy="1417320"/>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72523" y="4160520"/>
            <a:ext cx="0" cy="1417320"/>
          </a:xfrm>
          <a:prstGeom prst="line">
            <a:avLst/>
          </a:prstGeom>
          <a:ln w="31750">
            <a:solidFill>
              <a:srgbClr val="AE9E7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8399678" y="4526279"/>
            <a:ext cx="168249" cy="168249"/>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rapezoid 31"/>
          <p:cNvSpPr/>
          <p:nvPr/>
        </p:nvSpPr>
        <p:spPr>
          <a:xfrm rot="10800000">
            <a:off x="8370234" y="4669292"/>
            <a:ext cx="227136" cy="908547"/>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86000" y="6080760"/>
            <a:ext cx="7589520" cy="365760"/>
          </a:xfrm>
          <a:prstGeom prst="rect">
            <a:avLst/>
          </a:prstGeom>
          <a:noFill/>
        </p:spPr>
        <p:txBody>
          <a:bodyPr wrap="square" anchor="ctr" lIns="0" rIns="0" tIns="0" bIns="0">
            <a:spAutoFit/>
          </a:bodyPr>
          <a:lstStyle/>
          <a:p>
            <a:pPr algn="ctr"/>
            <a:r>
              <a:rPr sz="1500" b="0" i="1">
                <a:solidFill>
                  <a:srgbClr val="CC702D"/>
                </a:solidFill>
                <a:latin typeface="Garamond"/>
              </a:rPr>
              <a:t>Enclose to unify. Arch over to elevate.</a:t>
            </a:r>
          </a:p>
        </p:txBody>
      </p:sp>
    </p:spTree>
    <p:extLst>
      <p:ext uri="{BB962C8B-B14F-4D97-AF65-F5344CB8AC3E}">
        <p14:creationId xmlns:p14="http://schemas.microsoft.com/office/powerpoint/2010/main" val="3640460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Shape Language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Oval 3"/>
          <p:cNvSpPr/>
          <p:nvPr/>
        </p:nvSpPr>
        <p:spPr>
          <a:xfrm>
            <a:off x="2225040" y="2926080"/>
            <a:ext cx="1554480" cy="1554480"/>
          </a:xfrm>
          <a:prstGeom prst="ellipse">
            <a:avLst/>
          </a:prstGeom>
          <a:solidFill>
            <a:srgbClr val="7B88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4663440"/>
            <a:ext cx="3078480" cy="457200"/>
          </a:xfrm>
          <a:prstGeom prst="rect">
            <a:avLst/>
          </a:prstGeom>
          <a:noFill/>
        </p:spPr>
        <p:txBody>
          <a:bodyPr wrap="square" anchor="ctr" lIns="0" rIns="0" tIns="0" bIns="0">
            <a:spAutoFit/>
          </a:bodyPr>
          <a:lstStyle/>
          <a:p>
            <a:pPr algn="ctr"/>
            <a:r>
              <a:rPr sz="1400" b="1" i="0">
                <a:solidFill>
                  <a:srgbClr val="212121"/>
                </a:solidFill>
                <a:latin typeface="Garamond"/>
              </a:rPr>
              <a:t>SAFE / FRIENDLY</a:t>
            </a:r>
          </a:p>
        </p:txBody>
      </p:sp>
      <p:sp>
        <p:nvSpPr>
          <p:cNvPr id="6" name="Rectangle 5"/>
          <p:cNvSpPr/>
          <p:nvPr/>
        </p:nvSpPr>
        <p:spPr>
          <a:xfrm>
            <a:off x="5303520" y="2926080"/>
            <a:ext cx="1554480" cy="1554480"/>
          </a:xfrm>
          <a:prstGeom prst="rect">
            <a:avLst/>
          </a:prstGeom>
          <a:solidFill>
            <a:srgbClr val="AE9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1520" y="4663440"/>
            <a:ext cx="3078480" cy="457200"/>
          </a:xfrm>
          <a:prstGeom prst="rect">
            <a:avLst/>
          </a:prstGeom>
          <a:noFill/>
        </p:spPr>
        <p:txBody>
          <a:bodyPr wrap="square" anchor="ctr" lIns="0" rIns="0" tIns="0" bIns="0">
            <a:spAutoFit/>
          </a:bodyPr>
          <a:lstStyle/>
          <a:p>
            <a:pPr algn="ctr"/>
            <a:r>
              <a:rPr sz="1400" b="1" i="0">
                <a:solidFill>
                  <a:srgbClr val="212121"/>
                </a:solidFill>
                <a:latin typeface="Garamond"/>
              </a:rPr>
              <a:t>STABLE / RELIABLE</a:t>
            </a:r>
          </a:p>
        </p:txBody>
      </p:sp>
      <p:sp>
        <p:nvSpPr>
          <p:cNvPr id="8" name="Right Triangle 7"/>
          <p:cNvSpPr/>
          <p:nvPr/>
        </p:nvSpPr>
        <p:spPr>
          <a:xfrm>
            <a:off x="8382000" y="2926080"/>
            <a:ext cx="1554480" cy="1554480"/>
          </a:xfrm>
          <a:prstGeom prst="rtTriangle">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0" y="4663440"/>
            <a:ext cx="3078480" cy="457200"/>
          </a:xfrm>
          <a:prstGeom prst="rect">
            <a:avLst/>
          </a:prstGeom>
          <a:noFill/>
        </p:spPr>
        <p:txBody>
          <a:bodyPr wrap="square" anchor="ctr" lIns="0" rIns="0" tIns="0" bIns="0">
            <a:spAutoFit/>
          </a:bodyPr>
          <a:lstStyle/>
          <a:p>
            <a:pPr algn="ctr"/>
            <a:r>
              <a:rPr sz="1400" b="1" i="0">
                <a:solidFill>
                  <a:srgbClr val="212121"/>
                </a:solidFill>
                <a:latin typeface="Garamond"/>
              </a:rPr>
              <a:t>DANGER / SHARP</a:t>
            </a:r>
          </a:p>
        </p:txBody>
      </p:sp>
      <p:sp>
        <p:nvSpPr>
          <p:cNvPr id="10" name="TextBox 9"/>
          <p:cNvSpPr txBox="1"/>
          <p:nvPr/>
        </p:nvSpPr>
        <p:spPr>
          <a:xfrm>
            <a:off x="1463040" y="5486400"/>
            <a:ext cx="9235440" cy="365760"/>
          </a:xfrm>
          <a:prstGeom prst="rect">
            <a:avLst/>
          </a:prstGeom>
          <a:noFill/>
        </p:spPr>
        <p:txBody>
          <a:bodyPr wrap="square" anchor="ctr" lIns="0" rIns="0" tIns="0" bIns="0">
            <a:spAutoFit/>
          </a:bodyPr>
          <a:lstStyle/>
          <a:p>
            <a:pPr algn="ctr"/>
            <a:r>
              <a:rPr sz="1500" b="0" i="1">
                <a:solidFill>
                  <a:srgbClr val="CC702D"/>
                </a:solidFill>
                <a:latin typeface="Garamond"/>
              </a:rPr>
              <a:t>Audiences read shape before anything else</a:t>
            </a:r>
          </a:p>
        </p:txBody>
      </p:sp>
    </p:spTree>
    <p:extLst>
      <p:ext uri="{BB962C8B-B14F-4D97-AF65-F5344CB8AC3E}">
        <p14:creationId xmlns:p14="http://schemas.microsoft.com/office/powerpoint/2010/main" val="3640460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You Have About One Second</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A panel in an animatic may hold for twelve frames</a:t>
            </a:r>
          </a:p>
          <a:p>
            <a:r>
              <a:rPr lang="en-US" dirty="0" b="0"/>
              <a:t>The audience cannot study your frame</a:t>
            </a:r>
          </a:p>
          <a:p>
            <a:r>
              <a:rPr lang="en-US" dirty="0" b="0"/>
              <a:t>Whatever they get, they get immediately or not at all</a:t>
            </a:r>
          </a:p>
          <a:p>
            <a:r>
              <a:rPr lang="en-US" dirty="0" b="0"/>
              <a:t>This is the constraint that makes composition non-negotiable</a:t>
            </a:r>
          </a:p>
        </p:txBody>
      </p:sp>
    </p:spTree>
    <p:extLst>
      <p:ext uri="{BB962C8B-B14F-4D97-AF65-F5344CB8AC3E}">
        <p14:creationId xmlns:p14="http://schemas.microsoft.com/office/powerpoint/2010/main" val="3640460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Where the Eye Goes First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1.  Strongest value contrast</a:t>
            </a:r>
          </a:p>
          <a:p>
            <a:r>
              <a:rPr lang="en-US" dirty="0" b="0"/>
              <a:t>2.  Movement</a:t>
            </a:r>
          </a:p>
          <a:p>
            <a:r>
              <a:rPr lang="en-US" dirty="0" b="0"/>
              <a:t>3.  Faces, and especially eyes</a:t>
            </a:r>
          </a:p>
          <a:p>
            <a:r>
              <a:rPr lang="en-US" dirty="0" b="0"/>
              <a:t>4.  Detail and texture</a:t>
            </a:r>
          </a:p>
          <a:p>
            <a:r>
              <a:rPr lang="en-US" dirty="0" b="0"/>
              <a:t>5.  Everything else</a:t>
            </a:r>
          </a:p>
        </p:txBody>
      </p:sp>
    </p:spTree>
    <p:extLst>
      <p:ext uri="{BB962C8B-B14F-4D97-AF65-F5344CB8AC3E}">
        <p14:creationId xmlns:p14="http://schemas.microsoft.com/office/powerpoint/2010/main" val="3640460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Reading Order</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Left to right, for most Western audiences</a:t>
            </a:r>
          </a:p>
          <a:p>
            <a:r>
              <a:rPr lang="en-US" dirty="0" b="0"/>
              <a:t>Foreground before background</a:t>
            </a:r>
          </a:p>
          <a:p>
            <a:r>
              <a:rPr lang="en-US" dirty="0" b="0"/>
              <a:t>Light before dark</a:t>
            </a:r>
          </a:p>
          <a:p>
            <a:r>
              <a:rPr lang="en-US" dirty="0" b="0"/>
              <a:t>You can fight all of this, but only on purpose</a:t>
            </a:r>
          </a:p>
        </p:txBody>
      </p:sp>
    </p:spTree>
    <p:extLst>
      <p:ext uri="{BB962C8B-B14F-4D97-AF65-F5344CB8AC3E}">
        <p14:creationId xmlns:p14="http://schemas.microsoft.com/office/powerpoint/2010/main" val="3640460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The Squint Test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Squint at your panel until the detail disappears</a:t>
            </a:r>
          </a:p>
          <a:p>
            <a:r>
              <a:rPr lang="en-US" dirty="0" b="0"/>
              <a:t>What is left is what the audience actually receives</a:t>
            </a:r>
          </a:p>
          <a:p>
            <a:r>
              <a:rPr lang="en-US" dirty="0" b="0"/>
              <a:t>If the subject vanishes when you squint, the panel has failed</a:t>
            </a:r>
          </a:p>
          <a:p>
            <a:r>
              <a:rPr lang="en-US" dirty="0" b="0"/>
              <a:t>Do this constantly, on your own work, all semester</a:t>
            </a:r>
          </a:p>
        </p:txBody>
      </p:sp>
    </p:spTree>
    <p:extLst>
      <p:ext uri="{BB962C8B-B14F-4D97-AF65-F5344CB8AC3E}">
        <p14:creationId xmlns:p14="http://schemas.microsoft.com/office/powerpoint/2010/main" val="3640460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Figure and Ground</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The subject must separate from what is behind it</a:t>
            </a:r>
          </a:p>
          <a:p>
            <a:r>
              <a:rPr lang="en-US" dirty="0" b="0"/>
              <a:t>Dark figure on light ground, or light on dark</a:t>
            </a:r>
          </a:p>
          <a:p>
            <a:r>
              <a:rPr lang="en-US" dirty="0" b="0"/>
              <a:t>The failure case: mid-value figure on mid-value ground</a:t>
            </a:r>
          </a:p>
          <a:p>
            <a:r>
              <a:rPr lang="en-US" dirty="0" b="0"/>
              <a:t>This is the number one reason student panels do not read</a:t>
            </a:r>
          </a:p>
        </p:txBody>
      </p:sp>
    </p:spTree>
    <p:extLst>
      <p:ext uri="{BB962C8B-B14F-4D97-AF65-F5344CB8AC3E}">
        <p14:creationId xmlns:p14="http://schemas.microsoft.com/office/powerpoint/2010/main" val="3640460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Three Values Is Enough</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Black, mid-grey, white</a:t>
            </a:r>
          </a:p>
          <a:p>
            <a:r>
              <a:rPr lang="en-US" dirty="0" b="0"/>
              <a:t>That is a complete storyboard rendering system</a:t>
            </a:r>
          </a:p>
          <a:p>
            <a:r>
              <a:rPr lang="en-US" dirty="0" b="0"/>
              <a:t>More values usually means procrastination, not clarity</a:t>
            </a:r>
          </a:p>
          <a:p>
            <a:r>
              <a:rPr lang="en-US" dirty="0" b="0"/>
              <a:t>Decide which of the three each area is, and commit</a:t>
            </a:r>
          </a:p>
        </p:txBody>
      </p:sp>
    </p:spTree>
    <p:extLst>
      <p:ext uri="{BB962C8B-B14F-4D97-AF65-F5344CB8AC3E}">
        <p14:creationId xmlns:p14="http://schemas.microsoft.com/office/powerpoint/2010/main" val="36404600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Silhouette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Fill the subject solid black</a:t>
            </a:r>
          </a:p>
          <a:p>
            <a:r>
              <a:rPr lang="en-US" dirty="0" b="0"/>
              <a:t>Can a stranger name the action?</a:t>
            </a:r>
          </a:p>
          <a:p>
            <a:r>
              <a:rPr lang="en-US" dirty="0" b="0"/>
              <a:t>If not, the pose has failed: regardless of drawing quality</a:t>
            </a:r>
          </a:p>
          <a:p>
            <a:r>
              <a:rPr lang="en-US" dirty="0" b="0"/>
              <a:t>This is the standard I grade against</a:t>
            </a:r>
          </a:p>
        </p:txBody>
      </p:sp>
    </p:spTree>
    <p:extLst>
      <p:ext uri="{BB962C8B-B14F-4D97-AF65-F5344CB8AC3E}">
        <p14:creationId xmlns:p14="http://schemas.microsoft.com/office/powerpoint/2010/main" val="3640460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Value as Depth</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Near: darker, higher contrast, more detail</a:t>
            </a:r>
          </a:p>
          <a:p>
            <a:r>
              <a:rPr lang="en-US" dirty="0" b="0"/>
              <a:t>Far: lighter, lower contrast, less detail</a:t>
            </a:r>
          </a:p>
          <a:p>
            <a:r>
              <a:rPr lang="en-US" dirty="0" b="0"/>
              <a:t>This is atmospheric perspective, and it costs you nothing</a:t>
            </a:r>
          </a:p>
          <a:p>
            <a:r>
              <a:rPr lang="en-US" dirty="0" b="0"/>
              <a:t>It works even when your linear perspective is wrong</a:t>
            </a:r>
          </a:p>
        </p:txBody>
      </p:sp>
    </p:spTree>
    <p:extLst>
      <p:ext uri="{BB962C8B-B14F-4D97-AF65-F5344CB8AC3E}">
        <p14:creationId xmlns:p14="http://schemas.microsoft.com/office/powerpoint/2010/main" val="3640460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Contrast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The range between your lightest and darkest</a:t>
            </a:r>
          </a:p>
          <a:p>
            <a:r>
              <a:rPr lang="en-US" dirty="0" b="0"/>
              <a:t>High contrast: dramatic, tense, aggressive</a:t>
            </a:r>
          </a:p>
          <a:p>
            <a:r>
              <a:rPr lang="en-US" dirty="0" b="0"/>
              <a:t>Low contrast: soft, flat, dreamy, or simply dull</a:t>
            </a:r>
          </a:p>
          <a:p>
            <a:r>
              <a:rPr lang="en-US" dirty="0" b="0"/>
              <a:t>Contrast is also how you point at things</a:t>
            </a:r>
          </a:p>
        </p:txBody>
      </p:sp>
    </p:spTree>
    <p:extLst>
      <p:ext uri="{BB962C8B-B14F-4D97-AF65-F5344CB8AC3E}">
        <p14:creationId xmlns:p14="http://schemas.microsoft.com/office/powerpoint/2010/main" val="3640460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Rule of Thirds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828800" y="2651760"/>
            <a:ext cx="8531352" cy="329184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4672583" y="2651760"/>
            <a:ext cx="0" cy="3291840"/>
          </a:xfrm>
          <a:prstGeom prst="line">
            <a:avLst/>
          </a:prstGeom>
          <a:ln w="19050">
            <a:solidFill>
              <a:srgbClr val="AE9E7C"/>
            </a:solidFill>
            <a:prstDash val="dash"/>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828800" y="3749039"/>
            <a:ext cx="8531352" cy="0"/>
          </a:xfrm>
          <a:prstGeom prst="line">
            <a:avLst/>
          </a:prstGeom>
          <a:ln w="19050">
            <a:solidFill>
              <a:srgbClr val="AE9E7C"/>
            </a:solidFill>
            <a:prstDash val="dash"/>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516367" y="2651760"/>
            <a:ext cx="0" cy="3291840"/>
          </a:xfrm>
          <a:prstGeom prst="line">
            <a:avLst/>
          </a:prstGeom>
          <a:ln w="19050">
            <a:solidFill>
              <a:srgbClr val="AE9E7C"/>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4846320"/>
            <a:ext cx="8531352" cy="0"/>
          </a:xfrm>
          <a:prstGeom prst="line">
            <a:avLst/>
          </a:prstGeom>
          <a:ln w="19050">
            <a:solidFill>
              <a:srgbClr val="AE9E7C"/>
            </a:solidFill>
            <a:prstDash val="dash"/>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592116" y="4343400"/>
            <a:ext cx="160934" cy="160934"/>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apezoid 9"/>
          <p:cNvSpPr/>
          <p:nvPr/>
        </p:nvSpPr>
        <p:spPr>
          <a:xfrm rot="10800000">
            <a:off x="4563953" y="4480194"/>
            <a:ext cx="217261" cy="869045"/>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0" y="6080760"/>
            <a:ext cx="8531352" cy="365760"/>
          </a:xfrm>
          <a:prstGeom prst="rect">
            <a:avLst/>
          </a:prstGeom>
          <a:noFill/>
        </p:spPr>
        <p:txBody>
          <a:bodyPr wrap="square" anchor="ctr" lIns="0" rIns="0" tIns="0" bIns="0">
            <a:spAutoFit/>
          </a:bodyPr>
          <a:lstStyle/>
          <a:p>
            <a:pPr algn="ctr"/>
            <a:r>
              <a:rPr sz="1500" b="0" i="1">
                <a:solidFill>
                  <a:srgbClr val="CC702D"/>
                </a:solidFill>
                <a:latin typeface="Garamond"/>
              </a:rPr>
              <a:t>Subject on an intersection, not dead centre</a:t>
            </a:r>
          </a:p>
        </p:txBody>
      </p:sp>
    </p:spTree>
    <p:extLst>
      <p:ext uri="{BB962C8B-B14F-4D97-AF65-F5344CB8AC3E}">
        <p14:creationId xmlns:p14="http://schemas.microsoft.com/office/powerpoint/2010/main" val="3640460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When to Centre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828800" y="2651760"/>
            <a:ext cx="3931920" cy="310896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699662" y="4206240"/>
            <a:ext cx="190195" cy="190195"/>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rapezoid 5"/>
          <p:cNvSpPr/>
          <p:nvPr/>
        </p:nvSpPr>
        <p:spPr>
          <a:xfrm rot="10800000">
            <a:off x="3666378" y="4367905"/>
            <a:ext cx="256763" cy="1027054"/>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5897880"/>
            <a:ext cx="3931920" cy="365760"/>
          </a:xfrm>
          <a:prstGeom prst="rect">
            <a:avLst/>
          </a:prstGeom>
          <a:noFill/>
        </p:spPr>
        <p:txBody>
          <a:bodyPr wrap="square" anchor="ctr" lIns="0" rIns="0" tIns="0" bIns="0">
            <a:spAutoFit/>
          </a:bodyPr>
          <a:lstStyle/>
          <a:p>
            <a:pPr algn="ctr"/>
            <a:r>
              <a:rPr sz="1300" b="0" i="1">
                <a:solidFill>
                  <a:srgbClr val="CC702D"/>
                </a:solidFill>
                <a:latin typeface="Garamond"/>
              </a:rPr>
              <a:t>Centred: formal, controlled</a:t>
            </a:r>
          </a:p>
        </p:txBody>
      </p:sp>
      <p:sp>
        <p:nvSpPr>
          <p:cNvPr id="8" name="Rectangle 7"/>
          <p:cNvSpPr/>
          <p:nvPr/>
        </p:nvSpPr>
        <p:spPr>
          <a:xfrm>
            <a:off x="6675120" y="2651760"/>
            <a:ext cx="3931920" cy="310896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63002" y="4206240"/>
            <a:ext cx="190195" cy="190195"/>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apezoid 9"/>
          <p:cNvSpPr/>
          <p:nvPr/>
        </p:nvSpPr>
        <p:spPr>
          <a:xfrm rot="10800000">
            <a:off x="7529718" y="4367905"/>
            <a:ext cx="256763" cy="1027054"/>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5897880"/>
            <a:ext cx="3931920" cy="365760"/>
          </a:xfrm>
          <a:prstGeom prst="rect">
            <a:avLst/>
          </a:prstGeom>
          <a:noFill/>
        </p:spPr>
        <p:txBody>
          <a:bodyPr wrap="square" anchor="ctr" lIns="0" rIns="0" tIns="0" bIns="0">
            <a:spAutoFit/>
          </a:bodyPr>
          <a:lstStyle/>
          <a:p>
            <a:pPr algn="ctr"/>
            <a:r>
              <a:rPr sz="1300" b="0" i="1">
                <a:solidFill>
                  <a:srgbClr val="CC702D"/>
                </a:solidFill>
                <a:latin typeface="Garamond"/>
              </a:rPr>
              <a:t>Off-centre: observed, natural</a:t>
            </a:r>
          </a:p>
        </p:txBody>
      </p:sp>
    </p:spTree>
    <p:extLst>
      <p:ext uri="{BB962C8B-B14F-4D97-AF65-F5344CB8AC3E}">
        <p14:creationId xmlns:p14="http://schemas.microsoft.com/office/powerpoint/2010/main" val="3640460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Symmetrical Balance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828800" y="2651760"/>
            <a:ext cx="8531352" cy="310896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094476" y="2788920"/>
            <a:ext cx="0" cy="2834639"/>
          </a:xfrm>
          <a:prstGeom prst="line">
            <a:avLst/>
          </a:prstGeom>
          <a:ln w="19050">
            <a:solidFill>
              <a:srgbClr val="D9B247"/>
            </a:solidFill>
            <a:prstDash val="dash"/>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4550968" y="4434840"/>
            <a:ext cx="160934" cy="160934"/>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rapezoid 6"/>
          <p:cNvSpPr/>
          <p:nvPr/>
        </p:nvSpPr>
        <p:spPr>
          <a:xfrm rot="10800000">
            <a:off x="4522805" y="4571634"/>
            <a:ext cx="217261" cy="869045"/>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477048" y="4434840"/>
            <a:ext cx="160934" cy="160934"/>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rapezoid 8"/>
          <p:cNvSpPr/>
          <p:nvPr/>
        </p:nvSpPr>
        <p:spPr>
          <a:xfrm rot="10800000">
            <a:off x="7448885" y="4571634"/>
            <a:ext cx="217261" cy="869045"/>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5897880"/>
            <a:ext cx="8531352" cy="365760"/>
          </a:xfrm>
          <a:prstGeom prst="rect">
            <a:avLst/>
          </a:prstGeom>
          <a:noFill/>
        </p:spPr>
        <p:txBody>
          <a:bodyPr wrap="square" anchor="ctr" lIns="0" rIns="0" tIns="0" bIns="0">
            <a:spAutoFit/>
          </a:bodyPr>
          <a:lstStyle/>
          <a:p>
            <a:pPr algn="ctr"/>
            <a:r>
              <a:rPr sz="1500" b="0" i="1">
                <a:solidFill>
                  <a:srgbClr val="CC702D"/>
                </a:solidFill>
                <a:latin typeface="Garamond"/>
              </a:rPr>
              <a:t>Equal weight on both sides of the axis</a:t>
            </a:r>
          </a:p>
        </p:txBody>
      </p:sp>
    </p:spTree>
    <p:extLst>
      <p:ext uri="{BB962C8B-B14F-4D97-AF65-F5344CB8AC3E}">
        <p14:creationId xmlns:p14="http://schemas.microsoft.com/office/powerpoint/2010/main" val="3640460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Asymmetrical Balance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828800" y="2651760"/>
            <a:ext cx="8531352" cy="310896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581339" y="3886200"/>
            <a:ext cx="248716" cy="248716"/>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rapezoid 5"/>
          <p:cNvSpPr/>
          <p:nvPr/>
        </p:nvSpPr>
        <p:spPr>
          <a:xfrm rot="10800000">
            <a:off x="3537813" y="4097609"/>
            <a:ext cx="335767" cy="1343070"/>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056059" y="4663440"/>
            <a:ext cx="124358" cy="124358"/>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rapezoid 7"/>
          <p:cNvSpPr/>
          <p:nvPr/>
        </p:nvSpPr>
        <p:spPr>
          <a:xfrm rot="10800000">
            <a:off x="7034296" y="4769144"/>
            <a:ext cx="167883" cy="671535"/>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165134" y="4663440"/>
            <a:ext cx="124358" cy="124358"/>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apezoid 9"/>
          <p:cNvSpPr/>
          <p:nvPr/>
        </p:nvSpPr>
        <p:spPr>
          <a:xfrm rot="10800000">
            <a:off x="8143372" y="4769144"/>
            <a:ext cx="167883" cy="671535"/>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274210" y="4663440"/>
            <a:ext cx="124358" cy="124358"/>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rapezoid 11"/>
          <p:cNvSpPr/>
          <p:nvPr/>
        </p:nvSpPr>
        <p:spPr>
          <a:xfrm rot="10800000">
            <a:off x="9252447" y="4769144"/>
            <a:ext cx="167883" cy="671535"/>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0" y="5897880"/>
            <a:ext cx="8531352" cy="365760"/>
          </a:xfrm>
          <a:prstGeom prst="rect">
            <a:avLst/>
          </a:prstGeom>
          <a:noFill/>
        </p:spPr>
        <p:txBody>
          <a:bodyPr wrap="square" anchor="ctr" lIns="0" rIns="0" tIns="0" bIns="0">
            <a:spAutoFit/>
          </a:bodyPr>
          <a:lstStyle/>
          <a:p>
            <a:pPr algn="ctr"/>
            <a:r>
              <a:rPr sz="1500" b="0" i="1">
                <a:solidFill>
                  <a:srgbClr val="CC702D"/>
                </a:solidFill>
                <a:latin typeface="Garamond"/>
              </a:rPr>
              <a:t>One dominant form, offset by several smaller ones</a:t>
            </a:r>
          </a:p>
        </p:txBody>
      </p:sp>
    </p:spTree>
    <p:extLst>
      <p:ext uri="{BB962C8B-B14F-4D97-AF65-F5344CB8AC3E}">
        <p14:creationId xmlns:p14="http://schemas.microsoft.com/office/powerpoint/2010/main" val="36404600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Dominance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828800" y="2651760"/>
            <a:ext cx="8531352" cy="320040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560320" y="3200400"/>
            <a:ext cx="1828800" cy="1828800"/>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0" y="5166360"/>
            <a:ext cx="1828800" cy="320040"/>
          </a:xfrm>
          <a:prstGeom prst="rect">
            <a:avLst/>
          </a:prstGeom>
          <a:noFill/>
        </p:spPr>
        <p:txBody>
          <a:bodyPr wrap="square" anchor="ctr" lIns="0" rIns="0" tIns="0" bIns="0">
            <a:spAutoFit/>
          </a:bodyPr>
          <a:lstStyle/>
          <a:p>
            <a:pPr algn="ctr"/>
            <a:r>
              <a:rPr sz="1300" b="1" i="0">
                <a:solidFill>
                  <a:srgbClr val="212121"/>
                </a:solidFill>
                <a:latin typeface="Garamond"/>
              </a:rPr>
              <a:t>DOMINANT</a:t>
            </a:r>
          </a:p>
        </p:txBody>
      </p:sp>
      <p:sp>
        <p:nvSpPr>
          <p:cNvPr id="7" name="Oval 6"/>
          <p:cNvSpPr/>
          <p:nvPr/>
        </p:nvSpPr>
        <p:spPr>
          <a:xfrm>
            <a:off x="5486400" y="3840480"/>
            <a:ext cx="1097280" cy="1097280"/>
          </a:xfrm>
          <a:prstGeom prst="ellipse">
            <a:avLst/>
          </a:prstGeom>
          <a:solidFill>
            <a:srgbClr val="AE9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0" y="5029200"/>
            <a:ext cx="1645920" cy="320040"/>
          </a:xfrm>
          <a:prstGeom prst="rect">
            <a:avLst/>
          </a:prstGeom>
          <a:noFill/>
        </p:spPr>
        <p:txBody>
          <a:bodyPr wrap="square" anchor="ctr" lIns="0" rIns="0" tIns="0" bIns="0">
            <a:spAutoFit/>
          </a:bodyPr>
          <a:lstStyle/>
          <a:p>
            <a:pPr algn="ctr"/>
            <a:r>
              <a:rPr sz="1200" b="0" i="0">
                <a:solidFill>
                  <a:srgbClr val="212121"/>
                </a:solidFill>
                <a:latin typeface="Garamond"/>
              </a:rPr>
              <a:t>SUB-DOMINANT</a:t>
            </a:r>
          </a:p>
        </p:txBody>
      </p:sp>
      <p:sp>
        <p:nvSpPr>
          <p:cNvPr id="9" name="Oval 8"/>
          <p:cNvSpPr/>
          <p:nvPr/>
        </p:nvSpPr>
        <p:spPr>
          <a:xfrm>
            <a:off x="7680960" y="4251960"/>
            <a:ext cx="594360" cy="594360"/>
          </a:xfrm>
          <a:prstGeom prst="ellipse">
            <a:avLst/>
          </a:prstGeom>
          <a:solidFill>
            <a:srgbClr val="DADADA"/>
          </a:solidFill>
          <a:ln w="12700">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4983479"/>
            <a:ext cx="1188720" cy="320040"/>
          </a:xfrm>
          <a:prstGeom prst="rect">
            <a:avLst/>
          </a:prstGeom>
          <a:noFill/>
        </p:spPr>
        <p:txBody>
          <a:bodyPr wrap="square" anchor="ctr" lIns="0" rIns="0" tIns="0" bIns="0">
            <a:spAutoFit/>
          </a:bodyPr>
          <a:lstStyle/>
          <a:p>
            <a:pPr algn="ctr"/>
            <a:r>
              <a:rPr sz="1100" b="0" i="0">
                <a:solidFill>
                  <a:srgbClr val="212121"/>
                </a:solidFill>
                <a:latin typeface="Garamond"/>
              </a:rPr>
              <a:t>SUBORDINATE</a:t>
            </a:r>
          </a:p>
        </p:txBody>
      </p:sp>
      <p:sp>
        <p:nvSpPr>
          <p:cNvPr id="11" name="TextBox 10"/>
          <p:cNvSpPr txBox="1"/>
          <p:nvPr/>
        </p:nvSpPr>
        <p:spPr>
          <a:xfrm>
            <a:off x="1828800" y="5989320"/>
            <a:ext cx="8531352" cy="365760"/>
          </a:xfrm>
          <a:prstGeom prst="rect">
            <a:avLst/>
          </a:prstGeom>
          <a:noFill/>
        </p:spPr>
        <p:txBody>
          <a:bodyPr wrap="square" anchor="ctr" lIns="0" rIns="0" tIns="0" bIns="0">
            <a:spAutoFit/>
          </a:bodyPr>
          <a:lstStyle/>
          <a:p>
            <a:pPr algn="ctr"/>
            <a:r>
              <a:rPr sz="1500" b="0" i="1">
                <a:solidFill>
                  <a:srgbClr val="CC702D"/>
                </a:solidFill>
                <a:latin typeface="Garamond"/>
              </a:rPr>
              <a:t>One dominant per frame. Only one.</a:t>
            </a:r>
          </a:p>
        </p:txBody>
      </p:sp>
    </p:spTree>
    <p:extLst>
      <p:ext uri="{BB962C8B-B14F-4D97-AF65-F5344CB8AC3E}">
        <p14:creationId xmlns:p14="http://schemas.microsoft.com/office/powerpoint/2010/main" val="3640460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Positive and Negative Space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828800" y="2651760"/>
            <a:ext cx="8531352" cy="310896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2651760"/>
            <a:ext cx="8531352" cy="3108960"/>
          </a:xfrm>
          <a:prstGeom prst="rect">
            <a:avLst/>
          </a:prstGeom>
          <a:solidFill>
            <a:srgbClr val="DADA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933541" y="3474720"/>
            <a:ext cx="321868" cy="321868"/>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rapezoid 6"/>
          <p:cNvSpPr/>
          <p:nvPr/>
        </p:nvSpPr>
        <p:spPr>
          <a:xfrm rot="10800000">
            <a:off x="5877214" y="3748308"/>
            <a:ext cx="434522" cy="1738091"/>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0" y="2834640"/>
            <a:ext cx="2743200" cy="320040"/>
          </a:xfrm>
          <a:prstGeom prst="rect">
            <a:avLst/>
          </a:prstGeom>
          <a:noFill/>
        </p:spPr>
        <p:txBody>
          <a:bodyPr wrap="square" anchor="ctr" lIns="0" rIns="0" tIns="0" bIns="0">
            <a:spAutoFit/>
          </a:bodyPr>
          <a:lstStyle/>
          <a:p>
            <a:pPr algn="ctr"/>
            <a:r>
              <a:rPr sz="1200" b="0" i="1">
                <a:solidFill>
                  <a:srgbClr val="CC702D"/>
                </a:solidFill>
                <a:latin typeface="Garamond"/>
              </a:rPr>
              <a:t>negative space</a:t>
            </a:r>
          </a:p>
        </p:txBody>
      </p:sp>
      <p:sp>
        <p:nvSpPr>
          <p:cNvPr id="9" name="TextBox 8"/>
          <p:cNvSpPr txBox="1"/>
          <p:nvPr/>
        </p:nvSpPr>
        <p:spPr>
          <a:xfrm>
            <a:off x="1828800" y="5897880"/>
            <a:ext cx="8531352" cy="365760"/>
          </a:xfrm>
          <a:prstGeom prst="rect">
            <a:avLst/>
          </a:prstGeom>
          <a:noFill/>
        </p:spPr>
        <p:txBody>
          <a:bodyPr wrap="square" anchor="ctr" lIns="0" rIns="0" tIns="0" bIns="0">
            <a:spAutoFit/>
          </a:bodyPr>
          <a:lstStyle/>
          <a:p>
            <a:pPr algn="ctr"/>
            <a:r>
              <a:rPr sz="1500" b="0" i="1">
                <a:solidFill>
                  <a:srgbClr val="CC702D"/>
                </a:solidFill>
                <a:latin typeface="Garamond"/>
              </a:rPr>
              <a:t>The empty space is doing work too</a:t>
            </a:r>
          </a:p>
        </p:txBody>
      </p:sp>
    </p:spTree>
    <p:extLst>
      <p:ext uri="{BB962C8B-B14F-4D97-AF65-F5344CB8AC3E}">
        <p14:creationId xmlns:p14="http://schemas.microsoft.com/office/powerpoint/2010/main" val="36404600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Headroom, Lookroom, Leadroom</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2377440" y="2606040"/>
            <a:ext cx="7406640" cy="329184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794199" y="3429000"/>
            <a:ext cx="351129" cy="351129"/>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rapezoid 5"/>
          <p:cNvSpPr/>
          <p:nvPr/>
        </p:nvSpPr>
        <p:spPr>
          <a:xfrm rot="10800000">
            <a:off x="4732751" y="3727460"/>
            <a:ext cx="474024" cy="1896099"/>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969764" y="2697480"/>
            <a:ext cx="0" cy="731520"/>
          </a:xfrm>
          <a:prstGeom prst="line">
            <a:avLst/>
          </a:prstGeom>
          <a:ln w="19050">
            <a:solidFill>
              <a:srgbClr val="B53A3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106924" y="2651760"/>
            <a:ext cx="1463040" cy="274320"/>
          </a:xfrm>
          <a:prstGeom prst="rect">
            <a:avLst/>
          </a:prstGeom>
          <a:noFill/>
        </p:spPr>
        <p:txBody>
          <a:bodyPr wrap="square" anchor="ctr" lIns="0" rIns="0" tIns="0" bIns="0">
            <a:spAutoFit/>
          </a:bodyPr>
          <a:lstStyle/>
          <a:p>
            <a:pPr algn="l"/>
            <a:r>
              <a:rPr sz="1100" b="0" i="0">
                <a:solidFill>
                  <a:srgbClr val="B53A31"/>
                </a:solidFill>
                <a:latin typeface="Garamond"/>
              </a:rPr>
              <a:t>headroom</a:t>
            </a:r>
          </a:p>
        </p:txBody>
      </p:sp>
      <p:cxnSp>
        <p:nvCxnSpPr>
          <p:cNvPr id="9" name="Connector 8"/>
          <p:cNvCxnSpPr/>
          <p:nvPr/>
        </p:nvCxnSpPr>
        <p:spPr>
          <a:xfrm>
            <a:off x="5426964" y="3922776"/>
            <a:ext cx="4082795" cy="0"/>
          </a:xfrm>
          <a:prstGeom prst="line">
            <a:avLst/>
          </a:prstGeom>
          <a:ln w="19050">
            <a:solidFill>
              <a:srgbClr val="CC702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518403" y="3602736"/>
            <a:ext cx="2743200" cy="274320"/>
          </a:xfrm>
          <a:prstGeom prst="rect">
            <a:avLst/>
          </a:prstGeom>
          <a:noFill/>
        </p:spPr>
        <p:txBody>
          <a:bodyPr wrap="square" anchor="ctr" lIns="0" rIns="0" tIns="0" bIns="0">
            <a:spAutoFit/>
          </a:bodyPr>
          <a:lstStyle/>
          <a:p>
            <a:pPr algn="l"/>
            <a:r>
              <a:rPr sz="1100" b="0" i="0">
                <a:solidFill>
                  <a:srgbClr val="CC702D"/>
                </a:solidFill>
                <a:latin typeface="Garamond"/>
              </a:rPr>
              <a:t>lookroom (facing right)</a:t>
            </a:r>
          </a:p>
        </p:txBody>
      </p:sp>
      <p:cxnSp>
        <p:nvCxnSpPr>
          <p:cNvPr id="11" name="Connector 10"/>
          <p:cNvCxnSpPr/>
          <p:nvPr/>
        </p:nvCxnSpPr>
        <p:spPr>
          <a:xfrm>
            <a:off x="5426964" y="5349240"/>
            <a:ext cx="4082795" cy="0"/>
          </a:xfrm>
          <a:prstGeom prst="line">
            <a:avLst/>
          </a:prstGeom>
          <a:ln w="19050">
            <a:solidFill>
              <a:srgbClr val="7B886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518403" y="5029200"/>
            <a:ext cx="2743200" cy="274320"/>
          </a:xfrm>
          <a:prstGeom prst="rect">
            <a:avLst/>
          </a:prstGeom>
          <a:noFill/>
        </p:spPr>
        <p:txBody>
          <a:bodyPr wrap="square" anchor="ctr" lIns="0" rIns="0" tIns="0" bIns="0">
            <a:spAutoFit/>
          </a:bodyPr>
          <a:lstStyle/>
          <a:p>
            <a:pPr algn="l"/>
            <a:r>
              <a:rPr sz="1100" b="0" i="0">
                <a:solidFill>
                  <a:srgbClr val="7B8865"/>
                </a:solidFill>
                <a:latin typeface="Garamond"/>
              </a:rPr>
              <a:t>leadroom (moving right)</a:t>
            </a:r>
          </a:p>
        </p:txBody>
      </p:sp>
      <p:sp>
        <p:nvSpPr>
          <p:cNvPr id="13" name="TextBox 12"/>
          <p:cNvSpPr txBox="1"/>
          <p:nvPr/>
        </p:nvSpPr>
        <p:spPr>
          <a:xfrm>
            <a:off x="2377440" y="6035040"/>
            <a:ext cx="7406640" cy="365760"/>
          </a:xfrm>
          <a:prstGeom prst="rect">
            <a:avLst/>
          </a:prstGeom>
          <a:noFill/>
        </p:spPr>
        <p:txBody>
          <a:bodyPr wrap="square" anchor="ctr" lIns="0" rIns="0" tIns="0" bIns="0">
            <a:spAutoFit/>
          </a:bodyPr>
          <a:lstStyle/>
          <a:p>
            <a:pPr algn="ctr"/>
            <a:r>
              <a:rPr sz="1500" b="0" i="1">
                <a:solidFill>
                  <a:srgbClr val="CC702D"/>
                </a:solidFill>
                <a:latin typeface="Garamond"/>
              </a:rPr>
              <a:t>Give the eye somewhere to go</a:t>
            </a:r>
          </a:p>
        </p:txBody>
      </p:sp>
    </p:spTree>
    <p:extLst>
      <p:ext uri="{BB962C8B-B14F-4D97-AF65-F5344CB8AC3E}">
        <p14:creationId xmlns:p14="http://schemas.microsoft.com/office/powerpoint/2010/main" val="36404600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Frame Within a Frame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Doorways, windows, mirrors, arches, gaps</a:t>
            </a:r>
          </a:p>
          <a:p>
            <a:r>
              <a:rPr lang="en-US" dirty="0" b="0"/>
              <a:t>Foreground shapes that surround the subject</a:t>
            </a:r>
          </a:p>
          <a:p>
            <a:r>
              <a:rPr lang="en-US" dirty="0" b="0"/>
              <a:t>Isolates the subject without any perspective work</a:t>
            </a:r>
          </a:p>
          <a:p>
            <a:r>
              <a:rPr lang="en-US" dirty="0" b="0"/>
              <a:t>Cheap to draw. Instantly sophisticated.</a:t>
            </a:r>
          </a:p>
        </p:txBody>
      </p:sp>
    </p:spTree>
    <p:extLst>
      <p:ext uri="{BB962C8B-B14F-4D97-AF65-F5344CB8AC3E}">
        <p14:creationId xmlns:p14="http://schemas.microsoft.com/office/powerpoint/2010/main" val="36404600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Leading Lines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Roads, rails, fences, shadows, architecture</a:t>
            </a:r>
          </a:p>
          <a:p>
            <a:r>
              <a:rPr lang="en-US" dirty="0" b="0"/>
              <a:t>Arms, gazes, weapons, outstretched hands</a:t>
            </a:r>
          </a:p>
          <a:p>
            <a:r>
              <a:rPr lang="en-US" dirty="0" b="0"/>
              <a:t>The eye follows a line to whatever is at the end of it</a:t>
            </a:r>
          </a:p>
          <a:p>
            <a:r>
              <a:rPr lang="en-US" dirty="0" b="0"/>
              <a:t>The fastest way to point without pointing</a:t>
            </a:r>
          </a:p>
        </p:txBody>
      </p:sp>
    </p:spTree>
    <p:extLst>
      <p:ext uri="{BB962C8B-B14F-4D97-AF65-F5344CB8AC3E}">
        <p14:creationId xmlns:p14="http://schemas.microsoft.com/office/powerpoint/2010/main" val="36404600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Eyelines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The audience looks where the character looks</a:t>
            </a:r>
          </a:p>
          <a:p>
            <a:r>
              <a:rPr lang="en-US" dirty="0" b="0"/>
              <a:t>The strongest leading line in any frame is a gaze</a:t>
            </a:r>
          </a:p>
          <a:p>
            <a:r>
              <a:rPr lang="en-US" dirty="0" b="0"/>
              <a:t>Look, see, react: three panels, complete storytelling</a:t>
            </a:r>
          </a:p>
          <a:p>
            <a:r>
              <a:rPr lang="en-US" dirty="0" b="0"/>
              <a:t>An eyeline is a composition tool and a continuity contract</a:t>
            </a:r>
          </a:p>
        </p:txBody>
      </p:sp>
    </p:spTree>
    <p:extLst>
      <p:ext uri="{BB962C8B-B14F-4D97-AF65-F5344CB8AC3E}">
        <p14:creationId xmlns:p14="http://schemas.microsoft.com/office/powerpoint/2010/main" val="36404600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Gestalt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The whole is greater than the sum of its parts</a:t>
            </a:r>
          </a:p>
          <a:p>
            <a:r>
              <a:rPr lang="en-US" dirty="0" b="0"/>
              <a:t>The brain groups things automatically</a:t>
            </a:r>
          </a:p>
          <a:p>
            <a:r>
              <a:rPr lang="en-US" dirty="0" b="0"/>
              <a:t>By proximity, by similarity, by continuation</a:t>
            </a:r>
          </a:p>
          <a:p>
            <a:r>
              <a:rPr lang="en-US" dirty="0" b="0"/>
              <a:t>You are composing for a brain that is trying to organise</a:t>
            </a:r>
          </a:p>
        </p:txBody>
      </p:sp>
    </p:spTree>
    <p:extLst>
      <p:ext uri="{BB962C8B-B14F-4D97-AF65-F5344CB8AC3E}">
        <p14:creationId xmlns:p14="http://schemas.microsoft.com/office/powerpoint/2010/main" val="3640460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Closure: Why Crude Boards Work</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The brain fills in missing information automatically</a:t>
            </a:r>
          </a:p>
          <a:p>
            <a:r>
              <a:rPr lang="en-US" dirty="0" b="0"/>
              <a:t>You do not have to draw everything. You have to draw enough.</a:t>
            </a:r>
          </a:p>
          <a:p>
            <a:r>
              <a:rPr lang="en-US" dirty="0" b="0"/>
              <a:t>Suggestion is faster than depiction, and often stronger</a:t>
            </a:r>
          </a:p>
          <a:p>
            <a:r>
              <a:rPr lang="en-US" dirty="0" b="0"/>
              <a:t>This is permission to draw less</a:t>
            </a:r>
          </a:p>
        </p:txBody>
      </p:sp>
    </p:spTree>
    <p:extLst>
      <p:ext uri="{BB962C8B-B14F-4D97-AF65-F5344CB8AC3E}">
        <p14:creationId xmlns:p14="http://schemas.microsoft.com/office/powerpoint/2010/main" val="36404600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Foreground, Midground, Background</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828800" y="2651760"/>
            <a:ext cx="8531352" cy="310896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965960" y="2788920"/>
            <a:ext cx="8257031" cy="2834640"/>
          </a:xfrm>
          <a:prstGeom prst="rect">
            <a:avLst/>
          </a:prstGeom>
          <a:solidFill>
            <a:srgbClr val="DADA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947611" y="3108960"/>
            <a:ext cx="1463040" cy="1463040"/>
          </a:xfrm>
          <a:prstGeom prst="ellipse">
            <a:avLst/>
          </a:prstGeom>
          <a:solidFill>
            <a:srgbClr val="AE9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368637" y="3154679"/>
            <a:ext cx="380390" cy="380390"/>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rapezoid 7"/>
          <p:cNvSpPr/>
          <p:nvPr/>
        </p:nvSpPr>
        <p:spPr>
          <a:xfrm rot="10800000">
            <a:off x="4302069" y="3478011"/>
            <a:ext cx="513527" cy="2054108"/>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4846320"/>
            <a:ext cx="1463040" cy="9144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21043" y="4800600"/>
            <a:ext cx="1737360" cy="274320"/>
          </a:xfrm>
          <a:prstGeom prst="rect">
            <a:avLst/>
          </a:prstGeom>
          <a:noFill/>
        </p:spPr>
        <p:txBody>
          <a:bodyPr wrap="square" anchor="ctr" lIns="0" rIns="0" tIns="0" bIns="0">
            <a:spAutoFit/>
          </a:bodyPr>
          <a:lstStyle/>
          <a:p>
            <a:pPr algn="ctr"/>
            <a:r>
              <a:rPr sz="1100" b="0" i="1">
                <a:solidFill>
                  <a:srgbClr val="212121"/>
                </a:solidFill>
                <a:latin typeface="Garamond"/>
              </a:rPr>
              <a:t>midground</a:t>
            </a:r>
          </a:p>
        </p:txBody>
      </p:sp>
      <p:sp>
        <p:nvSpPr>
          <p:cNvPr id="11" name="TextBox 10"/>
          <p:cNvSpPr txBox="1"/>
          <p:nvPr/>
        </p:nvSpPr>
        <p:spPr>
          <a:xfrm>
            <a:off x="1828800" y="5897880"/>
            <a:ext cx="8531352" cy="365760"/>
          </a:xfrm>
          <a:prstGeom prst="rect">
            <a:avLst/>
          </a:prstGeom>
          <a:noFill/>
        </p:spPr>
        <p:txBody>
          <a:bodyPr wrap="square" anchor="ctr" lIns="0" rIns="0" tIns="0" bIns="0">
            <a:spAutoFit/>
          </a:bodyPr>
          <a:lstStyle/>
          <a:p>
            <a:pPr algn="ctr"/>
            <a:r>
              <a:rPr sz="1500" b="0" i="1">
                <a:solidFill>
                  <a:srgbClr val="CC702D"/>
                </a:solidFill>
                <a:latin typeface="Garamond"/>
              </a:rPr>
              <a:t>Three planes: overlap creates depth instantly</a:t>
            </a:r>
          </a:p>
        </p:txBody>
      </p:sp>
    </p:spTree>
    <p:extLst>
      <p:ext uri="{BB962C8B-B14F-4D97-AF65-F5344CB8AC3E}">
        <p14:creationId xmlns:p14="http://schemas.microsoft.com/office/powerpoint/2010/main" val="36404600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Now the Rules Expand</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Everything so far was about one frame</a:t>
            </a:r>
          </a:p>
          <a:p>
            <a:r>
              <a:rPr lang="en-US" dirty="0" b="0"/>
              <a:t>You do not make frames. You make sequences.</a:t>
            </a:r>
          </a:p>
          <a:p>
            <a:r>
              <a:rPr lang="en-US" dirty="0" b="0"/>
              <a:t>Each principle now gets a second meaning: across time</a:t>
            </a:r>
          </a:p>
          <a:p>
            <a:r>
              <a:rPr lang="en-US" dirty="0" b="0"/>
              <a:t>This is where design for motion separates from graphic design</a:t>
            </a:r>
          </a:p>
        </p:txBody>
      </p:sp>
    </p:spTree>
    <p:extLst>
      <p:ext uri="{BB962C8B-B14F-4D97-AF65-F5344CB8AC3E}">
        <p14:creationId xmlns:p14="http://schemas.microsoft.com/office/powerpoint/2010/main" val="36404600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Rhythm, Meaning One: In Space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Repetition of elements within a frame</a:t>
            </a:r>
          </a:p>
          <a:p>
            <a:r>
              <a:rPr lang="en-US" dirty="0" b="0"/>
              <a:t>Regular: even intervals, similar sizes</a:t>
            </a:r>
          </a:p>
          <a:p>
            <a:r>
              <a:rPr lang="en-US" dirty="0" b="0"/>
              <a:t>Flowing: organic, curving, natural</a:t>
            </a:r>
          </a:p>
          <a:p>
            <a:r>
              <a:rPr lang="en-US" dirty="0" b="0"/>
              <a:t>Progressive: a sequence that changes step by step</a:t>
            </a:r>
          </a:p>
        </p:txBody>
      </p:sp>
    </p:spTree>
    <p:extLst>
      <p:ext uri="{BB962C8B-B14F-4D97-AF65-F5344CB8AC3E}">
        <p14:creationId xmlns:p14="http://schemas.microsoft.com/office/powerpoint/2010/main" val="36404600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Rhythm, Meaning Two: In Time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The pattern of your cuts</a:t>
            </a:r>
          </a:p>
          <a:p>
            <a:r>
              <a:rPr lang="en-US" dirty="0" b="0"/>
              <a:t>How long each shot holds</a:t>
            </a:r>
          </a:p>
          <a:p>
            <a:r>
              <a:rPr lang="en-US" dirty="0" b="0"/>
              <a:t>Fast, slow, regular, syncopated, interrupted</a:t>
            </a:r>
          </a:p>
          <a:p>
            <a:r>
              <a:rPr lang="en-US" dirty="0" b="0"/>
              <a:t>This one is closer to music than to design</a:t>
            </a:r>
          </a:p>
        </p:txBody>
      </p:sp>
    </p:spTree>
    <p:extLst>
      <p:ext uri="{BB962C8B-B14F-4D97-AF65-F5344CB8AC3E}">
        <p14:creationId xmlns:p14="http://schemas.microsoft.com/office/powerpoint/2010/main" val="36404600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Combining Both Rhythms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Spatial rhythm inside the frame</a:t>
            </a:r>
          </a:p>
          <a:p>
            <a:r>
              <a:rPr lang="en-US" dirty="0" b="0"/>
              <a:t>Temporal rhythm across the cuts</a:t>
            </a:r>
          </a:p>
          <a:p>
            <a:r>
              <a:rPr lang="en-US" dirty="0" b="0"/>
              <a:t>Align them and the sequence feels inevitable</a:t>
            </a:r>
          </a:p>
          <a:p>
            <a:r>
              <a:rPr lang="en-US" dirty="0" b="0"/>
              <a:t>Break one against the other and you create tension</a:t>
            </a:r>
          </a:p>
        </p:txBody>
      </p:sp>
    </p:spTree>
    <p:extLst>
      <p:ext uri="{BB962C8B-B14F-4D97-AF65-F5344CB8AC3E}">
        <p14:creationId xmlns:p14="http://schemas.microsoft.com/office/powerpoint/2010/main" val="36404600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Ballistics: The Flow of Information</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Information has momentum across a cut</a:t>
            </a:r>
          </a:p>
          <a:p>
            <a:r>
              <a:rPr lang="en-US" dirty="0" b="0"/>
              <a:t>What the audience just learned shapes what they see next</a:t>
            </a:r>
          </a:p>
          <a:p>
            <a:r>
              <a:rPr lang="en-US" dirty="0" b="0"/>
              <a:t>Where the eye lands in shot A is where it starts in shot B</a:t>
            </a:r>
          </a:p>
          <a:p>
            <a:r>
              <a:rPr lang="en-US" dirty="0" b="0"/>
              <a:t>You are not composing frames. You are composing a trajectory.</a:t>
            </a:r>
          </a:p>
        </p:txBody>
      </p:sp>
    </p:spTree>
    <p:extLst>
      <p:ext uri="{BB962C8B-B14F-4D97-AF65-F5344CB8AC3E}">
        <p14:creationId xmlns:p14="http://schemas.microsoft.com/office/powerpoint/2010/main" val="36404600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Composing Across the Cut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463040" y="2697480"/>
            <a:ext cx="4023360" cy="292608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377440"/>
            <a:ext cx="4023360" cy="274320"/>
          </a:xfrm>
          <a:prstGeom prst="rect">
            <a:avLst/>
          </a:prstGeom>
          <a:noFill/>
        </p:spPr>
        <p:txBody>
          <a:bodyPr wrap="square" anchor="ctr" lIns="0" rIns="0" tIns="0" bIns="0">
            <a:spAutoFit/>
          </a:bodyPr>
          <a:lstStyle/>
          <a:p>
            <a:pPr algn="ctr"/>
            <a:r>
              <a:rPr sz="1200" b="0" i="1">
                <a:solidFill>
                  <a:srgbClr val="AE9E7C"/>
                </a:solidFill>
                <a:latin typeface="Garamond"/>
              </a:rPr>
              <a:t>SHOT A: wide</a:t>
            </a:r>
          </a:p>
        </p:txBody>
      </p:sp>
      <p:sp>
        <p:nvSpPr>
          <p:cNvPr id="6" name="Oval 5"/>
          <p:cNvSpPr/>
          <p:nvPr/>
        </p:nvSpPr>
        <p:spPr>
          <a:xfrm>
            <a:off x="3401568" y="4434840"/>
            <a:ext cx="146304" cy="146304"/>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rapezoid 6"/>
          <p:cNvSpPr/>
          <p:nvPr/>
        </p:nvSpPr>
        <p:spPr>
          <a:xfrm rot="10800000">
            <a:off x="3375964" y="4559198"/>
            <a:ext cx="197510" cy="790041"/>
          </a:xfrm>
          <a:prstGeom prst="trapezoid">
            <a:avLst>
              <a:gd name="adj" fmla="val 18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0" y="2697480"/>
            <a:ext cx="4023360" cy="292608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0" y="2377440"/>
            <a:ext cx="4023360" cy="274320"/>
          </a:xfrm>
          <a:prstGeom prst="rect">
            <a:avLst/>
          </a:prstGeom>
          <a:noFill/>
        </p:spPr>
        <p:txBody>
          <a:bodyPr wrap="square" anchor="ctr" lIns="0" rIns="0" tIns="0" bIns="0">
            <a:spAutoFit/>
          </a:bodyPr>
          <a:lstStyle/>
          <a:p>
            <a:pPr algn="ctr"/>
            <a:r>
              <a:rPr sz="1200" b="0" i="1">
                <a:solidFill>
                  <a:srgbClr val="AE9E7C"/>
                </a:solidFill>
                <a:latin typeface="Garamond"/>
              </a:rPr>
              <a:t>SHOT B: close, high contrast</a:t>
            </a:r>
          </a:p>
        </p:txBody>
      </p:sp>
      <p:sp>
        <p:nvSpPr>
          <p:cNvPr id="10" name="Rectangle 9"/>
          <p:cNvSpPr/>
          <p:nvPr/>
        </p:nvSpPr>
        <p:spPr>
          <a:xfrm>
            <a:off x="6217920" y="2971800"/>
            <a:ext cx="3474720" cy="23774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59" y="3657600"/>
            <a:ext cx="1005840" cy="1005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5532120" y="4023360"/>
            <a:ext cx="365760" cy="274320"/>
          </a:xfrm>
          <a:prstGeom prst="rightArrow">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5760720"/>
            <a:ext cx="8503920" cy="365760"/>
          </a:xfrm>
          <a:prstGeom prst="rect">
            <a:avLst/>
          </a:prstGeom>
          <a:noFill/>
        </p:spPr>
        <p:txBody>
          <a:bodyPr wrap="square" anchor="ctr" lIns="0" rIns="0" tIns="0" bIns="0">
            <a:spAutoFit/>
          </a:bodyPr>
          <a:lstStyle/>
          <a:p>
            <a:pPr algn="ctr"/>
            <a:r>
              <a:rPr sz="1500" b="0" i="1">
                <a:solidFill>
                  <a:srgbClr val="CC702D"/>
                </a:solidFill>
                <a:latin typeface="Garamond"/>
              </a:rPr>
              <a:t>Contrast size, value, or density across the cut</a:t>
            </a:r>
          </a:p>
        </p:txBody>
      </p:sp>
    </p:spTree>
    <p:extLst>
      <p:ext uri="{BB962C8B-B14F-4D97-AF65-F5344CB8AC3E}">
        <p14:creationId xmlns:p14="http://schemas.microsoft.com/office/powerpoint/2010/main" val="36404600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Continuity of Position</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8448" y="5989320"/>
            <a:ext cx="9601200" cy="548640"/>
          </a:xfrm>
        </p:spPr>
        <p:txBody>
          <a:bodyPr>
            <a:normAutofit/>
          </a:bodyPr>
          <a:lstStyle/>
          <a:p>
            <a:pPr>
              <a:defRPr sz="1600" i="1"/>
            </a:pPr>
            <a:r>
              <a:rPr lang="en-US" dirty="0" b="0"/>
              <a:t/>
            </a:r>
          </a:p>
        </p:txBody>
      </p:sp>
      <p:sp>
        <p:nvSpPr>
          <p:cNvPr id="4" name="Rectangle 3"/>
          <p:cNvSpPr/>
          <p:nvPr/>
        </p:nvSpPr>
        <p:spPr>
          <a:xfrm>
            <a:off x="1463040" y="2697480"/>
            <a:ext cx="4023360" cy="292608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377440"/>
            <a:ext cx="4023360" cy="274320"/>
          </a:xfrm>
          <a:prstGeom prst="rect">
            <a:avLst/>
          </a:prstGeom>
          <a:noFill/>
        </p:spPr>
        <p:txBody>
          <a:bodyPr wrap="square" anchor="ctr" lIns="0" rIns="0" tIns="0" bIns="0">
            <a:spAutoFit/>
          </a:bodyPr>
          <a:lstStyle/>
          <a:p>
            <a:pPr algn="ctr"/>
            <a:r>
              <a:rPr sz="1200" b="0" i="1">
                <a:solidFill>
                  <a:srgbClr val="AE9E7C"/>
                </a:solidFill>
                <a:latin typeface="Garamond"/>
              </a:rPr>
              <a:t>SHOT A</a:t>
            </a:r>
          </a:p>
        </p:txBody>
      </p:sp>
      <p:sp>
        <p:nvSpPr>
          <p:cNvPr id="6" name="Oval 5"/>
          <p:cNvSpPr/>
          <p:nvPr/>
        </p:nvSpPr>
        <p:spPr>
          <a:xfrm>
            <a:off x="4359859" y="4014216"/>
            <a:ext cx="457200" cy="457200"/>
          </a:xfrm>
          <a:prstGeom prst="ellipse">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0" y="2697480"/>
            <a:ext cx="4023360" cy="2926080"/>
          </a:xfrm>
          <a:prstGeom prst="rect">
            <a:avLst/>
          </a:prstGeom>
          <a:solidFill>
            <a:srgbClr val="FFFFFF"/>
          </a:solidFill>
          <a:ln w="22225">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0" y="2377440"/>
            <a:ext cx="4023360" cy="274320"/>
          </a:xfrm>
          <a:prstGeom prst="rect">
            <a:avLst/>
          </a:prstGeom>
          <a:noFill/>
        </p:spPr>
        <p:txBody>
          <a:bodyPr wrap="square" anchor="ctr" lIns="0" rIns="0" tIns="0" bIns="0">
            <a:spAutoFit/>
          </a:bodyPr>
          <a:lstStyle/>
          <a:p>
            <a:pPr algn="ctr"/>
            <a:r>
              <a:rPr sz="1200" b="0" i="1">
                <a:solidFill>
                  <a:srgbClr val="AE9E7C"/>
                </a:solidFill>
                <a:latin typeface="Garamond"/>
              </a:rPr>
              <a:t>SHOT B: matched position</a:t>
            </a:r>
          </a:p>
        </p:txBody>
      </p:sp>
      <p:sp>
        <p:nvSpPr>
          <p:cNvPr id="9" name="Oval 8"/>
          <p:cNvSpPr/>
          <p:nvPr/>
        </p:nvSpPr>
        <p:spPr>
          <a:xfrm>
            <a:off x="8822131" y="3995928"/>
            <a:ext cx="457200" cy="457200"/>
          </a:xfrm>
          <a:prstGeom prst="ellipse">
            <a:avLst/>
          </a:prstGeom>
          <a:solidFill>
            <a:srgbClr val="D9B247"/>
          </a:solidFill>
          <a:ln w="19050">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486400" y="4242816"/>
            <a:ext cx="457200" cy="0"/>
          </a:xfrm>
          <a:prstGeom prst="line">
            <a:avLst/>
          </a:prstGeom>
          <a:ln w="19050">
            <a:solidFill>
              <a:srgbClr val="D9B247"/>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5760720"/>
            <a:ext cx="8503920" cy="365760"/>
          </a:xfrm>
          <a:prstGeom prst="rect">
            <a:avLst/>
          </a:prstGeom>
          <a:noFill/>
        </p:spPr>
        <p:txBody>
          <a:bodyPr wrap="square" anchor="ctr" lIns="0" rIns="0" tIns="0" bIns="0">
            <a:spAutoFit/>
          </a:bodyPr>
          <a:lstStyle/>
          <a:p>
            <a:pPr algn="ctr"/>
            <a:r>
              <a:rPr sz="1500" b="0" i="1">
                <a:solidFill>
                  <a:srgbClr val="CC702D"/>
                </a:solidFill>
                <a:latin typeface="Garamond"/>
              </a:rPr>
              <a:t>The eye's landing point carries across the cut</a:t>
            </a:r>
          </a:p>
        </p:txBody>
      </p:sp>
    </p:spTree>
    <p:extLst>
      <p:ext uri="{BB962C8B-B14F-4D97-AF65-F5344CB8AC3E}">
        <p14:creationId xmlns:p14="http://schemas.microsoft.com/office/powerpoint/2010/main" val="36404600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The Graphic Match</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A shape in one shot echoed by a shape in the next</a:t>
            </a:r>
          </a:p>
          <a:p>
            <a:r>
              <a:rPr lang="en-US" dirty="0" b="0"/>
              <a:t>The classic: the bone becomes a spacecraft in 2001</a:t>
            </a:r>
          </a:p>
          <a:p>
            <a:r>
              <a:rPr lang="en-US" dirty="0" b="0"/>
              <a:t>Compositional and editorial at the same time</a:t>
            </a:r>
          </a:p>
          <a:p>
            <a:r>
              <a:rPr lang="en-US" dirty="0" b="0"/>
              <a:t>Ties two moments together across any distance in time</a:t>
            </a:r>
          </a:p>
        </p:txBody>
      </p:sp>
    </p:spTree>
    <p:extLst>
      <p:ext uri="{BB962C8B-B14F-4D97-AF65-F5344CB8AC3E}">
        <p14:creationId xmlns:p14="http://schemas.microsoft.com/office/powerpoint/2010/main" val="36404600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Motif: Design That Means Something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A shape, object, or composition that recurs with meaning</a:t>
            </a:r>
          </a:p>
          <a:p>
            <a:r>
              <a:rPr lang="en-US" dirty="0" b="0"/>
              <a:t>E.T.: the bicycle, and then the bicycle against the moon</a:t>
            </a:r>
          </a:p>
          <a:p>
            <a:r>
              <a:rPr lang="en-US" dirty="0" b="0"/>
              <a:t>The audience learns your visual vocabulary as they watch</a:t>
            </a:r>
          </a:p>
          <a:p>
            <a:r>
              <a:rPr lang="en-US" dirty="0" b="0"/>
              <a:t>Then you use it, and they feel it without knowing why</a:t>
            </a:r>
          </a:p>
        </p:txBody>
      </p:sp>
    </p:spTree>
    <p:extLst>
      <p:ext uri="{BB962C8B-B14F-4D97-AF65-F5344CB8AC3E}">
        <p14:creationId xmlns:p14="http://schemas.microsoft.com/office/powerpoint/2010/main" val="36404600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The Visual Echo</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Repeat a composition and change its meaning</a:t>
            </a:r>
          </a:p>
          <a:p>
            <a:r>
              <a:rPr lang="en-US" dirty="0" b="0"/>
              <a:t>Same frame at the start and at the end</a:t>
            </a:r>
          </a:p>
          <a:p>
            <a:r>
              <a:rPr lang="en-US" dirty="0" b="0"/>
              <a:t>What changed is the character, not the shot</a:t>
            </a:r>
          </a:p>
          <a:p>
            <a:r>
              <a:rPr lang="en-US" dirty="0" b="0"/>
              <a:t>The most satisfying tool you own, and it is free</a:t>
            </a:r>
          </a:p>
        </p:txBody>
      </p:sp>
    </p:spTree>
    <p:extLst>
      <p:ext uri="{BB962C8B-B14F-4D97-AF65-F5344CB8AC3E}">
        <p14:creationId xmlns:p14="http://schemas.microsoft.com/office/powerpoint/2010/main" val="36404600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b="0"/>
              <a:t>The Checklist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Does it read at thumbnail size?</a:t>
            </a:r>
          </a:p>
          <a:p>
            <a:r>
              <a:rPr lang="en-US" dirty="0" b="0"/>
              <a:t>Does the figure separate from the ground?</a:t>
            </a:r>
          </a:p>
          <a:p>
            <a:r>
              <a:rPr lang="en-US" dirty="0" b="0"/>
              <a:t>Is there exactly ONE dominant element?</a:t>
            </a:r>
          </a:p>
          <a:p>
            <a:r>
              <a:rPr lang="en-US" dirty="0" b="0"/>
              <a:t>Headroom, lookroom, leadroom correct?</a:t>
            </a:r>
          </a:p>
          <a:p>
            <a:r>
              <a:rPr lang="en-US" dirty="0" b="0"/>
              <a:t>Does it contrast with the panel before it?</a:t>
            </a:r>
          </a:p>
          <a:p>
            <a:r>
              <a:rPr lang="en-US" dirty="0" b="0"/>
              <a:t>Where does the eye enter, and where does it leave?</a:t>
            </a:r>
          </a:p>
        </p:txBody>
      </p:sp>
    </p:spTree>
    <p:extLst>
      <p:ext uri="{BB962C8B-B14F-4D97-AF65-F5344CB8AC3E}">
        <p14:creationId xmlns:p14="http://schemas.microsoft.com/office/powerpoint/2010/main" val="36404600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8075</TotalTime>
  <Words>4371</Words>
  <Application>Microsoft Office PowerPoint</Application>
  <PresentationFormat>Widescreen</PresentationFormat>
  <Paragraphs>339</Paragraphs>
  <Slides>40</Slides>
  <Notes>40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Garamond</vt:lpstr>
      <vt:lpstr>Game Design Theme</vt:lpstr>
      <vt:lpstr>Animatics</vt:lpstr>
      <vt:lpstr>Animatics</vt:lpstr>
      <vt:lpstr>Animatics</vt:lpstr>
      <vt:lpstr>Animatics</vt:lpstr>
      <vt:lpstr>Animatics</vt:lpstr>
      <vt:lpstr>Animatics</vt:lpstr>
      <vt:lpstr>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Rough-Cut</vt:lpstr>
      <vt:lpstr>Rough-Cut</vt:lpstr>
      <vt:lpstr>Software</vt:lpstr>
      <vt:lpstr>Software</vt:lpstr>
      <vt:lpstr>Software</vt:lpstr>
      <vt:lpstr>Scanning</vt:lpstr>
      <vt:lpstr>Still Shots and Moving Shots</vt:lpstr>
      <vt:lpstr>Still Shots</vt:lpstr>
      <vt:lpstr>Pan Shots</vt:lpstr>
      <vt:lpstr>Zoom Shots</vt:lpstr>
      <vt:lpstr>Zoom Shots</vt:lpstr>
      <vt:lpstr>Cleanup</vt:lpstr>
      <vt:lpstr>Preparing Storyboards for Animatic</vt:lpstr>
      <vt:lpstr>Image Cleanup</vt:lpstr>
      <vt:lpstr>Movement</vt:lpstr>
      <vt:lpstr>Selection Tools</vt:lpstr>
      <vt:lpstr>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370</cp:revision>
  <dcterms:created xsi:type="dcterms:W3CDTF">2016-05-07T19:16:27Z</dcterms:created>
  <dcterms:modified xsi:type="dcterms:W3CDTF">2018-11-05T19:39:15Z</dcterms:modified>
</cp:coreProperties>
</file>