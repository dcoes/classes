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7"/>
  </p:notesMasterIdLst>
  <p:sldIdLst>
    <p:sldId id="256" r:id="rId2"/>
    <p:sldId id="257" r:id="rId8"/>
    <p:sldId id="258" r:id="rId32"/>
    <p:sldId id="259" r:id="rId33"/>
    <p:sldId id="260" r:id="rId34"/>
    <p:sldId id="261" r:id="rId35"/>
    <p:sldId id="262" r:id="rId36"/>
    <p:sldId id="263" r:id="rId37"/>
    <p:sldId id="264" r:id="rId39"/>
    <p:sldId id="265" r:id="rId38"/>
    <p:sldId id="266" r:id="rId40"/>
    <p:sldId id="267" r:id="rId41"/>
    <p:sldId id="268" r:id="rId42"/>
    <p:sldId id="269" r:id="rId43"/>
    <p:sldId id="270" r:id="rId44"/>
    <p:sldId id="271" r:id="rId45"/>
    <p:sldId id="272" r:id="rId52"/>
    <p:sldId id="273" r:id="rId53"/>
    <p:sldId id="274" r:id="rId54"/>
    <p:sldId id="275" r:id="rId55"/>
    <p:sldId id="276" r:id="rId56"/>
    <p:sldId id="277"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8" Type="http://schemas.openxmlformats.org/officeDocument/2006/relationships/slide" Target="slides/slide2.xml"/><Relationship Id="rId32" Type="http://schemas.openxmlformats.org/officeDocument/2006/relationships/slide" Target="slides/slide3.xml"/><Relationship Id="rId33" Type="http://schemas.openxmlformats.org/officeDocument/2006/relationships/slide" Target="slides/slide4.xml"/><Relationship Id="rId34" Type="http://schemas.openxmlformats.org/officeDocument/2006/relationships/slide" Target="slides/slide5.xml"/><Relationship Id="rId35" Type="http://schemas.openxmlformats.org/officeDocument/2006/relationships/slide" Target="slides/slide6.xml"/><Relationship Id="rId36" Type="http://schemas.openxmlformats.org/officeDocument/2006/relationships/slide" Target="slides/slide7.xml"/><Relationship Id="rId37" Type="http://schemas.openxmlformats.org/officeDocument/2006/relationships/slide" Target="slides/slide8.xml"/><Relationship Id="rId38" Type="http://schemas.openxmlformats.org/officeDocument/2006/relationships/slide" Target="slides/slide10.xml"/><Relationship Id="rId39" Type="http://schemas.openxmlformats.org/officeDocument/2006/relationships/slide" Target="slides/slide9.xml"/><Relationship Id="rId40" Type="http://schemas.openxmlformats.org/officeDocument/2006/relationships/slide" Target="slides/slide11.xml"/><Relationship Id="rId41" Type="http://schemas.openxmlformats.org/officeDocument/2006/relationships/slide" Target="slides/slide12.xml"/><Relationship Id="rId42" Type="http://schemas.openxmlformats.org/officeDocument/2006/relationships/slide" Target="slides/slide13.xml"/><Relationship Id="rId43" Type="http://schemas.openxmlformats.org/officeDocument/2006/relationships/slide" Target="slides/slide14.xml"/><Relationship Id="rId44" Type="http://schemas.openxmlformats.org/officeDocument/2006/relationships/slide" Target="slides/slide15.xml"/><Relationship Id="rId45" Type="http://schemas.openxmlformats.org/officeDocument/2006/relationships/slide" Target="slides/slide16.xml"/><Relationship Id="rId46" Type="http://schemas.openxmlformats.org/officeDocument/2006/relationships/slide" Target="slides/slide22.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17.xml"/><Relationship Id="rId53" Type="http://schemas.openxmlformats.org/officeDocument/2006/relationships/slide" Target="slides/slide18.xml"/><Relationship Id="rId54" Type="http://schemas.openxmlformats.org/officeDocument/2006/relationships/slide" Target="slides/slide19.xml"/><Relationship Id="rId55" Type="http://schemas.openxmlformats.org/officeDocument/2006/relationships/slide" Target="slides/slide20.xml"/><Relationship Id="rId56"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atinLnBrk="1"/>
            <a:r>
              <a:rPr lang="en-US" sz="1200" kern="1200" dirty="0">
                <a:solidFill>
                  <a:schemeClr val="tx1"/>
                </a:solidFill>
                <a:effectLst/>
                <a:latin typeface="+mn-lt"/>
                <a:ea typeface="+mn-ea"/>
                <a:cs typeface="+mn-cs"/>
              </a:rPr>
              <a:t>This is the second half of continuity. The first half was the rules: the line, screen direction, the three matches. It ran before City Park because City Park is graded on it.</a:t>
            </a:r>
          </a:p>
          <a:p>
            <a:pPr latinLnBrk="1"/>
          </a:p>
          <a:p>
            <a:pPr latinLnBrk="1"/>
            <a:r>
              <a:rPr lang="en-US" sz="1200" kern="1200" dirty="0">
                <a:solidFill>
                  <a:schemeClr val="tx1"/>
                </a:solidFill>
                <a:effectLst/>
                <a:latin typeface="+mn-lt"/>
                <a:ea typeface="+mn-ea"/>
                <a:cs typeface="+mn-cs"/>
              </a:rPr>
              <a:t>This half is about editing rhythm, and it runs here, near the animatic, because you cannot feel cutting rhythm until you have timed something. Everything today is about what happens in the gap between two panels.</a:t>
            </a:r>
          </a:p>
        </p:txBody>
      </p:sp>
      <p:sp>
        <p:nvSpPr>
          <p:cNvPr id="4" name="Slide Number Placeholder 3"/>
          <p:cNvSpPr>
            <a:spLocks noGrp="1"/>
          </p:cNvSpPr>
          <p:nvPr>
            <p:ph type="sldNum" sz="quarter" idx="10"/>
          </p:nvPr>
        </p:nvSpPr>
        <p:spPr/>
        <p:txBody>
          <a:bodyPr/>
          <a:lstStyle/>
          <a:p>
            <a:fld id="{3C7FDB04-D1AC-46DB-9592-CA12D78D404F}" type="slidenum">
              <a:rPr lang="en-US" smtClean="0"/>
              <a:t>1</a:t>
            </a:fld>
            <a:endParaRPr lang="en-US"/>
          </a:p>
        </p:txBody>
      </p:sp>
    </p:spTree>
    <p:extLst>
      <p:ext uri="{BB962C8B-B14F-4D97-AF65-F5344CB8AC3E}">
        <p14:creationId xmlns:p14="http://schemas.microsoft.com/office/powerpoint/2010/main" val="2770150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Open by naming the power, because students underestimate it.</a:t>
            </a:r>
          </a:p>
          <a:p/>
          <a:p>
            <a:r>
              <a:rPr lang="en-US" sz="1200" kern="1200" dirty="0">
                <a:solidFill>
                  <a:schemeClr val="tx1"/>
                </a:solidFill>
                <a:effectLst/>
                <a:latin typeface="+mn-lt"/>
                <a:ea typeface="+mn-ea"/>
                <a:cs typeface="+mn-cs"/>
              </a:rPr>
              <a:t>Editing lets you compress three hours into ninety seconds, or stretch two seconds across a minute. It lets you jump four million years, as 2001 does, or hold a moment past comfort.</a:t>
            </a:r>
          </a:p>
          <a:p/>
          <a:p>
            <a:r>
              <a:rPr lang="en-US" sz="1200" kern="1200" dirty="0">
                <a:solidFill>
                  <a:schemeClr val="tx1"/>
                </a:solidFill>
                <a:effectLst/>
                <a:latin typeface="+mn-lt"/>
                <a:ea typeface="+mn-ea"/>
                <a:cs typeface="+mn-cs"/>
              </a:rPr>
              <a:t>Say: none of that is an effect. It is structural, it is decided at the board, and the audience is not supposed to notice any of it. If a production achieves continuity, the manipulation of time and space is invisible, which is why editing is the least appreciated craft in film and one of the most decisive.</a:t>
            </a:r>
          </a:p>
        </p:txBody>
      </p:sp>
      <p:sp>
        <p:nvSpPr>
          <p:cNvPr id="4" name="Slide Number Placeholder 3"/>
          <p:cNvSpPr>
            <a:spLocks noGrp="1"/>
          </p:cNvSpPr>
          <p:nvPr>
            <p:ph type="sldNum" sz="quarter" idx="10"/>
          </p:nvPr>
        </p:nvSpPr>
        <p:spPr/>
        <p:txBody>
          <a:bodyPr/>
          <a:lstStyle/>
          <a:p>
            <a:fld id="{3C7FDB04-D1AC-46DB-9592-CA12D78D404F}" type="slidenum">
              <a:rPr lang="en-US" smtClean="0"/>
              <a:t>7</a:t>
            </a:fld>
            <a:endParaRPr lang="en-US"/>
          </a:p>
        </p:txBody>
      </p:sp>
    </p:spTree>
    <p:extLst>
      <p:ext uri="{BB962C8B-B14F-4D97-AF65-F5344CB8AC3E}">
        <p14:creationId xmlns:p14="http://schemas.microsoft.com/office/powerpoint/2010/main" val="22862274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shot related to the main action but not part of it.</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example on the slide: two characters talking, and the camera cuts away to a singer performing across the room. The singer is not in the conversation, but she is in the world, and the cut adds context.</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 mechanically, a cutaway buys you time. You can remove ten seconds of a conversation and cover the join with two seconds of somebody else, and nobody will notice the surgery. Editors love them for exactly that reason, and it is why coverage lists always include a couple.</a:t>
            </a:r>
          </a:p>
        </p:txBody>
      </p:sp>
      <p:sp>
        <p:nvSpPr>
          <p:cNvPr id="4" name="Slide Number Placeholder 3"/>
          <p:cNvSpPr>
            <a:spLocks noGrp="1"/>
          </p:cNvSpPr>
          <p:nvPr>
            <p:ph type="sldNum" sz="quarter" idx="10"/>
          </p:nvPr>
        </p:nvSpPr>
        <p:spPr/>
        <p:txBody>
          <a:bodyPr/>
          <a:lstStyle/>
          <a:p>
            <a:fld id="{3C7FDB04-D1AC-46DB-9592-CA12D78D404F}" type="slidenum">
              <a:rPr lang="en-US" smtClean="0"/>
              <a:t>31</a:t>
            </a:fld>
            <a:endParaRPr lang="en-US"/>
          </a:p>
        </p:txBody>
      </p:sp>
    </p:spTree>
    <p:extLst>
      <p:ext uri="{BB962C8B-B14F-4D97-AF65-F5344CB8AC3E}">
        <p14:creationId xmlns:p14="http://schemas.microsoft.com/office/powerpoint/2010/main" val="196189349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first slide gave the mechanism; this one gives the reasons.</a:t>
            </a:r>
          </a:p>
          <a:p/>
          <a:p>
            <a:r>
              <a:rPr lang="en-US" sz="1200" kern="1200" dirty="0">
                <a:solidFill>
                  <a:schemeClr val="tx1"/>
                </a:solidFill>
                <a:effectLst/>
                <a:latin typeface="+mn-lt"/>
                <a:ea typeface="+mn-ea"/>
                <a:cs typeface="+mn-cs"/>
              </a:rPr>
              <a:t>Time shifts are the practical use. But the interesting use is psychological: cutting away during a conversation can carry hesitation, avoidance, or somebody's attention wandering, without a line of dialogue.</a:t>
            </a:r>
          </a:p>
          <a:p/>
          <a:p>
            <a:r>
              <a:rPr lang="en-US" sz="1200" kern="1200" dirty="0">
                <a:solidFill>
                  <a:schemeClr val="tx1"/>
                </a:solidFill>
                <a:effectLst/>
                <a:latin typeface="+mn-lt"/>
                <a:ea typeface="+mn-ea"/>
                <a:cs typeface="+mn-cs"/>
              </a:rPr>
              <a:t>Say: cutting away at the wrong moment tells the audience the moment did not matter. Cutting away at the right moment tells them the character could not stay in it. Same technique, opposite meanings, and the difference is entirely where you put it.</a:t>
            </a:r>
          </a:p>
        </p:txBody>
      </p:sp>
      <p:sp>
        <p:nvSpPr>
          <p:cNvPr id="4" name="Slide Number Placeholder 3"/>
          <p:cNvSpPr>
            <a:spLocks noGrp="1"/>
          </p:cNvSpPr>
          <p:nvPr>
            <p:ph type="sldNum" sz="quarter" idx="10"/>
          </p:nvPr>
        </p:nvSpPr>
        <p:spPr/>
        <p:txBody>
          <a:bodyPr/>
          <a:lstStyle/>
          <a:p>
            <a:fld id="{3C7FDB04-D1AC-46DB-9592-CA12D78D404F}" type="slidenum">
              <a:rPr lang="en-US" smtClean="0"/>
              <a:t>32</a:t>
            </a:fld>
            <a:endParaRPr lang="en-US"/>
          </a:p>
        </p:txBody>
      </p:sp>
    </p:spTree>
    <p:extLst>
      <p:ext uri="{BB962C8B-B14F-4D97-AF65-F5344CB8AC3E}">
        <p14:creationId xmlns:p14="http://schemas.microsoft.com/office/powerpoint/2010/main" val="228985756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opposite move. Rather than cutting away from the main action, you narrow to a detail inside it.</a:t>
            </a:r>
          </a:p>
          <a:p/>
          <a:p>
            <a:r>
              <a:rPr lang="en-US" sz="1200" kern="1200" dirty="0">
                <a:solidFill>
                  <a:schemeClr val="tx1"/>
                </a:solidFill>
                <a:effectLst/>
                <a:latin typeface="+mn-lt"/>
                <a:ea typeface="+mn-ea"/>
                <a:cs typeface="+mn-cs"/>
              </a:rPr>
              <a:t>The baseball example is the clean one: the main action is the game, and the cut-in is the bat meeting the ball. Dramatic emphasis by exclusion.</a:t>
            </a:r>
          </a:p>
          <a:p/>
          <a:p>
            <a:r>
              <a:rPr lang="en-US" sz="1200" kern="1200" dirty="0">
                <a:solidFill>
                  <a:schemeClr val="tx1"/>
                </a:solidFill>
                <a:effectLst/>
                <a:latin typeface="+mn-lt"/>
                <a:ea typeface="+mn-ea"/>
                <a:cs typeface="+mn-cs"/>
              </a:rPr>
              <a:t>Say: cutaway goes outside, cut-in goes closer. One buys you time, the other buys you emphasis. Do not confuse them, because they solve completely different problems and reaching for the wrong one is a common note.</a:t>
            </a:r>
          </a:p>
        </p:txBody>
      </p:sp>
      <p:sp>
        <p:nvSpPr>
          <p:cNvPr id="4" name="Slide Number Placeholder 3"/>
          <p:cNvSpPr>
            <a:spLocks noGrp="1"/>
          </p:cNvSpPr>
          <p:nvPr>
            <p:ph type="sldNum" sz="quarter" idx="10"/>
          </p:nvPr>
        </p:nvSpPr>
        <p:spPr/>
        <p:txBody>
          <a:bodyPr/>
          <a:lstStyle/>
          <a:p>
            <a:fld id="{3C7FDB04-D1AC-46DB-9592-CA12D78D404F}" type="slidenum">
              <a:rPr lang="en-US" smtClean="0"/>
              <a:t>33</a:t>
            </a:fld>
            <a:endParaRPr lang="en-US"/>
          </a:p>
        </p:txBody>
      </p:sp>
    </p:spTree>
    <p:extLst>
      <p:ext uri="{BB962C8B-B14F-4D97-AF65-F5344CB8AC3E}">
        <p14:creationId xmlns:p14="http://schemas.microsoft.com/office/powerpoint/2010/main" val="4091178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Two actions happening at the same time, in different places, intercut with each other.</a:t>
            </a:r>
          </a:p>
          <a:p/>
          <a:p>
            <a:r>
              <a:rPr lang="en-US" sz="1200" kern="1200" dirty="0">
                <a:solidFill>
                  <a:schemeClr val="tx1"/>
                </a:solidFill>
                <a:effectLst/>
                <a:latin typeface="+mn-lt"/>
                <a:ea typeface="+mn-ea"/>
                <a:cs typeface="+mn-cs"/>
              </a:rPr>
              <a:t>It manipulates time and space simultaneously, and it is the standard way to build suspense: the bomb ticking, the hero driving, the bomb, the hero.</a:t>
            </a:r>
          </a:p>
          <a:p/>
          <a:p>
            <a:r>
              <a:rPr lang="en-US" sz="1200" kern="1200" dirty="0">
                <a:solidFill>
                  <a:schemeClr val="tx1"/>
                </a:solidFill>
                <a:effectLst/>
                <a:latin typeface="+mn-lt"/>
                <a:ea typeface="+mn-ea"/>
                <a:cs typeface="+mn-cs"/>
              </a:rPr>
              <a:t>Say: cross-cutting also makes an argument. Putting two things next to each other says they are connected, whether or not anybody in the film says so. That is a claim you are making on the audience's behalf, and the next slide is the most famous example of it.</a:t>
            </a:r>
          </a:p>
        </p:txBody>
      </p:sp>
      <p:sp>
        <p:nvSpPr>
          <p:cNvPr id="4" name="Slide Number Placeholder 3"/>
          <p:cNvSpPr>
            <a:spLocks noGrp="1"/>
          </p:cNvSpPr>
          <p:nvPr>
            <p:ph type="sldNum" sz="quarter" idx="10"/>
          </p:nvPr>
        </p:nvSpPr>
        <p:spPr/>
        <p:txBody>
          <a:bodyPr/>
          <a:lstStyle/>
          <a:p>
            <a:fld id="{3C7FDB04-D1AC-46DB-9592-CA12D78D404F}" type="slidenum">
              <a:rPr lang="en-US" smtClean="0"/>
              <a:t>34</a:t>
            </a:fld>
            <a:endParaRPr lang="en-US"/>
          </a:p>
        </p:txBody>
      </p:sp>
    </p:spTree>
    <p:extLst>
      <p:ext uri="{BB962C8B-B14F-4D97-AF65-F5344CB8AC3E}">
        <p14:creationId xmlns:p14="http://schemas.microsoft.com/office/powerpoint/2010/main" val="1492319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Six minutes or so, and it moves fast.</a:t>
            </a:r>
          </a:p>
          <a:p/>
          <a:p>
            <a:r>
              <a:rPr lang="en-US" sz="1200" kern="1200" dirty="0">
                <a:solidFill>
                  <a:schemeClr val="tx1"/>
                </a:solidFill>
                <a:effectLst/>
                <a:latin typeface="+mn-lt"/>
                <a:ea typeface="+mn-ea"/>
                <a:cs typeface="+mn-cs"/>
              </a:rPr>
              <a:t>Michael Corleone stands as godfather at his nephew's christening. Intercut with it, his men murder the heads of the five families. He is renouncing Satan at the altar while the murders he ordered are carried out.</a:t>
            </a:r>
          </a:p>
          <a:p/>
          <a:p>
            <a:r>
              <a:rPr lang="en-US" sz="1200" kern="1200" dirty="0">
                <a:solidFill>
                  <a:schemeClr val="tx1"/>
                </a:solidFill>
                <a:effectLst/>
                <a:latin typeface="+mn-lt"/>
                <a:ea typeface="+mn-ea"/>
                <a:cs typeface="+mn-cs"/>
              </a:rPr>
              <a:t>Say: neither sequence would work alone. A baptism is not dramatic. Five murders is just violence. The meaning is manufactured entirely by the intercutting, and not one shot had to be redrawn to make it.</a:t>
            </a:r>
          </a:p>
          <a:p/>
          <a:p>
            <a:r>
              <a:rPr lang="en-US" sz="1200" kern="1200" dirty="0">
                <a:solidFill>
                  <a:schemeClr val="tx1"/>
                </a:solidFill>
                <a:effectLst/>
                <a:latin typeface="+mn-lt"/>
                <a:ea typeface="+mn-ea"/>
                <a:cs typeface="+mn-cs"/>
              </a:rPr>
              <a:t>That is the argument for storyboarding a sequence rather than a shot. The meaning lives in the order.</a:t>
            </a:r>
          </a:p>
        </p:txBody>
      </p:sp>
      <p:sp>
        <p:nvSpPr>
          <p:cNvPr id="4" name="Slide Number Placeholder 3"/>
          <p:cNvSpPr>
            <a:spLocks noGrp="1"/>
          </p:cNvSpPr>
          <p:nvPr>
            <p:ph type="sldNum" sz="quarter" idx="10"/>
          </p:nvPr>
        </p:nvSpPr>
        <p:spPr/>
        <p:txBody>
          <a:bodyPr/>
          <a:lstStyle/>
          <a:p>
            <a:fld id="{3C7FDB04-D1AC-46DB-9592-CA12D78D404F}" type="slidenum">
              <a:rPr lang="en-US" smtClean="0"/>
              <a:t>35</a:t>
            </a:fld>
            <a:endParaRPr lang="en-US"/>
          </a:p>
        </p:txBody>
      </p:sp>
    </p:spTree>
    <p:extLst>
      <p:ext uri="{BB962C8B-B14F-4D97-AF65-F5344CB8AC3E}">
        <p14:creationId xmlns:p14="http://schemas.microsoft.com/office/powerpoint/2010/main" val="29343742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 transition is not decoration. It is a narrative device that tells the audience what kind of gap they are crossing.</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Same place a second later, or the other side of the world a year later, the transition is how they know which.</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 it also sets pace. A sequence of hard cuts feels different from the same sequence with dissolves, even at identical durations. You are choosing a rhythm, not a wipe pattern.</a:t>
            </a:r>
          </a:p>
        </p:txBody>
      </p:sp>
      <p:sp>
        <p:nvSpPr>
          <p:cNvPr id="4" name="Slide Number Placeholder 3"/>
          <p:cNvSpPr>
            <a:spLocks noGrp="1"/>
          </p:cNvSpPr>
          <p:nvPr>
            <p:ph type="sldNum" sz="quarter" idx="10"/>
          </p:nvPr>
        </p:nvSpPr>
        <p:spPr/>
        <p:txBody>
          <a:bodyPr/>
          <a:lstStyle/>
          <a:p>
            <a:fld id="{3C7FDB04-D1AC-46DB-9592-CA12D78D404F}" type="slidenum">
              <a:rPr lang="en-US" smtClean="0"/>
              <a:t>36</a:t>
            </a:fld>
            <a:endParaRPr lang="en-US"/>
          </a:p>
        </p:txBody>
      </p:sp>
    </p:spTree>
    <p:extLst>
      <p:ext uri="{BB962C8B-B14F-4D97-AF65-F5344CB8AC3E}">
        <p14:creationId xmlns:p14="http://schemas.microsoft.com/office/powerpoint/2010/main" val="9546898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One image superimposed over another, so the first fades out as the second fades in. Any length.</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Conventionally it signals a lapse of time or a change of location: the limousine pulls away, the shot dissolves, we are somewhere else and later.</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 a long dissolve is also an emotional device. Holding two images on screen together for a full second asks the audience to consider them at the same time, which is a montage idea wearing a transition's clothes.</a:t>
            </a:r>
          </a:p>
        </p:txBody>
      </p:sp>
      <p:sp>
        <p:nvSpPr>
          <p:cNvPr id="4" name="Slide Number Placeholder 3"/>
          <p:cNvSpPr>
            <a:spLocks noGrp="1"/>
          </p:cNvSpPr>
          <p:nvPr>
            <p:ph type="sldNum" sz="quarter" idx="10"/>
          </p:nvPr>
        </p:nvSpPr>
        <p:spPr/>
        <p:txBody>
          <a:bodyPr/>
          <a:lstStyle/>
          <a:p>
            <a:fld id="{3C7FDB04-D1AC-46DB-9592-CA12D78D404F}" type="slidenum">
              <a:rPr lang="en-US" smtClean="0"/>
              <a:t>37</a:t>
            </a:fld>
            <a:endParaRPr lang="en-US"/>
          </a:p>
        </p:txBody>
      </p:sp>
    </p:spTree>
    <p:extLst>
      <p:ext uri="{BB962C8B-B14F-4D97-AF65-F5344CB8AC3E}">
        <p14:creationId xmlns:p14="http://schemas.microsoft.com/office/powerpoint/2010/main" val="32360780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Over ninety percent of all transitions in film, and the audience does not notice a single one.</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The cut is unobtrusive and it is the best tool for compressing time. Most viewers cannot tell you when a program cut to a different angle within a scene, because they were watching the story.</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 the default is correct almost always. If you are reaching for something other than a cut, have a reason you could say out loud. "It looked nice" is not one, and it is the reason most student animatics have three dissolves too many.</a:t>
            </a:r>
          </a:p>
        </p:txBody>
      </p:sp>
      <p:sp>
        <p:nvSpPr>
          <p:cNvPr id="4" name="Slide Number Placeholder 3"/>
          <p:cNvSpPr>
            <a:spLocks noGrp="1"/>
          </p:cNvSpPr>
          <p:nvPr>
            <p:ph type="sldNum" sz="quarter" idx="10"/>
          </p:nvPr>
        </p:nvSpPr>
        <p:spPr/>
        <p:txBody>
          <a:bodyPr/>
          <a:lstStyle/>
          <a:p>
            <a:fld id="{3C7FDB04-D1AC-46DB-9592-CA12D78D404F}" type="slidenum">
              <a:rPr lang="en-US" smtClean="0"/>
              <a:t>38</a:t>
            </a:fld>
            <a:endParaRPr lang="en-US"/>
          </a:p>
        </p:txBody>
      </p:sp>
    </p:spTree>
    <p:extLst>
      <p:ext uri="{BB962C8B-B14F-4D97-AF65-F5344CB8AC3E}">
        <p14:creationId xmlns:p14="http://schemas.microsoft.com/office/powerpoint/2010/main" val="38280121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screen goes to black, or comes up from it. If it goes to white it is a white-out.</a:t>
            </a:r>
          </a:p>
          <a:p/>
          <a:p>
            <a:r>
              <a:rPr lang="en-US" sz="1200" kern="1200" dirty="0">
                <a:solidFill>
                  <a:schemeClr val="tx1"/>
                </a:solidFill>
                <a:effectLst/>
                <a:latin typeface="+mn-lt"/>
                <a:ea typeface="+mn-ea"/>
                <a:cs typeface="+mn-cs"/>
              </a:rPr>
              <a:t>Fades denote a passage of time and should not be used in the present tense. A fade-in eases the audience into a setting; a fade-out is usually the last shot of a scene or a film.</a:t>
            </a:r>
          </a:p>
          <a:p/>
          <a:p>
            <a:r>
              <a:rPr lang="en-US" sz="1200" kern="1200" dirty="0">
                <a:solidFill>
                  <a:schemeClr val="tx1"/>
                </a:solidFill>
                <a:effectLst/>
                <a:latin typeface="+mn-lt"/>
                <a:ea typeface="+mn-ea"/>
                <a:cs typeface="+mn-cs"/>
              </a:rPr>
              <a:t>Say: a fade is the strongest punctuation available to you. It is a full stop, and possibly a chapter break. Using one in the middle of a continuous scene tells the audience the scene ended, and then they have to un-learn that when it does not.</a:t>
            </a:r>
          </a:p>
        </p:txBody>
      </p:sp>
      <p:sp>
        <p:nvSpPr>
          <p:cNvPr id="4" name="Slide Number Placeholder 3"/>
          <p:cNvSpPr>
            <a:spLocks noGrp="1"/>
          </p:cNvSpPr>
          <p:nvPr>
            <p:ph type="sldNum" sz="quarter" idx="10"/>
          </p:nvPr>
        </p:nvSpPr>
        <p:spPr/>
        <p:txBody>
          <a:bodyPr/>
          <a:lstStyle/>
          <a:p>
            <a:fld id="{3C7FDB04-D1AC-46DB-9592-CA12D78D404F}" type="slidenum">
              <a:rPr lang="en-US" smtClean="0"/>
              <a:t>39</a:t>
            </a:fld>
            <a:endParaRPr lang="en-US"/>
          </a:p>
        </p:txBody>
      </p:sp>
    </p:spTree>
    <p:extLst>
      <p:ext uri="{BB962C8B-B14F-4D97-AF65-F5344CB8AC3E}">
        <p14:creationId xmlns:p14="http://schemas.microsoft.com/office/powerpoint/2010/main" val="29218558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One image pushes the other off the screen. Functionally a cut, cosmetically a performance.</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Popular in the 1930s and 40s, out of fashion after the war, and resurrected almost single-handedly by Star Wars, which used them deliberately to evoke the serials Lucas grew up on.</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 which is the useful lesson. The wipe is not neutral any more. It carries a period association, so using one now is a reference whether or not you intended it. Very few techniques stay neutral forever.</a:t>
            </a:r>
          </a:p>
        </p:txBody>
      </p:sp>
      <p:sp>
        <p:nvSpPr>
          <p:cNvPr id="4" name="Slide Number Placeholder 3"/>
          <p:cNvSpPr>
            <a:spLocks noGrp="1"/>
          </p:cNvSpPr>
          <p:nvPr>
            <p:ph type="sldNum" sz="quarter" idx="10"/>
          </p:nvPr>
        </p:nvSpPr>
        <p:spPr/>
        <p:txBody>
          <a:bodyPr/>
          <a:lstStyle/>
          <a:p>
            <a:fld id="{3C7FDB04-D1AC-46DB-9592-CA12D78D404F}" type="slidenum">
              <a:rPr lang="en-US" smtClean="0"/>
              <a:t>40</a:t>
            </a:fld>
            <a:endParaRPr lang="en-US"/>
          </a:p>
        </p:txBody>
      </p:sp>
    </p:spTree>
    <p:extLst>
      <p:ext uri="{BB962C8B-B14F-4D97-AF65-F5344CB8AC3E}">
        <p14:creationId xmlns:p14="http://schemas.microsoft.com/office/powerpoint/2010/main" val="8132358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deliberate opposite of continuity. Same background, character position jumps. Or the same framing with the camera moved only slightly, so the subject snaps.</a:t>
            </a:r>
          </a:p>
          <a:p/>
          <a:p>
            <a:r>
              <a:rPr lang="en-US" sz="1200" kern="1200" dirty="0">
                <a:solidFill>
                  <a:schemeClr val="tx1"/>
                </a:solidFill>
                <a:effectLst/>
                <a:latin typeface="+mn-lt"/>
                <a:ea typeface="+mn-ea"/>
                <a:cs typeface="+mn-cs"/>
              </a:rPr>
              <a:t>It disrupts the illusion of continuous action, which is the entire point.</a:t>
            </a:r>
          </a:p>
          <a:p/>
          <a:p>
            <a:r>
              <a:rPr lang="en-US" sz="1200" kern="1200" dirty="0">
                <a:solidFill>
                  <a:schemeClr val="tx1"/>
                </a:solidFill>
                <a:effectLst/>
                <a:latin typeface="+mn-lt"/>
                <a:ea typeface="+mn-ea"/>
                <a:cs typeface="+mn-cs"/>
              </a:rPr>
              <a:t>Say: a jump cut is a broken rule used on purpose, exactly like crossing the line. And the difference between this and a mistake is entirely whether the audience believes you meant it. One jump cut is an error. A sequence of them is a style.</a:t>
            </a:r>
          </a:p>
        </p:txBody>
      </p:sp>
      <p:sp>
        <p:nvSpPr>
          <p:cNvPr id="4" name="Slide Number Placeholder 3"/>
          <p:cNvSpPr>
            <a:spLocks noGrp="1"/>
          </p:cNvSpPr>
          <p:nvPr>
            <p:ph type="sldNum" sz="quarter" idx="10"/>
          </p:nvPr>
        </p:nvSpPr>
        <p:spPr/>
        <p:txBody>
          <a:bodyPr/>
          <a:lstStyle/>
          <a:p>
            <a:fld id="{3C7FDB04-D1AC-46DB-9592-CA12D78D404F}" type="slidenum">
              <a:rPr lang="en-US" smtClean="0"/>
              <a:t>41</a:t>
            </a:fld>
            <a:endParaRPr lang="en-US"/>
          </a:p>
        </p:txBody>
      </p:sp>
    </p:spTree>
    <p:extLst>
      <p:ext uri="{BB962C8B-B14F-4D97-AF65-F5344CB8AC3E}">
        <p14:creationId xmlns:p14="http://schemas.microsoft.com/office/powerpoint/2010/main" val="11662719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Cinematic montage: a series of images juxtaposed to create meaning and provoke an emotional response.</a:t>
            </a:r>
          </a:p>
          <a:p/>
          <a:p>
            <a:r>
              <a:rPr lang="en-US" sz="1200" kern="1200" dirty="0">
                <a:solidFill>
                  <a:schemeClr val="tx1"/>
                </a:solidFill>
                <a:effectLst/>
                <a:latin typeface="+mn-lt"/>
                <a:ea typeface="+mn-ea"/>
                <a:cs typeface="+mn-cs"/>
              </a:rPr>
              <a:t>The shots are unrelated in time and space. Placed together, they produce a third thing that is in neither of them.</a:t>
            </a:r>
          </a:p>
          <a:p/>
          <a:p>
            <a:r>
              <a:rPr lang="en-US" sz="1200" kern="1200" dirty="0">
                <a:solidFill>
                  <a:schemeClr val="tx1"/>
                </a:solidFill>
                <a:effectLst/>
                <a:latin typeface="+mn-lt"/>
                <a:ea typeface="+mn-ea"/>
                <a:cs typeface="+mn-cs"/>
              </a:rPr>
              <a:t>Say: this is one of the strangest and most important ideas in editing theory. Meaning appears in a gap. Nobody drew it and nobody photographed it, the audience manufactured it between two frames.</a:t>
            </a:r>
          </a:p>
        </p:txBody>
      </p:sp>
      <p:sp>
        <p:nvSpPr>
          <p:cNvPr id="4" name="Slide Number Placeholder 3"/>
          <p:cNvSpPr>
            <a:spLocks noGrp="1"/>
          </p:cNvSpPr>
          <p:nvPr>
            <p:ph type="sldNum" sz="quarter" idx="10"/>
          </p:nvPr>
        </p:nvSpPr>
        <p:spPr/>
        <p:txBody>
          <a:bodyPr/>
          <a:lstStyle/>
          <a:p>
            <a:fld id="{3C7FDB04-D1AC-46DB-9592-CA12D78D404F}" type="slidenum">
              <a:rPr lang="en-US" smtClean="0"/>
              <a:t>42</a:t>
            </a:fld>
            <a:endParaRPr lang="en-US"/>
          </a:p>
        </p:txBody>
      </p:sp>
    </p:spTree>
    <p:extLst>
      <p:ext uri="{BB962C8B-B14F-4D97-AF65-F5344CB8AC3E}">
        <p14:creationId xmlns:p14="http://schemas.microsoft.com/office/powerpoint/2010/main" val="39468432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Run the example on the slide as an actual exercise, not an anecdote.</a:t>
            </a:r>
          </a:p>
          <a:p/>
          <a:p>
            <a:r>
              <a:rPr lang="en-US" sz="1200" kern="1200" dirty="0">
                <a:solidFill>
                  <a:schemeClr val="tx1"/>
                </a:solidFill>
                <a:effectLst/>
                <a:latin typeface="+mn-lt"/>
                <a:ea typeface="+mn-ea"/>
                <a:cs typeface="+mn-cs"/>
              </a:rPr>
              <a:t>Shot one: students slumped over an exam in a classroom. Shot two: somebody asleep in bed. Two unrelated images, different times, different places.</a:t>
            </a:r>
          </a:p>
          <a:p/>
          <a:p>
            <a:r>
              <a:rPr lang="en-US" sz="1200" kern="1200" dirty="0">
                <a:solidFill>
                  <a:schemeClr val="tx1"/>
                </a:solidFill>
                <a:effectLst/>
                <a:latin typeface="+mn-lt"/>
                <a:ea typeface="+mn-ea"/>
                <a:cs typeface="+mn-cs"/>
              </a:rPr>
              <a:t>Put them together and ask the room what it means. They will produce boredom, exhaustion, the exam being so dull it put someone to sleep, a student who stayed up all night. Every one of those readings came from the audience.</a:t>
            </a:r>
          </a:p>
          <a:p/>
          <a:p>
            <a:r>
              <a:rPr lang="en-US" sz="1200" kern="1200" dirty="0">
                <a:solidFill>
                  <a:schemeClr val="tx1"/>
                </a:solidFill>
                <a:effectLst/>
                <a:latin typeface="+mn-lt"/>
                <a:ea typeface="+mn-ea"/>
                <a:cs typeface="+mn-cs"/>
              </a:rPr>
              <a:t>Say: this is the closure slide from your composition lecture, operating across a cut instead of inside a frame. The brain completes what you leave out: that is what made crude boards legible, and it is what makes montage work. Same principle, different scale.</a:t>
            </a:r>
          </a:p>
        </p:txBody>
      </p:sp>
      <p:sp>
        <p:nvSpPr>
          <p:cNvPr id="4" name="Slide Number Placeholder 3"/>
          <p:cNvSpPr>
            <a:spLocks noGrp="1"/>
          </p:cNvSpPr>
          <p:nvPr>
            <p:ph type="sldNum" sz="quarter" idx="10"/>
          </p:nvPr>
        </p:nvSpPr>
        <p:spPr/>
        <p:txBody>
          <a:bodyPr/>
          <a:lstStyle/>
          <a:p>
            <a:fld id="{3C7FDB04-D1AC-46DB-9592-CA12D78D404F}" type="slidenum">
              <a:rPr lang="en-US" smtClean="0"/>
              <a:t>43</a:t>
            </a:fld>
            <a:endParaRPr lang="en-US"/>
          </a:p>
        </p:txBody>
      </p:sp>
    </p:spTree>
    <p:extLst>
      <p:ext uri="{BB962C8B-B14F-4D97-AF65-F5344CB8AC3E}">
        <p14:creationId xmlns:p14="http://schemas.microsoft.com/office/powerpoint/2010/main" val="102840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Note the corrections on this slide. The original notes read "Sergi eisenstein ablnd Dziga Vertov", and both the slide and the notes attributed Battleship Potemkin to "Einstein". It is Eisenstein (Sergei Eisenstein), and it is fixed in both places.</a:t>
            </a:r>
          </a:p>
          <a:p/>
          <a:p>
            <a:r>
              <a:rPr lang="en-US" sz="1200" kern="1200" dirty="0">
                <a:solidFill>
                  <a:schemeClr val="tx1"/>
                </a:solidFill>
                <a:effectLst/>
                <a:latin typeface="+mn-lt"/>
                <a:ea typeface="+mn-ea"/>
                <a:cs typeface="+mn-cs"/>
              </a:rPr>
              <a:t>Eisenstein theorized montage as collision: two shots striking each other to produce an idea neither contains.</a:t>
            </a:r>
          </a:p>
          <a:p/>
          <a:p>
            <a:r>
              <a:rPr lang="en-US" sz="1200" kern="1200" dirty="0">
                <a:solidFill>
                  <a:schemeClr val="tx1"/>
                </a:solidFill>
                <a:effectLst/>
                <a:latin typeface="+mn-lt"/>
                <a:ea typeface="+mn-ea"/>
                <a:cs typeface="+mn-cs"/>
              </a:rPr>
              <a:t>The Odessa Steps is the demonstration. Boots. A face. A pram. Assembled, they are a massacre, and the massacre is not in any individual frame.</a:t>
            </a:r>
          </a:p>
          <a:p/>
          <a:p>
            <a:r>
              <a:rPr lang="en-US" sz="1200" kern="1200" dirty="0">
                <a:solidFill>
                  <a:schemeClr val="tx1"/>
                </a:solidFill>
                <a:effectLst/>
                <a:latin typeface="+mn-lt"/>
                <a:ea typeface="+mn-ea"/>
                <a:cs typeface="+mn-cs"/>
              </a:rPr>
              <a:t>Say: this is a hundred years old and it is exactly what you did four slides ago with an exam and a bed. The mechanism has not changed at all.</a:t>
            </a:r>
          </a:p>
        </p:txBody>
      </p:sp>
      <p:sp>
        <p:nvSpPr>
          <p:cNvPr id="4" name="Slide Number Placeholder 3"/>
          <p:cNvSpPr>
            <a:spLocks noGrp="1"/>
          </p:cNvSpPr>
          <p:nvPr>
            <p:ph type="sldNum" sz="quarter" idx="10"/>
          </p:nvPr>
        </p:nvSpPr>
        <p:spPr/>
        <p:txBody>
          <a:bodyPr/>
          <a:lstStyle/>
          <a:p>
            <a:fld id="{3C7FDB04-D1AC-46DB-9592-CA12D78D404F}" type="slidenum">
              <a:rPr lang="en-US" smtClean="0"/>
              <a:t>44</a:t>
            </a:fld>
            <a:endParaRPr lang="en-US"/>
          </a:p>
        </p:txBody>
      </p:sp>
    </p:spTree>
    <p:extLst>
      <p:ext uri="{BB962C8B-B14F-4D97-AF65-F5344CB8AC3E}">
        <p14:creationId xmlns:p14="http://schemas.microsoft.com/office/powerpoint/2010/main" val="385570190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Close on the original summary, and then set the exercise.</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Exercise: take three panels from your animatic and change only the transition between them. Cut, then dissolve, then a hold with a fade. Nothing else changes: same panels, same order.</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Say: report back on what changed. Not what looked nicer: what the sequence appeared to mean. You will find that the transition alters the perceived time gap, and sometimes the emotional weight, without a single frame of new artwork.</a:t>
            </a:r>
          </a:p>
          <a:p>
            <a:pPr marL="0" marR="0" lvl="0" indent="0" algn="l" defTabSz="914400" rtl="0" eaLnBrk="1" fontAlgn="auto" latinLnBrk="0" hangingPunct="1">
              <a:lnSpc>
                <a:spcPct val="100000"/>
              </a:lnSpc>
              <a:spcBef>
                <a:spcPts val="0"/>
              </a:spcBef>
              <a:spcAft>
                <a:spcPts val="0"/>
              </a:spcAft>
              <a:buClrTx/>
              <a:buSzTx/>
              <a:buFontTx/>
              <a:buNone/>
              <a:tabLst/>
              <a:defRPr/>
            </a:p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That is the argument for treating transitions as a narrative decision rather than a finishing touch, and it is the last thing you need before the animatic.</a:t>
            </a:r>
          </a:p>
        </p:txBody>
      </p:sp>
      <p:sp>
        <p:nvSpPr>
          <p:cNvPr id="4" name="Slide Number Placeholder 3"/>
          <p:cNvSpPr>
            <a:spLocks noGrp="1"/>
          </p:cNvSpPr>
          <p:nvPr>
            <p:ph type="sldNum" sz="quarter" idx="10"/>
          </p:nvPr>
        </p:nvSpPr>
        <p:spPr/>
        <p:txBody>
          <a:bodyPr/>
          <a:lstStyle/>
          <a:p>
            <a:fld id="{3C7FDB04-D1AC-46DB-9592-CA12D78D404F}" type="slidenum">
              <a:rPr lang="en-US" smtClean="0"/>
              <a:t>45</a:t>
            </a:fld>
            <a:endParaRPr lang="en-US"/>
          </a:p>
        </p:txBody>
      </p:sp>
    </p:spTree>
    <p:extLst>
      <p:ext uri="{BB962C8B-B14F-4D97-AF65-F5344CB8AC3E}">
        <p14:creationId xmlns:p14="http://schemas.microsoft.com/office/powerpoint/2010/main" val="31153147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modern everyday use of montage, and the one students have seen most.</a:t>
            </a:r>
          </a:p>
          <a:p/>
          <a:p>
            <a:r>
              <a:rPr lang="en-US" dirty="0"/>
              <a:t>A music video is usually assembled to the song: the cutting rhythm is dictated by the track, and the shots relate to a theme rather than to a continuous action.</a:t>
            </a:r>
          </a:p>
          <a:p/>
          <a:p>
            <a:r>
              <a:rPr lang="en-US" dirty="0"/>
              <a:t>Say: which makes it the clearest possible demonstration that cutting rhythm is a separate variable from content. Take the same footage and cut it to a different track and it is a different piece.</a:t>
            </a:r>
          </a:p>
          <a:p/>
          <a:p>
            <a:r>
              <a:rPr lang="en-US" dirty="0"/>
              <a:t>Worth connecting forward: this is exactly what your animatic exercise is going to prove. Same panels, different timing, different film.</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This section is new, and it exists because the composition lecture explicitly promises it: Deck 05 says "your continuity lecture will show you this again."</a:t>
            </a:r>
          </a:p>
          <a:p/>
          <a:p>
            <a:r>
              <a:rPr lang="en-US" dirty="0"/>
              <a:t>The graphic match: the shape, position and movement in the outgoing frame are echoed in the incoming one, so the cut is bridged visually rather than logically.</a:t>
            </a:r>
          </a:p>
          <a:p/>
          <a:p>
            <a:r>
              <a:rPr lang="en-US" dirty="0"/>
              <a:t>2001 again, third time this term.</a:t>
            </a:r>
          </a:p>
          <a:p/>
          <a:p>
            <a:r>
              <a:rPr lang="en-US" dirty="0"/>
              <a:t>Say: I have now shown you this cut in three different sessions for three different reasons. In composition it was about shape. In continuity it was about the leap in time. Here it is about montage. Composition, continuity and montage are the same subject looked at from three sides, and if you take one structural idea out of this course, take that.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There is invisible-good and invisible-bad, and this is the difference.</a:t>
            </a:r>
          </a:p>
          <a:p/>
          <a:p>
            <a:r>
              <a:rPr lang="en-US" dirty="0"/>
              <a:t>A cut between two shots with near-identical composition does not read as a cut. It reads as a glitch: the audience senses something happened but cannot see what, which is exactly the jump-cut effect arriving by accident.</a:t>
            </a:r>
          </a:p>
          <a:p/>
          <a:p>
            <a:r>
              <a:rPr lang="en-US" dirty="0"/>
              <a:t>Say: this is also the practical reason for the shot-size progression from Deck 03. Wide to medium to close is not just grammar, it is a guarantee that consecutive shots differ enough to cut.</a:t>
            </a:r>
          </a:p>
          <a:p/>
          <a:p>
            <a:r>
              <a:rPr lang="en-US" dirty="0"/>
              <a:t>Run the check on your own boards: lay two consecutive panels side by side and ask what changed. If the answer is "not much", one of them is doing no work.</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The subtlest of the four and the one that separates competent sequences from good ones.</a:t>
            </a:r>
          </a:p>
          <a:p/>
          <a:p>
            <a:r>
              <a:rPr lang="en-US" dirty="0"/>
              <a:t>When a cut lands, the viewer's eye is already fixed on wherever the previous frame directed it. If the new subject is in that same screen area, the cut is seamless. If it is somewhere else, the eye has to travel, and that travel costs a beat.</a:t>
            </a:r>
          </a:p>
          <a:p/>
          <a:p>
            <a:r>
              <a:rPr lang="en-US" dirty="0"/>
              <a:t>Say: both are legitimate. Matching position gives you smoothness. Deliberately displacing gives you a jolt, which is useful when you want one.</a:t>
            </a:r>
          </a:p>
          <a:p/>
          <a:p>
            <a:r>
              <a:rPr lang="en-US" dirty="0"/>
              <a:t>What is not legitimate is not knowing which you did. Look at where the eye is at the end of a panel and where you are asking it to go at the start of the next.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rPr lang="en-US" dirty="0"/>
              <a:t>Callback to the Hero's Journey return slide in Deck 01: the binary sunset in Star Wars, the same framing with a different character standing in it.</a:t>
            </a:r>
          </a:p>
          <a:p/>
          <a:p>
            <a:r>
              <a:rPr lang="en-US" dirty="0"/>
              <a:t>A motif is a composition you repeat on purpose so that the repetition carries meaning. The second time the audience sees it, they measure the difference.</a:t>
            </a:r>
          </a:p>
          <a:p/>
          <a:p>
            <a:r>
              <a:rPr lang="en-US" dirty="0"/>
              <a:t>Say: same frame, changed meaning. That is the whole trick, and it costs you nothing but planning, which is precisely why it has to be planned at the boarding stage. You cannot add an echo in the edit if you never shot the original.</a:t>
            </a:r>
          </a:p>
          <a:p/>
          <a:p>
            <a:r>
              <a:rPr lang="en-US" dirty="0"/>
              <a:t>For your final: if there is a shot worth echoing, decide it now, and put both panels in the same sequence deliberately.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image" Target="../media/image25.jpeg"/><Relationship Id="rId6" Type="http://schemas.openxmlformats.org/officeDocument/2006/relationships/image" Target="../media/image26.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7.jpeg"/><Relationship Id="rId4" Type="http://schemas.openxmlformats.org/officeDocument/2006/relationships/image" Target="../media/image2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9.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 Id="rId3" Type="http://schemas.openxmlformats.org/officeDocument/2006/relationships/notesSlide" Target="../notesSlides/notesSlide4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3625" y="1871131"/>
            <a:ext cx="7448549" cy="1515533"/>
          </a:xfrm>
        </p:spPr>
        <p:txBody>
          <a:bodyPr/>
          <a:lstStyle/>
          <a:p>
            <a:r>
              <a:rPr lang="en-US" sz="4400" dirty="0"/>
              <a:t>The Cut: Time, Space, and Rhythm</a:t>
            </a:r>
          </a:p>
        </p:txBody>
      </p:sp>
      <p:sp>
        <p:nvSpPr>
          <p:cNvPr id="5" name="Subtitle 4">
            <a:extLst>
              <a:ext uri="{FF2B5EF4-FFF2-40B4-BE49-F238E27FC236}">
                <a16:creationId xmlns:a16="http://schemas.microsoft.com/office/drawing/2014/main" id="{70C6AD92-1E75-4AE6-A160-8290338F1B5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35282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t>What You Actually Control</a:t>
            </a:r>
          </a:p>
        </p:txBody>
      </p:sp>
      <p:sp>
        <p:nvSpPr>
          <p:cNvPr id="3" name="Content Placeholder 2">
            <a:extLst>
              <a:ext uri="{FF2B5EF4-FFF2-40B4-BE49-F238E27FC236}">
                <a16:creationId xmlns:a16="http://schemas.microsoft.com/office/drawing/2014/main" id="{1110D695-9451-4367-A285-C8085EAF9D2D}"/>
              </a:ext>
            </a:extLst>
          </p:cNvPr>
          <p:cNvSpPr>
            <a:spLocks noGrp="1"/>
          </p:cNvSpPr>
          <p:nvPr>
            <p:ph idx="1"/>
          </p:nvPr>
        </p:nvSpPr>
        <p:spPr>
          <a:xfrm>
            <a:off x="1295401" y="2556932"/>
            <a:ext cx="6661825" cy="3318936"/>
          </a:xfrm>
        </p:spPr>
        <p:txBody>
          <a:bodyPr/>
          <a:lstStyle/>
          <a:p>
            <a:r>
              <a:rPr lang="en-US" dirty="0">
                <a:solidFill>
                  <a:schemeClr val="tx1"/>
                </a:solidFill>
              </a:rPr>
              <a:t>Continuity editing compresses or stretches time, depending on what the narrative needs.</a:t>
            </a:r>
          </a:p>
          <a:p>
            <a:r>
              <a:rPr lang="en-US" dirty="0">
                <a:solidFill>
                  <a:schemeClr val="tx1"/>
                </a:solidFill>
              </a:rPr>
              <a:t>It links the action of an individual shot to the bigger picture of the story.</a:t>
            </a:r>
          </a:p>
          <a:p>
            <a:r>
              <a:rPr lang="en-US" dirty="0">
                <a:solidFill>
                  <a:schemeClr val="tx1"/>
                </a:solidFill>
              </a:rPr>
              <a:t>If it works, the audience never sees the manipulation, they see one continuous whole.</a:t>
            </a:r>
          </a:p>
        </p:txBody>
      </p:sp>
    </p:spTree>
    <p:extLst>
      <p:ext uri="{BB962C8B-B14F-4D97-AF65-F5344CB8AC3E}">
        <p14:creationId xmlns:p14="http://schemas.microsoft.com/office/powerpoint/2010/main" val="4014882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FDE59-BB50-4413-BA80-3009067C88F5}"/>
              </a:ext>
            </a:extLst>
          </p:cNvPr>
          <p:cNvSpPr>
            <a:spLocks noGrp="1"/>
          </p:cNvSpPr>
          <p:nvPr>
            <p:ph type="title"/>
          </p:nvPr>
        </p:nvSpPr>
        <p:spPr/>
        <p:txBody>
          <a:bodyPr/>
          <a:lstStyle/>
          <a:p>
            <a:r>
              <a:rPr lang="en-US" dirty="0"/>
              <a:t>Cutaway</a:t>
            </a:r>
          </a:p>
        </p:txBody>
      </p:sp>
      <p:sp>
        <p:nvSpPr>
          <p:cNvPr id="3" name="Content Placeholder 2">
            <a:extLst>
              <a:ext uri="{FF2B5EF4-FFF2-40B4-BE49-F238E27FC236}">
                <a16:creationId xmlns:a16="http://schemas.microsoft.com/office/drawing/2014/main" id="{3AA9E0DB-F465-4518-BAD0-9172ACCAA7EE}"/>
              </a:ext>
            </a:extLst>
          </p:cNvPr>
          <p:cNvSpPr>
            <a:spLocks noGrp="1"/>
          </p:cNvSpPr>
          <p:nvPr>
            <p:ph idx="1"/>
          </p:nvPr>
        </p:nvSpPr>
        <p:spPr>
          <a:xfrm>
            <a:off x="1295401" y="2556932"/>
            <a:ext cx="2954627" cy="3318936"/>
          </a:xfrm>
        </p:spPr>
        <p:txBody>
          <a:bodyPr>
            <a:normAutofit/>
          </a:bodyPr>
          <a:lstStyle/>
          <a:p>
            <a:r>
              <a:rPr lang="en-US" dirty="0">
                <a:solidFill>
                  <a:schemeClr val="tx1"/>
                </a:solidFill>
              </a:rPr>
              <a:t>The Cutaway technique is used to manipulate time and space. </a:t>
            </a:r>
          </a:p>
          <a:p>
            <a:r>
              <a:rPr lang="en-US" dirty="0">
                <a:solidFill>
                  <a:schemeClr val="tx1"/>
                </a:solidFill>
              </a:rPr>
              <a:t>The Cutaway should be related to the main action, but not part of it.  </a:t>
            </a:r>
          </a:p>
          <a:p>
            <a:endParaRPr lang="en-US" dirty="0"/>
          </a:p>
        </p:txBody>
      </p:sp>
      <p:pic>
        <p:nvPicPr>
          <p:cNvPr id="13314" name="Picture 2" descr="Image result for cut away shot">
            <a:extLst>
              <a:ext uri="{FF2B5EF4-FFF2-40B4-BE49-F238E27FC236}">
                <a16:creationId xmlns:a16="http://schemas.microsoft.com/office/drawing/2014/main" id="{D1490D53-C1E4-4D6D-A5B3-5300BA699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7884" y="2591070"/>
            <a:ext cx="6816110" cy="198093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087C700-C525-493D-813B-F2A39F982108}"/>
              </a:ext>
            </a:extLst>
          </p:cNvPr>
          <p:cNvSpPr txBox="1"/>
          <p:nvPr/>
        </p:nvSpPr>
        <p:spPr>
          <a:xfrm>
            <a:off x="4507884" y="4700789"/>
            <a:ext cx="6816110" cy="923330"/>
          </a:xfrm>
          <a:prstGeom prst="rect">
            <a:avLst/>
          </a:prstGeom>
          <a:noFill/>
        </p:spPr>
        <p:txBody>
          <a:bodyPr wrap="square" rtlCol="0">
            <a:spAutoFit/>
          </a:bodyPr>
          <a:lstStyle/>
          <a:p>
            <a:r>
              <a:rPr lang="en-US" dirty="0"/>
              <a:t>The camera cuts away to the singer to complement the main action, which is the conversation between the two characters. In this situation, the cutaway is used to add context to the setting.</a:t>
            </a:r>
          </a:p>
        </p:txBody>
      </p:sp>
    </p:spTree>
    <p:extLst>
      <p:ext uri="{BB962C8B-B14F-4D97-AF65-F5344CB8AC3E}">
        <p14:creationId xmlns:p14="http://schemas.microsoft.com/office/powerpoint/2010/main" val="3346703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FDE59-BB50-4413-BA80-3009067C88F5}"/>
              </a:ext>
            </a:extLst>
          </p:cNvPr>
          <p:cNvSpPr>
            <a:spLocks noGrp="1"/>
          </p:cNvSpPr>
          <p:nvPr>
            <p:ph type="title"/>
          </p:nvPr>
        </p:nvSpPr>
        <p:spPr/>
        <p:txBody>
          <a:bodyPr/>
          <a:lstStyle/>
          <a:p>
            <a:r>
              <a:rPr lang="en-US" dirty="0"/>
              <a:t>What a Cutaway Is Really For</a:t>
            </a:r>
          </a:p>
        </p:txBody>
      </p:sp>
      <p:sp>
        <p:nvSpPr>
          <p:cNvPr id="3" name="Content Placeholder 2">
            <a:extLst>
              <a:ext uri="{FF2B5EF4-FFF2-40B4-BE49-F238E27FC236}">
                <a16:creationId xmlns:a16="http://schemas.microsoft.com/office/drawing/2014/main" id="{3AA9E0DB-F465-4518-BAD0-9172ACCAA7EE}"/>
              </a:ext>
            </a:extLst>
          </p:cNvPr>
          <p:cNvSpPr>
            <a:spLocks noGrp="1"/>
          </p:cNvSpPr>
          <p:nvPr>
            <p:ph idx="1"/>
          </p:nvPr>
        </p:nvSpPr>
        <p:spPr>
          <a:xfrm>
            <a:off x="1295401" y="2556932"/>
            <a:ext cx="4435429" cy="3318936"/>
          </a:xfrm>
        </p:spPr>
        <p:txBody>
          <a:bodyPr>
            <a:normAutofit fontScale="92500" lnSpcReduction="20000"/>
          </a:bodyPr>
          <a:lstStyle/>
          <a:p>
            <a:r>
              <a:rPr lang="en-US" dirty="0">
                <a:solidFill>
                  <a:schemeClr val="tx1"/>
                </a:solidFill>
              </a:rPr>
              <a:t>Making small shifts in time without announcing them.</a:t>
            </a:r>
          </a:p>
          <a:p>
            <a:r>
              <a:rPr lang="en-US" dirty="0">
                <a:solidFill>
                  <a:schemeClr val="tx1"/>
                </a:solidFill>
              </a:rPr>
              <a:t>Building tension by delaying the return.</a:t>
            </a:r>
          </a:p>
          <a:p>
            <a:r>
              <a:rPr lang="en-US" dirty="0">
                <a:solidFill>
                  <a:schemeClr val="tx1"/>
                </a:solidFill>
              </a:rPr>
              <a:t>Working inside the psychological space of an interaction: what somebody is not saying.</a:t>
            </a:r>
          </a:p>
          <a:p>
            <a:r>
              <a:rPr lang="en-US" dirty="0">
                <a:solidFill>
                  <a:schemeClr val="tx1"/>
                </a:solidFill>
              </a:rPr>
              <a:t>Focusing only on the actions that matter to the story.</a:t>
            </a:r>
          </a:p>
        </p:txBody>
      </p:sp>
      <p:pic>
        <p:nvPicPr>
          <p:cNvPr id="15362" name="Picture 2" descr="Image result for Robbery scene store movie">
            <a:extLst>
              <a:ext uri="{FF2B5EF4-FFF2-40B4-BE49-F238E27FC236}">
                <a16:creationId xmlns:a16="http://schemas.microsoft.com/office/drawing/2014/main" id="{0BAF2C34-80EA-4850-B604-CB4AA70477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0830" y="2556932"/>
            <a:ext cx="5238750" cy="2838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5517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9D5DC-08DC-479D-813F-E55F2A1052C2}"/>
              </a:ext>
            </a:extLst>
          </p:cNvPr>
          <p:cNvSpPr>
            <a:spLocks noGrp="1"/>
          </p:cNvSpPr>
          <p:nvPr>
            <p:ph type="title"/>
          </p:nvPr>
        </p:nvSpPr>
        <p:spPr/>
        <p:txBody>
          <a:bodyPr/>
          <a:lstStyle/>
          <a:p>
            <a:r>
              <a:rPr lang="en-US" dirty="0"/>
              <a:t>Cut-In</a:t>
            </a:r>
          </a:p>
        </p:txBody>
      </p:sp>
      <p:sp>
        <p:nvSpPr>
          <p:cNvPr id="3" name="Content Placeholder 2">
            <a:extLst>
              <a:ext uri="{FF2B5EF4-FFF2-40B4-BE49-F238E27FC236}">
                <a16:creationId xmlns:a16="http://schemas.microsoft.com/office/drawing/2014/main" id="{7E8039CC-7267-4C89-936A-32ACBFCF38EB}"/>
              </a:ext>
            </a:extLst>
          </p:cNvPr>
          <p:cNvSpPr>
            <a:spLocks noGrp="1"/>
          </p:cNvSpPr>
          <p:nvPr>
            <p:ph idx="1"/>
          </p:nvPr>
        </p:nvSpPr>
        <p:spPr>
          <a:xfrm>
            <a:off x="1295401" y="2556932"/>
            <a:ext cx="6350539" cy="3318936"/>
          </a:xfrm>
        </p:spPr>
        <p:txBody>
          <a:bodyPr/>
          <a:lstStyle/>
          <a:p>
            <a:r>
              <a:rPr lang="en-US" dirty="0">
                <a:solidFill>
                  <a:schemeClr val="tx1"/>
                </a:solidFill>
              </a:rPr>
              <a:t>Cut-ins focus on the primary action of a scene. </a:t>
            </a:r>
          </a:p>
          <a:p>
            <a:r>
              <a:rPr lang="en-US" dirty="0">
                <a:solidFill>
                  <a:schemeClr val="tx1"/>
                </a:solidFill>
              </a:rPr>
              <a:t>Rather than cutting away from the main action, the cut-in shot narrows our view to a smaller portion of the action.</a:t>
            </a:r>
          </a:p>
          <a:p>
            <a:r>
              <a:rPr lang="en-US" dirty="0">
                <a:solidFill>
                  <a:schemeClr val="tx1"/>
                </a:solidFill>
              </a:rPr>
              <a:t>Provides dramatic emphasis. </a:t>
            </a:r>
          </a:p>
          <a:p>
            <a:endParaRPr lang="en-US" dirty="0"/>
          </a:p>
        </p:txBody>
      </p:sp>
    </p:spTree>
    <p:extLst>
      <p:ext uri="{BB962C8B-B14F-4D97-AF65-F5344CB8AC3E}">
        <p14:creationId xmlns:p14="http://schemas.microsoft.com/office/powerpoint/2010/main" val="2904683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9ED9-A32A-46A8-A5E5-40852795689A}"/>
              </a:ext>
            </a:extLst>
          </p:cNvPr>
          <p:cNvSpPr>
            <a:spLocks noGrp="1"/>
          </p:cNvSpPr>
          <p:nvPr>
            <p:ph type="title"/>
          </p:nvPr>
        </p:nvSpPr>
        <p:spPr/>
        <p:txBody>
          <a:bodyPr/>
          <a:lstStyle/>
          <a:p>
            <a:r>
              <a:rPr lang="en-US" dirty="0"/>
              <a:t>Cross-Cutting (Parallel Editing)</a:t>
            </a:r>
          </a:p>
        </p:txBody>
      </p:sp>
      <p:sp>
        <p:nvSpPr>
          <p:cNvPr id="3" name="Content Placeholder 2">
            <a:extLst>
              <a:ext uri="{FF2B5EF4-FFF2-40B4-BE49-F238E27FC236}">
                <a16:creationId xmlns:a16="http://schemas.microsoft.com/office/drawing/2014/main" id="{0139352E-71BA-4C79-A25F-077D63EE5DEF}"/>
              </a:ext>
            </a:extLst>
          </p:cNvPr>
          <p:cNvSpPr>
            <a:spLocks noGrp="1"/>
          </p:cNvSpPr>
          <p:nvPr>
            <p:ph idx="1"/>
          </p:nvPr>
        </p:nvSpPr>
        <p:spPr/>
        <p:txBody>
          <a:bodyPr/>
          <a:lstStyle/>
          <a:p>
            <a:r>
              <a:rPr lang="en-US" dirty="0">
                <a:solidFill>
                  <a:schemeClr val="tx1"/>
                </a:solidFill>
              </a:rPr>
              <a:t>Cross-cutting,  also called parallel editing, manipulates both time and space. </a:t>
            </a:r>
          </a:p>
          <a:p>
            <a:r>
              <a:rPr lang="en-US" dirty="0">
                <a:solidFill>
                  <a:schemeClr val="tx1"/>
                </a:solidFill>
              </a:rPr>
              <a:t>Action that is happening at the same time is intercut so that the audience may see a parallel action. </a:t>
            </a:r>
          </a:p>
          <a:p>
            <a:r>
              <a:rPr lang="en-US" dirty="0">
                <a:solidFill>
                  <a:schemeClr val="tx1"/>
                </a:solidFill>
              </a:rPr>
              <a:t>Cross-cutting is often used to intensify the drama and to provide suspense in a  film or animation.  </a:t>
            </a:r>
          </a:p>
          <a:p>
            <a:endParaRPr lang="en-US" dirty="0"/>
          </a:p>
        </p:txBody>
      </p:sp>
    </p:spTree>
    <p:extLst>
      <p:ext uri="{BB962C8B-B14F-4D97-AF65-F5344CB8AC3E}">
        <p14:creationId xmlns:p14="http://schemas.microsoft.com/office/powerpoint/2010/main" val="3966124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D9ED9-A32A-46A8-A5E5-40852795689A}"/>
              </a:ext>
            </a:extLst>
          </p:cNvPr>
          <p:cNvSpPr>
            <a:spLocks noGrp="1"/>
          </p:cNvSpPr>
          <p:nvPr>
            <p:ph type="title"/>
          </p:nvPr>
        </p:nvSpPr>
        <p:spPr/>
        <p:txBody>
          <a:bodyPr/>
          <a:lstStyle/>
          <a:p>
            <a:r>
              <a:rPr lang="en-US" dirty="0"/>
              <a:t>The Godfather Baptism</a:t>
            </a:r>
          </a:p>
        </p:txBody>
      </p:sp>
      <p:sp>
        <p:nvSpPr>
          <p:cNvPr id="3" name="Content Placeholder 2">
            <a:extLst>
              <a:ext uri="{FF2B5EF4-FFF2-40B4-BE49-F238E27FC236}">
                <a16:creationId xmlns:a16="http://schemas.microsoft.com/office/drawing/2014/main" id="{0139352E-71BA-4C79-A25F-077D63EE5DEF}"/>
              </a:ext>
            </a:extLst>
          </p:cNvPr>
          <p:cNvSpPr>
            <a:spLocks noGrp="1"/>
          </p:cNvSpPr>
          <p:nvPr>
            <p:ph idx="1"/>
          </p:nvPr>
        </p:nvSpPr>
        <p:spPr>
          <a:xfrm>
            <a:off x="1295401" y="2556932"/>
            <a:ext cx="4709742" cy="3318936"/>
          </a:xfrm>
        </p:spPr>
        <p:txBody>
          <a:bodyPr>
            <a:normAutofit lnSpcReduction="10000"/>
          </a:bodyPr>
          <a:lstStyle/>
          <a:p>
            <a:pPr marL="0" indent="0" algn="ctr">
              <a:buNone/>
            </a:pPr>
            <a:r>
              <a:rPr lang="en-US" b="1" dirty="0">
                <a:solidFill>
                  <a:schemeClr val="tx1"/>
                </a:solidFill>
              </a:rPr>
              <a:t>Example (The Godfather):</a:t>
            </a:r>
          </a:p>
          <a:p>
            <a:r>
              <a:rPr lang="en-US" dirty="0">
                <a:solidFill>
                  <a:schemeClr val="tx1"/>
                </a:solidFill>
              </a:rPr>
              <a:t>The sequence between the baptism of Michael Corleone's nephew cross cuts with the Corleone Mobsters preparing for and ultimately committing murder. </a:t>
            </a:r>
          </a:p>
          <a:p>
            <a:r>
              <a:rPr lang="en-US" dirty="0">
                <a:solidFill>
                  <a:schemeClr val="tx1"/>
                </a:solidFill>
              </a:rPr>
              <a:t>Although the sequence lasts around 6 minutes, it is fairly fast-paced. </a:t>
            </a:r>
          </a:p>
          <a:p>
            <a:endParaRPr lang="en-US" dirty="0"/>
          </a:p>
        </p:txBody>
      </p:sp>
      <p:pic>
        <p:nvPicPr>
          <p:cNvPr id="16386" name="Picture 2" descr="Image result for godfather baptism sequence">
            <a:extLst>
              <a:ext uri="{FF2B5EF4-FFF2-40B4-BE49-F238E27FC236}">
                <a16:creationId xmlns:a16="http://schemas.microsoft.com/office/drawing/2014/main" id="{D8F0CDC3-BB0E-4BE4-8B6E-0D4B50D01D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4910" y="4094410"/>
            <a:ext cx="2764880" cy="1843253"/>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Image result for godfather baptism sequence">
            <a:extLst>
              <a:ext uri="{FF2B5EF4-FFF2-40B4-BE49-F238E27FC236}">
                <a16:creationId xmlns:a16="http://schemas.microsoft.com/office/drawing/2014/main" id="{C8124562-2804-4543-BE74-2F2437468C0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6074"/>
          <a:stretch/>
        </p:blipFill>
        <p:spPr bwMode="auto">
          <a:xfrm>
            <a:off x="6096000" y="4094408"/>
            <a:ext cx="2418910" cy="1843253"/>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Image result for godfather baptism sequence">
            <a:extLst>
              <a:ext uri="{FF2B5EF4-FFF2-40B4-BE49-F238E27FC236}">
                <a16:creationId xmlns:a16="http://schemas.microsoft.com/office/drawing/2014/main" id="{10CFB262-15EA-414C-8D45-73EE1BA1FEC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2347" b="12535"/>
          <a:stretch/>
        </p:blipFill>
        <p:spPr bwMode="auto">
          <a:xfrm>
            <a:off x="8550772" y="2556932"/>
            <a:ext cx="2729018" cy="1537476"/>
          </a:xfrm>
          <a:prstGeom prst="rect">
            <a:avLst/>
          </a:prstGeom>
          <a:noFill/>
          <a:extLst>
            <a:ext uri="{909E8E84-426E-40DD-AFC4-6F175D3DCCD1}">
              <a14:hiddenFill xmlns:a14="http://schemas.microsoft.com/office/drawing/2010/main">
                <a:solidFill>
                  <a:srgbClr val="FFFFFF"/>
                </a:solidFill>
              </a14:hiddenFill>
            </a:ext>
          </a:extLst>
        </p:spPr>
      </p:pic>
      <p:pic>
        <p:nvPicPr>
          <p:cNvPr id="16392" name="Picture 8" descr="Image result for godfather baptism sequence">
            <a:extLst>
              <a:ext uri="{FF2B5EF4-FFF2-40B4-BE49-F238E27FC236}">
                <a16:creationId xmlns:a16="http://schemas.microsoft.com/office/drawing/2014/main" id="{BD7E83BF-97F5-4E01-982E-53E5C6765A0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8349" r="9522"/>
          <a:stretch/>
        </p:blipFill>
        <p:spPr bwMode="auto">
          <a:xfrm>
            <a:off x="6096000" y="2556932"/>
            <a:ext cx="2509767" cy="15374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8703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11BE3-4440-4C5E-8091-47DC498FABF9}"/>
              </a:ext>
            </a:extLst>
          </p:cNvPr>
          <p:cNvSpPr>
            <a:spLocks noGrp="1"/>
          </p:cNvSpPr>
          <p:nvPr>
            <p:ph type="title"/>
          </p:nvPr>
        </p:nvSpPr>
        <p:spPr/>
        <p:txBody>
          <a:bodyPr/>
          <a:lstStyle/>
          <a:p>
            <a:r>
              <a:rPr lang="en-US" dirty="0"/>
              <a:t>A Transition Is a Narrative Device</a:t>
            </a:r>
          </a:p>
        </p:txBody>
      </p:sp>
      <p:sp>
        <p:nvSpPr>
          <p:cNvPr id="3" name="Content Placeholder 2">
            <a:extLst>
              <a:ext uri="{FF2B5EF4-FFF2-40B4-BE49-F238E27FC236}">
                <a16:creationId xmlns:a16="http://schemas.microsoft.com/office/drawing/2014/main" id="{B733F94E-A8B6-44A1-87CC-ECF44144CF16}"/>
              </a:ext>
            </a:extLst>
          </p:cNvPr>
          <p:cNvSpPr>
            <a:spLocks noGrp="1"/>
          </p:cNvSpPr>
          <p:nvPr>
            <p:ph idx="1"/>
          </p:nvPr>
        </p:nvSpPr>
        <p:spPr/>
        <p:txBody>
          <a:bodyPr/>
          <a:lstStyle/>
          <a:p>
            <a:r>
              <a:rPr lang="en-US" dirty="0"/>
              <a:t>It links two shots that differ in time, place, or focus.</a:t>
            </a:r>
          </a:p>
          <a:p>
            <a:r>
              <a:rPr lang="en-US" dirty="0"/>
              <a:t>It contributes to the pace of the production, lyrical or abrupt.</a:t>
            </a:r>
          </a:p>
          <a:p>
            <a:r>
              <a:rPr lang="en-US" dirty="0"/>
              <a:t>The main types: cut, dissolve, fade, wipe.</a:t>
            </a:r>
          </a:p>
        </p:txBody>
      </p:sp>
    </p:spTree>
    <p:extLst>
      <p:ext uri="{BB962C8B-B14F-4D97-AF65-F5344CB8AC3E}">
        <p14:creationId xmlns:p14="http://schemas.microsoft.com/office/powerpoint/2010/main" val="2900984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059711-5047-49FE-9E59-F5749AA9EB37}"/>
              </a:ext>
            </a:extLst>
          </p:cNvPr>
          <p:cNvSpPr>
            <a:spLocks noGrp="1"/>
          </p:cNvSpPr>
          <p:nvPr>
            <p:ph type="title"/>
          </p:nvPr>
        </p:nvSpPr>
        <p:spPr/>
        <p:txBody>
          <a:bodyPr/>
          <a:lstStyle/>
          <a:p>
            <a:r>
              <a:rPr lang="en-US" dirty="0"/>
              <a:t>Cut</a:t>
            </a:r>
          </a:p>
        </p:txBody>
      </p:sp>
      <p:sp>
        <p:nvSpPr>
          <p:cNvPr id="6" name="Content Placeholder 5">
            <a:extLst>
              <a:ext uri="{FF2B5EF4-FFF2-40B4-BE49-F238E27FC236}">
                <a16:creationId xmlns:a16="http://schemas.microsoft.com/office/drawing/2014/main" id="{703F2E35-DA9B-4BA8-9635-500A1F891687}"/>
              </a:ext>
            </a:extLst>
          </p:cNvPr>
          <p:cNvSpPr>
            <a:spLocks noGrp="1"/>
          </p:cNvSpPr>
          <p:nvPr>
            <p:ph idx="1"/>
          </p:nvPr>
        </p:nvSpPr>
        <p:spPr/>
        <p:txBody>
          <a:bodyPr>
            <a:normAutofit/>
          </a:bodyPr>
          <a:lstStyle/>
          <a:p>
            <a:r>
              <a:rPr lang="en-US" dirty="0">
                <a:solidFill>
                  <a:schemeClr val="tx1"/>
                </a:solidFill>
              </a:rPr>
              <a:t>Over 90% of films use </a:t>
            </a:r>
            <a:r>
              <a:rPr lang="en-US" b="1" dirty="0">
                <a:solidFill>
                  <a:schemeClr val="tx1"/>
                </a:solidFill>
              </a:rPr>
              <a:t>Cuts</a:t>
            </a:r>
            <a:r>
              <a:rPr lang="en-US" dirty="0">
                <a:solidFill>
                  <a:schemeClr val="tx1"/>
                </a:solidFill>
              </a:rPr>
              <a:t> as a transition to connect two shots together.</a:t>
            </a:r>
          </a:p>
          <a:p>
            <a:r>
              <a:rPr lang="en-US" dirty="0">
                <a:solidFill>
                  <a:schemeClr val="tx1"/>
                </a:solidFill>
              </a:rPr>
              <a:t> Most audiences do not even notice when a program cuts to a different angle or framing within a scene. </a:t>
            </a:r>
          </a:p>
          <a:p>
            <a:r>
              <a:rPr lang="en-US" dirty="0">
                <a:solidFill>
                  <a:schemeClr val="tx1"/>
                </a:solidFill>
              </a:rPr>
              <a:t>The cut is </a:t>
            </a:r>
            <a:r>
              <a:rPr lang="en-US" b="1" dirty="0">
                <a:solidFill>
                  <a:schemeClr val="tx1"/>
                </a:solidFill>
              </a:rPr>
              <a:t>effective for compressing time</a:t>
            </a:r>
            <a:r>
              <a:rPr lang="en-US" dirty="0">
                <a:solidFill>
                  <a:schemeClr val="tx1"/>
                </a:solidFill>
              </a:rPr>
              <a:t>. </a:t>
            </a:r>
            <a:endParaRPr lang="en-US" dirty="0"/>
          </a:p>
          <a:p>
            <a:endParaRPr lang="en-US" dirty="0">
              <a:solidFill>
                <a:schemeClr val="tx1"/>
              </a:solidFill>
            </a:endParaRPr>
          </a:p>
          <a:p>
            <a:endParaRPr lang="en-US" dirty="0">
              <a:solidFill>
                <a:schemeClr val="tx1"/>
              </a:solidFill>
            </a:endParaRPr>
          </a:p>
          <a:p>
            <a:endParaRPr lang="en-US" dirty="0"/>
          </a:p>
          <a:p>
            <a:endParaRPr lang="en-US" dirty="0"/>
          </a:p>
        </p:txBody>
      </p:sp>
    </p:spTree>
    <p:extLst>
      <p:ext uri="{BB962C8B-B14F-4D97-AF65-F5344CB8AC3E}">
        <p14:creationId xmlns:p14="http://schemas.microsoft.com/office/powerpoint/2010/main" val="1197165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11BE3-4440-4C5E-8091-47DC498FABF9}"/>
              </a:ext>
            </a:extLst>
          </p:cNvPr>
          <p:cNvSpPr>
            <a:spLocks noGrp="1"/>
          </p:cNvSpPr>
          <p:nvPr>
            <p:ph type="title"/>
          </p:nvPr>
        </p:nvSpPr>
        <p:spPr/>
        <p:txBody>
          <a:bodyPr/>
          <a:lstStyle/>
          <a:p>
            <a:r>
              <a:rPr lang="en-US" dirty="0"/>
              <a:t>Dissolve</a:t>
            </a:r>
          </a:p>
        </p:txBody>
      </p:sp>
      <p:sp>
        <p:nvSpPr>
          <p:cNvPr id="3" name="Content Placeholder 2">
            <a:extLst>
              <a:ext uri="{FF2B5EF4-FFF2-40B4-BE49-F238E27FC236}">
                <a16:creationId xmlns:a16="http://schemas.microsoft.com/office/drawing/2014/main" id="{B733F94E-A8B6-44A1-87CC-ECF44144CF16}"/>
              </a:ext>
            </a:extLst>
          </p:cNvPr>
          <p:cNvSpPr>
            <a:spLocks noGrp="1"/>
          </p:cNvSpPr>
          <p:nvPr>
            <p:ph idx="1"/>
          </p:nvPr>
        </p:nvSpPr>
        <p:spPr/>
        <p:txBody>
          <a:bodyPr/>
          <a:lstStyle/>
          <a:p>
            <a:r>
              <a:rPr lang="en-US" dirty="0"/>
              <a:t>Basically, when a piece of film strip was </a:t>
            </a:r>
            <a:r>
              <a:rPr lang="en-US" b="1" dirty="0"/>
              <a:t>superimposed</a:t>
            </a:r>
            <a:r>
              <a:rPr lang="en-US" dirty="0"/>
              <a:t> onto another, creating an </a:t>
            </a:r>
            <a:r>
              <a:rPr lang="en-US" b="1" dirty="0"/>
              <a:t>overlapping</a:t>
            </a:r>
            <a:r>
              <a:rPr lang="en-US" dirty="0"/>
              <a:t> image.</a:t>
            </a:r>
          </a:p>
          <a:p>
            <a:r>
              <a:rPr lang="en-US" dirty="0"/>
              <a:t>Can be any length, and are usually employed to show a time lapse or location change.</a:t>
            </a:r>
          </a:p>
        </p:txBody>
      </p:sp>
    </p:spTree>
    <p:extLst>
      <p:ext uri="{BB962C8B-B14F-4D97-AF65-F5344CB8AC3E}">
        <p14:creationId xmlns:p14="http://schemas.microsoft.com/office/powerpoint/2010/main" val="23216419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FD256-FA49-45AF-8632-9EE3112CAE1E}"/>
              </a:ext>
            </a:extLst>
          </p:cNvPr>
          <p:cNvSpPr>
            <a:spLocks noGrp="1"/>
          </p:cNvSpPr>
          <p:nvPr>
            <p:ph type="title"/>
          </p:nvPr>
        </p:nvSpPr>
        <p:spPr/>
        <p:txBody>
          <a:bodyPr/>
          <a:lstStyle/>
          <a:p>
            <a:r>
              <a:rPr lang="en-US" dirty="0"/>
              <a:t>Fade</a:t>
            </a:r>
          </a:p>
        </p:txBody>
      </p:sp>
      <p:sp>
        <p:nvSpPr>
          <p:cNvPr id="3" name="Content Placeholder 2">
            <a:extLst>
              <a:ext uri="{FF2B5EF4-FFF2-40B4-BE49-F238E27FC236}">
                <a16:creationId xmlns:a16="http://schemas.microsoft.com/office/drawing/2014/main" id="{E1E88A0E-251C-440E-870C-28AFF45B85ED}"/>
              </a:ext>
            </a:extLst>
          </p:cNvPr>
          <p:cNvSpPr>
            <a:spLocks noGrp="1"/>
          </p:cNvSpPr>
          <p:nvPr>
            <p:ph idx="1"/>
          </p:nvPr>
        </p:nvSpPr>
        <p:spPr/>
        <p:txBody>
          <a:bodyPr>
            <a:normAutofit lnSpcReduction="10000"/>
          </a:bodyPr>
          <a:lstStyle/>
          <a:p>
            <a:r>
              <a:rPr lang="en-US" dirty="0">
                <a:solidFill>
                  <a:schemeClr val="tx1"/>
                </a:solidFill>
              </a:rPr>
              <a:t>Used to denote a </a:t>
            </a:r>
            <a:r>
              <a:rPr lang="en-US" b="1" dirty="0">
                <a:solidFill>
                  <a:schemeClr val="tx1"/>
                </a:solidFill>
              </a:rPr>
              <a:t>passage of time</a:t>
            </a:r>
            <a:r>
              <a:rPr lang="en-US" dirty="0">
                <a:solidFill>
                  <a:schemeClr val="tx1"/>
                </a:solidFill>
              </a:rPr>
              <a:t> and should not be used in the present tense. </a:t>
            </a:r>
          </a:p>
          <a:p>
            <a:r>
              <a:rPr lang="en-US" dirty="0">
                <a:solidFill>
                  <a:schemeClr val="tx1"/>
                </a:solidFill>
              </a:rPr>
              <a:t>Fades are usually very subtle as the screen fades in or out from black. (if it fades to white, it's often called a white out)</a:t>
            </a:r>
          </a:p>
          <a:p>
            <a:r>
              <a:rPr lang="en-US" dirty="0">
                <a:solidFill>
                  <a:schemeClr val="tx1"/>
                </a:solidFill>
              </a:rPr>
              <a:t>A </a:t>
            </a:r>
            <a:r>
              <a:rPr lang="en-US" b="1" dirty="0">
                <a:solidFill>
                  <a:schemeClr val="tx1"/>
                </a:solidFill>
              </a:rPr>
              <a:t>Fade-In</a:t>
            </a:r>
            <a:r>
              <a:rPr lang="en-US" dirty="0">
                <a:solidFill>
                  <a:schemeClr val="tx1"/>
                </a:solidFill>
              </a:rPr>
              <a:t> is used to ease the audience into a setting by starting in black, and gradually lightening up the setting to full brightness. </a:t>
            </a:r>
          </a:p>
          <a:p>
            <a:r>
              <a:rPr lang="en-US" dirty="0">
                <a:solidFill>
                  <a:schemeClr val="tx1"/>
                </a:solidFill>
              </a:rPr>
              <a:t>A </a:t>
            </a:r>
            <a:r>
              <a:rPr lang="en-US" b="1" dirty="0">
                <a:solidFill>
                  <a:schemeClr val="tx1"/>
                </a:solidFill>
              </a:rPr>
              <a:t>Fade Out</a:t>
            </a:r>
            <a:r>
              <a:rPr lang="en-US" dirty="0">
                <a:solidFill>
                  <a:schemeClr val="tx1"/>
                </a:solidFill>
              </a:rPr>
              <a:t> is usually the last shot of a scene that gradually disappears into darkness.</a:t>
            </a:r>
          </a:p>
          <a:p>
            <a:endParaRPr lang="en-US" dirty="0"/>
          </a:p>
        </p:txBody>
      </p:sp>
    </p:spTree>
    <p:extLst>
      <p:ext uri="{BB962C8B-B14F-4D97-AF65-F5344CB8AC3E}">
        <p14:creationId xmlns:p14="http://schemas.microsoft.com/office/powerpoint/2010/main" val="70159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115C0-0F99-4855-A2CC-12541815381F}"/>
              </a:ext>
            </a:extLst>
          </p:cNvPr>
          <p:cNvSpPr>
            <a:spLocks noGrp="1"/>
          </p:cNvSpPr>
          <p:nvPr>
            <p:ph type="title"/>
          </p:nvPr>
        </p:nvSpPr>
        <p:spPr/>
        <p:txBody>
          <a:bodyPr/>
          <a:lstStyle/>
          <a:p>
            <a:r>
              <a:rPr lang="en-US" dirty="0"/>
              <a:t>Wipe</a:t>
            </a:r>
          </a:p>
        </p:txBody>
      </p:sp>
      <p:sp>
        <p:nvSpPr>
          <p:cNvPr id="3" name="Content Placeholder 2">
            <a:extLst>
              <a:ext uri="{FF2B5EF4-FFF2-40B4-BE49-F238E27FC236}">
                <a16:creationId xmlns:a16="http://schemas.microsoft.com/office/drawing/2014/main" id="{4F0E944D-3A8E-486C-924A-7F2F19447042}"/>
              </a:ext>
            </a:extLst>
          </p:cNvPr>
          <p:cNvSpPr>
            <a:spLocks noGrp="1"/>
          </p:cNvSpPr>
          <p:nvPr>
            <p:ph idx="1"/>
          </p:nvPr>
        </p:nvSpPr>
        <p:spPr/>
        <p:txBody>
          <a:bodyPr/>
          <a:lstStyle/>
          <a:p>
            <a:endParaRPr lang="en-US" dirty="0"/>
          </a:p>
          <a:p>
            <a:r>
              <a:rPr lang="en-US" dirty="0">
                <a:solidFill>
                  <a:schemeClr val="tx1"/>
                </a:solidFill>
              </a:rPr>
              <a:t>Wipes function the same way as the cut, transitioning from one shot to the next, but here it pushes one image off the screen with another image. </a:t>
            </a:r>
          </a:p>
          <a:p>
            <a:r>
              <a:rPr lang="en-US" dirty="0">
                <a:solidFill>
                  <a:schemeClr val="tx1"/>
                </a:solidFill>
              </a:rPr>
              <a:t>This showy technique was quite popular during the 1930s and 40s, but went out of fashion shortly after World War II. </a:t>
            </a:r>
          </a:p>
          <a:p>
            <a:r>
              <a:rPr lang="en-US" dirty="0">
                <a:solidFill>
                  <a:schemeClr val="tx1"/>
                </a:solidFill>
              </a:rPr>
              <a:t>The wipe made a resurgence in the 1970s with the release of Star Wars, and can be seen in a handful of films today. </a:t>
            </a:r>
          </a:p>
          <a:p>
            <a:endParaRPr lang="en-US" dirty="0"/>
          </a:p>
          <a:p>
            <a:endParaRPr lang="en-US" dirty="0"/>
          </a:p>
          <a:p>
            <a:endParaRPr lang="en-US" dirty="0"/>
          </a:p>
        </p:txBody>
      </p:sp>
    </p:spTree>
    <p:extLst>
      <p:ext uri="{BB962C8B-B14F-4D97-AF65-F5344CB8AC3E}">
        <p14:creationId xmlns:p14="http://schemas.microsoft.com/office/powerpoint/2010/main" val="525080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86C61-E2FD-44AF-B478-6BF0F152AF52}"/>
              </a:ext>
            </a:extLst>
          </p:cNvPr>
          <p:cNvSpPr>
            <a:spLocks noGrp="1"/>
          </p:cNvSpPr>
          <p:nvPr>
            <p:ph type="title"/>
          </p:nvPr>
        </p:nvSpPr>
        <p:spPr/>
        <p:txBody>
          <a:bodyPr/>
          <a:lstStyle/>
          <a:p>
            <a:r>
              <a:rPr lang="en-US" dirty="0"/>
              <a:t>Jump Cut</a:t>
            </a:r>
          </a:p>
        </p:txBody>
      </p:sp>
      <p:sp>
        <p:nvSpPr>
          <p:cNvPr id="3" name="Content Placeholder 2">
            <a:extLst>
              <a:ext uri="{FF2B5EF4-FFF2-40B4-BE49-F238E27FC236}">
                <a16:creationId xmlns:a16="http://schemas.microsoft.com/office/drawing/2014/main" id="{91F6BC23-094B-423C-900C-9AE9219D40BA}"/>
              </a:ext>
            </a:extLst>
          </p:cNvPr>
          <p:cNvSpPr>
            <a:spLocks noGrp="1"/>
          </p:cNvSpPr>
          <p:nvPr>
            <p:ph idx="1"/>
          </p:nvPr>
        </p:nvSpPr>
        <p:spPr/>
        <p:txBody>
          <a:bodyPr>
            <a:normAutofit/>
          </a:bodyPr>
          <a:lstStyle/>
          <a:p>
            <a:r>
              <a:rPr lang="en-US" dirty="0">
                <a:solidFill>
                  <a:schemeClr val="tx1"/>
                </a:solidFill>
              </a:rPr>
              <a:t>Jump cuts are the opposite of continuity shots, using abrupt changes in movement to disrupt the illusion of a continuous flow of action .  </a:t>
            </a:r>
          </a:p>
          <a:p>
            <a:r>
              <a:rPr lang="en-US" dirty="0">
                <a:solidFill>
                  <a:schemeClr val="tx1"/>
                </a:solidFill>
              </a:rPr>
              <a:t>A jump can be achieved between shots by maintaining the background and abruptly changing a character's position.  </a:t>
            </a:r>
          </a:p>
          <a:p>
            <a:r>
              <a:rPr lang="en-US" dirty="0">
                <a:solidFill>
                  <a:schemeClr val="tx1"/>
                </a:solidFill>
              </a:rPr>
              <a:t>Jump cuts are also achieved when character framing is the same from one shot to the next, but the camera has moved its position. </a:t>
            </a:r>
          </a:p>
          <a:p>
            <a:endParaRPr lang="en-US" dirty="0"/>
          </a:p>
          <a:p>
            <a:endParaRPr lang="en-US" dirty="0"/>
          </a:p>
        </p:txBody>
      </p:sp>
    </p:spTree>
    <p:extLst>
      <p:ext uri="{BB962C8B-B14F-4D97-AF65-F5344CB8AC3E}">
        <p14:creationId xmlns:p14="http://schemas.microsoft.com/office/powerpoint/2010/main" val="308922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21A0-BB46-4705-8F46-89738D9DBFDC}"/>
              </a:ext>
            </a:extLst>
          </p:cNvPr>
          <p:cNvSpPr>
            <a:spLocks noGrp="1"/>
          </p:cNvSpPr>
          <p:nvPr>
            <p:ph type="title"/>
          </p:nvPr>
        </p:nvSpPr>
        <p:spPr/>
        <p:txBody>
          <a:bodyPr/>
          <a:lstStyle/>
          <a:p>
            <a:r>
              <a:rPr lang="en-US" dirty="0"/>
              <a:t>Juxtaposition Creates Meaning</a:t>
            </a:r>
          </a:p>
        </p:txBody>
      </p:sp>
      <p:sp>
        <p:nvSpPr>
          <p:cNvPr id="3" name="Content Placeholder 2">
            <a:extLst>
              <a:ext uri="{FF2B5EF4-FFF2-40B4-BE49-F238E27FC236}">
                <a16:creationId xmlns:a16="http://schemas.microsoft.com/office/drawing/2014/main" id="{DEC16AA6-B58B-4D32-9CF5-6757FC0A83C0}"/>
              </a:ext>
            </a:extLst>
          </p:cNvPr>
          <p:cNvSpPr>
            <a:spLocks noGrp="1"/>
          </p:cNvSpPr>
          <p:nvPr>
            <p:ph idx="1"/>
          </p:nvPr>
        </p:nvSpPr>
        <p:spPr/>
        <p:txBody>
          <a:bodyPr/>
          <a:lstStyle/>
          <a:p>
            <a:r>
              <a:rPr lang="en-US" dirty="0">
                <a:solidFill>
                  <a:schemeClr val="tx1"/>
                </a:solidFill>
              </a:rPr>
              <a:t>Cinematic montage is a series of images that can be juxtaposed to create  meaning by evoking an emotional response. </a:t>
            </a:r>
          </a:p>
          <a:p>
            <a:r>
              <a:rPr lang="en-US" dirty="0">
                <a:solidFill>
                  <a:schemeClr val="tx1"/>
                </a:solidFill>
              </a:rPr>
              <a:t>The shots maintained information relating to a single idea or theme. Music videos are often assembled around the montage sequence of a band or singer.  </a:t>
            </a:r>
          </a:p>
          <a:p>
            <a:r>
              <a:rPr lang="en-US" dirty="0">
                <a:solidFill>
                  <a:schemeClr val="tx1"/>
                </a:solidFill>
              </a:rPr>
              <a:t>In such scenarios, the rhythm and pacing of the video depends on the structure of the song.</a:t>
            </a:r>
          </a:p>
          <a:p>
            <a:endParaRPr lang="en-US" dirty="0"/>
          </a:p>
        </p:txBody>
      </p:sp>
    </p:spTree>
    <p:extLst>
      <p:ext uri="{BB962C8B-B14F-4D97-AF65-F5344CB8AC3E}">
        <p14:creationId xmlns:p14="http://schemas.microsoft.com/office/powerpoint/2010/main" val="3616274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21A0-BB46-4705-8F46-89738D9DBFDC}"/>
              </a:ext>
            </a:extLst>
          </p:cNvPr>
          <p:cNvSpPr>
            <a:spLocks noGrp="1"/>
          </p:cNvSpPr>
          <p:nvPr>
            <p:ph type="title"/>
          </p:nvPr>
        </p:nvSpPr>
        <p:spPr/>
        <p:txBody>
          <a:bodyPr/>
          <a:lstStyle/>
          <a:p>
            <a:r>
              <a:rPr lang="en-US" dirty="0"/>
              <a:t>The Demonstration</a:t>
            </a:r>
          </a:p>
        </p:txBody>
      </p:sp>
      <p:pic>
        <p:nvPicPr>
          <p:cNvPr id="17410" name="Picture 2" descr="Image result for students exam">
            <a:extLst>
              <a:ext uri="{FF2B5EF4-FFF2-40B4-BE49-F238E27FC236}">
                <a16:creationId xmlns:a16="http://schemas.microsoft.com/office/drawing/2014/main" id="{C9F023E6-C609-4622-8476-D7B6D30159D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128"/>
          <a:stretch/>
        </p:blipFill>
        <p:spPr bwMode="auto">
          <a:xfrm>
            <a:off x="978795" y="2556932"/>
            <a:ext cx="4448086" cy="3318937"/>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Image result for girl sleeping">
            <a:extLst>
              <a:ext uri="{FF2B5EF4-FFF2-40B4-BE49-F238E27FC236}">
                <a16:creationId xmlns:a16="http://schemas.microsoft.com/office/drawing/2014/main" id="{80488CED-29F8-4E10-927D-5BF745D48B1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557"/>
          <a:stretch/>
        </p:blipFill>
        <p:spPr bwMode="auto">
          <a:xfrm>
            <a:off x="5426881" y="2556932"/>
            <a:ext cx="5786324" cy="3311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0877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A21A0-BB46-4705-8F46-89738D9DBFDC}"/>
              </a:ext>
            </a:extLst>
          </p:cNvPr>
          <p:cNvSpPr>
            <a:spLocks noGrp="1"/>
          </p:cNvSpPr>
          <p:nvPr>
            <p:ph type="title"/>
          </p:nvPr>
        </p:nvSpPr>
        <p:spPr/>
        <p:txBody>
          <a:bodyPr/>
          <a:lstStyle/>
          <a:p>
            <a:r>
              <a:rPr lang="en-US" dirty="0"/>
              <a:t>Soviet Montage, 1920s</a:t>
            </a:r>
          </a:p>
        </p:txBody>
      </p:sp>
      <p:sp>
        <p:nvSpPr>
          <p:cNvPr id="3" name="Content Placeholder 2">
            <a:extLst>
              <a:ext uri="{FF2B5EF4-FFF2-40B4-BE49-F238E27FC236}">
                <a16:creationId xmlns:a16="http://schemas.microsoft.com/office/drawing/2014/main" id="{DEC16AA6-B58B-4D32-9CF5-6757FC0A83C0}"/>
              </a:ext>
            </a:extLst>
          </p:cNvPr>
          <p:cNvSpPr>
            <a:spLocks noGrp="1"/>
          </p:cNvSpPr>
          <p:nvPr>
            <p:ph idx="1"/>
          </p:nvPr>
        </p:nvSpPr>
        <p:spPr>
          <a:xfrm>
            <a:off x="5344733" y="2697162"/>
            <a:ext cx="5551864" cy="3178706"/>
          </a:xfrm>
        </p:spPr>
        <p:txBody>
          <a:bodyPr>
            <a:normAutofit/>
          </a:bodyPr>
          <a:lstStyle/>
          <a:p>
            <a:r>
              <a:rPr lang="en-US" dirty="0">
                <a:solidFill>
                  <a:schemeClr val="tx1"/>
                </a:solidFill>
              </a:rPr>
              <a:t>Developed by Soviet filmmakers: Sergei Eisenstein and Dziga Vertov.</a:t>
            </a:r>
          </a:p>
          <a:p>
            <a:r>
              <a:rPr lang="en-US" dirty="0">
                <a:solidFill>
                  <a:schemeClr val="tx1"/>
                </a:solidFill>
              </a:rPr>
              <a:t>The most famous sequence is the Odessa Steps from Eisenstein's Battleship Potemkin.</a:t>
            </a:r>
          </a:p>
          <a:p>
            <a:r>
              <a:rPr lang="en-US" dirty="0">
                <a:solidFill>
                  <a:schemeClr val="tx1"/>
                </a:solidFill>
              </a:rPr>
              <a:t>Soldiers' boots descending. A mother screaming. A pram on the steps.</a:t>
            </a:r>
          </a:p>
          <a:p>
            <a:r>
              <a:rPr lang="en-US" dirty="0">
                <a:solidFill>
                  <a:schemeClr val="tx1"/>
                </a:solidFill>
              </a:rPr>
              <a:t>No single shot contains the massacre. The sequence does.</a:t>
            </a:r>
          </a:p>
        </p:txBody>
      </p:sp>
      <p:pic>
        <p:nvPicPr>
          <p:cNvPr id="18434" name="Picture 2" descr="Image result for battleship potemkin odessa steps">
            <a:extLst>
              <a:ext uri="{FF2B5EF4-FFF2-40B4-BE49-F238E27FC236}">
                <a16:creationId xmlns:a16="http://schemas.microsoft.com/office/drawing/2014/main" id="{26E154F6-1F2D-42DB-B3EB-18A346A59B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9748" y="2697162"/>
            <a:ext cx="3810000" cy="3038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9769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9D5DC-08DC-479D-813F-E55F2A1052C2}"/>
              </a:ext>
            </a:extLst>
          </p:cNvPr>
          <p:cNvSpPr>
            <a:spLocks noGrp="1"/>
          </p:cNvSpPr>
          <p:nvPr>
            <p:ph type="title"/>
          </p:nvPr>
        </p:nvSpPr>
        <p:spPr/>
        <p:txBody>
          <a:bodyPr/>
          <a:lstStyle/>
          <a:p>
            <a:r>
              <a:rPr lang="en-US" dirty="0"/>
              <a:t>Music Video Montage</a:t>
            </a:r>
          </a:p>
        </p:txBody>
      </p:sp>
      <p:sp>
        <p:nvSpPr>
          <p:cNvPr id="3" name="Content Placeholder 2">
            <a:extLst>
              <a:ext uri="{FF2B5EF4-FFF2-40B4-BE49-F238E27FC236}">
                <a16:creationId xmlns:a16="http://schemas.microsoft.com/office/drawing/2014/main" id="{7E8039CC-7267-4C89-936A-32ACBFCF38EB}"/>
              </a:ext>
            </a:extLst>
          </p:cNvPr>
          <p:cNvSpPr>
            <a:spLocks noGrp="1"/>
          </p:cNvSpPr>
          <p:nvPr>
            <p:ph idx="1"/>
          </p:nvPr>
        </p:nvSpPr>
        <p:spPr>
          <a:xfrm>
            <a:off x="1295401" y="2556932"/>
            <a:ext cx="6350539" cy="3318936"/>
          </a:xfrm>
        </p:spPr>
        <p:txBody>
          <a:bodyPr/>
          <a:lstStyle/>
          <a:p>
            <a:r>
              <a:rPr lang="en-US" dirty="0">
                <a:solidFill>
                  <a:schemeClr val="tx1"/>
                </a:solidFill>
              </a:rPr>
              <a:t>Assembled around the song rather than around a story.</a:t>
            </a:r>
          </a:p>
          <a:p>
            <a:r>
              <a:rPr lang="en-US" dirty="0">
                <a:solidFill>
                  <a:schemeClr val="tx1"/>
                </a:solidFill>
              </a:rPr>
              <a:t>The rhythm and pacing of the cut follow the structure of the track.</a:t>
            </a:r>
          </a:p>
          <a:p>
            <a:r>
              <a:rPr lang="en-US" dirty="0">
                <a:solidFill>
                  <a:schemeClr val="tx1"/>
                </a:solidFill>
              </a:rPr>
              <a:t>Shots hold information relating to a single idea or theme, not a continuous action.</a:t>
            </a:r>
          </a:p>
        </p:txBody>
      </p:sp>
    </p:spTree>
    <p:extLst>
      <p:ext uri="{BB962C8B-B14F-4D97-AF65-F5344CB8AC3E}">
        <p14:creationId xmlns:p14="http://schemas.microsoft.com/office/powerpoint/2010/main" val="29046835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9D5DC-08DC-479D-813F-E55F2A1052C2}"/>
              </a:ext>
            </a:extLst>
          </p:cNvPr>
          <p:cNvSpPr>
            <a:spLocks noGrp="1"/>
          </p:cNvSpPr>
          <p:nvPr>
            <p:ph type="title"/>
          </p:nvPr>
        </p:nvSpPr>
        <p:spPr/>
        <p:txBody>
          <a:bodyPr/>
          <a:lstStyle/>
          <a:p>
            <a:r>
              <a:rPr lang="en-US" dirty="0"/>
              <a:t>The Graphic Match</a:t>
            </a:r>
          </a:p>
        </p:txBody>
      </p:sp>
      <p:sp>
        <p:nvSpPr>
          <p:cNvPr id="3" name="Content Placeholder 2">
            <a:extLst>
              <a:ext uri="{FF2B5EF4-FFF2-40B4-BE49-F238E27FC236}">
                <a16:creationId xmlns:a16="http://schemas.microsoft.com/office/drawing/2014/main" id="{7E8039CC-7267-4C89-936A-32ACBFCF38EB}"/>
              </a:ext>
            </a:extLst>
          </p:cNvPr>
          <p:cNvSpPr>
            <a:spLocks noGrp="1"/>
          </p:cNvSpPr>
          <p:nvPr>
            <p:ph idx="1"/>
          </p:nvPr>
        </p:nvSpPr>
        <p:spPr>
          <a:xfrm>
            <a:off x="1298448" y="2788920"/>
            <a:ext cx="4846320" cy="3017520"/>
          </a:xfrm>
        </p:spPr>
        <p:txBody>
          <a:bodyPr/>
          <a:lstStyle/>
          <a:p>
            <a:r>
              <a:rPr lang="en-US" dirty="0">
                <a:solidFill>
                  <a:schemeClr val="tx1"/>
                </a:solidFill>
              </a:rPr>
              <a:t>A shape in one shot echoed by a shape in the next.</a:t>
            </a:r>
          </a:p>
          <a:p>
            <a:r>
              <a:rPr lang="en-US" dirty="0">
                <a:solidFill>
                  <a:schemeClr val="tx1"/>
                </a:solidFill>
              </a:rPr>
              <a:t>2001: the bone tumbling in the air becomes a spacecraft.</a:t>
            </a:r>
          </a:p>
          <a:p>
            <a:r>
              <a:rPr lang="en-US" dirty="0">
                <a:solidFill>
                  <a:schemeClr val="tx1"/>
                </a:solidFill>
              </a:rPr>
              <a:t>The eye accepts the substitution before the brain catches up.</a:t>
            </a:r>
          </a:p>
        </p:txBody>
      </p:sp>
      <p:pic>
        <p:nvPicPr>
          <p:cNvPr id="4" name="2001 match cut"/>
          <p:cNvPicPr>
            <a:picLocks noChangeAspect="1"/>
          </p:cNvPicPr>
          <p:nvPr/>
        </p:nvPicPr>
        <p:blipFill>
          <a:blip r:embed="rId2"/>
          <a:stretch>
            <a:fillRect/>
          </a:stretch>
        </p:blipFill>
        <p:spPr>
          <a:xfrm>
            <a:off x="6537960" y="3017520"/>
            <a:ext cx="4297680" cy="2148840"/>
          </a:xfrm>
          <a:prstGeom prst="rect">
            <a:avLst/>
          </a:prstGeom>
        </p:spPr>
      </p:pic>
    </p:spTree>
    <p:extLst>
      <p:ext uri="{BB962C8B-B14F-4D97-AF65-F5344CB8AC3E}">
        <p14:creationId xmlns:p14="http://schemas.microsoft.com/office/powerpoint/2010/main" val="2904683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9D5DC-08DC-479D-813F-E55F2A1052C2}"/>
              </a:ext>
            </a:extLst>
          </p:cNvPr>
          <p:cNvSpPr>
            <a:spLocks noGrp="1"/>
          </p:cNvSpPr>
          <p:nvPr>
            <p:ph type="title"/>
          </p:nvPr>
        </p:nvSpPr>
        <p:spPr/>
        <p:txBody>
          <a:bodyPr/>
          <a:lstStyle/>
          <a:p>
            <a:r>
              <a:rPr lang="en-US" dirty="0"/>
              <a:t>Contrast Across the Cut</a:t>
            </a:r>
          </a:p>
        </p:txBody>
      </p:sp>
      <p:sp>
        <p:nvSpPr>
          <p:cNvPr id="3" name="Content Placeholder 2">
            <a:extLst>
              <a:ext uri="{FF2B5EF4-FFF2-40B4-BE49-F238E27FC236}">
                <a16:creationId xmlns:a16="http://schemas.microsoft.com/office/drawing/2014/main" id="{7E8039CC-7267-4C89-936A-32ACBFCF38EB}"/>
              </a:ext>
            </a:extLst>
          </p:cNvPr>
          <p:cNvSpPr>
            <a:spLocks noGrp="1"/>
          </p:cNvSpPr>
          <p:nvPr>
            <p:ph idx="1"/>
          </p:nvPr>
        </p:nvSpPr>
        <p:spPr>
          <a:xfrm>
            <a:off x="1295401" y="2556932"/>
            <a:ext cx="6350539" cy="3318936"/>
          </a:xfrm>
        </p:spPr>
        <p:txBody>
          <a:bodyPr/>
          <a:lstStyle/>
          <a:p>
            <a:r>
              <a:rPr lang="en-US" dirty="0">
                <a:solidFill>
                  <a:schemeClr val="tx1"/>
                </a:solidFill>
              </a:rPr>
              <a:t>Wide to close. Light to dark. Empty to full.</a:t>
            </a:r>
          </a:p>
          <a:p>
            <a:r>
              <a:rPr lang="en-US" dirty="0">
                <a:solidFill>
                  <a:schemeClr val="tx1"/>
                </a:solidFill>
              </a:rPr>
              <a:t>If two consecutive panels have the same composition, the cut is invisible in the bad way.</a:t>
            </a:r>
          </a:p>
          <a:p>
            <a:r>
              <a:rPr lang="en-US" dirty="0">
                <a:solidFill>
                  <a:schemeClr val="tx1"/>
                </a:solidFill>
              </a:rPr>
              <a:t>Change something deliberately, or the audience registers a stutter rather than a cut.</a:t>
            </a:r>
          </a:p>
        </p:txBody>
      </p:sp>
    </p:spTree>
    <p:extLst>
      <p:ext uri="{BB962C8B-B14F-4D97-AF65-F5344CB8AC3E}">
        <p14:creationId xmlns:p14="http://schemas.microsoft.com/office/powerpoint/2010/main" val="29046835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9D5DC-08DC-479D-813F-E55F2A1052C2}"/>
              </a:ext>
            </a:extLst>
          </p:cNvPr>
          <p:cNvSpPr>
            <a:spLocks noGrp="1"/>
          </p:cNvSpPr>
          <p:nvPr>
            <p:ph type="title"/>
          </p:nvPr>
        </p:nvSpPr>
        <p:spPr/>
        <p:txBody>
          <a:bodyPr/>
          <a:lstStyle/>
          <a:p>
            <a:r>
              <a:rPr lang="en-US" dirty="0"/>
              <a:t>Continuity of Position</a:t>
            </a:r>
          </a:p>
        </p:txBody>
      </p:sp>
      <p:sp>
        <p:nvSpPr>
          <p:cNvPr id="3" name="Content Placeholder 2">
            <a:extLst>
              <a:ext uri="{FF2B5EF4-FFF2-40B4-BE49-F238E27FC236}">
                <a16:creationId xmlns:a16="http://schemas.microsoft.com/office/drawing/2014/main" id="{7E8039CC-7267-4C89-936A-32ACBFCF38EB}"/>
              </a:ext>
            </a:extLst>
          </p:cNvPr>
          <p:cNvSpPr>
            <a:spLocks noGrp="1"/>
          </p:cNvSpPr>
          <p:nvPr>
            <p:ph idx="1"/>
          </p:nvPr>
        </p:nvSpPr>
        <p:spPr>
          <a:xfrm>
            <a:off x="1295401" y="2556932"/>
            <a:ext cx="6350539" cy="3318936"/>
          </a:xfrm>
        </p:spPr>
        <p:txBody>
          <a:bodyPr/>
          <a:lstStyle/>
          <a:p>
            <a:r>
              <a:rPr lang="en-US" dirty="0">
                <a:solidFill>
                  <a:schemeClr val="tx1"/>
                </a:solidFill>
              </a:rPr>
              <a:t>The audience's eye is already somewhere when your cut lands.</a:t>
            </a:r>
          </a:p>
          <a:p>
            <a:r>
              <a:rPr lang="en-US" dirty="0">
                <a:solidFill>
                  <a:schemeClr val="tx1"/>
                </a:solidFill>
              </a:rPr>
              <a:t>Put the next subject there, or move it deliberately and make them travel.</a:t>
            </a:r>
          </a:p>
          <a:p>
            <a:r>
              <a:rPr lang="en-US" dirty="0">
                <a:solidFill>
                  <a:schemeClr val="tx1"/>
                </a:solidFill>
              </a:rPr>
              <a:t>Either is fine. Neither by accident.</a:t>
            </a:r>
          </a:p>
        </p:txBody>
      </p:sp>
    </p:spTree>
    <p:extLst>
      <p:ext uri="{BB962C8B-B14F-4D97-AF65-F5344CB8AC3E}">
        <p14:creationId xmlns:p14="http://schemas.microsoft.com/office/powerpoint/2010/main" val="2904683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9D5DC-08DC-479D-813F-E55F2A1052C2}"/>
              </a:ext>
            </a:extLst>
          </p:cNvPr>
          <p:cNvSpPr>
            <a:spLocks noGrp="1"/>
          </p:cNvSpPr>
          <p:nvPr>
            <p:ph type="title"/>
          </p:nvPr>
        </p:nvSpPr>
        <p:spPr/>
        <p:txBody>
          <a:bodyPr/>
          <a:lstStyle/>
          <a:p>
            <a:r>
              <a:rPr lang="en-US" dirty="0"/>
              <a:t>Motif and Visual Echo</a:t>
            </a:r>
          </a:p>
        </p:txBody>
      </p:sp>
      <p:sp>
        <p:nvSpPr>
          <p:cNvPr id="3" name="Content Placeholder 2">
            <a:extLst>
              <a:ext uri="{FF2B5EF4-FFF2-40B4-BE49-F238E27FC236}">
                <a16:creationId xmlns:a16="http://schemas.microsoft.com/office/drawing/2014/main" id="{7E8039CC-7267-4C89-936A-32ACBFCF38EB}"/>
              </a:ext>
            </a:extLst>
          </p:cNvPr>
          <p:cNvSpPr>
            <a:spLocks noGrp="1"/>
          </p:cNvSpPr>
          <p:nvPr>
            <p:ph idx="1"/>
          </p:nvPr>
        </p:nvSpPr>
        <p:spPr>
          <a:xfrm>
            <a:off x="1295401" y="2556932"/>
            <a:ext cx="6350539" cy="3318936"/>
          </a:xfrm>
        </p:spPr>
        <p:txBody>
          <a:bodyPr/>
          <a:lstStyle/>
          <a:p>
            <a:r>
              <a:rPr lang="en-US" dirty="0">
                <a:solidFill>
                  <a:schemeClr val="tx1"/>
                </a:solidFill>
              </a:rPr>
              <a:t>Repeating a composition so that its return means something.</a:t>
            </a:r>
          </a:p>
          <a:p>
            <a:r>
              <a:rPr lang="en-US" dirty="0">
                <a:solidFill>
                  <a:schemeClr val="tx1"/>
                </a:solidFill>
              </a:rPr>
              <a:t>Same frame, changed meaning.</a:t>
            </a:r>
          </a:p>
          <a:p>
            <a:r>
              <a:rPr lang="en-US" dirty="0">
                <a:solidFill>
                  <a:schemeClr val="tx1"/>
                </a:solidFill>
              </a:rPr>
              <a:t>One of the more satisfying tools in visual storytelling, and it costs nothing but planning.</a:t>
            </a:r>
          </a:p>
        </p:txBody>
      </p:sp>
    </p:spTree>
    <p:extLst>
      <p:ext uri="{BB962C8B-B14F-4D97-AF65-F5344CB8AC3E}">
        <p14:creationId xmlns:p14="http://schemas.microsoft.com/office/powerpoint/2010/main" val="29046835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B990C-D13E-4405-AA5B-6CA2633ABDE6}"/>
              </a:ext>
            </a:extLst>
          </p:cNvPr>
          <p:cNvSpPr>
            <a:spLocks noGrp="1"/>
          </p:cNvSpPr>
          <p:nvPr>
            <p:ph type="title"/>
          </p:nvPr>
        </p:nvSpPr>
        <p:spPr/>
        <p:txBody>
          <a:bodyPr/>
          <a:lstStyle/>
          <a:p>
            <a:r>
              <a:rPr lang="en-US" dirty="0"/>
              <a:t>Summary and Exercise</a:t>
            </a:r>
          </a:p>
        </p:txBody>
      </p:sp>
      <p:sp>
        <p:nvSpPr>
          <p:cNvPr id="3" name="Content Placeholder 2">
            <a:extLst>
              <a:ext uri="{FF2B5EF4-FFF2-40B4-BE49-F238E27FC236}">
                <a16:creationId xmlns:a16="http://schemas.microsoft.com/office/drawing/2014/main" id="{BF87E536-E4A8-43C8-87C3-F1353963A890}"/>
              </a:ext>
            </a:extLst>
          </p:cNvPr>
          <p:cNvSpPr>
            <a:spLocks noGrp="1"/>
          </p:cNvSpPr>
          <p:nvPr>
            <p:ph idx="1"/>
          </p:nvPr>
        </p:nvSpPr>
        <p:spPr/>
        <p:txBody>
          <a:bodyPr/>
          <a:lstStyle/>
          <a:p>
            <a:r>
              <a:rPr lang="en-US" dirty="0">
                <a:solidFill>
                  <a:schemeClr val="tx1"/>
                </a:solidFill>
              </a:rPr>
              <a:t>Continuity editing joins shots together to create dynamic meaning.</a:t>
            </a:r>
          </a:p>
          <a:p>
            <a:r>
              <a:rPr lang="en-US" dirty="0">
                <a:solidFill>
                  <a:schemeClr val="tx1"/>
                </a:solidFill>
              </a:rPr>
              <a:t>Done well, the audience does not notice how shots of different sizes and angles were spliced.</a:t>
            </a:r>
          </a:p>
          <a:p>
            <a:r>
              <a:rPr lang="en-US" dirty="0">
                <a:solidFill>
                  <a:schemeClr val="tx1"/>
                </a:solidFill>
              </a:rPr>
              <a:t>They see one continuous whole of uninterrupted action.</a:t>
            </a:r>
          </a:p>
          <a:p>
            <a:r>
              <a:rPr lang="en-US" dirty="0">
                <a:solidFill>
                  <a:schemeClr val="tx1"/>
                </a:solidFill>
              </a:rPr>
              <a:t>That is what we mean by CONTINUITY.</a:t>
            </a:r>
          </a:p>
        </p:txBody>
      </p:sp>
    </p:spTree>
    <p:extLst>
      <p:ext uri="{BB962C8B-B14F-4D97-AF65-F5344CB8AC3E}">
        <p14:creationId xmlns:p14="http://schemas.microsoft.com/office/powerpoint/2010/main" val="215851507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7742</TotalTime>
  <Words>5490</Words>
  <Application>Microsoft Office PowerPoint</Application>
  <PresentationFormat>Widescreen</PresentationFormat>
  <Paragraphs>372</Paragraphs>
  <Slides>45</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Adobe Gothic Std B</vt:lpstr>
      <vt:lpstr>Arial</vt:lpstr>
      <vt:lpstr>Calibri</vt:lpstr>
      <vt:lpstr>Garamond</vt:lpstr>
      <vt:lpstr>Game Design Theme</vt:lpstr>
      <vt:lpstr>Continuity</vt:lpstr>
      <vt:lpstr>Continuity</vt:lpstr>
      <vt:lpstr>Continuity</vt:lpstr>
      <vt:lpstr>Continuity</vt:lpstr>
      <vt:lpstr>Basic Principle of Continuity</vt:lpstr>
      <vt:lpstr>Basic Principle of Continuity</vt:lpstr>
      <vt:lpstr>Basic Principle of Continuity</vt:lpstr>
      <vt:lpstr>Basic Principle of Continuity</vt:lpstr>
      <vt:lpstr>Basic Principle of Continuity</vt:lpstr>
      <vt:lpstr>Other techniques that can affect Continuity</vt:lpstr>
      <vt:lpstr>The Line of Action (180 degree rule)</vt:lpstr>
      <vt:lpstr>The Line of Action</vt:lpstr>
      <vt:lpstr>The Line of Action</vt:lpstr>
      <vt:lpstr>The Line of Action</vt:lpstr>
      <vt:lpstr>The Line of Action</vt:lpstr>
      <vt:lpstr>Crossing the Line of Action</vt:lpstr>
      <vt:lpstr>Crossing the Line of Action</vt:lpstr>
      <vt:lpstr>Crossing the Line of Action</vt:lpstr>
      <vt:lpstr>Crossing the Line of Action</vt:lpstr>
      <vt:lpstr>Screen Direction</vt:lpstr>
      <vt:lpstr>Neutral Screen Direction</vt:lpstr>
      <vt:lpstr>Constant Screen Direction</vt:lpstr>
      <vt:lpstr>Constant Screen Direction</vt:lpstr>
      <vt:lpstr>Contrasting Screen Direction</vt:lpstr>
      <vt:lpstr>Contrasting Screen Direction</vt:lpstr>
      <vt:lpstr>Shot/Reverse Shot</vt:lpstr>
      <vt:lpstr>Shot/Reverse Shot</vt:lpstr>
      <vt:lpstr>Match on Action</vt:lpstr>
      <vt:lpstr>Match on Action</vt:lpstr>
      <vt:lpstr>Eyeline Match</vt:lpstr>
      <vt:lpstr>Cutaways</vt:lpstr>
      <vt:lpstr>Cutaways</vt:lpstr>
      <vt:lpstr>Cut-ins</vt:lpstr>
      <vt:lpstr>Cross-cut</vt:lpstr>
      <vt:lpstr>Cross-cut</vt:lpstr>
      <vt:lpstr>Transitions</vt:lpstr>
      <vt:lpstr>Dissolve</vt:lpstr>
      <vt:lpstr>Cuts</vt:lpstr>
      <vt:lpstr>Fades</vt:lpstr>
      <vt:lpstr>Wipes</vt:lpstr>
      <vt:lpstr>Jump Cuts</vt:lpstr>
      <vt:lpstr>Montage</vt:lpstr>
      <vt:lpstr>Montage</vt:lpstr>
      <vt:lpstr>Montage</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318</cp:revision>
  <dcterms:created xsi:type="dcterms:W3CDTF">2016-05-07T19:16:27Z</dcterms:created>
  <dcterms:modified xsi:type="dcterms:W3CDTF">2026-08-10T08:10:16Z</dcterms:modified>
</cp:coreProperties>
</file>