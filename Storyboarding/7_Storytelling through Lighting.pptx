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256" r:id="rId2"/>
    <p:sldId id="257" r:id="rId3"/>
    <p:sldId id="258" r:id="rId4"/>
    <p:sldId id="259" r:id="rId5"/>
    <p:sldId id="297" r:id="rId6"/>
    <p:sldId id="260" r:id="rId7"/>
    <p:sldId id="261" r:id="rId8"/>
    <p:sldId id="262" r:id="rId9"/>
    <p:sldId id="263" r:id="rId10"/>
    <p:sldId id="264" r:id="rId11"/>
    <p:sldId id="265" r:id="rId12"/>
    <p:sldId id="266" r:id="rId13"/>
    <p:sldId id="270" r:id="rId14"/>
    <p:sldId id="267" r:id="rId15"/>
    <p:sldId id="268" r:id="rId16"/>
    <p:sldId id="269"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94" r:id="rId31"/>
    <p:sldId id="296" r:id="rId32"/>
    <p:sldId id="285" r:id="rId33"/>
    <p:sldId id="295" r:id="rId34"/>
    <p:sldId id="286" r:id="rId35"/>
    <p:sldId id="287" r:id="rId36"/>
    <p:sldId id="288" r:id="rId37"/>
    <p:sldId id="289" r:id="rId38"/>
    <p:sldId id="290" r:id="rId39"/>
    <p:sldId id="291" r:id="rId40"/>
    <p:sldId id="292" r:id="rId41"/>
    <p:sldId id="293" r:id="rId42"/>
    <p:sldId id="298"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64714" autoAdjust="0"/>
  </p:normalViewPr>
  <p:slideViewPr>
    <p:cSldViewPr snapToGrid="0">
      <p:cViewPr varScale="1">
        <p:scale>
          <a:sx n="82" d="100"/>
          <a:sy n="82" d="100"/>
        </p:scale>
        <p:origin x="2216" y="176"/>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10/14/19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Sdg sdf adsf awer q4j  </a:t>
            </a:r>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1</a:t>
            </a:fld>
            <a:endParaRPr lang="en-US"/>
          </a:p>
        </p:txBody>
      </p:sp>
    </p:spTree>
    <p:extLst>
      <p:ext uri="{BB962C8B-B14F-4D97-AF65-F5344CB8AC3E}">
        <p14:creationId xmlns:p14="http://schemas.microsoft.com/office/powerpoint/2010/main" val="2770150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b="1" kern="1200" dirty="0">
                <a:solidFill>
                  <a:schemeClr val="tx1"/>
                </a:solidFill>
                <a:effectLst/>
                <a:latin typeface="+mn-lt"/>
                <a:ea typeface="+mn-ea"/>
                <a:cs typeface="+mn-cs"/>
              </a:rPr>
              <a:t>Nothing</a:t>
            </a:r>
            <a:r>
              <a:rPr lang="en-US" sz="1200" kern="1200" dirty="0">
                <a:solidFill>
                  <a:schemeClr val="tx1"/>
                </a:solidFill>
                <a:effectLst/>
                <a:latin typeface="+mn-lt"/>
                <a:ea typeface="+mn-ea"/>
                <a:cs typeface="+mn-cs"/>
              </a:rPr>
              <a:t> in the frame is accidental. </a:t>
            </a:r>
          </a:p>
          <a:p>
            <a:pPr latinLnBrk="1"/>
            <a:r>
              <a:rPr lang="en-US" sz="1200" kern="1200" dirty="0">
                <a:solidFill>
                  <a:schemeClr val="tx1"/>
                </a:solidFill>
                <a:effectLst/>
                <a:latin typeface="+mn-lt"/>
                <a:ea typeface="+mn-ea"/>
                <a:cs typeface="+mn-cs"/>
              </a:rPr>
              <a:t>Every element has a purpose and should be carefully considered when telling a story. </a:t>
            </a:r>
          </a:p>
          <a:p>
            <a:pPr latinLnBrk="1"/>
            <a:r>
              <a:rPr lang="en-US" sz="1200" kern="1200" dirty="0">
                <a:solidFill>
                  <a:schemeClr val="tx1"/>
                </a:solidFill>
                <a:effectLst/>
                <a:latin typeface="+mn-lt"/>
                <a:ea typeface="+mn-ea"/>
                <a:cs typeface="+mn-cs"/>
              </a:rPr>
              <a:t>One of the most important elements is the treatment of light.</a:t>
            </a:r>
          </a:p>
          <a:p>
            <a:pPr latinLnBrk="1"/>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2</a:t>
            </a:fld>
            <a:endParaRPr lang="en-US"/>
          </a:p>
        </p:txBody>
      </p:sp>
    </p:spTree>
    <p:extLst>
      <p:ext uri="{BB962C8B-B14F-4D97-AF65-F5344CB8AC3E}">
        <p14:creationId xmlns:p14="http://schemas.microsoft.com/office/powerpoint/2010/main" val="32695501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In the early days of film, lighting was a necessity for proper exposure, but as technology advanced so did the uses for how light could enhance story.</a:t>
            </a:r>
          </a:p>
          <a:p>
            <a:pPr latinLnBrk="1"/>
            <a:r>
              <a:rPr lang="en-US" sz="1200" kern="1200" dirty="0">
                <a:solidFill>
                  <a:schemeClr val="tx1"/>
                </a:solidFill>
                <a:effectLst/>
                <a:latin typeface="+mn-lt"/>
                <a:ea typeface="+mn-ea"/>
                <a:cs typeface="+mn-cs"/>
              </a:rPr>
              <a:t>By the 1930s and 1940s, lighting style serve the purpose of making actors and actresses appear as glamorous as possible.</a:t>
            </a:r>
          </a:p>
          <a:p>
            <a:pPr latinLnBrk="1"/>
            <a:endParaRPr lang="en-US" sz="1200" kern="1200" dirty="0">
              <a:solidFill>
                <a:schemeClr val="tx1"/>
              </a:solidFill>
              <a:effectLst/>
              <a:latin typeface="+mn-lt"/>
              <a:ea typeface="+mn-ea"/>
              <a:cs typeface="+mn-cs"/>
            </a:endParaRPr>
          </a:p>
          <a:p>
            <a:pPr latinLnBrk="1"/>
            <a:r>
              <a:rPr lang="en-US" sz="1200" kern="1200" dirty="0">
                <a:solidFill>
                  <a:schemeClr val="tx1"/>
                </a:solidFill>
                <a:effectLst/>
                <a:latin typeface="+mn-lt"/>
                <a:ea typeface="+mn-ea"/>
                <a:cs typeface="+mn-cs"/>
              </a:rPr>
              <a:t>However, it wasn't until the emergence of the film noir genre that lighting style became a truly expressive form of visual storytelling. </a:t>
            </a:r>
          </a:p>
          <a:p>
            <a:pPr latinLnBrk="1"/>
            <a:r>
              <a:rPr lang="en-US" sz="1200" kern="1200" dirty="0">
                <a:solidFill>
                  <a:schemeClr val="tx1"/>
                </a:solidFill>
                <a:effectLst/>
                <a:latin typeface="+mn-lt"/>
                <a:ea typeface="+mn-ea"/>
                <a:cs typeface="+mn-cs"/>
              </a:rPr>
              <a:t>Many films of this styled use non-traditional lighting techniques to make specific story points. </a:t>
            </a:r>
          </a:p>
          <a:p>
            <a:pPr latinLnBrk="1"/>
            <a:r>
              <a:rPr lang="en-US" sz="1200" kern="1200" dirty="0">
                <a:solidFill>
                  <a:schemeClr val="tx1"/>
                </a:solidFill>
                <a:effectLst/>
                <a:latin typeface="+mn-lt"/>
                <a:ea typeface="+mn-ea"/>
                <a:cs typeface="+mn-cs"/>
              </a:rPr>
              <a:t>The possibilities available to enhance a visual story through specific lighting style are limitless, from the films of the 1940s to today.</a:t>
            </a:r>
          </a:p>
          <a:p>
            <a:pPr latinLnBrk="1"/>
            <a:r>
              <a:rPr lang="en-US" sz="1200" kern="1200" dirty="0">
                <a:solidFill>
                  <a:schemeClr val="tx1"/>
                </a:solidFill>
                <a:effectLst/>
                <a:latin typeface="+mn-lt"/>
                <a:ea typeface="+mn-ea"/>
                <a:cs typeface="+mn-cs"/>
              </a:rPr>
              <a:t>Many cinematographers and lighting designers have taken the lead from film noir and have remained loyal to using light as an expressive form of defining the content and directing the viewer’s gaze within a scene.</a:t>
            </a:r>
          </a:p>
        </p:txBody>
      </p:sp>
      <p:sp>
        <p:nvSpPr>
          <p:cNvPr id="4" name="Slide Number Placeholder 3"/>
          <p:cNvSpPr>
            <a:spLocks noGrp="1"/>
          </p:cNvSpPr>
          <p:nvPr>
            <p:ph type="sldNum" sz="quarter" idx="10"/>
          </p:nvPr>
        </p:nvSpPr>
        <p:spPr/>
        <p:txBody>
          <a:bodyPr/>
          <a:lstStyle/>
          <a:p>
            <a:fld id="{3C7FDB04-D1AC-46DB-9592-CA12D78D404F}" type="slidenum">
              <a:rPr lang="en-US" smtClean="0"/>
              <a:t>3</a:t>
            </a:fld>
            <a:endParaRPr lang="en-US"/>
          </a:p>
        </p:txBody>
      </p:sp>
    </p:spTree>
    <p:extLst>
      <p:ext uri="{BB962C8B-B14F-4D97-AF65-F5344CB8AC3E}">
        <p14:creationId xmlns:p14="http://schemas.microsoft.com/office/powerpoint/2010/main" val="2214782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Project lighting design is one of the biggest artistic challenges, whether it is for film, animation, or interactive games. </a:t>
            </a:r>
          </a:p>
          <a:p>
            <a:pPr latinLnBrk="1"/>
            <a:r>
              <a:rPr lang="en-US" sz="1200" kern="1200" dirty="0">
                <a:solidFill>
                  <a:schemeClr val="tx1"/>
                </a:solidFill>
                <a:effectLst/>
                <a:latin typeface="+mn-lt"/>
                <a:ea typeface="+mn-ea"/>
                <a:cs typeface="+mn-cs"/>
              </a:rPr>
              <a:t>The general principle for lighting and animation is the same as for live-action, but the process works a bit differently.</a:t>
            </a:r>
          </a:p>
          <a:p>
            <a:pPr latinLnBrk="1"/>
            <a:r>
              <a:rPr lang="en-US" sz="1200" kern="1200" dirty="0">
                <a:solidFill>
                  <a:schemeClr val="tx1"/>
                </a:solidFill>
                <a:effectLst/>
                <a:latin typeface="+mn-lt"/>
                <a:ea typeface="+mn-ea"/>
                <a:cs typeface="+mn-cs"/>
              </a:rPr>
              <a:t>  </a:t>
            </a:r>
          </a:p>
          <a:p>
            <a:pPr latinLnBrk="1"/>
            <a:r>
              <a:rPr lang="en-US" sz="1200" kern="1200" dirty="0">
                <a:solidFill>
                  <a:schemeClr val="tx1"/>
                </a:solidFill>
                <a:effectLst/>
                <a:latin typeface="+mn-lt"/>
                <a:ea typeface="+mn-ea"/>
                <a:cs typeface="+mn-cs"/>
              </a:rPr>
              <a:t>Whereas lighting for Live Action requires the physical setup of different lighting instruments,  lighting for animation is all done on the computer.  </a:t>
            </a:r>
          </a:p>
          <a:p>
            <a:pPr latinLnBrk="1"/>
            <a:r>
              <a:rPr lang="en-US" sz="1200" kern="1200" dirty="0">
                <a:solidFill>
                  <a:schemeClr val="tx1"/>
                </a:solidFill>
                <a:effectLst/>
                <a:latin typeface="+mn-lt"/>
                <a:ea typeface="+mn-ea"/>
                <a:cs typeface="+mn-cs"/>
              </a:rPr>
              <a:t>Animations are manipulated with virtual lights, which is a feature of many software packages. </a:t>
            </a:r>
          </a:p>
          <a:p>
            <a:pPr latinLnBrk="1"/>
            <a:endParaRPr lang="en-US" sz="1200" kern="1200" dirty="0">
              <a:solidFill>
                <a:schemeClr val="tx1"/>
              </a:solidFill>
              <a:effectLst/>
              <a:latin typeface="+mn-lt"/>
              <a:ea typeface="+mn-ea"/>
              <a:cs typeface="+mn-cs"/>
            </a:endParaRPr>
          </a:p>
          <a:p>
            <a:pPr latinLnBrk="1"/>
            <a:r>
              <a:rPr lang="en-US" sz="1200" kern="1200" dirty="0">
                <a:solidFill>
                  <a:schemeClr val="tx1"/>
                </a:solidFill>
                <a:effectLst/>
                <a:latin typeface="+mn-lt"/>
                <a:ea typeface="+mn-ea"/>
                <a:cs typeface="+mn-cs"/>
              </a:rPr>
              <a:t>Animation and interactive games use lighting software that requires the skill of the artist to </a:t>
            </a:r>
            <a:r>
              <a:rPr lang="en-US" sz="1200" b="1" kern="1200" dirty="0">
                <a:solidFill>
                  <a:schemeClr val="tx1"/>
                </a:solidFill>
                <a:effectLst/>
                <a:latin typeface="+mn-lt"/>
                <a:ea typeface="+mn-ea"/>
                <a:cs typeface="+mn-cs"/>
              </a:rPr>
              <a:t>mimic</a:t>
            </a:r>
            <a:r>
              <a:rPr lang="en-US" sz="1200" kern="1200" dirty="0">
                <a:solidFill>
                  <a:schemeClr val="tx1"/>
                </a:solidFill>
                <a:effectLst/>
                <a:latin typeface="+mn-lt"/>
                <a:ea typeface="+mn-ea"/>
                <a:cs typeface="+mn-cs"/>
              </a:rPr>
              <a:t> the lighting conditions of the real world.  </a:t>
            </a:r>
          </a:p>
          <a:p>
            <a:pPr latinLnBrk="1"/>
            <a:r>
              <a:rPr lang="en-US" sz="1200" kern="1200" dirty="0">
                <a:solidFill>
                  <a:schemeClr val="tx1"/>
                </a:solidFill>
                <a:effectLst/>
                <a:latin typeface="+mn-lt"/>
                <a:ea typeface="+mn-ea"/>
                <a:cs typeface="+mn-cs"/>
              </a:rPr>
              <a:t>This is not  an easy task  since there is no standard for scripting light animation. </a:t>
            </a:r>
          </a:p>
          <a:p>
            <a:pPr latinLnBrk="1"/>
            <a:endParaRPr lang="en-US" sz="1200" kern="1200" dirty="0">
              <a:solidFill>
                <a:schemeClr val="tx1"/>
              </a:solidFill>
              <a:effectLst/>
              <a:latin typeface="+mn-lt"/>
              <a:ea typeface="+mn-ea"/>
              <a:cs typeface="+mn-cs"/>
            </a:endParaRPr>
          </a:p>
          <a:p>
            <a:pPr latinLnBrk="1"/>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4</a:t>
            </a:fld>
            <a:endParaRPr lang="en-US"/>
          </a:p>
        </p:txBody>
      </p:sp>
    </p:spTree>
    <p:extLst>
      <p:ext uri="{BB962C8B-B14F-4D97-AF65-F5344CB8AC3E}">
        <p14:creationId xmlns:p14="http://schemas.microsoft.com/office/powerpoint/2010/main" val="2812382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When lights are manipulated in a 3D environment, an artist must use restraint and only move the lights when there is </a:t>
            </a:r>
            <a:r>
              <a:rPr lang="en-US" sz="1200" b="1" kern="1200" dirty="0">
                <a:solidFill>
                  <a:schemeClr val="tx1"/>
                </a:solidFill>
                <a:effectLst/>
                <a:latin typeface="+mn-lt"/>
                <a:ea typeface="+mn-ea"/>
                <a:cs typeface="+mn-cs"/>
              </a:rPr>
              <a:t>clear direction </a:t>
            </a:r>
            <a:r>
              <a:rPr lang="en-US" sz="1200" kern="1200" dirty="0">
                <a:solidFill>
                  <a:schemeClr val="tx1"/>
                </a:solidFill>
                <a:effectLst/>
                <a:latin typeface="+mn-lt"/>
                <a:ea typeface="+mn-ea"/>
                <a:cs typeface="+mn-cs"/>
              </a:rPr>
              <a:t>on the intended </a:t>
            </a:r>
            <a:r>
              <a:rPr lang="en-US" sz="1200" b="1" kern="1200" dirty="0">
                <a:solidFill>
                  <a:schemeClr val="tx1"/>
                </a:solidFill>
                <a:effectLst/>
                <a:latin typeface="+mn-lt"/>
                <a:ea typeface="+mn-ea"/>
                <a:cs typeface="+mn-cs"/>
              </a:rPr>
              <a:t>mood</a:t>
            </a:r>
            <a:r>
              <a:rPr lang="en-US" sz="1200" kern="1200" dirty="0">
                <a:solidFill>
                  <a:schemeClr val="tx1"/>
                </a:solidFill>
                <a:effectLst/>
                <a:latin typeface="+mn-lt"/>
                <a:ea typeface="+mn-ea"/>
                <a:cs typeface="+mn-cs"/>
              </a:rPr>
              <a:t> of for a scene. </a:t>
            </a:r>
          </a:p>
          <a:p>
            <a:pPr latinLnBrk="1"/>
            <a:r>
              <a:rPr lang="en-US" sz="1200" kern="1200" dirty="0">
                <a:solidFill>
                  <a:schemeClr val="tx1"/>
                </a:solidFill>
                <a:effectLst/>
                <a:latin typeface="+mn-lt"/>
                <a:ea typeface="+mn-ea"/>
                <a:cs typeface="+mn-cs"/>
              </a:rPr>
              <a:t>Effective lighting design begins with </a:t>
            </a:r>
            <a:r>
              <a:rPr lang="en-US" sz="1200" b="1" kern="1200" dirty="0">
                <a:solidFill>
                  <a:schemeClr val="tx1"/>
                </a:solidFill>
                <a:effectLst/>
                <a:latin typeface="+mn-lt"/>
                <a:ea typeface="+mn-ea"/>
                <a:cs typeface="+mn-cs"/>
              </a:rPr>
              <a:t>visualization</a:t>
            </a:r>
            <a:r>
              <a:rPr lang="en-US" sz="1200" kern="1200" dirty="0">
                <a:solidFill>
                  <a:schemeClr val="tx1"/>
                </a:solidFill>
                <a:effectLst/>
                <a:latin typeface="+mn-lt"/>
                <a:ea typeface="+mn-ea"/>
                <a:cs typeface="+mn-cs"/>
              </a:rPr>
              <a:t>, which starts at the storyboard phase. </a:t>
            </a:r>
          </a:p>
          <a:p>
            <a:pPr latinLnBrk="1"/>
            <a:endParaRPr lang="en-US" sz="1200" kern="1200" dirty="0">
              <a:solidFill>
                <a:schemeClr val="tx1"/>
              </a:solidFill>
              <a:effectLst/>
              <a:latin typeface="+mn-lt"/>
              <a:ea typeface="+mn-ea"/>
              <a:cs typeface="+mn-cs"/>
            </a:endParaRPr>
          </a:p>
          <a:p>
            <a:pPr latinLnBrk="1"/>
            <a:r>
              <a:rPr lang="en-US" sz="1200" kern="1200" dirty="0">
                <a:solidFill>
                  <a:schemeClr val="tx1"/>
                </a:solidFill>
                <a:effectLst/>
                <a:latin typeface="+mn-lt"/>
                <a:ea typeface="+mn-ea"/>
                <a:cs typeface="+mn-cs"/>
              </a:rPr>
              <a:t>Many storyboard artist experiment with color and lied to help the director or lighting designer determine where the light and shadows should fall within a composition. </a:t>
            </a:r>
          </a:p>
          <a:p>
            <a:pPr latinLnBrk="1"/>
            <a:r>
              <a:rPr lang="en-US" sz="1200" kern="1200" dirty="0">
                <a:solidFill>
                  <a:schemeClr val="tx1"/>
                </a:solidFill>
                <a:effectLst/>
                <a:latin typeface="+mn-lt"/>
                <a:ea typeface="+mn-ea"/>
                <a:cs typeface="+mn-cs"/>
              </a:rPr>
              <a:t>By experimenting with light early in the development process, it is likely that the director or lighting designer will be more efficient when actual production begins. </a:t>
            </a:r>
          </a:p>
          <a:p>
            <a:pPr latinLnBrk="1"/>
            <a:r>
              <a:rPr lang="en-US" sz="1200" kern="1200" dirty="0">
                <a:solidFill>
                  <a:schemeClr val="tx1"/>
                </a:solidFill>
                <a:effectLst/>
                <a:latin typeface="+mn-lt"/>
                <a:ea typeface="+mn-ea"/>
                <a:cs typeface="+mn-cs"/>
              </a:rPr>
              <a:t>A basic lighting design is the three-point lighting setup, which is the most basic lighting formula for film and animation. </a:t>
            </a:r>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5</a:t>
            </a:fld>
            <a:endParaRPr lang="en-US"/>
          </a:p>
        </p:txBody>
      </p:sp>
    </p:spTree>
    <p:extLst>
      <p:ext uri="{BB962C8B-B14F-4D97-AF65-F5344CB8AC3E}">
        <p14:creationId xmlns:p14="http://schemas.microsoft.com/office/powerpoint/2010/main" val="32651941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Three Point Lighting</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Three-point lighting became a standard during the classical Hollywood of the 1930s and 1940s and continues today as the starting point for many productions.</a:t>
            </a:r>
          </a:p>
          <a:p>
            <a:r>
              <a:rPr lang="en-US" sz="1200" kern="1200" dirty="0">
                <a:solidFill>
                  <a:schemeClr val="tx1"/>
                </a:solidFill>
                <a:effectLst/>
                <a:latin typeface="+mn-lt"/>
                <a:ea typeface="+mn-ea"/>
                <a:cs typeface="+mn-cs"/>
              </a:rPr>
              <a:t>Three-point lighting is the minimum amount of lights needed to create expressive lighting. </a:t>
            </a:r>
          </a:p>
          <a:p>
            <a:r>
              <a:rPr lang="en-US" sz="1200" kern="1200" dirty="0">
                <a:solidFill>
                  <a:schemeClr val="tx1"/>
                </a:solidFill>
                <a:effectLst/>
                <a:latin typeface="+mn-lt"/>
                <a:ea typeface="+mn-ea"/>
                <a:cs typeface="+mn-cs"/>
              </a:rPr>
              <a:t>The setup includes the key light, fill light, and backlight.</a:t>
            </a:r>
          </a:p>
          <a:p>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6</a:t>
            </a:fld>
            <a:endParaRPr lang="en-US"/>
          </a:p>
        </p:txBody>
      </p:sp>
    </p:spTree>
    <p:extLst>
      <p:ext uri="{BB962C8B-B14F-4D97-AF65-F5344CB8AC3E}">
        <p14:creationId xmlns:p14="http://schemas.microsoft.com/office/powerpoint/2010/main" val="1823834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key light is the main source of a light that defines the main subject or object within a shot. </a:t>
            </a:r>
          </a:p>
          <a:p>
            <a:r>
              <a:rPr lang="en-US" sz="1200" kern="1200" dirty="0">
                <a:solidFill>
                  <a:schemeClr val="tx1"/>
                </a:solidFill>
                <a:effectLst/>
                <a:latin typeface="+mn-lt"/>
                <a:ea typeface="+mn-ea"/>
                <a:cs typeface="+mn-cs"/>
              </a:rPr>
              <a:t>The key light is usually placed at a 45 degree angle from either the right or left side of the camera. </a:t>
            </a:r>
          </a:p>
        </p:txBody>
      </p:sp>
      <p:sp>
        <p:nvSpPr>
          <p:cNvPr id="4" name="Slide Number Placeholder 3"/>
          <p:cNvSpPr>
            <a:spLocks noGrp="1"/>
          </p:cNvSpPr>
          <p:nvPr>
            <p:ph type="sldNum" sz="quarter" idx="10"/>
          </p:nvPr>
        </p:nvSpPr>
        <p:spPr/>
        <p:txBody>
          <a:bodyPr/>
          <a:lstStyle/>
          <a:p>
            <a:fld id="{3C7FDB04-D1AC-46DB-9592-CA12D78D404F}" type="slidenum">
              <a:rPr lang="en-US" smtClean="0"/>
              <a:t>7</a:t>
            </a:fld>
            <a:endParaRPr lang="en-US"/>
          </a:p>
        </p:txBody>
      </p:sp>
    </p:spTree>
    <p:extLst>
      <p:ext uri="{BB962C8B-B14F-4D97-AF65-F5344CB8AC3E}">
        <p14:creationId xmlns:p14="http://schemas.microsoft.com/office/powerpoint/2010/main" val="37134170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key light illuminates the subject and create Shadows, which bring out the texture of an object or character. </a:t>
            </a:r>
          </a:p>
          <a:p>
            <a:r>
              <a:rPr lang="en-US" sz="1200" kern="1200" dirty="0">
                <a:solidFill>
                  <a:schemeClr val="tx1"/>
                </a:solidFill>
                <a:effectLst/>
                <a:latin typeface="+mn-lt"/>
                <a:ea typeface="+mn-ea"/>
                <a:cs typeface="+mn-cs"/>
              </a:rPr>
              <a:t>The sun is often considered a key light source, although direct sunlight can produce harsh shadows at certain times of the day. </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8</a:t>
            </a:fld>
            <a:endParaRPr lang="en-US"/>
          </a:p>
        </p:txBody>
      </p:sp>
    </p:spTree>
    <p:extLst>
      <p:ext uri="{BB962C8B-B14F-4D97-AF65-F5344CB8AC3E}">
        <p14:creationId xmlns:p14="http://schemas.microsoft.com/office/powerpoint/2010/main" val="29455969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Fill light “fills in” or softens the Shadows created from the key light. </a:t>
            </a:r>
          </a:p>
          <a:p>
            <a:r>
              <a:rPr lang="en-US" sz="1200" kern="1200" dirty="0">
                <a:solidFill>
                  <a:schemeClr val="tx1"/>
                </a:solidFill>
                <a:effectLst/>
                <a:latin typeface="+mn-lt"/>
                <a:ea typeface="+mn-ea"/>
                <a:cs typeface="+mn-cs"/>
              </a:rPr>
              <a:t>The Fill light is an indirect light source, which lowers the contrast between light and dark by softening the shadows. </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9</a:t>
            </a:fld>
            <a:endParaRPr lang="en-US"/>
          </a:p>
        </p:txBody>
      </p:sp>
    </p:spTree>
    <p:extLst>
      <p:ext uri="{BB962C8B-B14F-4D97-AF65-F5344CB8AC3E}">
        <p14:creationId xmlns:p14="http://schemas.microsoft.com/office/powerpoint/2010/main" val="20232550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Backlight is a source  light that is positioned behind an object or subject. </a:t>
            </a:r>
          </a:p>
          <a:p>
            <a:r>
              <a:rPr lang="en-US" sz="1200" kern="1200" dirty="0">
                <a:solidFill>
                  <a:schemeClr val="tx1"/>
                </a:solidFill>
                <a:effectLst/>
                <a:latin typeface="+mn-lt"/>
                <a:ea typeface="+mn-ea"/>
                <a:cs typeface="+mn-cs"/>
              </a:rPr>
              <a:t>The back light creates highlight around the object, which allows the object to stand out from the background. </a:t>
            </a:r>
          </a:p>
          <a:p>
            <a:r>
              <a:rPr lang="en-US" sz="1200" kern="1200" dirty="0">
                <a:solidFill>
                  <a:schemeClr val="tx1"/>
                </a:solidFill>
                <a:effectLst/>
                <a:latin typeface="+mn-lt"/>
                <a:ea typeface="+mn-ea"/>
                <a:cs typeface="+mn-cs"/>
              </a:rPr>
              <a:t>Back light gives form to such things as hair and clothing, which otherwise would Fade Into the background. </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10</a:t>
            </a:fld>
            <a:endParaRPr lang="en-US"/>
          </a:p>
        </p:txBody>
      </p:sp>
    </p:spTree>
    <p:extLst>
      <p:ext uri="{BB962C8B-B14F-4D97-AF65-F5344CB8AC3E}">
        <p14:creationId xmlns:p14="http://schemas.microsoft.com/office/powerpoint/2010/main" val="26923563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appearance of an object is usually defined by the key light, which is often considered the main light source. </a:t>
            </a:r>
          </a:p>
          <a:p>
            <a:r>
              <a:rPr lang="en-US" sz="1200" kern="1200" dirty="0">
                <a:solidFill>
                  <a:schemeClr val="tx1"/>
                </a:solidFill>
                <a:effectLst/>
                <a:latin typeface="+mn-lt"/>
                <a:ea typeface="+mn-ea"/>
                <a:cs typeface="+mn-cs"/>
              </a:rPr>
              <a:t>Outside, the Sun and Moon would be considered the key light.  </a:t>
            </a:r>
          </a:p>
          <a:p>
            <a:r>
              <a:rPr lang="en-US" sz="1200" kern="1200" dirty="0">
                <a:solidFill>
                  <a:schemeClr val="tx1"/>
                </a:solidFill>
                <a:effectLst/>
                <a:latin typeface="+mn-lt"/>
                <a:ea typeface="+mn-ea"/>
                <a:cs typeface="+mn-cs"/>
              </a:rPr>
              <a:t>On a bright day, the sun creates harsh shadows, whereas on an overcast day, clouds diffuse the sun, which minimizes shadows and result in a softer light. </a:t>
            </a:r>
          </a:p>
          <a:p>
            <a:r>
              <a:rPr lang="en-US" sz="1200" kern="1200" dirty="0">
                <a:solidFill>
                  <a:schemeClr val="tx1"/>
                </a:solidFill>
                <a:effectLst/>
                <a:latin typeface="+mn-lt"/>
                <a:ea typeface="+mn-ea"/>
                <a:cs typeface="+mn-cs"/>
              </a:rPr>
              <a:t>Inside, key light sources include light streaming through a window, or overhead lights. </a:t>
            </a:r>
          </a:p>
          <a:p>
            <a:r>
              <a:rPr lang="en-US" sz="1200" kern="1200" dirty="0">
                <a:solidFill>
                  <a:schemeClr val="tx1"/>
                </a:solidFill>
                <a:effectLst/>
                <a:latin typeface="+mn-lt"/>
                <a:ea typeface="+mn-ea"/>
                <a:cs typeface="+mn-cs"/>
              </a:rPr>
              <a:t>Two types of </a:t>
            </a:r>
            <a:r>
              <a:rPr lang="en-US" sz="1200" kern="1200" dirty="0" err="1">
                <a:solidFill>
                  <a:schemeClr val="tx1"/>
                </a:solidFill>
                <a:effectLst/>
                <a:latin typeface="+mn-lt"/>
                <a:ea typeface="+mn-ea"/>
                <a:cs typeface="+mn-cs"/>
              </a:rPr>
              <a:t>keylights</a:t>
            </a:r>
            <a:r>
              <a:rPr lang="en-US" sz="1200" kern="1200" dirty="0">
                <a:solidFill>
                  <a:schemeClr val="tx1"/>
                </a:solidFill>
                <a:effectLst/>
                <a:latin typeface="+mn-lt"/>
                <a:ea typeface="+mn-ea"/>
                <a:cs typeface="+mn-cs"/>
              </a:rPr>
              <a:t> include high-key and low-key.</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11</a:t>
            </a:fld>
            <a:endParaRPr lang="en-US"/>
          </a:p>
        </p:txBody>
      </p:sp>
    </p:spTree>
    <p:extLst>
      <p:ext uri="{BB962C8B-B14F-4D97-AF65-F5344CB8AC3E}">
        <p14:creationId xmlns:p14="http://schemas.microsoft.com/office/powerpoint/2010/main" val="1730959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High-key lighting is the main source of Light which conveys an overall brightness to a picture with minimal Shadows. </a:t>
            </a:r>
          </a:p>
          <a:p>
            <a:r>
              <a:rPr lang="en-US" sz="1200" kern="1200" dirty="0">
                <a:solidFill>
                  <a:schemeClr val="tx1"/>
                </a:solidFill>
                <a:effectLst/>
                <a:latin typeface="+mn-lt"/>
                <a:ea typeface="+mn-ea"/>
                <a:cs typeface="+mn-cs"/>
              </a:rPr>
              <a:t>This type of lighting is used to simulate daytime. High key lighting is seen in comedies or upbeat adventure films.  </a:t>
            </a:r>
          </a:p>
          <a:p>
            <a:r>
              <a:rPr lang="en-US" sz="1200" kern="1200" dirty="0">
                <a:solidFill>
                  <a:schemeClr val="tx1"/>
                </a:solidFill>
                <a:effectLst/>
                <a:latin typeface="+mn-lt"/>
                <a:ea typeface="+mn-ea"/>
                <a:cs typeface="+mn-cs"/>
              </a:rPr>
              <a:t>High-key lighting designs are also seen in television sitcoms, news programs, and Industrial videos. </a:t>
            </a:r>
          </a:p>
        </p:txBody>
      </p:sp>
      <p:sp>
        <p:nvSpPr>
          <p:cNvPr id="4" name="Slide Number Placeholder 3"/>
          <p:cNvSpPr>
            <a:spLocks noGrp="1"/>
          </p:cNvSpPr>
          <p:nvPr>
            <p:ph type="sldNum" sz="quarter" idx="10"/>
          </p:nvPr>
        </p:nvSpPr>
        <p:spPr/>
        <p:txBody>
          <a:bodyPr/>
          <a:lstStyle/>
          <a:p>
            <a:fld id="{3C7FDB04-D1AC-46DB-9592-CA12D78D404F}" type="slidenum">
              <a:rPr lang="en-US" smtClean="0"/>
              <a:t>12</a:t>
            </a:fld>
            <a:endParaRPr lang="en-US"/>
          </a:p>
        </p:txBody>
      </p:sp>
    </p:spTree>
    <p:extLst>
      <p:ext uri="{BB962C8B-B14F-4D97-AF65-F5344CB8AC3E}">
        <p14:creationId xmlns:p14="http://schemas.microsoft.com/office/powerpoint/2010/main" val="2139205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Low key light produces uneven distribution of light. </a:t>
            </a:r>
          </a:p>
          <a:p>
            <a:r>
              <a:rPr lang="en-US" sz="1200" kern="1200" dirty="0">
                <a:solidFill>
                  <a:schemeClr val="tx1"/>
                </a:solidFill>
                <a:effectLst/>
                <a:latin typeface="+mn-lt"/>
                <a:ea typeface="+mn-ea"/>
                <a:cs typeface="+mn-cs"/>
              </a:rPr>
              <a:t>With the low key lighting setup there is an </a:t>
            </a:r>
            <a:r>
              <a:rPr lang="en-US" sz="1200" b="1" kern="1200" dirty="0">
                <a:solidFill>
                  <a:schemeClr val="tx1"/>
                </a:solidFill>
                <a:effectLst/>
                <a:latin typeface="+mn-lt"/>
                <a:ea typeface="+mn-ea"/>
                <a:cs typeface="+mn-cs"/>
              </a:rPr>
              <a:t>abundance</a:t>
            </a:r>
            <a:r>
              <a:rPr lang="en-US" sz="1200" kern="1200" dirty="0">
                <a:solidFill>
                  <a:schemeClr val="tx1"/>
                </a:solidFill>
                <a:effectLst/>
                <a:latin typeface="+mn-lt"/>
                <a:ea typeface="+mn-ea"/>
                <a:cs typeface="+mn-cs"/>
              </a:rPr>
              <a:t> of </a:t>
            </a:r>
            <a:r>
              <a:rPr lang="en-US" sz="1200" b="1" kern="1200" dirty="0">
                <a:solidFill>
                  <a:schemeClr val="tx1"/>
                </a:solidFill>
                <a:effectLst/>
                <a:latin typeface="+mn-lt"/>
                <a:ea typeface="+mn-ea"/>
                <a:cs typeface="+mn-cs"/>
              </a:rPr>
              <a:t>shadows</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concentrated areas of atmospheric light</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Many areas of low-key scene are </a:t>
            </a:r>
            <a:r>
              <a:rPr lang="en-US" sz="1200" b="1" kern="1200" dirty="0" err="1">
                <a:solidFill>
                  <a:schemeClr val="tx1"/>
                </a:solidFill>
                <a:effectLst/>
                <a:latin typeface="+mn-lt"/>
                <a:ea typeface="+mn-ea"/>
                <a:cs typeface="+mn-cs"/>
              </a:rPr>
              <a:t>underlit</a:t>
            </a:r>
            <a:r>
              <a:rPr lang="en-US" sz="1200" kern="1200" dirty="0">
                <a:solidFill>
                  <a:schemeClr val="tx1"/>
                </a:solidFill>
                <a:effectLst/>
                <a:latin typeface="+mn-lt"/>
                <a:ea typeface="+mn-ea"/>
                <a:cs typeface="+mn-cs"/>
              </a:rPr>
              <a:t> revealing very dark areas within a frame.  </a:t>
            </a:r>
          </a:p>
          <a:p>
            <a:r>
              <a:rPr lang="en-US" sz="1200" kern="1200" dirty="0">
                <a:solidFill>
                  <a:schemeClr val="tx1"/>
                </a:solidFill>
                <a:effectLst/>
                <a:latin typeface="+mn-lt"/>
                <a:ea typeface="+mn-ea"/>
                <a:cs typeface="+mn-cs"/>
              </a:rPr>
              <a:t>The most popular low-key productions are in the film-noir style.</a:t>
            </a:r>
          </a:p>
          <a:p>
            <a:r>
              <a:rPr lang="en-US" sz="1200" kern="1200" dirty="0">
                <a:solidFill>
                  <a:schemeClr val="tx1"/>
                </a:solidFill>
                <a:effectLst/>
                <a:latin typeface="+mn-lt"/>
                <a:ea typeface="+mn-ea"/>
                <a:cs typeface="+mn-cs"/>
              </a:rPr>
              <a:t>Other low-key productions are serious dramas, thrillers, murder mysteries, and horror films. </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13</a:t>
            </a:fld>
            <a:endParaRPr lang="en-US"/>
          </a:p>
        </p:txBody>
      </p:sp>
    </p:spTree>
    <p:extLst>
      <p:ext uri="{BB962C8B-B14F-4D97-AF65-F5344CB8AC3E}">
        <p14:creationId xmlns:p14="http://schemas.microsoft.com/office/powerpoint/2010/main" val="20519973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Contrast </a:t>
            </a:r>
          </a:p>
          <a:p>
            <a:r>
              <a:rPr lang="en-US" sz="1200" kern="1200" dirty="0">
                <a:solidFill>
                  <a:schemeClr val="tx1"/>
                </a:solidFill>
                <a:effectLst/>
                <a:latin typeface="+mn-lt"/>
                <a:ea typeface="+mn-ea"/>
                <a:cs typeface="+mn-cs"/>
              </a:rPr>
              <a:t>Overall contrast is the difference between the lightest and darkest parts of a frame. </a:t>
            </a:r>
          </a:p>
          <a:p>
            <a:r>
              <a:rPr lang="en-US" sz="1200" kern="1200" dirty="0">
                <a:solidFill>
                  <a:schemeClr val="tx1"/>
                </a:solidFill>
                <a:effectLst/>
                <a:latin typeface="+mn-lt"/>
                <a:ea typeface="+mn-ea"/>
                <a:cs typeface="+mn-cs"/>
              </a:rPr>
              <a:t>By using contrast within a composition, you can focus the viewer's attention to specific areas, whereas if the entire image is sharp, the focus is on the whole. </a:t>
            </a:r>
          </a:p>
          <a:p>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14</a:t>
            </a:fld>
            <a:endParaRPr lang="en-US"/>
          </a:p>
        </p:txBody>
      </p:sp>
    </p:spTree>
    <p:extLst>
      <p:ext uri="{BB962C8B-B14F-4D97-AF65-F5344CB8AC3E}">
        <p14:creationId xmlns:p14="http://schemas.microsoft.com/office/powerpoint/2010/main" val="13553219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High-contrast lighting designs emphasize the extreme differences between light and dark.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type of lighting to create dramatic and interesting images by setting off one part of an image from another.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High-contrast lighting is usually seen in Thrillers, horror and suspense films.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1955 film Night of the Hunter, director Charles Laughton creates a high contrast look through stylized visuals that play light and Shadow off one another.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More recent films include Sleepy Hollow, Minority Report, and X-Men 2, among several others. Each of these films achieves a harsh high contrast look.</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15</a:t>
            </a:fld>
            <a:endParaRPr lang="en-US"/>
          </a:p>
        </p:txBody>
      </p:sp>
    </p:spTree>
    <p:extLst>
      <p:ext uri="{BB962C8B-B14F-4D97-AF65-F5344CB8AC3E}">
        <p14:creationId xmlns:p14="http://schemas.microsoft.com/office/powerpoint/2010/main" val="22237994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Low contrast </a:t>
            </a:r>
          </a:p>
          <a:p>
            <a:r>
              <a:rPr lang="en-US" sz="1200" kern="1200" dirty="0">
                <a:solidFill>
                  <a:schemeClr val="tx1"/>
                </a:solidFill>
                <a:effectLst/>
                <a:latin typeface="+mn-lt"/>
                <a:ea typeface="+mn-ea"/>
                <a:cs typeface="+mn-cs"/>
              </a:rPr>
              <a:t>In a low contrast setting there are no pure whites or blacks, but rather a range of grays. </a:t>
            </a:r>
          </a:p>
          <a:p>
            <a:r>
              <a:rPr lang="en-US" sz="1200" kern="1200" dirty="0">
                <a:solidFill>
                  <a:schemeClr val="tx1"/>
                </a:solidFill>
                <a:effectLst/>
                <a:latin typeface="+mn-lt"/>
                <a:ea typeface="+mn-ea"/>
                <a:cs typeface="+mn-cs"/>
              </a:rPr>
              <a:t>Within this type of setting, the viewer takes in the overall composition rather than its parts. </a:t>
            </a:r>
          </a:p>
          <a:p>
            <a:r>
              <a:rPr lang="en-US" sz="1200" kern="1200" dirty="0">
                <a:solidFill>
                  <a:schemeClr val="tx1"/>
                </a:solidFill>
                <a:effectLst/>
                <a:latin typeface="+mn-lt"/>
                <a:ea typeface="+mn-ea"/>
                <a:cs typeface="+mn-cs"/>
              </a:rPr>
              <a:t>Low contrast lighting is sometimes considered boring because images are usually flat. </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16</a:t>
            </a:fld>
            <a:endParaRPr lang="en-US"/>
          </a:p>
        </p:txBody>
      </p:sp>
    </p:spTree>
    <p:extLst>
      <p:ext uri="{BB962C8B-B14F-4D97-AF65-F5344CB8AC3E}">
        <p14:creationId xmlns:p14="http://schemas.microsoft.com/office/powerpoint/2010/main" val="25815200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Lighting Quality</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order to understand the quality of light, and the differences between perceived hardness and softness of life, let's go back to the example of the Sun as a key light source. </a:t>
            </a:r>
          </a:p>
          <a:p>
            <a:r>
              <a:rPr lang="en-US" sz="1200" kern="1200" dirty="0">
                <a:solidFill>
                  <a:schemeClr val="tx1"/>
                </a:solidFill>
                <a:effectLst/>
                <a:latin typeface="+mn-lt"/>
                <a:ea typeface="+mn-ea"/>
                <a:cs typeface="+mn-cs"/>
              </a:rPr>
              <a:t>A sunny day creates harsh edges and shadows because it is a directional light . </a:t>
            </a:r>
          </a:p>
          <a:p>
            <a:r>
              <a:rPr lang="en-US" sz="1200" kern="1200" dirty="0">
                <a:solidFill>
                  <a:schemeClr val="tx1"/>
                </a:solidFill>
                <a:effectLst/>
                <a:latin typeface="+mn-lt"/>
                <a:ea typeface="+mn-ea"/>
                <a:cs typeface="+mn-cs"/>
              </a:rPr>
              <a:t>The opposite is true of an overcast day, which creates soft diffuse shadows because the light comes from all directions. </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17</a:t>
            </a:fld>
            <a:endParaRPr lang="en-US"/>
          </a:p>
        </p:txBody>
      </p:sp>
    </p:spTree>
    <p:extLst>
      <p:ext uri="{BB962C8B-B14F-4D97-AF65-F5344CB8AC3E}">
        <p14:creationId xmlns:p14="http://schemas.microsoft.com/office/powerpoint/2010/main" val="42912973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film and animation, hard light is often used to emphasize the dramatic by illuminating a characters imperfections,</a:t>
            </a:r>
            <a:r>
              <a:rPr lang="en-US" sz="1200" b="1" kern="1200" dirty="0">
                <a:solidFill>
                  <a:schemeClr val="tx1"/>
                </a:solidFill>
                <a:effectLst/>
                <a:latin typeface="+mn-lt"/>
                <a:ea typeface="+mn-ea"/>
                <a:cs typeface="+mn-cs"/>
              </a:rPr>
              <a:t> in ways that are not always flattering</a:t>
            </a:r>
            <a:r>
              <a:rPr lang="en-US" sz="12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Hard lighting casts clearly defined shadows and brings out the texture in objects.</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18</a:t>
            </a:fld>
            <a:endParaRPr lang="en-US"/>
          </a:p>
        </p:txBody>
      </p:sp>
    </p:spTree>
    <p:extLst>
      <p:ext uri="{BB962C8B-B14F-4D97-AF65-F5344CB8AC3E}">
        <p14:creationId xmlns:p14="http://schemas.microsoft.com/office/powerpoint/2010/main" val="38354643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Soft light softens an object. </a:t>
            </a:r>
          </a:p>
          <a:p>
            <a:r>
              <a:rPr lang="en-US" sz="1200" kern="1200" dirty="0">
                <a:solidFill>
                  <a:schemeClr val="tx1"/>
                </a:solidFill>
                <a:effectLst/>
                <a:latin typeface="+mn-lt"/>
                <a:ea typeface="+mn-ea"/>
                <a:cs typeface="+mn-cs"/>
              </a:rPr>
              <a:t>For example, many actresses in the 1940s were shot and soft, diffused light, which evens out skin tone and hides any imperfections, such as wrinkles and blemishes. </a:t>
            </a:r>
          </a:p>
        </p:txBody>
      </p:sp>
      <p:sp>
        <p:nvSpPr>
          <p:cNvPr id="4" name="Slide Number Placeholder 3"/>
          <p:cNvSpPr>
            <a:spLocks noGrp="1"/>
          </p:cNvSpPr>
          <p:nvPr>
            <p:ph type="sldNum" sz="quarter" idx="10"/>
          </p:nvPr>
        </p:nvSpPr>
        <p:spPr/>
        <p:txBody>
          <a:bodyPr/>
          <a:lstStyle/>
          <a:p>
            <a:fld id="{3C7FDB04-D1AC-46DB-9592-CA12D78D404F}" type="slidenum">
              <a:rPr lang="en-US" smtClean="0"/>
              <a:t>19</a:t>
            </a:fld>
            <a:endParaRPr lang="en-US"/>
          </a:p>
        </p:txBody>
      </p:sp>
    </p:spTree>
    <p:extLst>
      <p:ext uri="{BB962C8B-B14F-4D97-AF65-F5344CB8AC3E}">
        <p14:creationId xmlns:p14="http://schemas.microsoft.com/office/powerpoint/2010/main" val="8124261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When drawing storyboard frames, the kind of shadows that you create are going to depend on the quality of light.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If a scene calls for hard Light, Shadows will be harsh.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Drawing hard edges requires the use of a Sharp drawing tool.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Suppose you are going to draw a person with one light source falling harshly on one side of the face.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Look at where the highlights and shadows Fall. Start picking out prominent shadows and notice how they form patterns .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Applying  Dark Shadows to these areas brings out depth within your image. Highlights are the opposite of Shadows.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They reflect the actual light source. When drawing highlights, you need to be aware of the object surface.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example, if the surface is smooth, the likelihood of a car, highlights will be bright, but if the surface is rough, the highlights will be more diffuse.</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20</a:t>
            </a:fld>
            <a:endParaRPr lang="en-US"/>
          </a:p>
        </p:txBody>
      </p:sp>
    </p:spTree>
    <p:extLst>
      <p:ext uri="{BB962C8B-B14F-4D97-AF65-F5344CB8AC3E}">
        <p14:creationId xmlns:p14="http://schemas.microsoft.com/office/powerpoint/2010/main" val="19519295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light source may come from many different Directions, including the side, front, back, below, and above. </a:t>
            </a:r>
          </a:p>
          <a:p>
            <a:r>
              <a:rPr lang="en-US" sz="1200" kern="1200" dirty="0">
                <a:solidFill>
                  <a:schemeClr val="tx1"/>
                </a:solidFill>
                <a:effectLst/>
                <a:latin typeface="+mn-lt"/>
                <a:ea typeface="+mn-ea"/>
                <a:cs typeface="+mn-cs"/>
              </a:rPr>
              <a:t>The direction of a light source changes the pattern of light and Shadow, which affects the mood of a scene. </a:t>
            </a:r>
          </a:p>
          <a:p>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direction of light is important </a:t>
            </a:r>
            <a:r>
              <a:rPr lang="en-US" sz="1200" kern="1200" dirty="0">
                <a:solidFill>
                  <a:schemeClr val="tx1"/>
                </a:solidFill>
                <a:effectLst/>
                <a:latin typeface="+mn-lt"/>
                <a:ea typeface="+mn-ea"/>
                <a:cs typeface="+mn-cs"/>
              </a:rPr>
              <a:t>because it cast Shadows that </a:t>
            </a:r>
            <a:r>
              <a:rPr lang="en-US" sz="1200" b="1" kern="1200" dirty="0">
                <a:solidFill>
                  <a:schemeClr val="tx1"/>
                </a:solidFill>
                <a:effectLst/>
                <a:latin typeface="+mn-lt"/>
                <a:ea typeface="+mn-ea"/>
                <a:cs typeface="+mn-cs"/>
              </a:rPr>
              <a:t>can emphasize such things as textures and details</a:t>
            </a:r>
            <a:r>
              <a:rPr lang="en-US"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10"/>
          </p:nvPr>
        </p:nvSpPr>
        <p:spPr/>
        <p:txBody>
          <a:bodyPr/>
          <a:lstStyle/>
          <a:p>
            <a:fld id="{3C7FDB04-D1AC-46DB-9592-CA12D78D404F}" type="slidenum">
              <a:rPr lang="en-US" smtClean="0"/>
              <a:t>21</a:t>
            </a:fld>
            <a:endParaRPr lang="en-US"/>
          </a:p>
        </p:txBody>
      </p:sp>
    </p:spTree>
    <p:extLst>
      <p:ext uri="{BB962C8B-B14F-4D97-AF65-F5344CB8AC3E}">
        <p14:creationId xmlns:p14="http://schemas.microsoft.com/office/powerpoint/2010/main" val="36697745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Frontal Lighting</a:t>
            </a:r>
          </a:p>
          <a:p>
            <a:r>
              <a:rPr lang="en-US" dirty="0">
                <a:solidFill>
                  <a:schemeClr val="tx1"/>
                </a:solidFill>
              </a:rPr>
              <a:t>Frontal lighting creates a flat image with barely any distraction between the foreground and background elements. </a:t>
            </a:r>
          </a:p>
          <a:p>
            <a:r>
              <a:rPr lang="en-US" dirty="0">
                <a:solidFill>
                  <a:schemeClr val="tx1"/>
                </a:solidFill>
              </a:rPr>
              <a:t>With frontal lighting, there are </a:t>
            </a:r>
            <a:r>
              <a:rPr lang="en-US" b="1" dirty="0">
                <a:solidFill>
                  <a:schemeClr val="tx1"/>
                </a:solidFill>
              </a:rPr>
              <a:t>minimal shadows and texture, </a:t>
            </a:r>
            <a:r>
              <a:rPr lang="en-US" dirty="0">
                <a:solidFill>
                  <a:schemeClr val="tx1"/>
                </a:solidFill>
              </a:rPr>
              <a:t>which tends to create a boring composition. </a:t>
            </a:r>
          </a:p>
          <a:p>
            <a:r>
              <a:rPr lang="en-US" dirty="0">
                <a:solidFill>
                  <a:schemeClr val="tx1"/>
                </a:solidFill>
              </a:rPr>
              <a:t>Frontal lighting is good for showing the color relationships in a scene.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For example, rendering the historic building with a bed of tulips in the foreground would work well with a frontal lighting setup. </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22</a:t>
            </a:fld>
            <a:endParaRPr lang="en-US"/>
          </a:p>
        </p:txBody>
      </p:sp>
    </p:spTree>
    <p:extLst>
      <p:ext uri="{BB962C8B-B14F-4D97-AF65-F5344CB8AC3E}">
        <p14:creationId xmlns:p14="http://schemas.microsoft.com/office/powerpoint/2010/main" val="8242830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strong contrast is created when </a:t>
            </a:r>
            <a:r>
              <a:rPr lang="en-US" sz="1200" b="1" kern="1200" dirty="0">
                <a:solidFill>
                  <a:schemeClr val="tx1"/>
                </a:solidFill>
                <a:effectLst/>
                <a:latin typeface="+mn-lt"/>
                <a:ea typeface="+mn-ea"/>
                <a:cs typeface="+mn-cs"/>
              </a:rPr>
              <a:t>one side of an object </a:t>
            </a:r>
            <a:r>
              <a:rPr lang="en-US" sz="1200" kern="1200" dirty="0">
                <a:solidFill>
                  <a:schemeClr val="tx1"/>
                </a:solidFill>
                <a:effectLst/>
                <a:latin typeface="+mn-lt"/>
                <a:ea typeface="+mn-ea"/>
                <a:cs typeface="+mn-cs"/>
              </a:rPr>
              <a:t>is brightly lit and the other side is in shadows. </a:t>
            </a:r>
          </a:p>
          <a:p>
            <a:r>
              <a:rPr lang="en-US" sz="1200" kern="1200" dirty="0">
                <a:solidFill>
                  <a:schemeClr val="tx1"/>
                </a:solidFill>
                <a:effectLst/>
                <a:latin typeface="+mn-lt"/>
                <a:ea typeface="+mn-ea"/>
                <a:cs typeface="+mn-cs"/>
              </a:rPr>
              <a:t>Side lighting creates three-dimensional effect because of the shadows made on one side of an object. </a:t>
            </a:r>
          </a:p>
          <a:p>
            <a:r>
              <a:rPr lang="en-US" sz="1200" kern="1200" dirty="0">
                <a:solidFill>
                  <a:schemeClr val="tx1"/>
                </a:solidFill>
                <a:effectLst/>
                <a:latin typeface="+mn-lt"/>
                <a:ea typeface="+mn-ea"/>
                <a:cs typeface="+mn-cs"/>
              </a:rPr>
              <a:t>Side lighting is </a:t>
            </a:r>
            <a:r>
              <a:rPr lang="en-US" sz="1200" b="1" kern="1200" dirty="0">
                <a:solidFill>
                  <a:schemeClr val="tx1"/>
                </a:solidFill>
                <a:effectLst/>
                <a:latin typeface="+mn-lt"/>
                <a:ea typeface="+mn-ea"/>
                <a:cs typeface="+mn-cs"/>
              </a:rPr>
              <a:t>often used to convey a protagonist struggle by being half in the light, half in the shadows</a:t>
            </a:r>
            <a:r>
              <a:rPr lang="en-US"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10"/>
          </p:nvPr>
        </p:nvSpPr>
        <p:spPr/>
        <p:txBody>
          <a:bodyPr/>
          <a:lstStyle/>
          <a:p>
            <a:fld id="{3C7FDB04-D1AC-46DB-9592-CA12D78D404F}" type="slidenum">
              <a:rPr lang="en-US" smtClean="0"/>
              <a:t>23</a:t>
            </a:fld>
            <a:endParaRPr lang="en-US"/>
          </a:p>
        </p:txBody>
      </p:sp>
    </p:spTree>
    <p:extLst>
      <p:ext uri="{BB962C8B-B14F-4D97-AF65-F5344CB8AC3E}">
        <p14:creationId xmlns:p14="http://schemas.microsoft.com/office/powerpoint/2010/main" val="20724332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example, in the film Fight Club, the main protagonist, Jack , is filmed with his face partially obscured by Dark Shadows,  conveying to the audience his conflict between right and wrong. </a:t>
            </a:r>
          </a:p>
          <a:p>
            <a:r>
              <a:rPr lang="en-US" sz="1200" kern="1200" dirty="0">
                <a:solidFill>
                  <a:schemeClr val="tx1"/>
                </a:solidFill>
                <a:effectLst/>
                <a:latin typeface="+mn-lt"/>
                <a:ea typeface="+mn-ea"/>
                <a:cs typeface="+mn-cs"/>
              </a:rPr>
              <a:t>Side lighting also brings out the detail and texture of objects, such as the leaves on a tree, or the creases in a wrinkled face.</a:t>
            </a:r>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24</a:t>
            </a:fld>
            <a:endParaRPr lang="en-US"/>
          </a:p>
        </p:txBody>
      </p:sp>
    </p:spTree>
    <p:extLst>
      <p:ext uri="{BB962C8B-B14F-4D97-AF65-F5344CB8AC3E}">
        <p14:creationId xmlns:p14="http://schemas.microsoft.com/office/powerpoint/2010/main" val="34604049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much realism should be considered when envisioning a lighting design? </a:t>
            </a:r>
          </a:p>
          <a:p>
            <a:r>
              <a:rPr lang="en-US" sz="1200" kern="1200" dirty="0">
                <a:solidFill>
                  <a:schemeClr val="tx1"/>
                </a:solidFill>
                <a:effectLst/>
                <a:latin typeface="+mn-lt"/>
                <a:ea typeface="+mn-ea"/>
                <a:cs typeface="+mn-cs"/>
              </a:rPr>
              <a:t>Most Productions strive to create scenes that look realistic. </a:t>
            </a:r>
          </a:p>
          <a:p>
            <a:r>
              <a:rPr lang="en-US" sz="1200" kern="1200" dirty="0">
                <a:solidFill>
                  <a:schemeClr val="tx1"/>
                </a:solidFill>
                <a:effectLst/>
                <a:latin typeface="+mn-lt"/>
                <a:ea typeface="+mn-ea"/>
                <a:cs typeface="+mn-cs"/>
              </a:rPr>
              <a:t>Such pragmatic designs suggest to the audience that the lighting design occurs naturally, and it often appears in visible to the audience. </a:t>
            </a:r>
          </a:p>
          <a:p>
            <a:r>
              <a:rPr lang="en-US" sz="1200" kern="1200" dirty="0">
                <a:solidFill>
                  <a:schemeClr val="tx1"/>
                </a:solidFill>
                <a:effectLst/>
                <a:latin typeface="+mn-lt"/>
                <a:ea typeface="+mn-ea"/>
                <a:cs typeface="+mn-cs"/>
              </a:rPr>
              <a:t>Light from candles, lamps, and fireplaces is frequently used to enhance a realistic setting. </a:t>
            </a:r>
          </a:p>
          <a:p>
            <a:r>
              <a:rPr lang="en-US" sz="1200" kern="1200" dirty="0">
                <a:solidFill>
                  <a:schemeClr val="tx1"/>
                </a:solidFill>
                <a:effectLst/>
                <a:latin typeface="+mn-lt"/>
                <a:ea typeface="+mn-ea"/>
                <a:cs typeface="+mn-cs"/>
              </a:rPr>
              <a:t>Video games, films, and television use realistic lighting designs to make characters appear more natural. </a:t>
            </a:r>
          </a:p>
          <a:p>
            <a:r>
              <a:rPr lang="en-US" sz="1200" kern="1200" dirty="0">
                <a:solidFill>
                  <a:schemeClr val="tx1"/>
                </a:solidFill>
                <a:effectLst/>
                <a:latin typeface="+mn-lt"/>
                <a:ea typeface="+mn-ea"/>
                <a:cs typeface="+mn-cs"/>
              </a:rPr>
              <a:t>In the film Like Water for Chocolate, many scenes are lit by candles and lied streaming through Windows to give the film a soft appearance. </a:t>
            </a:r>
          </a:p>
          <a:p>
            <a:r>
              <a:rPr lang="en-US" sz="1200" kern="1200" dirty="0">
                <a:solidFill>
                  <a:schemeClr val="tx1"/>
                </a:solidFill>
                <a:effectLst/>
                <a:latin typeface="+mn-lt"/>
                <a:ea typeface="+mn-ea"/>
                <a:cs typeface="+mn-cs"/>
              </a:rPr>
              <a:t>Because of this realistic approach to lighting, the characters often have  a warm golden appearance, making them look beautiful even when the cruelest acts are occurring. </a:t>
            </a:r>
          </a:p>
          <a:p>
            <a:r>
              <a:rPr lang="en-US"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10"/>
          </p:nvPr>
        </p:nvSpPr>
        <p:spPr/>
        <p:txBody>
          <a:bodyPr/>
          <a:lstStyle/>
          <a:p>
            <a:fld id="{3C7FDB04-D1AC-46DB-9592-CA12D78D404F}" type="slidenum">
              <a:rPr lang="en-US" smtClean="0"/>
              <a:t>28</a:t>
            </a:fld>
            <a:endParaRPr lang="en-US"/>
          </a:p>
        </p:txBody>
      </p:sp>
    </p:spTree>
    <p:extLst>
      <p:ext uri="{BB962C8B-B14F-4D97-AF65-F5344CB8AC3E}">
        <p14:creationId xmlns:p14="http://schemas.microsoft.com/office/powerpoint/2010/main" val="24508804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contrast to naturalistic lighting  a stylistic approach makes imagery appear more dramatic. </a:t>
            </a:r>
          </a:p>
          <a:p>
            <a:r>
              <a:rPr lang="en-US" sz="1200" kern="1200" dirty="0">
                <a:solidFill>
                  <a:schemeClr val="tx1"/>
                </a:solidFill>
                <a:effectLst/>
                <a:latin typeface="+mn-lt"/>
                <a:ea typeface="+mn-ea"/>
                <a:cs typeface="+mn-cs"/>
              </a:rPr>
              <a:t>Stylized lighting is often used to accentuate mood. </a:t>
            </a:r>
          </a:p>
          <a:p>
            <a:r>
              <a:rPr lang="en-US" sz="1200" kern="1200" dirty="0">
                <a:solidFill>
                  <a:schemeClr val="tx1"/>
                </a:solidFill>
                <a:effectLst/>
                <a:latin typeface="+mn-lt"/>
                <a:ea typeface="+mn-ea"/>
                <a:cs typeface="+mn-cs"/>
              </a:rPr>
              <a:t>The roots of dramatic Lighting in early Cinema can be found in German expressionism.</a:t>
            </a:r>
          </a:p>
          <a:p>
            <a:r>
              <a:rPr lang="en-US" sz="1200" kern="1200" dirty="0">
                <a:solidFill>
                  <a:schemeClr val="tx1"/>
                </a:solidFill>
                <a:effectLst/>
                <a:latin typeface="+mn-lt"/>
                <a:ea typeface="+mn-ea"/>
                <a:cs typeface="+mn-cs"/>
              </a:rPr>
              <a:t>Films such as the Cabinet of dr. Caligari, metropolis, and Dracula concentrated on the heavy use of light and dark contrast to suggest the interstate of its characters, the Supernatural, and the craziness of the world. </a:t>
            </a:r>
          </a:p>
          <a:p>
            <a:r>
              <a:rPr lang="en-US" sz="1200" kern="1200" dirty="0">
                <a:solidFill>
                  <a:schemeClr val="tx1"/>
                </a:solidFill>
                <a:effectLst/>
                <a:latin typeface="+mn-lt"/>
                <a:ea typeface="+mn-ea"/>
                <a:cs typeface="+mn-cs"/>
              </a:rPr>
              <a:t>Stylized lighting is popular with many of today's film directors and is now becoming more so among game designers. </a:t>
            </a:r>
          </a:p>
          <a:p>
            <a:r>
              <a:rPr lang="en-US" sz="1200" kern="1200" dirty="0">
                <a:solidFill>
                  <a:schemeClr val="tx1"/>
                </a:solidFill>
                <a:effectLst/>
                <a:latin typeface="+mn-lt"/>
                <a:ea typeface="+mn-ea"/>
                <a:cs typeface="+mn-cs"/>
              </a:rPr>
              <a:t>Although many game designers use static lighting, game such as Lara Croft Tomb Raider 3 and actually Adventure game from Eidos, features dramatic lighting effects to enhance the overall quality of the game. </a:t>
            </a:r>
          </a:p>
          <a:p>
            <a:r>
              <a:rPr lang="en-US" sz="1200" kern="1200" dirty="0">
                <a:solidFill>
                  <a:schemeClr val="tx1"/>
                </a:solidFill>
                <a:effectLst/>
                <a:latin typeface="+mn-lt"/>
                <a:ea typeface="+mn-ea"/>
                <a:cs typeface="+mn-cs"/>
              </a:rPr>
              <a:t>Many game designers use dramatic lighting to direct a player's attention to specific attributes of the game, which can be used to influence the characters choices.</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29</a:t>
            </a:fld>
            <a:endParaRPr lang="en-US"/>
          </a:p>
        </p:txBody>
      </p:sp>
    </p:spTree>
    <p:extLst>
      <p:ext uri="{BB962C8B-B14F-4D97-AF65-F5344CB8AC3E}">
        <p14:creationId xmlns:p14="http://schemas.microsoft.com/office/powerpoint/2010/main" val="9725051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F4BAE09E-937A-4458-935E-DFABD161E2A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2AEE0BA4-190C-437E-8345-F61B1C9D8663}" type="slidenum">
              <a:rPr lang="en-US" altLang="en-US"/>
              <a:pPr>
                <a:spcBef>
                  <a:spcPct val="0"/>
                </a:spcBef>
              </a:pPr>
              <a:t>30</a:t>
            </a:fld>
            <a:endParaRPr lang="en-US" altLang="en-US"/>
          </a:p>
        </p:txBody>
      </p:sp>
      <p:sp>
        <p:nvSpPr>
          <p:cNvPr id="4099" name="Rectangle 2">
            <a:extLst>
              <a:ext uri="{FF2B5EF4-FFF2-40B4-BE49-F238E27FC236}">
                <a16:creationId xmlns:a16="http://schemas.microsoft.com/office/drawing/2014/main" id="{3383849F-762A-40B2-9AE1-9899084EF336}"/>
              </a:ext>
            </a:extLst>
          </p:cNvPr>
          <p:cNvSpPr>
            <a:spLocks noGrp="1" noRot="1" noChangeAspect="1" noChangeArrowheads="1" noTextEdit="1"/>
          </p:cNvSpPr>
          <p:nvPr>
            <p:ph type="sldImg"/>
          </p:nvPr>
        </p:nvSpPr>
        <p:spPr>
          <a:ln/>
        </p:spPr>
      </p:sp>
      <p:sp>
        <p:nvSpPr>
          <p:cNvPr id="4100" name="Rectangle 3">
            <a:extLst>
              <a:ext uri="{FF2B5EF4-FFF2-40B4-BE49-F238E27FC236}">
                <a16:creationId xmlns:a16="http://schemas.microsoft.com/office/drawing/2014/main" id="{338DD7A8-4BA6-4C3E-8AAA-43D10754628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The color palette plays an important role in the visual style of a film, animation, and game design. Color often creates a sense of time and space, establishes mood and atmosphere, and provides emotional impact. Bright colors, for instance, add energy and have a dramatic impact, while lighter hues impart a more harmonious and stable look.</a:t>
            </a:r>
          </a:p>
        </p:txBody>
      </p:sp>
    </p:spTree>
    <p:extLst>
      <p:ext uri="{BB962C8B-B14F-4D97-AF65-F5344CB8AC3E}">
        <p14:creationId xmlns:p14="http://schemas.microsoft.com/office/powerpoint/2010/main" val="3047720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F4BAE09E-937A-4458-935E-DFABD161E2A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2AEE0BA4-190C-437E-8345-F61B1C9D8663}" type="slidenum">
              <a:rPr lang="en-US" altLang="en-US"/>
              <a:pPr>
                <a:spcBef>
                  <a:spcPct val="0"/>
                </a:spcBef>
              </a:pPr>
              <a:t>31</a:t>
            </a:fld>
            <a:endParaRPr lang="en-US" altLang="en-US"/>
          </a:p>
        </p:txBody>
      </p:sp>
      <p:sp>
        <p:nvSpPr>
          <p:cNvPr id="4099" name="Rectangle 2">
            <a:extLst>
              <a:ext uri="{FF2B5EF4-FFF2-40B4-BE49-F238E27FC236}">
                <a16:creationId xmlns:a16="http://schemas.microsoft.com/office/drawing/2014/main" id="{3383849F-762A-40B2-9AE1-9899084EF336}"/>
              </a:ext>
            </a:extLst>
          </p:cNvPr>
          <p:cNvSpPr>
            <a:spLocks noGrp="1" noRot="1" noChangeAspect="1" noChangeArrowheads="1" noTextEdit="1"/>
          </p:cNvSpPr>
          <p:nvPr>
            <p:ph type="sldImg"/>
          </p:nvPr>
        </p:nvSpPr>
        <p:spPr>
          <a:ln/>
        </p:spPr>
      </p:sp>
      <p:sp>
        <p:nvSpPr>
          <p:cNvPr id="4100" name="Rectangle 3">
            <a:extLst>
              <a:ext uri="{FF2B5EF4-FFF2-40B4-BE49-F238E27FC236}">
                <a16:creationId xmlns:a16="http://schemas.microsoft.com/office/drawing/2014/main" id="{338DD7A8-4BA6-4C3E-8AAA-43D10754628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A color that causes a reaction in one person may cause a very different reaction in someone else.</a:t>
            </a:r>
          </a:p>
          <a:p>
            <a:pPr eaLnBrk="1" hangingPunct="1"/>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Sometimes this is due to personal preference, and other times due to cultural background. </a:t>
            </a:r>
          </a:p>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Color theory is a science in itself. </a:t>
            </a:r>
          </a:p>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Studying how colors affect different people, either individually or as a group, is something some people build their careers on. And there</a:t>
            </a:r>
            <a:r>
              <a:rPr lang="ja-JP" altLang="en-US" dirty="0">
                <a:latin typeface="Arial" panose="020B0604020202020204" pitchFamily="34" charset="0"/>
                <a:ea typeface="ＭＳ Ｐゴシック" panose="020B0600070205080204" pitchFamily="34" charset="-128"/>
                <a:cs typeface="Arial" panose="020B0604020202020204" pitchFamily="34" charset="0"/>
              </a:rPr>
              <a:t>’</a:t>
            </a:r>
            <a:r>
              <a:rPr lang="en-US" altLang="ja-JP" dirty="0">
                <a:latin typeface="Arial" panose="020B0604020202020204" pitchFamily="34" charset="0"/>
                <a:ea typeface="ＭＳ Ｐゴシック" panose="020B0600070205080204" pitchFamily="34" charset="-128"/>
                <a:cs typeface="Arial" panose="020B0604020202020204" pitchFamily="34" charset="0"/>
              </a:rPr>
              <a:t>s a lot to it.</a:t>
            </a:r>
          </a:p>
          <a:p>
            <a:pPr eaLnBrk="1" hangingPunct="1"/>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Something as simple as changing the exact </a:t>
            </a:r>
            <a:r>
              <a:rPr lang="en-US" altLang="en-US" b="1" dirty="0">
                <a:latin typeface="Arial" panose="020B0604020202020204" pitchFamily="34" charset="0"/>
                <a:ea typeface="ＭＳ Ｐゴシック" panose="020B0600070205080204" pitchFamily="34" charset="-128"/>
                <a:cs typeface="Arial" panose="020B0604020202020204" pitchFamily="34" charset="0"/>
              </a:rPr>
              <a:t>hue</a:t>
            </a:r>
            <a:r>
              <a:rPr lang="en-US" altLang="en-US" dirty="0">
                <a:latin typeface="Arial" panose="020B0604020202020204" pitchFamily="34" charset="0"/>
                <a:ea typeface="ＭＳ Ｐゴシック" panose="020B0600070205080204" pitchFamily="34" charset="-128"/>
                <a:cs typeface="Arial" panose="020B0604020202020204" pitchFamily="34" charset="0"/>
              </a:rPr>
              <a:t> or </a:t>
            </a:r>
            <a:r>
              <a:rPr lang="en-US" altLang="en-US" b="1" dirty="0">
                <a:latin typeface="Arial" panose="020B0604020202020204" pitchFamily="34" charset="0"/>
                <a:ea typeface="ＭＳ Ｐゴシック" panose="020B0600070205080204" pitchFamily="34" charset="-128"/>
                <a:cs typeface="Arial" panose="020B0604020202020204" pitchFamily="34" charset="0"/>
              </a:rPr>
              <a:t>saturation</a:t>
            </a:r>
            <a:r>
              <a:rPr lang="en-US" altLang="en-US" dirty="0">
                <a:latin typeface="Arial" panose="020B0604020202020204" pitchFamily="34" charset="0"/>
                <a:ea typeface="ＭＳ Ｐゴシック" panose="020B0600070205080204" pitchFamily="34" charset="-128"/>
                <a:cs typeface="Arial" panose="020B0604020202020204" pitchFamily="34" charset="0"/>
              </a:rPr>
              <a:t> of a color can evoke a completely different feeling.</a:t>
            </a:r>
            <a:r>
              <a:rPr lang="en-US" altLang="en-US" b="1" dirty="0">
                <a:latin typeface="Arial" panose="020B0604020202020204" pitchFamily="34" charset="0"/>
                <a:ea typeface="ＭＳ Ｐゴシック" panose="020B0600070205080204" pitchFamily="34" charset="-128"/>
                <a:cs typeface="Arial" panose="020B0604020202020204" pitchFamily="34" charset="0"/>
              </a:rPr>
              <a:t> Cultural</a:t>
            </a:r>
            <a:r>
              <a:rPr lang="en-US" altLang="en-US" dirty="0">
                <a:latin typeface="Arial" panose="020B0604020202020204" pitchFamily="34" charset="0"/>
                <a:ea typeface="ＭＳ Ｐゴシック" panose="020B0600070205080204" pitchFamily="34" charset="-128"/>
                <a:cs typeface="Arial" panose="020B0604020202020204" pitchFamily="34" charset="0"/>
              </a:rPr>
              <a:t> </a:t>
            </a:r>
            <a:r>
              <a:rPr lang="en-US" altLang="en-US" b="1" dirty="0">
                <a:latin typeface="Arial" panose="020B0604020202020204" pitchFamily="34" charset="0"/>
                <a:ea typeface="ＭＳ Ｐゴシック" panose="020B0600070205080204" pitchFamily="34" charset="-128"/>
                <a:cs typeface="Arial" panose="020B0604020202020204" pitchFamily="34" charset="0"/>
              </a:rPr>
              <a:t>differences</a:t>
            </a:r>
            <a:r>
              <a:rPr lang="en-US" altLang="en-US" dirty="0">
                <a:latin typeface="Arial" panose="020B0604020202020204" pitchFamily="34" charset="0"/>
                <a:ea typeface="ＭＳ Ｐゴシック" panose="020B0600070205080204" pitchFamily="34" charset="-128"/>
                <a:cs typeface="Arial" panose="020B0604020202020204" pitchFamily="34" charset="0"/>
              </a:rPr>
              <a:t> mean that something that</a:t>
            </a:r>
            <a:r>
              <a:rPr lang="ja-JP" altLang="en-US" dirty="0">
                <a:latin typeface="Arial" panose="020B0604020202020204" pitchFamily="34" charset="0"/>
                <a:ea typeface="ＭＳ Ｐゴシック" panose="020B0600070205080204" pitchFamily="34" charset="-128"/>
                <a:cs typeface="Arial" panose="020B0604020202020204" pitchFamily="34" charset="0"/>
              </a:rPr>
              <a:t>’</a:t>
            </a:r>
            <a:r>
              <a:rPr lang="en-US" altLang="ja-JP" dirty="0">
                <a:latin typeface="Arial" panose="020B0604020202020204" pitchFamily="34" charset="0"/>
                <a:ea typeface="ＭＳ Ｐゴシック" panose="020B0600070205080204" pitchFamily="34" charset="-128"/>
                <a:cs typeface="Arial" panose="020B0604020202020204" pitchFamily="34" charset="0"/>
              </a:rPr>
              <a:t>s happy and uplifting in one country can be depressing in another.</a:t>
            </a:r>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5653233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A9358DEF-7664-41E7-B819-B8002BC9F1F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8300F1D1-191E-4629-9621-81ABFB790F15}" type="slidenum">
              <a:rPr lang="en-US" altLang="en-US"/>
              <a:pPr>
                <a:spcBef>
                  <a:spcPct val="0"/>
                </a:spcBef>
              </a:pPr>
              <a:t>32</a:t>
            </a:fld>
            <a:endParaRPr lang="en-US" altLang="en-US"/>
          </a:p>
        </p:txBody>
      </p:sp>
      <p:sp>
        <p:nvSpPr>
          <p:cNvPr id="6147" name="Rectangle 2">
            <a:extLst>
              <a:ext uri="{FF2B5EF4-FFF2-40B4-BE49-F238E27FC236}">
                <a16:creationId xmlns:a16="http://schemas.microsoft.com/office/drawing/2014/main" id="{8D75797C-8C4F-44EA-8CE3-2436FACBCB2C}"/>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33105D6D-3416-44F7-8462-7850FA08165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The </a:t>
            </a:r>
            <a:r>
              <a:rPr lang="en-US" altLang="en-US" b="1" dirty="0">
                <a:latin typeface="Arial" panose="020B0604020202020204" pitchFamily="34" charset="0"/>
                <a:ea typeface="ＭＳ Ｐゴシック" panose="020B0600070205080204" pitchFamily="34" charset="-128"/>
                <a:cs typeface="Arial" panose="020B0604020202020204" pitchFamily="34" charset="0"/>
              </a:rPr>
              <a:t>color wheel</a:t>
            </a:r>
            <a:r>
              <a:rPr lang="en-US" altLang="en-US" dirty="0">
                <a:latin typeface="Arial" panose="020B0604020202020204" pitchFamily="34" charset="0"/>
                <a:ea typeface="ＭＳ Ｐゴシック" panose="020B0600070205080204" pitchFamily="34" charset="-128"/>
                <a:cs typeface="Arial" panose="020B0604020202020204" pitchFamily="34" charset="0"/>
              </a:rPr>
              <a:t> or </a:t>
            </a:r>
            <a:r>
              <a:rPr lang="en-US" altLang="en-US" b="1" dirty="0">
                <a:latin typeface="Arial" panose="020B0604020202020204" pitchFamily="34" charset="0"/>
                <a:ea typeface="ＭＳ Ｐゴシック" panose="020B0600070205080204" pitchFamily="34" charset="-128"/>
                <a:cs typeface="Arial" panose="020B0604020202020204" pitchFamily="34" charset="0"/>
              </a:rPr>
              <a:t>color circle</a:t>
            </a:r>
            <a:r>
              <a:rPr lang="en-US" altLang="en-US" dirty="0">
                <a:latin typeface="Arial" panose="020B0604020202020204" pitchFamily="34" charset="0"/>
                <a:ea typeface="ＭＳ Ｐゴシック" panose="020B0600070205080204" pitchFamily="34" charset="-128"/>
                <a:cs typeface="Arial" panose="020B0604020202020204" pitchFamily="34" charset="0"/>
              </a:rPr>
              <a:t> is the basic tool for combining colors. </a:t>
            </a:r>
          </a:p>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Over the years, many variations of the basic design have been made, but the most common version is a wheel of 12 colors based on the </a:t>
            </a:r>
            <a:r>
              <a:rPr lang="en-US" altLang="en-US" b="1" dirty="0">
                <a:latin typeface="Arial" panose="020B0604020202020204" pitchFamily="34" charset="0"/>
                <a:ea typeface="ＭＳ Ｐゴシック" panose="020B0600070205080204" pitchFamily="34" charset="-128"/>
                <a:cs typeface="Arial" panose="020B0604020202020204" pitchFamily="34" charset="0"/>
              </a:rPr>
              <a:t>RYB</a:t>
            </a:r>
            <a:r>
              <a:rPr lang="en-US" altLang="en-US" dirty="0">
                <a:latin typeface="Arial" panose="020B0604020202020204" pitchFamily="34" charset="0"/>
                <a:ea typeface="ＭＳ Ｐゴシック" panose="020B0600070205080204" pitchFamily="34" charset="-128"/>
                <a:cs typeface="Arial" panose="020B0604020202020204" pitchFamily="34" charset="0"/>
              </a:rPr>
              <a:t> (</a:t>
            </a:r>
            <a:r>
              <a:rPr lang="en-US" altLang="en-US" b="1" dirty="0">
                <a:latin typeface="Arial" panose="020B0604020202020204" pitchFamily="34" charset="0"/>
                <a:ea typeface="ＭＳ Ｐゴシック" panose="020B0600070205080204" pitchFamily="34" charset="-128"/>
                <a:cs typeface="Arial" panose="020B0604020202020204" pitchFamily="34" charset="0"/>
              </a:rPr>
              <a:t>or artistic</a:t>
            </a:r>
            <a:r>
              <a:rPr lang="en-US" altLang="en-US" dirty="0">
                <a:latin typeface="Arial" panose="020B0604020202020204" pitchFamily="34" charset="0"/>
                <a:ea typeface="ＭＳ Ｐゴシック" panose="020B0600070205080204" pitchFamily="34" charset="-128"/>
                <a:cs typeface="Arial" panose="020B0604020202020204" pitchFamily="34" charset="0"/>
              </a:rPr>
              <a:t>) color model.</a:t>
            </a:r>
          </a:p>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All colors are made up of three primary colors: Red, Yellow and Blue. New colors such as green and purple and orange are created by mixing colors together. </a:t>
            </a:r>
          </a:p>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These are called secondary colors. </a:t>
            </a:r>
          </a:p>
        </p:txBody>
      </p:sp>
    </p:spTree>
    <p:extLst>
      <p:ext uri="{BB962C8B-B14F-4D97-AF65-F5344CB8AC3E}">
        <p14:creationId xmlns:p14="http://schemas.microsoft.com/office/powerpoint/2010/main" val="652440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A9358DEF-7664-41E7-B819-B8002BC9F1F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8300F1D1-191E-4629-9621-81ABFB790F15}" type="slidenum">
              <a:rPr lang="en-US" altLang="en-US"/>
              <a:pPr>
                <a:spcBef>
                  <a:spcPct val="0"/>
                </a:spcBef>
              </a:pPr>
              <a:t>33</a:t>
            </a:fld>
            <a:endParaRPr lang="en-US" altLang="en-US"/>
          </a:p>
        </p:txBody>
      </p:sp>
      <p:sp>
        <p:nvSpPr>
          <p:cNvPr id="6147" name="Rectangle 2">
            <a:extLst>
              <a:ext uri="{FF2B5EF4-FFF2-40B4-BE49-F238E27FC236}">
                <a16:creationId xmlns:a16="http://schemas.microsoft.com/office/drawing/2014/main" id="{8D75797C-8C4F-44EA-8CE3-2436FACBCB2C}"/>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33105D6D-3416-44F7-8462-7850FA08165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Garamond" panose="02020404030301010803" pitchFamily="18" charset="0"/>
                <a:ea typeface="ＭＳ Ｐゴシック" panose="020B0600070205080204" pitchFamily="34" charset="-128"/>
                <a:cs typeface="Arial" panose="020B0604020202020204" pitchFamily="34" charset="0"/>
              </a:rPr>
              <a:t>Examples of secondary colors would include orange, green, and magenta.</a:t>
            </a:r>
          </a:p>
          <a:p>
            <a:pPr eaLnBrk="1" hangingPunct="1"/>
            <a:r>
              <a:rPr lang="en-US" altLang="en-US" dirty="0">
                <a:latin typeface="Garamond" panose="02020404030301010803" pitchFamily="18" charset="0"/>
                <a:ea typeface="ＭＳ Ｐゴシック" panose="020B0600070205080204" pitchFamily="34" charset="-128"/>
                <a:cs typeface="Arial" panose="020B0604020202020204" pitchFamily="34" charset="0"/>
              </a:rPr>
              <a:t>As you can see on the color wheel above, these are colors between primary colors on the color wheel.</a:t>
            </a:r>
          </a:p>
          <a:p>
            <a:pPr eaLnBrk="1" hangingPunct="1"/>
            <a:r>
              <a:rPr lang="en-US" altLang="en-US" dirty="0">
                <a:latin typeface="Garamond" panose="02020404030301010803" pitchFamily="18" charset="0"/>
                <a:ea typeface="ＭＳ Ｐゴシック" panose="020B0600070205080204" pitchFamily="34" charset="-128"/>
                <a:cs typeface="Arial" panose="020B0604020202020204" pitchFamily="34" charset="0"/>
              </a:rPr>
              <a:t>Colors between the secondary colors are called tertiary.</a:t>
            </a:r>
          </a:p>
          <a:p>
            <a:pPr eaLnBrk="1" hangingPunct="1"/>
            <a:endParaRPr lang="en-US" altLang="en-US" dirty="0">
              <a:latin typeface="Garamond" panose="02020404030301010803" pitchFamily="18" charset="0"/>
              <a:ea typeface="ＭＳ Ｐゴシック" panose="020B0600070205080204" pitchFamily="34" charset="-128"/>
              <a:cs typeface="Arial" panose="020B0604020202020204" pitchFamily="34" charset="0"/>
            </a:endParaRPr>
          </a:p>
          <a:p>
            <a:pPr eaLnBrk="1" hangingPunct="1"/>
            <a:r>
              <a:rPr lang="en-US" altLang="en-US" dirty="0">
                <a:latin typeface="Garamond" panose="02020404030301010803" pitchFamily="18" charset="0"/>
                <a:ea typeface="ＭＳ Ｐゴシック" panose="020B0600070205080204" pitchFamily="34" charset="-128"/>
                <a:cs typeface="Arial" panose="020B0604020202020204" pitchFamily="34" charset="0"/>
              </a:rPr>
              <a:t>Traditionally, there are a number of color combinations that are considered especially pleasing. These are called </a:t>
            </a:r>
            <a:r>
              <a:rPr lang="en-US" altLang="en-US" b="1" dirty="0">
                <a:latin typeface="Garamond" panose="02020404030301010803" pitchFamily="18" charset="0"/>
                <a:ea typeface="ＭＳ Ｐゴシック" panose="020B0600070205080204" pitchFamily="34" charset="-128"/>
                <a:cs typeface="Arial" panose="020B0604020202020204" pitchFamily="34" charset="0"/>
              </a:rPr>
              <a:t>color harmonies</a:t>
            </a:r>
            <a:r>
              <a:rPr lang="en-US" altLang="en-US" dirty="0">
                <a:latin typeface="Garamond" panose="02020404030301010803" pitchFamily="18" charset="0"/>
                <a:ea typeface="ＭＳ Ｐゴシック" panose="020B0600070205080204" pitchFamily="34" charset="-128"/>
                <a:cs typeface="Arial" panose="020B0604020202020204" pitchFamily="34" charset="0"/>
              </a:rPr>
              <a:t> or </a:t>
            </a:r>
            <a:r>
              <a:rPr lang="en-US" altLang="en-US" b="1" dirty="0">
                <a:latin typeface="Garamond" panose="02020404030301010803" pitchFamily="18" charset="0"/>
                <a:ea typeface="ＭＳ Ｐゴシック" panose="020B0600070205080204" pitchFamily="34" charset="-128"/>
                <a:cs typeface="Arial" panose="020B0604020202020204" pitchFamily="34" charset="0"/>
              </a:rPr>
              <a:t>color chords</a:t>
            </a:r>
            <a:r>
              <a:rPr lang="en-US" altLang="en-US" dirty="0">
                <a:latin typeface="Garamond" panose="02020404030301010803" pitchFamily="18" charset="0"/>
                <a:ea typeface="ＭＳ Ｐゴシック" panose="020B0600070205080204" pitchFamily="34" charset="-128"/>
                <a:cs typeface="Arial" panose="020B0604020202020204" pitchFamily="34" charset="0"/>
              </a:rPr>
              <a:t> and they consist of two or more colors with a fixed relation in the color wheel. </a:t>
            </a:r>
          </a:p>
        </p:txBody>
      </p:sp>
    </p:spTree>
    <p:extLst>
      <p:ext uri="{BB962C8B-B14F-4D97-AF65-F5344CB8AC3E}">
        <p14:creationId xmlns:p14="http://schemas.microsoft.com/office/powerpoint/2010/main" val="26310594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81E0C72E-02FC-4732-AFCF-DD5FF5DD73F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E7612C0B-1F05-4D26-88D8-186CE7CCC581}" type="slidenum">
              <a:rPr lang="en-US" altLang="en-US"/>
              <a:pPr>
                <a:spcBef>
                  <a:spcPct val="0"/>
                </a:spcBef>
              </a:pPr>
              <a:t>34</a:t>
            </a:fld>
            <a:endParaRPr lang="en-US" altLang="en-US"/>
          </a:p>
        </p:txBody>
      </p:sp>
      <p:sp>
        <p:nvSpPr>
          <p:cNvPr id="8195" name="Rectangle 2">
            <a:extLst>
              <a:ext uri="{FF2B5EF4-FFF2-40B4-BE49-F238E27FC236}">
                <a16:creationId xmlns:a16="http://schemas.microsoft.com/office/drawing/2014/main" id="{082F69E0-DBF6-4ED6-82C5-1CD0C831D7E9}"/>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237BEBEA-FFE1-439A-B911-E1F5C2A4F36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Garamond" panose="02020404030301010803" pitchFamily="18" charset="0"/>
                <a:ea typeface="ＭＳ Ｐゴシック" panose="020B0600070205080204" pitchFamily="34" charset="-128"/>
                <a:cs typeface="Arial" panose="020B0604020202020204" pitchFamily="34" charset="0"/>
              </a:rPr>
              <a:t>Colors that are opposite each other on the color wheel are considered to be complementary colors (example: red and green).</a:t>
            </a:r>
          </a:p>
          <a:p>
            <a:pPr eaLnBrk="1" hangingPunct="1"/>
            <a:r>
              <a:rPr lang="en-US" altLang="en-US" dirty="0">
                <a:latin typeface="Garamond" panose="02020404030301010803" pitchFamily="18" charset="0"/>
                <a:ea typeface="ＭＳ Ｐゴシック" panose="020B0600070205080204" pitchFamily="34" charset="-128"/>
                <a:cs typeface="Arial" panose="020B0604020202020204" pitchFamily="34" charset="0"/>
              </a:rPr>
              <a:t>The high contrast of complementary colors creates a vibrant look especially when used at full saturation. This color scheme must be managed well so it is not jarring.</a:t>
            </a:r>
          </a:p>
          <a:p>
            <a:pPr eaLnBrk="1" hangingPunct="1"/>
            <a:endParaRPr lang="en-US" altLang="en-US" dirty="0">
              <a:latin typeface="Garamond" panose="02020404030301010803" pitchFamily="18" charset="0"/>
              <a:ea typeface="ＭＳ Ｐゴシック" panose="020B0600070205080204" pitchFamily="34" charset="-128"/>
              <a:cs typeface="Arial" panose="020B0604020202020204" pitchFamily="34" charset="0"/>
            </a:endParaRPr>
          </a:p>
          <a:p>
            <a:pPr eaLnBrk="1" hangingPunct="1"/>
            <a:r>
              <a:rPr lang="en-US" altLang="en-US" dirty="0">
                <a:latin typeface="Garamond" panose="02020404030301010803" pitchFamily="18" charset="0"/>
                <a:ea typeface="ＭＳ Ｐゴシック" panose="020B0600070205080204" pitchFamily="34" charset="-128"/>
                <a:cs typeface="Arial" panose="020B0604020202020204" pitchFamily="34" charset="0"/>
              </a:rPr>
              <a:t>Complementary color schemes are tricky to use in large doses, but work well when you want something to stand out.</a:t>
            </a:r>
          </a:p>
          <a:p>
            <a:pPr eaLnBrk="1" hangingPunct="1"/>
            <a:r>
              <a:rPr lang="en-US" altLang="en-US" dirty="0">
                <a:latin typeface="Garamond" panose="02020404030301010803" pitchFamily="18" charset="0"/>
                <a:ea typeface="ＭＳ Ｐゴシック" panose="020B0600070205080204" pitchFamily="34" charset="-128"/>
                <a:cs typeface="Arial" panose="020B0604020202020204" pitchFamily="34" charset="0"/>
              </a:rPr>
              <a:t>Complementary colors are really bad for text.</a:t>
            </a:r>
          </a:p>
        </p:txBody>
      </p:sp>
    </p:spTree>
    <p:extLst>
      <p:ext uri="{BB962C8B-B14F-4D97-AF65-F5344CB8AC3E}">
        <p14:creationId xmlns:p14="http://schemas.microsoft.com/office/powerpoint/2010/main" val="37126846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77B3D1F8-4B08-4A1B-91BB-5B1B02D9505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AC3699A0-A1FC-43D2-84DA-A44E47DA2AF4}" type="slidenum">
              <a:rPr lang="en-US" altLang="en-US"/>
              <a:pPr>
                <a:spcBef>
                  <a:spcPct val="0"/>
                </a:spcBef>
              </a:pPr>
              <a:t>35</a:t>
            </a:fld>
            <a:endParaRPr lang="en-US" altLang="en-US"/>
          </a:p>
        </p:txBody>
      </p:sp>
      <p:sp>
        <p:nvSpPr>
          <p:cNvPr id="10243" name="Rectangle 2">
            <a:extLst>
              <a:ext uri="{FF2B5EF4-FFF2-40B4-BE49-F238E27FC236}">
                <a16:creationId xmlns:a16="http://schemas.microsoft.com/office/drawing/2014/main" id="{2EAFE239-C306-4FCB-9C5B-27E939A7B010}"/>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DF4647C2-279D-44EA-BAD7-804CB4355A1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Analogous color schemes use colors that are next to each other on the color wheel. </a:t>
            </a:r>
          </a:p>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They usually match well and create serene and </a:t>
            </a:r>
            <a:r>
              <a:rPr lang="en-US" altLang="en-US" b="1" dirty="0">
                <a:latin typeface="Arial" panose="020B0604020202020204" pitchFamily="34" charset="0"/>
                <a:ea typeface="ＭＳ Ｐゴシック" panose="020B0600070205080204" pitchFamily="34" charset="-128"/>
                <a:cs typeface="Arial" panose="020B0604020202020204" pitchFamily="34" charset="0"/>
              </a:rPr>
              <a:t>comfortable designs.</a:t>
            </a:r>
          </a:p>
          <a:p>
            <a:pPr eaLnBrk="1" hangingPunct="1"/>
            <a:endParaRPr lang="en-US" altLang="en-US" b="1"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Analogous color schemes are often found in nature and are </a:t>
            </a:r>
            <a:r>
              <a:rPr lang="en-US" altLang="en-US" b="1" dirty="0">
                <a:latin typeface="Arial" panose="020B0604020202020204" pitchFamily="34" charset="0"/>
                <a:ea typeface="ＭＳ Ｐゴシック" panose="020B0600070205080204" pitchFamily="34" charset="-128"/>
                <a:cs typeface="Arial" panose="020B0604020202020204" pitchFamily="34" charset="0"/>
              </a:rPr>
              <a:t>harmonious and pleasing to the eye</a:t>
            </a:r>
            <a:r>
              <a:rPr lang="en-US" altLang="en-US" dirty="0">
                <a:latin typeface="Arial" panose="020B0604020202020204" pitchFamily="34" charset="0"/>
                <a:ea typeface="ＭＳ Ｐゴシック" panose="020B0600070205080204" pitchFamily="34" charset="-128"/>
                <a:cs typeface="Arial" panose="020B0604020202020204" pitchFamily="34" charset="0"/>
              </a:rPr>
              <a:t>.</a:t>
            </a:r>
          </a:p>
        </p:txBody>
      </p:sp>
    </p:spTree>
    <p:extLst>
      <p:ext uri="{BB962C8B-B14F-4D97-AF65-F5344CB8AC3E}">
        <p14:creationId xmlns:p14="http://schemas.microsoft.com/office/powerpoint/2010/main" val="33051253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C15C227F-D717-4D68-B910-0B9BA678F91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E1F07597-6691-461F-B466-5159FE51FA2A}" type="slidenum">
              <a:rPr lang="en-US" altLang="en-US"/>
              <a:pPr>
                <a:spcBef>
                  <a:spcPct val="0"/>
                </a:spcBef>
              </a:pPr>
              <a:t>36</a:t>
            </a:fld>
            <a:endParaRPr lang="en-US" altLang="en-US"/>
          </a:p>
        </p:txBody>
      </p:sp>
      <p:sp>
        <p:nvSpPr>
          <p:cNvPr id="12291" name="Rectangle 2">
            <a:extLst>
              <a:ext uri="{FF2B5EF4-FFF2-40B4-BE49-F238E27FC236}">
                <a16:creationId xmlns:a16="http://schemas.microsoft.com/office/drawing/2014/main" id="{86DA6FEF-97ED-4C74-80B1-83B1AC4133B4}"/>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532ACAC4-1FFA-468E-9E6A-CBDB5A03657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A triadic color scheme uses colors that are evenly spaced around the color wheel.</a:t>
            </a:r>
          </a:p>
          <a:p>
            <a:pPr eaLnBrk="1" hangingPunct="1"/>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Triadic color schemes tend to be quite </a:t>
            </a:r>
            <a:r>
              <a:rPr lang="en-US" altLang="en-US" b="1" dirty="0">
                <a:latin typeface="Arial" panose="020B0604020202020204" pitchFamily="34" charset="0"/>
                <a:ea typeface="ＭＳ Ｐゴシック" panose="020B0600070205080204" pitchFamily="34" charset="-128"/>
                <a:cs typeface="Arial" panose="020B0604020202020204" pitchFamily="34" charset="0"/>
              </a:rPr>
              <a:t>vibrant</a:t>
            </a:r>
            <a:r>
              <a:rPr lang="en-US" altLang="en-US" dirty="0">
                <a:latin typeface="Arial" panose="020B0604020202020204" pitchFamily="34" charset="0"/>
                <a:ea typeface="ＭＳ Ｐゴシック" panose="020B0600070205080204" pitchFamily="34" charset="-128"/>
                <a:cs typeface="Arial" panose="020B0604020202020204" pitchFamily="34" charset="0"/>
              </a:rPr>
              <a:t>, even if you use pale or unsaturated versions of your hues.</a:t>
            </a:r>
          </a:p>
        </p:txBody>
      </p:sp>
    </p:spTree>
    <p:extLst>
      <p:ext uri="{BB962C8B-B14F-4D97-AF65-F5344CB8AC3E}">
        <p14:creationId xmlns:p14="http://schemas.microsoft.com/office/powerpoint/2010/main" val="39814891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D958BE90-23F3-404B-A113-04F084677B4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8CB3AD6B-44E6-47F0-8861-F834310FBB88}" type="slidenum">
              <a:rPr lang="en-US" altLang="en-US"/>
              <a:pPr>
                <a:spcBef>
                  <a:spcPct val="0"/>
                </a:spcBef>
              </a:pPr>
              <a:t>37</a:t>
            </a:fld>
            <a:endParaRPr lang="en-US" altLang="en-US"/>
          </a:p>
        </p:txBody>
      </p:sp>
      <p:sp>
        <p:nvSpPr>
          <p:cNvPr id="14339" name="Rectangle 2">
            <a:extLst>
              <a:ext uri="{FF2B5EF4-FFF2-40B4-BE49-F238E27FC236}">
                <a16:creationId xmlns:a16="http://schemas.microsoft.com/office/drawing/2014/main" id="{8E4A1669-80F2-4374-BE33-017A115AC908}"/>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24C7622E-F38B-46D3-88A1-16859581484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The split-complementary color scheme is a variation of the complementary color scheme. </a:t>
            </a:r>
          </a:p>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In addition to the </a:t>
            </a:r>
            <a:r>
              <a:rPr lang="en-US" altLang="en-US" b="1" dirty="0">
                <a:latin typeface="Arial" panose="020B0604020202020204" pitchFamily="34" charset="0"/>
                <a:ea typeface="ＭＳ Ｐゴシック" panose="020B0600070205080204" pitchFamily="34" charset="-128"/>
                <a:cs typeface="Arial" panose="020B0604020202020204" pitchFamily="34" charset="0"/>
              </a:rPr>
              <a:t>base color</a:t>
            </a:r>
            <a:r>
              <a:rPr lang="en-US" altLang="en-US" dirty="0">
                <a:latin typeface="Arial" panose="020B0604020202020204" pitchFamily="34" charset="0"/>
                <a:ea typeface="ＭＳ Ｐゴシック" panose="020B0600070205080204" pitchFamily="34" charset="-128"/>
                <a:cs typeface="Arial" panose="020B0604020202020204" pitchFamily="34" charset="0"/>
              </a:rPr>
              <a:t>, it uses the </a:t>
            </a:r>
            <a:r>
              <a:rPr lang="en-US" altLang="en-US" b="1" dirty="0">
                <a:latin typeface="Arial" panose="020B0604020202020204" pitchFamily="34" charset="0"/>
                <a:ea typeface="ＭＳ Ｐゴシック" panose="020B0600070205080204" pitchFamily="34" charset="-128"/>
                <a:cs typeface="Arial" panose="020B0604020202020204" pitchFamily="34" charset="0"/>
              </a:rPr>
              <a:t>two colors adjacent to its complement</a:t>
            </a:r>
            <a:r>
              <a:rPr lang="en-US" altLang="en-US" dirty="0">
                <a:latin typeface="Arial" panose="020B0604020202020204" pitchFamily="34" charset="0"/>
                <a:ea typeface="ＭＳ Ｐゴシック" panose="020B0600070205080204" pitchFamily="34" charset="-128"/>
                <a:cs typeface="Arial" panose="020B0604020202020204" pitchFamily="34" charset="0"/>
              </a:rPr>
              <a:t>.</a:t>
            </a:r>
          </a:p>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This color scheme has the same strong visual contrast as the complementary color scheme, but has less tension.</a:t>
            </a:r>
          </a:p>
        </p:txBody>
      </p:sp>
    </p:spTree>
    <p:extLst>
      <p:ext uri="{BB962C8B-B14F-4D97-AF65-F5344CB8AC3E}">
        <p14:creationId xmlns:p14="http://schemas.microsoft.com/office/powerpoint/2010/main" val="21359815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74458EE9-95CB-4164-96E5-F00230F9C36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AB288DE8-D730-4C82-8BA5-DD44987007FC}" type="slidenum">
              <a:rPr lang="en-US" altLang="en-US"/>
              <a:pPr>
                <a:spcBef>
                  <a:spcPct val="0"/>
                </a:spcBef>
              </a:pPr>
              <a:t>38</a:t>
            </a:fld>
            <a:endParaRPr lang="en-US" altLang="en-US"/>
          </a:p>
        </p:txBody>
      </p:sp>
      <p:sp>
        <p:nvSpPr>
          <p:cNvPr id="16387" name="Rectangle 2">
            <a:extLst>
              <a:ext uri="{FF2B5EF4-FFF2-40B4-BE49-F238E27FC236}">
                <a16:creationId xmlns:a16="http://schemas.microsoft.com/office/drawing/2014/main" id="{4D74C8BC-19B1-4ABF-992B-F73C950AD39F}"/>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819A678A-A613-4ED8-9D51-F4D29F8C4FB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1" dirty="0">
                <a:latin typeface="Arial" panose="020B0604020202020204" pitchFamily="34" charset="0"/>
                <a:ea typeface="ＭＳ Ｐゴシック" panose="020B0600070205080204" pitchFamily="34" charset="-128"/>
                <a:cs typeface="Arial" panose="020B0604020202020204" pitchFamily="34" charset="0"/>
              </a:rPr>
              <a:t>Rectangle (tetradic) color scheme </a:t>
            </a:r>
            <a:br>
              <a:rPr lang="en-US" altLang="en-US" dirty="0">
                <a:latin typeface="Arial" panose="020B0604020202020204" pitchFamily="34" charset="0"/>
                <a:ea typeface="ＭＳ Ｐゴシック" panose="020B0600070205080204" pitchFamily="34" charset="-128"/>
                <a:cs typeface="Arial" panose="020B0604020202020204" pitchFamily="34" charset="0"/>
              </a:rPr>
            </a:br>
            <a:r>
              <a:rPr lang="en-US" altLang="en-US" dirty="0">
                <a:latin typeface="Arial" panose="020B0604020202020204" pitchFamily="34" charset="0"/>
                <a:ea typeface="ＭＳ Ｐゴシック" panose="020B0600070205080204" pitchFamily="34" charset="-128"/>
                <a:cs typeface="Arial" panose="020B0604020202020204" pitchFamily="34" charset="0"/>
              </a:rPr>
              <a:t>The rectangle or tetradic color scheme uses four colors arranged into </a:t>
            </a:r>
            <a:r>
              <a:rPr lang="en-US" altLang="en-US" b="1" dirty="0">
                <a:latin typeface="Arial" panose="020B0604020202020204" pitchFamily="34" charset="0"/>
                <a:ea typeface="ＭＳ Ｐゴシック" panose="020B0600070205080204" pitchFamily="34" charset="-128"/>
                <a:cs typeface="Arial" panose="020B0604020202020204" pitchFamily="34" charset="0"/>
              </a:rPr>
              <a:t>two complementary pairs</a:t>
            </a:r>
            <a:r>
              <a:rPr lang="en-US" altLang="en-US" dirty="0">
                <a:latin typeface="Arial" panose="020B0604020202020204" pitchFamily="34" charset="0"/>
                <a:ea typeface="ＭＳ Ｐゴシック" panose="020B0600070205080204" pitchFamily="34" charset="-128"/>
                <a:cs typeface="Arial" panose="020B0604020202020204" pitchFamily="34" charset="0"/>
              </a:rPr>
              <a:t>.</a:t>
            </a:r>
          </a:p>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This rich color scheme offers plenty of possibilities for variation.</a:t>
            </a:r>
          </a:p>
        </p:txBody>
      </p:sp>
    </p:spTree>
    <p:extLst>
      <p:ext uri="{BB962C8B-B14F-4D97-AF65-F5344CB8AC3E}">
        <p14:creationId xmlns:p14="http://schemas.microsoft.com/office/powerpoint/2010/main" val="30461553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B9EF54D8-8FF8-41C6-8E62-1A8F2D47161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18D193D3-3BDD-4C54-BA2D-EEB4BC734818}" type="slidenum">
              <a:rPr lang="en-US" altLang="en-US"/>
              <a:pPr>
                <a:spcBef>
                  <a:spcPct val="0"/>
                </a:spcBef>
              </a:pPr>
              <a:t>39</a:t>
            </a:fld>
            <a:endParaRPr lang="en-US" altLang="en-US"/>
          </a:p>
        </p:txBody>
      </p:sp>
      <p:sp>
        <p:nvSpPr>
          <p:cNvPr id="18435" name="Rectangle 2">
            <a:extLst>
              <a:ext uri="{FF2B5EF4-FFF2-40B4-BE49-F238E27FC236}">
                <a16:creationId xmlns:a16="http://schemas.microsoft.com/office/drawing/2014/main" id="{097372C3-9371-4D16-BFE1-C70BC9DD44E2}"/>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9102EE76-F902-4C8A-868A-65FA3BDA590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cs typeface="Arial" panose="020B0604020202020204" pitchFamily="34" charset="0"/>
              </a:rPr>
              <a:t>The square color scheme is similar to the rectangle, but with all four colors spaced evenly around the color circle.</a:t>
            </a:r>
          </a:p>
          <a:p>
            <a:pPr eaLnBrk="1" hangingPunct="1"/>
            <a:r>
              <a:rPr lang="en-US" altLang="en-US">
                <a:latin typeface="Arial" panose="020B0604020202020204" pitchFamily="34" charset="0"/>
                <a:ea typeface="ＭＳ Ｐゴシック" panose="020B0600070205080204" pitchFamily="34" charset="-128"/>
                <a:cs typeface="Arial" panose="020B0604020202020204" pitchFamily="34" charset="0"/>
              </a:rPr>
              <a:t>Square color schemes works best if you let one color be dominant.</a:t>
            </a:r>
          </a:p>
          <a:p>
            <a:pPr eaLnBrk="1" hangingPunct="1"/>
            <a:r>
              <a:rPr lang="en-US" altLang="en-US">
                <a:latin typeface="Arial" panose="020B0604020202020204" pitchFamily="34" charset="0"/>
                <a:ea typeface="ＭＳ Ｐゴシック" panose="020B0600070205080204" pitchFamily="34" charset="-128"/>
                <a:cs typeface="Arial" panose="020B0604020202020204" pitchFamily="34" charset="0"/>
              </a:rPr>
              <a:t>You should also pay attention to the balance between warm and cool colors in your design.</a:t>
            </a:r>
          </a:p>
        </p:txBody>
      </p:sp>
    </p:spTree>
    <p:extLst>
      <p:ext uri="{BB962C8B-B14F-4D97-AF65-F5344CB8AC3E}">
        <p14:creationId xmlns:p14="http://schemas.microsoft.com/office/powerpoint/2010/main" val="39475253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5DEEF551-200D-438A-B80F-233928EC0AC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01A1673A-48D7-4F8E-9C62-68A7E3085CEA}" type="slidenum">
              <a:rPr lang="en-US" altLang="en-US"/>
              <a:pPr>
                <a:spcBef>
                  <a:spcPct val="0"/>
                </a:spcBef>
              </a:pPr>
              <a:t>40</a:t>
            </a:fld>
            <a:endParaRPr lang="en-US" altLang="en-US"/>
          </a:p>
        </p:txBody>
      </p:sp>
      <p:sp>
        <p:nvSpPr>
          <p:cNvPr id="20483" name="Rectangle 2">
            <a:extLst>
              <a:ext uri="{FF2B5EF4-FFF2-40B4-BE49-F238E27FC236}">
                <a16:creationId xmlns:a16="http://schemas.microsoft.com/office/drawing/2014/main" id="{37A14803-8162-415A-B831-E0543E83C2F1}"/>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0D06C477-5A3D-47F7-A4AB-F7ED0F16100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cs typeface="Arial" panose="020B0604020202020204" pitchFamily="34" charset="0"/>
              </a:rPr>
              <a:t>Warm colors include red, orange, and yellow, and variations of those three colors.</a:t>
            </a:r>
          </a:p>
          <a:p>
            <a:pPr eaLnBrk="1" hangingPunct="1"/>
            <a:r>
              <a:rPr lang="en-US" altLang="en-US">
                <a:latin typeface="Arial" panose="020B0604020202020204" pitchFamily="34" charset="0"/>
                <a:ea typeface="ＭＳ Ｐゴシック" panose="020B0600070205080204" pitchFamily="34" charset="-128"/>
                <a:cs typeface="Arial" panose="020B0604020202020204" pitchFamily="34" charset="0"/>
              </a:rPr>
              <a:t>These are the colors of fire, of fall leaves, and of sunsets and sunrises, and are generally energizing, passionate, and positive.</a:t>
            </a:r>
          </a:p>
          <a:p>
            <a:pPr eaLnBrk="1" hangingPunct="1"/>
            <a:r>
              <a:rPr lang="en-US" altLang="en-US">
                <a:latin typeface="Arial" panose="020B0604020202020204" pitchFamily="34" charset="0"/>
                <a:ea typeface="ＭＳ Ｐゴシック" panose="020B0600070205080204" pitchFamily="34" charset="-128"/>
                <a:cs typeface="Arial" panose="020B0604020202020204" pitchFamily="34" charset="0"/>
              </a:rPr>
              <a:t>As you</a:t>
            </a:r>
            <a:r>
              <a:rPr lang="ja-JP" altLang="en-US">
                <a:latin typeface="Arial" panose="020B0604020202020204" pitchFamily="34" charset="0"/>
                <a:ea typeface="ＭＳ Ｐゴシック" panose="020B0600070205080204" pitchFamily="34" charset="-128"/>
                <a:cs typeface="Arial" panose="020B0604020202020204" pitchFamily="34" charset="0"/>
              </a:rPr>
              <a:t>’</a:t>
            </a:r>
            <a:r>
              <a:rPr lang="en-US" altLang="ja-JP">
                <a:latin typeface="Arial" panose="020B0604020202020204" pitchFamily="34" charset="0"/>
                <a:ea typeface="ＭＳ Ｐゴシック" panose="020B0600070205080204" pitchFamily="34" charset="-128"/>
                <a:cs typeface="Arial" panose="020B0604020202020204" pitchFamily="34" charset="0"/>
              </a:rPr>
              <a:t>ve probably seen, colors can be used to influence mood.</a:t>
            </a:r>
          </a:p>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en-US" altLang="en-US">
                <a:latin typeface="Arial" panose="020B0604020202020204" pitchFamily="34" charset="0"/>
                <a:ea typeface="ＭＳ Ｐゴシック" panose="020B0600070205080204" pitchFamily="34" charset="-128"/>
                <a:cs typeface="Arial" panose="020B0604020202020204" pitchFamily="34" charset="0"/>
              </a:rPr>
              <a:t>Red and yellow are both </a:t>
            </a:r>
            <a:r>
              <a:rPr lang="en-US" altLang="en-US" b="1">
                <a:latin typeface="Arial" panose="020B0604020202020204" pitchFamily="34" charset="0"/>
                <a:ea typeface="ＭＳ Ｐゴシック" panose="020B0600070205080204" pitchFamily="34" charset="-128"/>
                <a:cs typeface="Arial" panose="020B0604020202020204" pitchFamily="34" charset="0"/>
              </a:rPr>
              <a:t>primary colors</a:t>
            </a:r>
            <a:r>
              <a:rPr lang="en-US" altLang="en-US">
                <a:latin typeface="Arial" panose="020B0604020202020204" pitchFamily="34" charset="0"/>
                <a:ea typeface="ＭＳ Ｐゴシック" panose="020B0600070205080204" pitchFamily="34" charset="-128"/>
                <a:cs typeface="Arial" panose="020B0604020202020204" pitchFamily="34" charset="0"/>
              </a:rPr>
              <a:t>, with orange falling in the middle, which means warm colors are all truly warm and aren</a:t>
            </a:r>
            <a:r>
              <a:rPr lang="ja-JP" altLang="en-US">
                <a:latin typeface="Arial" panose="020B0604020202020204" pitchFamily="34" charset="0"/>
                <a:ea typeface="ＭＳ Ｐゴシック" panose="020B0600070205080204" pitchFamily="34" charset="-128"/>
                <a:cs typeface="Arial" panose="020B0604020202020204" pitchFamily="34" charset="0"/>
              </a:rPr>
              <a:t>’</a:t>
            </a:r>
            <a:r>
              <a:rPr lang="en-US" altLang="ja-JP">
                <a:latin typeface="Arial" panose="020B0604020202020204" pitchFamily="34" charset="0"/>
                <a:ea typeface="ＭＳ Ｐゴシック" panose="020B0600070205080204" pitchFamily="34" charset="-128"/>
                <a:cs typeface="Arial" panose="020B0604020202020204" pitchFamily="34" charset="0"/>
              </a:rPr>
              <a:t>t created by combining a warm color with a cool color. Use warm colors in your designs to reflect passion, happiness, enthusiasm, and energy.</a:t>
            </a:r>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423940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47BD946E-D673-41B0-B8F7-19CCE550D27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A2867FA7-F720-42FA-A6B8-70D121DFF210}" type="slidenum">
              <a:rPr lang="en-US" altLang="en-US"/>
              <a:pPr>
                <a:spcBef>
                  <a:spcPct val="0"/>
                </a:spcBef>
              </a:pPr>
              <a:t>41</a:t>
            </a:fld>
            <a:endParaRPr lang="en-US" altLang="en-US"/>
          </a:p>
        </p:txBody>
      </p:sp>
      <p:sp>
        <p:nvSpPr>
          <p:cNvPr id="22531" name="Rectangle 2">
            <a:extLst>
              <a:ext uri="{FF2B5EF4-FFF2-40B4-BE49-F238E27FC236}">
                <a16:creationId xmlns:a16="http://schemas.microsoft.com/office/drawing/2014/main" id="{B50353F7-BC7D-44AE-9255-F6EB0693A616}"/>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E2776FCF-B73C-4C67-AA0D-220444384ED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Cool colors include </a:t>
            </a:r>
            <a:r>
              <a:rPr lang="en-US" altLang="en-US" b="1" dirty="0">
                <a:latin typeface="Arial" panose="020B0604020202020204" pitchFamily="34" charset="0"/>
                <a:ea typeface="ＭＳ Ｐゴシック" panose="020B0600070205080204" pitchFamily="34" charset="-128"/>
                <a:cs typeface="Arial" panose="020B0604020202020204" pitchFamily="34" charset="0"/>
              </a:rPr>
              <a:t>green, blue, and purple</a:t>
            </a:r>
            <a:r>
              <a:rPr lang="en-US" altLang="en-US" dirty="0">
                <a:latin typeface="Arial" panose="020B0604020202020204" pitchFamily="34" charset="0"/>
                <a:ea typeface="ＭＳ Ｐゴシック" panose="020B0600070205080204" pitchFamily="34" charset="-128"/>
                <a:cs typeface="Arial" panose="020B0604020202020204" pitchFamily="34" charset="0"/>
              </a:rPr>
              <a:t>, are often more subdued than warm colors. They are the colors of night, of water, of nature, and are usually calming, relaxing, and somewhat reserved.</a:t>
            </a:r>
          </a:p>
          <a:p>
            <a:pPr eaLnBrk="1" hangingPunct="1"/>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Blue is the only primary color within the cool spectrum, which means the other colors are created by combining blue with a warm color (yellow for green and red for purple). Greens take on some of the attributes of yellow, and purple takes on some of the attributes of red. Use cool colors in your designs to give a sense of </a:t>
            </a:r>
            <a:r>
              <a:rPr lang="en-US" altLang="en-US" b="1" dirty="0">
                <a:latin typeface="Arial" panose="020B0604020202020204" pitchFamily="34" charset="0"/>
                <a:ea typeface="ＭＳ Ｐゴシック" panose="020B0600070205080204" pitchFamily="34" charset="-128"/>
                <a:cs typeface="Arial" panose="020B0604020202020204" pitchFamily="34" charset="0"/>
              </a:rPr>
              <a:t>calm or professionalism</a:t>
            </a:r>
            <a:r>
              <a:rPr lang="en-US" altLang="en-US" dirty="0">
                <a:latin typeface="Arial" panose="020B0604020202020204" pitchFamily="34" charset="0"/>
                <a:ea typeface="ＭＳ Ｐゴシック" panose="020B0600070205080204" pitchFamily="34" charset="-128"/>
                <a:cs typeface="Arial" panose="020B0604020202020204" pitchFamily="34" charset="0"/>
              </a:rPr>
              <a:t>.</a:t>
            </a:r>
          </a:p>
        </p:txBody>
      </p:sp>
    </p:spTree>
    <p:extLst>
      <p:ext uri="{BB962C8B-B14F-4D97-AF65-F5344CB8AC3E}">
        <p14:creationId xmlns:p14="http://schemas.microsoft.com/office/powerpoint/2010/main" val="14374016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47BD946E-D673-41B0-B8F7-19CCE550D27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A2867FA7-F720-42FA-A6B8-70D121DFF210}" type="slidenum">
              <a:rPr lang="en-US" altLang="en-US"/>
              <a:pPr>
                <a:spcBef>
                  <a:spcPct val="0"/>
                </a:spcBef>
              </a:pPr>
              <a:t>42</a:t>
            </a:fld>
            <a:endParaRPr lang="en-US" altLang="en-US"/>
          </a:p>
        </p:txBody>
      </p:sp>
      <p:sp>
        <p:nvSpPr>
          <p:cNvPr id="22531" name="Rectangle 2">
            <a:extLst>
              <a:ext uri="{FF2B5EF4-FFF2-40B4-BE49-F238E27FC236}">
                <a16:creationId xmlns:a16="http://schemas.microsoft.com/office/drawing/2014/main" id="{B50353F7-BC7D-44AE-9255-F6EB0693A616}"/>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E2776FCF-B73C-4C67-AA0D-220444384ED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Cool colors include </a:t>
            </a:r>
            <a:r>
              <a:rPr lang="en-US" altLang="en-US" b="1" dirty="0">
                <a:latin typeface="Arial" panose="020B0604020202020204" pitchFamily="34" charset="0"/>
                <a:ea typeface="ＭＳ Ｐゴシック" panose="020B0600070205080204" pitchFamily="34" charset="-128"/>
                <a:cs typeface="Arial" panose="020B0604020202020204" pitchFamily="34" charset="0"/>
              </a:rPr>
              <a:t>green, blue, and purple</a:t>
            </a:r>
            <a:r>
              <a:rPr lang="en-US" altLang="en-US" dirty="0">
                <a:latin typeface="Arial" panose="020B0604020202020204" pitchFamily="34" charset="0"/>
                <a:ea typeface="ＭＳ Ｐゴシック" panose="020B0600070205080204" pitchFamily="34" charset="-128"/>
                <a:cs typeface="Arial" panose="020B0604020202020204" pitchFamily="34" charset="0"/>
              </a:rPr>
              <a:t>, are often more subdued than warm colors. They are the colors of night, of water, of nature, and are usually calming, relaxing, and somewhat reserved.</a:t>
            </a:r>
          </a:p>
          <a:p>
            <a:pPr eaLnBrk="1" hangingPunct="1"/>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en-US" altLang="en-US" dirty="0">
                <a:latin typeface="Arial" panose="020B0604020202020204" pitchFamily="34" charset="0"/>
                <a:ea typeface="ＭＳ Ｐゴシック" panose="020B0600070205080204" pitchFamily="34" charset="-128"/>
                <a:cs typeface="Arial" panose="020B0604020202020204" pitchFamily="34" charset="0"/>
              </a:rPr>
              <a:t>Blue is the only primary color within the cool spectrum, which means the other colors are created by combining blue with a warm color (yellow for green and red for purple). Greens take on some of the attributes of yellow, and purple takes on some of the attributes of red. Use cool colors in your designs to give a sense of </a:t>
            </a:r>
            <a:r>
              <a:rPr lang="en-US" altLang="en-US" b="1" dirty="0">
                <a:latin typeface="Arial" panose="020B0604020202020204" pitchFamily="34" charset="0"/>
                <a:ea typeface="ＭＳ Ｐゴシック" panose="020B0600070205080204" pitchFamily="34" charset="-128"/>
                <a:cs typeface="Arial" panose="020B0604020202020204" pitchFamily="34" charset="0"/>
              </a:rPr>
              <a:t>calm or professionalism</a:t>
            </a:r>
            <a:r>
              <a:rPr lang="en-US" altLang="en-US" dirty="0">
                <a:latin typeface="Arial" panose="020B0604020202020204" pitchFamily="34" charset="0"/>
                <a:ea typeface="ＭＳ Ｐゴシック" panose="020B0600070205080204" pitchFamily="34" charset="-128"/>
                <a:cs typeface="Arial" panose="020B0604020202020204" pitchFamily="34" charset="0"/>
              </a:rPr>
              <a:t>.</a:t>
            </a:r>
          </a:p>
        </p:txBody>
      </p:sp>
    </p:spTree>
    <p:extLst>
      <p:ext uri="{BB962C8B-B14F-4D97-AF65-F5344CB8AC3E}">
        <p14:creationId xmlns:p14="http://schemas.microsoft.com/office/powerpoint/2010/main" val="10120434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10/14/19</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10/14/19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10/14/19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10/14/19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10/14/19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10/14/19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10/14/19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10/14/19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10/14/19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10/14/19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10/14/19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10/14/19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10/14/19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10/14/19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10/14/19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10/14/19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10/14/19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10/14/19</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3625" y="1871131"/>
            <a:ext cx="7448549" cy="1515533"/>
          </a:xfrm>
        </p:spPr>
        <p:txBody>
          <a:bodyPr/>
          <a:lstStyle/>
          <a:p>
            <a:r>
              <a:rPr lang="en-US" sz="4400" dirty="0"/>
              <a:t>Storytelling through Lighting</a:t>
            </a:r>
          </a:p>
        </p:txBody>
      </p:sp>
      <p:sp>
        <p:nvSpPr>
          <p:cNvPr id="5" name="Subtitle 4">
            <a:extLst>
              <a:ext uri="{FF2B5EF4-FFF2-40B4-BE49-F238E27FC236}">
                <a16:creationId xmlns:a16="http://schemas.microsoft.com/office/drawing/2014/main" id="{70C6AD92-1E75-4AE6-A160-8290338F1B5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35282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72A76-26CA-4224-A2EB-74D6DC4AFD6D}"/>
              </a:ext>
            </a:extLst>
          </p:cNvPr>
          <p:cNvSpPr>
            <a:spLocks noGrp="1"/>
          </p:cNvSpPr>
          <p:nvPr>
            <p:ph type="title"/>
          </p:nvPr>
        </p:nvSpPr>
        <p:spPr/>
        <p:txBody>
          <a:bodyPr/>
          <a:lstStyle/>
          <a:p>
            <a:r>
              <a:rPr lang="en-US" dirty="0"/>
              <a:t>Storytelling through Light</a:t>
            </a:r>
          </a:p>
        </p:txBody>
      </p:sp>
      <p:sp>
        <p:nvSpPr>
          <p:cNvPr id="3" name="Content Placeholder 2">
            <a:extLst>
              <a:ext uri="{FF2B5EF4-FFF2-40B4-BE49-F238E27FC236}">
                <a16:creationId xmlns:a16="http://schemas.microsoft.com/office/drawing/2014/main" id="{4B655577-860D-490F-AFCD-07C66439A64A}"/>
              </a:ext>
            </a:extLst>
          </p:cNvPr>
          <p:cNvSpPr>
            <a:spLocks noGrp="1"/>
          </p:cNvSpPr>
          <p:nvPr>
            <p:ph idx="1"/>
          </p:nvPr>
        </p:nvSpPr>
        <p:spPr>
          <a:xfrm>
            <a:off x="1295401" y="2556932"/>
            <a:ext cx="4800599" cy="3318936"/>
          </a:xfrm>
        </p:spPr>
        <p:txBody>
          <a:bodyPr/>
          <a:lstStyle/>
          <a:p>
            <a:r>
              <a:rPr lang="en-US" b="1" dirty="0">
                <a:solidFill>
                  <a:schemeClr val="tx1"/>
                </a:solidFill>
              </a:rPr>
              <a:t>Telling vs. Showing:</a:t>
            </a:r>
            <a:r>
              <a:rPr lang="en-US" dirty="0">
                <a:solidFill>
                  <a:schemeClr val="tx1"/>
                </a:solidFill>
              </a:rPr>
              <a:t> Nothing in visual storytelling should be a coincidence.</a:t>
            </a:r>
          </a:p>
          <a:p>
            <a:r>
              <a:rPr lang="en-US" dirty="0">
                <a:solidFill>
                  <a:schemeClr val="tx1"/>
                </a:solidFill>
              </a:rPr>
              <a:t>The viewer needs all these pieces to put together their own interpretation of the story.</a:t>
            </a:r>
          </a:p>
          <a:p>
            <a:r>
              <a:rPr lang="en-US" dirty="0">
                <a:solidFill>
                  <a:schemeClr val="tx1"/>
                </a:solidFill>
              </a:rPr>
              <a:t>Light is one of the most important elements in visual storytelling.</a:t>
            </a:r>
            <a:endParaRPr lang="en-US" dirty="0"/>
          </a:p>
        </p:txBody>
      </p:sp>
      <p:pic>
        <p:nvPicPr>
          <p:cNvPr id="32770" name="Picture 2" descr="Image result for pixar lighting">
            <a:extLst>
              <a:ext uri="{FF2B5EF4-FFF2-40B4-BE49-F238E27FC236}">
                <a16:creationId xmlns:a16="http://schemas.microsoft.com/office/drawing/2014/main" id="{02FD109F-96F4-4E6B-A145-50BF89F4568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3721"/>
          <a:stretch/>
        </p:blipFill>
        <p:spPr bwMode="auto">
          <a:xfrm>
            <a:off x="6096000" y="2472083"/>
            <a:ext cx="5272824" cy="34037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3230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72A76-26CA-4224-A2EB-74D6DC4AFD6D}"/>
              </a:ext>
            </a:extLst>
          </p:cNvPr>
          <p:cNvSpPr>
            <a:spLocks noGrp="1"/>
          </p:cNvSpPr>
          <p:nvPr>
            <p:ph type="title"/>
          </p:nvPr>
        </p:nvSpPr>
        <p:spPr/>
        <p:txBody>
          <a:bodyPr/>
          <a:lstStyle/>
          <a:p>
            <a:r>
              <a:rPr lang="en-US" dirty="0"/>
              <a:t>Storytelling through Light</a:t>
            </a:r>
          </a:p>
        </p:txBody>
      </p:sp>
      <p:sp>
        <p:nvSpPr>
          <p:cNvPr id="3" name="Content Placeholder 2">
            <a:extLst>
              <a:ext uri="{FF2B5EF4-FFF2-40B4-BE49-F238E27FC236}">
                <a16:creationId xmlns:a16="http://schemas.microsoft.com/office/drawing/2014/main" id="{4B655577-860D-490F-AFCD-07C66439A64A}"/>
              </a:ext>
            </a:extLst>
          </p:cNvPr>
          <p:cNvSpPr>
            <a:spLocks noGrp="1"/>
          </p:cNvSpPr>
          <p:nvPr>
            <p:ph idx="1"/>
          </p:nvPr>
        </p:nvSpPr>
        <p:spPr>
          <a:xfrm>
            <a:off x="5254579" y="2556931"/>
            <a:ext cx="5642017" cy="3599169"/>
          </a:xfrm>
        </p:spPr>
        <p:txBody>
          <a:bodyPr>
            <a:normAutofit lnSpcReduction="10000"/>
          </a:bodyPr>
          <a:lstStyle/>
          <a:p>
            <a:r>
              <a:rPr lang="en-US" dirty="0">
                <a:solidFill>
                  <a:schemeClr val="tx1"/>
                </a:solidFill>
              </a:rPr>
              <a:t>Lighting was very important in early days of film because of </a:t>
            </a:r>
            <a:r>
              <a:rPr lang="en-US" b="1" dirty="0">
                <a:solidFill>
                  <a:schemeClr val="tx1"/>
                </a:solidFill>
              </a:rPr>
              <a:t>its need for proper exposure</a:t>
            </a:r>
            <a:r>
              <a:rPr lang="en-US" dirty="0">
                <a:solidFill>
                  <a:schemeClr val="tx1"/>
                </a:solidFill>
              </a:rPr>
              <a:t>.</a:t>
            </a:r>
          </a:p>
          <a:p>
            <a:r>
              <a:rPr lang="en-US" dirty="0">
                <a:solidFill>
                  <a:schemeClr val="tx1"/>
                </a:solidFill>
              </a:rPr>
              <a:t>Emergence of film noir genre helped develop </a:t>
            </a:r>
            <a:r>
              <a:rPr lang="en-US" b="1" dirty="0">
                <a:solidFill>
                  <a:schemeClr val="tx1"/>
                </a:solidFill>
              </a:rPr>
              <a:t>lighting as a form of expression </a:t>
            </a:r>
            <a:r>
              <a:rPr lang="en-US" dirty="0">
                <a:solidFill>
                  <a:schemeClr val="tx1"/>
                </a:solidFill>
              </a:rPr>
              <a:t>in film.</a:t>
            </a:r>
          </a:p>
          <a:p>
            <a:r>
              <a:rPr lang="en-US" dirty="0">
                <a:solidFill>
                  <a:schemeClr val="tx1"/>
                </a:solidFill>
              </a:rPr>
              <a:t>Many still use the techniques that were developed at that time today as way to direct audience’s attention.</a:t>
            </a:r>
            <a:endParaRPr lang="en-US" dirty="0"/>
          </a:p>
        </p:txBody>
      </p:sp>
      <p:pic>
        <p:nvPicPr>
          <p:cNvPr id="31750" name="Picture 6" descr="Image result for the maltese falcon lighting">
            <a:extLst>
              <a:ext uri="{FF2B5EF4-FFF2-40B4-BE49-F238E27FC236}">
                <a16:creationId xmlns:a16="http://schemas.microsoft.com/office/drawing/2014/main" id="{FA19C1EF-D506-404E-B788-406C808EB0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708" y="2665927"/>
            <a:ext cx="4128880" cy="3026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826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8A83B-3266-44C2-9322-4999BBB4E70B}"/>
              </a:ext>
            </a:extLst>
          </p:cNvPr>
          <p:cNvSpPr>
            <a:spLocks noGrp="1"/>
          </p:cNvSpPr>
          <p:nvPr>
            <p:ph type="title"/>
          </p:nvPr>
        </p:nvSpPr>
        <p:spPr/>
        <p:txBody>
          <a:bodyPr>
            <a:normAutofit fontScale="90000"/>
          </a:bodyPr>
          <a:lstStyle/>
          <a:p>
            <a:r>
              <a:rPr lang="en-US" dirty="0">
                <a:solidFill>
                  <a:schemeClr val="tx1"/>
                </a:solidFill>
              </a:rPr>
              <a:t>Lighting Design for Film and 3D animation</a:t>
            </a:r>
            <a:endParaRPr lang="en-US" dirty="0"/>
          </a:p>
        </p:txBody>
      </p:sp>
      <p:sp>
        <p:nvSpPr>
          <p:cNvPr id="3" name="Content Placeholder 2">
            <a:extLst>
              <a:ext uri="{FF2B5EF4-FFF2-40B4-BE49-F238E27FC236}">
                <a16:creationId xmlns:a16="http://schemas.microsoft.com/office/drawing/2014/main" id="{CB1E5B67-13AE-4337-814C-61C40B563C01}"/>
              </a:ext>
            </a:extLst>
          </p:cNvPr>
          <p:cNvSpPr>
            <a:spLocks noGrp="1"/>
          </p:cNvSpPr>
          <p:nvPr>
            <p:ph idx="1"/>
          </p:nvPr>
        </p:nvSpPr>
        <p:spPr/>
        <p:txBody>
          <a:bodyPr/>
          <a:lstStyle/>
          <a:p>
            <a:r>
              <a:rPr lang="en-US" dirty="0"/>
              <a:t>While lighting for film requires light setup, lighting in 3D is done with virtual lights.</a:t>
            </a:r>
          </a:p>
          <a:p>
            <a:r>
              <a:rPr lang="en-US" dirty="0"/>
              <a:t>Artists </a:t>
            </a:r>
            <a:r>
              <a:rPr lang="en-US" b="1" dirty="0"/>
              <a:t>mimic</a:t>
            </a:r>
            <a:r>
              <a:rPr lang="en-US" dirty="0"/>
              <a:t> </a:t>
            </a:r>
            <a:r>
              <a:rPr lang="en-US" b="1" dirty="0"/>
              <a:t>the skill of real-world </a:t>
            </a:r>
            <a:r>
              <a:rPr lang="en-US" dirty="0"/>
              <a:t>lighting in the software.</a:t>
            </a:r>
          </a:p>
          <a:p>
            <a:r>
              <a:rPr lang="en-US" dirty="0"/>
              <a:t>Clear direction is needed on the intended mood for a scene.</a:t>
            </a:r>
          </a:p>
        </p:txBody>
      </p:sp>
    </p:spTree>
    <p:extLst>
      <p:ext uri="{BB962C8B-B14F-4D97-AF65-F5344CB8AC3E}">
        <p14:creationId xmlns:p14="http://schemas.microsoft.com/office/powerpoint/2010/main" val="4149547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8A83B-3266-44C2-9322-4999BBB4E70B}"/>
              </a:ext>
            </a:extLst>
          </p:cNvPr>
          <p:cNvSpPr>
            <a:spLocks noGrp="1"/>
          </p:cNvSpPr>
          <p:nvPr>
            <p:ph type="title"/>
          </p:nvPr>
        </p:nvSpPr>
        <p:spPr/>
        <p:txBody>
          <a:bodyPr>
            <a:normAutofit fontScale="90000"/>
          </a:bodyPr>
          <a:lstStyle/>
          <a:p>
            <a:r>
              <a:rPr lang="en-US" dirty="0">
                <a:solidFill>
                  <a:schemeClr val="tx1"/>
                </a:solidFill>
              </a:rPr>
              <a:t>Lighting Design for Film and 3D animation</a:t>
            </a:r>
            <a:endParaRPr lang="en-US" dirty="0"/>
          </a:p>
        </p:txBody>
      </p:sp>
      <p:sp>
        <p:nvSpPr>
          <p:cNvPr id="3" name="Content Placeholder 2">
            <a:extLst>
              <a:ext uri="{FF2B5EF4-FFF2-40B4-BE49-F238E27FC236}">
                <a16:creationId xmlns:a16="http://schemas.microsoft.com/office/drawing/2014/main" id="{CB1E5B67-13AE-4337-814C-61C40B563C01}"/>
              </a:ext>
            </a:extLst>
          </p:cNvPr>
          <p:cNvSpPr>
            <a:spLocks noGrp="1"/>
          </p:cNvSpPr>
          <p:nvPr>
            <p:ph idx="1"/>
          </p:nvPr>
        </p:nvSpPr>
        <p:spPr/>
        <p:txBody>
          <a:bodyPr/>
          <a:lstStyle/>
          <a:p>
            <a:r>
              <a:rPr lang="en-US" dirty="0"/>
              <a:t>While lighting for film requires light setup, lighting in 3D is done with virtual lights.</a:t>
            </a:r>
          </a:p>
          <a:p>
            <a:r>
              <a:rPr lang="en-US" dirty="0"/>
              <a:t>Artists mimic the skill of real-world lighting in the software.</a:t>
            </a:r>
          </a:p>
          <a:p>
            <a:r>
              <a:rPr lang="en-US" b="1" dirty="0"/>
              <a:t>Clear direction </a:t>
            </a:r>
            <a:r>
              <a:rPr lang="en-US" dirty="0"/>
              <a:t>is needed on the intended mood for a scene.</a:t>
            </a:r>
          </a:p>
        </p:txBody>
      </p:sp>
    </p:spTree>
    <p:extLst>
      <p:ext uri="{BB962C8B-B14F-4D97-AF65-F5344CB8AC3E}">
        <p14:creationId xmlns:p14="http://schemas.microsoft.com/office/powerpoint/2010/main" val="4044516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A679A-37CF-4850-8278-89B4D7BAE5E3}"/>
              </a:ext>
            </a:extLst>
          </p:cNvPr>
          <p:cNvSpPr>
            <a:spLocks noGrp="1"/>
          </p:cNvSpPr>
          <p:nvPr>
            <p:ph type="title"/>
          </p:nvPr>
        </p:nvSpPr>
        <p:spPr/>
        <p:txBody>
          <a:bodyPr>
            <a:normAutofit fontScale="90000"/>
          </a:bodyPr>
          <a:lstStyle/>
          <a:p>
            <a:r>
              <a:rPr lang="en-US" dirty="0">
                <a:solidFill>
                  <a:schemeClr val="tx1"/>
                </a:solidFill>
              </a:rPr>
              <a:t>Three Point Lighting</a:t>
            </a:r>
            <a:br>
              <a:rPr lang="en-US" dirty="0">
                <a:solidFill>
                  <a:schemeClr val="tx1"/>
                </a:solidFill>
              </a:rPr>
            </a:br>
            <a:endParaRPr lang="en-US" dirty="0"/>
          </a:p>
        </p:txBody>
      </p:sp>
      <p:sp>
        <p:nvSpPr>
          <p:cNvPr id="3" name="Content Placeholder 2">
            <a:extLst>
              <a:ext uri="{FF2B5EF4-FFF2-40B4-BE49-F238E27FC236}">
                <a16:creationId xmlns:a16="http://schemas.microsoft.com/office/drawing/2014/main" id="{A4AC1D7D-2F39-4009-A115-46303B655EFB}"/>
              </a:ext>
            </a:extLst>
          </p:cNvPr>
          <p:cNvSpPr>
            <a:spLocks noGrp="1"/>
          </p:cNvSpPr>
          <p:nvPr>
            <p:ph idx="1"/>
          </p:nvPr>
        </p:nvSpPr>
        <p:spPr>
          <a:xfrm>
            <a:off x="6323527" y="2556932"/>
            <a:ext cx="4573070" cy="3318936"/>
          </a:xfrm>
        </p:spPr>
        <p:txBody>
          <a:bodyPr/>
          <a:lstStyle/>
          <a:p>
            <a:r>
              <a:rPr lang="en-US" dirty="0">
                <a:solidFill>
                  <a:schemeClr val="tx1"/>
                </a:solidFill>
              </a:rPr>
              <a:t>Became a standard during the classical Hollywood of the 1930s and 1940s.</a:t>
            </a:r>
          </a:p>
          <a:p>
            <a:r>
              <a:rPr lang="en-US" dirty="0">
                <a:solidFill>
                  <a:schemeClr val="tx1"/>
                </a:solidFill>
              </a:rPr>
              <a:t>Still used as starting point for many productions.</a:t>
            </a:r>
          </a:p>
          <a:p>
            <a:r>
              <a:rPr lang="en-US" dirty="0">
                <a:solidFill>
                  <a:schemeClr val="tx1"/>
                </a:solidFill>
              </a:rPr>
              <a:t>Setup includes key light, fill light, back light.</a:t>
            </a:r>
            <a:endParaRPr lang="en-US" dirty="0"/>
          </a:p>
        </p:txBody>
      </p:sp>
      <p:pic>
        <p:nvPicPr>
          <p:cNvPr id="30722" name="Picture 2" descr="Image result for three point lighting">
            <a:extLst>
              <a:ext uri="{FF2B5EF4-FFF2-40B4-BE49-F238E27FC236}">
                <a16:creationId xmlns:a16="http://schemas.microsoft.com/office/drawing/2014/main" id="{81819B54-0B2D-4C46-B43C-B6B456948D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6516" y="2556932"/>
            <a:ext cx="4959484" cy="3722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3522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A679A-37CF-4850-8278-89B4D7BAE5E3}"/>
              </a:ext>
            </a:extLst>
          </p:cNvPr>
          <p:cNvSpPr>
            <a:spLocks noGrp="1"/>
          </p:cNvSpPr>
          <p:nvPr>
            <p:ph type="title"/>
          </p:nvPr>
        </p:nvSpPr>
        <p:spPr/>
        <p:txBody>
          <a:bodyPr>
            <a:normAutofit fontScale="90000"/>
          </a:bodyPr>
          <a:lstStyle/>
          <a:p>
            <a:r>
              <a:rPr lang="en-US" dirty="0">
                <a:solidFill>
                  <a:schemeClr val="tx1"/>
                </a:solidFill>
              </a:rPr>
              <a:t>Key Light</a:t>
            </a:r>
            <a:br>
              <a:rPr lang="en-US" dirty="0">
                <a:solidFill>
                  <a:schemeClr val="tx1"/>
                </a:solidFill>
              </a:rPr>
            </a:br>
            <a:endParaRPr lang="en-US" dirty="0"/>
          </a:p>
        </p:txBody>
      </p:sp>
      <p:sp>
        <p:nvSpPr>
          <p:cNvPr id="3" name="Content Placeholder 2">
            <a:extLst>
              <a:ext uri="{FF2B5EF4-FFF2-40B4-BE49-F238E27FC236}">
                <a16:creationId xmlns:a16="http://schemas.microsoft.com/office/drawing/2014/main" id="{A4AC1D7D-2F39-4009-A115-46303B655EFB}"/>
              </a:ext>
            </a:extLst>
          </p:cNvPr>
          <p:cNvSpPr>
            <a:spLocks noGrp="1"/>
          </p:cNvSpPr>
          <p:nvPr>
            <p:ph idx="1"/>
          </p:nvPr>
        </p:nvSpPr>
        <p:spPr>
          <a:xfrm>
            <a:off x="1295401" y="2556932"/>
            <a:ext cx="4538729" cy="3318936"/>
          </a:xfrm>
        </p:spPr>
        <p:txBody>
          <a:bodyPr>
            <a:normAutofit/>
          </a:bodyPr>
          <a:lstStyle/>
          <a:p>
            <a:r>
              <a:rPr lang="en-US" dirty="0">
                <a:solidFill>
                  <a:schemeClr val="tx1"/>
                </a:solidFill>
              </a:rPr>
              <a:t>Key light is the main source of a </a:t>
            </a:r>
            <a:r>
              <a:rPr lang="en-US" b="1" dirty="0">
                <a:solidFill>
                  <a:schemeClr val="tx1"/>
                </a:solidFill>
              </a:rPr>
              <a:t>light that defines the </a:t>
            </a:r>
            <a:r>
              <a:rPr lang="en-US" b="1" u="sng" dirty="0">
                <a:solidFill>
                  <a:schemeClr val="tx1"/>
                </a:solidFill>
              </a:rPr>
              <a:t>main subject </a:t>
            </a:r>
            <a:r>
              <a:rPr lang="en-US" b="1" dirty="0">
                <a:solidFill>
                  <a:schemeClr val="tx1"/>
                </a:solidFill>
              </a:rPr>
              <a:t>or object </a:t>
            </a:r>
            <a:r>
              <a:rPr lang="en-US" dirty="0">
                <a:solidFill>
                  <a:schemeClr val="tx1"/>
                </a:solidFill>
              </a:rPr>
              <a:t>within a shot. </a:t>
            </a:r>
          </a:p>
          <a:p>
            <a:r>
              <a:rPr lang="en-US" dirty="0">
                <a:solidFill>
                  <a:schemeClr val="tx1"/>
                </a:solidFill>
              </a:rPr>
              <a:t>Usually placed at a 45 degree angle from either the right or left side of the camera. </a:t>
            </a:r>
          </a:p>
          <a:p>
            <a:pPr marL="0" indent="0">
              <a:buNone/>
            </a:pPr>
            <a:endParaRPr lang="en-US" dirty="0"/>
          </a:p>
        </p:txBody>
      </p:sp>
      <p:pic>
        <p:nvPicPr>
          <p:cNvPr id="33794" name="Picture 2" descr="Image result for key light example">
            <a:extLst>
              <a:ext uri="{FF2B5EF4-FFF2-40B4-BE49-F238E27FC236}">
                <a16:creationId xmlns:a16="http://schemas.microsoft.com/office/drawing/2014/main" id="{35DE1BCC-B301-4D1C-9B1C-0B885F9CFD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7872" y="2611001"/>
            <a:ext cx="4908345" cy="3327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6989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A679A-37CF-4850-8278-89B4D7BAE5E3}"/>
              </a:ext>
            </a:extLst>
          </p:cNvPr>
          <p:cNvSpPr>
            <a:spLocks noGrp="1"/>
          </p:cNvSpPr>
          <p:nvPr>
            <p:ph type="title"/>
          </p:nvPr>
        </p:nvSpPr>
        <p:spPr/>
        <p:txBody>
          <a:bodyPr>
            <a:normAutofit fontScale="90000"/>
          </a:bodyPr>
          <a:lstStyle/>
          <a:p>
            <a:r>
              <a:rPr lang="en-US" dirty="0">
                <a:solidFill>
                  <a:schemeClr val="tx1"/>
                </a:solidFill>
              </a:rPr>
              <a:t>Key Light</a:t>
            </a:r>
            <a:br>
              <a:rPr lang="en-US" dirty="0">
                <a:solidFill>
                  <a:schemeClr val="tx1"/>
                </a:solidFill>
              </a:rPr>
            </a:br>
            <a:endParaRPr lang="en-US" dirty="0"/>
          </a:p>
        </p:txBody>
      </p:sp>
      <p:sp>
        <p:nvSpPr>
          <p:cNvPr id="3" name="Content Placeholder 2">
            <a:extLst>
              <a:ext uri="{FF2B5EF4-FFF2-40B4-BE49-F238E27FC236}">
                <a16:creationId xmlns:a16="http://schemas.microsoft.com/office/drawing/2014/main" id="{A4AC1D7D-2F39-4009-A115-46303B655EFB}"/>
              </a:ext>
            </a:extLst>
          </p:cNvPr>
          <p:cNvSpPr>
            <a:spLocks noGrp="1"/>
          </p:cNvSpPr>
          <p:nvPr>
            <p:ph idx="1"/>
          </p:nvPr>
        </p:nvSpPr>
        <p:spPr>
          <a:xfrm>
            <a:off x="6095999" y="2556932"/>
            <a:ext cx="4800597" cy="3318936"/>
          </a:xfrm>
        </p:spPr>
        <p:txBody>
          <a:bodyPr>
            <a:normAutofit/>
          </a:bodyPr>
          <a:lstStyle/>
          <a:p>
            <a:r>
              <a:rPr lang="en-US" dirty="0">
                <a:solidFill>
                  <a:schemeClr val="tx1"/>
                </a:solidFill>
              </a:rPr>
              <a:t>The key light illuminates the subject and create shadows, which bring out the texture of an object or character. </a:t>
            </a:r>
          </a:p>
          <a:p>
            <a:r>
              <a:rPr lang="en-US" dirty="0">
                <a:solidFill>
                  <a:schemeClr val="tx1"/>
                </a:solidFill>
              </a:rPr>
              <a:t>The sun is often considered a key light source, although direct sunlight can produce harsh shadows at certain times of the day. </a:t>
            </a:r>
          </a:p>
          <a:p>
            <a:endParaRPr lang="en-US" dirty="0"/>
          </a:p>
        </p:txBody>
      </p:sp>
      <p:pic>
        <p:nvPicPr>
          <p:cNvPr id="1026" name="Picture 2" descr="Image result for three point lighting movies">
            <a:extLst>
              <a:ext uri="{FF2B5EF4-FFF2-40B4-BE49-F238E27FC236}">
                <a16:creationId xmlns:a16="http://schemas.microsoft.com/office/drawing/2014/main" id="{6B0AAD4E-E8EC-4D96-B472-3081752B99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548" y="2621102"/>
            <a:ext cx="4721151" cy="297135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cxnSp>
        <p:nvCxnSpPr>
          <p:cNvPr id="5" name="Straight Arrow Connector 4">
            <a:extLst>
              <a:ext uri="{FF2B5EF4-FFF2-40B4-BE49-F238E27FC236}">
                <a16:creationId xmlns:a16="http://schemas.microsoft.com/office/drawing/2014/main" id="{0BBA89BF-56E2-324C-9826-5B27864FF514}"/>
              </a:ext>
            </a:extLst>
          </p:cNvPr>
          <p:cNvCxnSpPr/>
          <p:nvPr/>
        </p:nvCxnSpPr>
        <p:spPr>
          <a:xfrm flipV="1">
            <a:off x="1419388" y="4401519"/>
            <a:ext cx="827866" cy="1549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9959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F71D1-B38B-4F6B-BC39-819AC779638D}"/>
              </a:ext>
            </a:extLst>
          </p:cNvPr>
          <p:cNvSpPr>
            <a:spLocks noGrp="1"/>
          </p:cNvSpPr>
          <p:nvPr>
            <p:ph type="title"/>
          </p:nvPr>
        </p:nvSpPr>
        <p:spPr/>
        <p:txBody>
          <a:bodyPr/>
          <a:lstStyle/>
          <a:p>
            <a:r>
              <a:rPr lang="en-US" dirty="0"/>
              <a:t>Fill Light</a:t>
            </a:r>
          </a:p>
        </p:txBody>
      </p:sp>
      <p:sp>
        <p:nvSpPr>
          <p:cNvPr id="3" name="Content Placeholder 2">
            <a:extLst>
              <a:ext uri="{FF2B5EF4-FFF2-40B4-BE49-F238E27FC236}">
                <a16:creationId xmlns:a16="http://schemas.microsoft.com/office/drawing/2014/main" id="{D5ADF0FC-C1FB-4DBF-B6FF-FBDA4F758D99}"/>
              </a:ext>
            </a:extLst>
          </p:cNvPr>
          <p:cNvSpPr>
            <a:spLocks noGrp="1"/>
          </p:cNvSpPr>
          <p:nvPr>
            <p:ph idx="1"/>
          </p:nvPr>
        </p:nvSpPr>
        <p:spPr>
          <a:xfrm>
            <a:off x="5967663" y="2556932"/>
            <a:ext cx="4928934" cy="3318936"/>
          </a:xfrm>
        </p:spPr>
        <p:txBody>
          <a:bodyPr/>
          <a:lstStyle/>
          <a:p>
            <a:r>
              <a:rPr lang="en-US" dirty="0"/>
              <a:t>“</a:t>
            </a:r>
            <a:r>
              <a:rPr lang="en-US" b="1" dirty="0"/>
              <a:t>Fills in</a:t>
            </a:r>
            <a:r>
              <a:rPr lang="en-US" dirty="0"/>
              <a:t>” or softens the shadows created from main light.</a:t>
            </a:r>
          </a:p>
          <a:p>
            <a:r>
              <a:rPr lang="en-US" dirty="0"/>
              <a:t>Fill light is indirect light source</a:t>
            </a:r>
          </a:p>
          <a:p>
            <a:r>
              <a:rPr lang="en-US" dirty="0"/>
              <a:t>Lowers</a:t>
            </a:r>
            <a:r>
              <a:rPr lang="en-US" dirty="0">
                <a:solidFill>
                  <a:schemeClr val="tx1"/>
                </a:solidFill>
              </a:rPr>
              <a:t> contrast between light and dark by softening the shadows. </a:t>
            </a:r>
            <a:endParaRPr lang="en-US" dirty="0"/>
          </a:p>
        </p:txBody>
      </p:sp>
      <p:pic>
        <p:nvPicPr>
          <p:cNvPr id="4" name="Picture 2" descr="Image result for three point lighting movies">
            <a:extLst>
              <a:ext uri="{FF2B5EF4-FFF2-40B4-BE49-F238E27FC236}">
                <a16:creationId xmlns:a16="http://schemas.microsoft.com/office/drawing/2014/main" id="{A41FF46C-3A91-4480-8042-9771F0A960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548" y="2621102"/>
            <a:ext cx="4721151" cy="297135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cxnSp>
        <p:nvCxnSpPr>
          <p:cNvPr id="5" name="Straight Arrow Connector 4">
            <a:extLst>
              <a:ext uri="{FF2B5EF4-FFF2-40B4-BE49-F238E27FC236}">
                <a16:creationId xmlns:a16="http://schemas.microsoft.com/office/drawing/2014/main" id="{8FA17BE1-87F8-F643-8F7B-21DC22EC6702}"/>
              </a:ext>
            </a:extLst>
          </p:cNvPr>
          <p:cNvCxnSpPr>
            <a:cxnSpLocks/>
          </p:cNvCxnSpPr>
          <p:nvPr/>
        </p:nvCxnSpPr>
        <p:spPr>
          <a:xfrm flipH="1" flipV="1">
            <a:off x="3998563" y="4216400"/>
            <a:ext cx="759417" cy="4494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2021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EEDB4-4A64-46D7-A137-E3C656264A6D}"/>
              </a:ext>
            </a:extLst>
          </p:cNvPr>
          <p:cNvSpPr>
            <a:spLocks noGrp="1"/>
          </p:cNvSpPr>
          <p:nvPr>
            <p:ph type="title"/>
          </p:nvPr>
        </p:nvSpPr>
        <p:spPr/>
        <p:txBody>
          <a:bodyPr>
            <a:normAutofit/>
          </a:bodyPr>
          <a:lstStyle/>
          <a:p>
            <a:r>
              <a:rPr lang="en-US" dirty="0">
                <a:solidFill>
                  <a:schemeClr val="tx1"/>
                </a:solidFill>
              </a:rPr>
              <a:t>Backlight</a:t>
            </a:r>
            <a:endParaRPr lang="en-US" dirty="0"/>
          </a:p>
        </p:txBody>
      </p:sp>
      <p:sp>
        <p:nvSpPr>
          <p:cNvPr id="3" name="Content Placeholder 2">
            <a:extLst>
              <a:ext uri="{FF2B5EF4-FFF2-40B4-BE49-F238E27FC236}">
                <a16:creationId xmlns:a16="http://schemas.microsoft.com/office/drawing/2014/main" id="{0CE7C92B-E40D-43F7-8120-A4EF428DB097}"/>
              </a:ext>
            </a:extLst>
          </p:cNvPr>
          <p:cNvSpPr>
            <a:spLocks noGrp="1"/>
          </p:cNvSpPr>
          <p:nvPr>
            <p:ph idx="1"/>
          </p:nvPr>
        </p:nvSpPr>
        <p:spPr>
          <a:xfrm>
            <a:off x="5951621" y="2556932"/>
            <a:ext cx="4944976" cy="3318936"/>
          </a:xfrm>
        </p:spPr>
        <p:txBody>
          <a:bodyPr/>
          <a:lstStyle/>
          <a:p>
            <a:r>
              <a:rPr lang="en-US" dirty="0"/>
              <a:t>Light positioned behind an object.</a:t>
            </a:r>
          </a:p>
          <a:p>
            <a:r>
              <a:rPr lang="en-US" dirty="0"/>
              <a:t>Creates highlight around object, allowing it to stand out from background. </a:t>
            </a:r>
            <a:r>
              <a:rPr lang="en-US" b="1" dirty="0"/>
              <a:t>Helps separate subject from background.</a:t>
            </a:r>
          </a:p>
          <a:p>
            <a:r>
              <a:rPr lang="en-US" dirty="0"/>
              <a:t>Can give form to things such as hair or clothing, that would otherwise fad into background.</a:t>
            </a:r>
          </a:p>
        </p:txBody>
      </p:sp>
      <p:pic>
        <p:nvPicPr>
          <p:cNvPr id="4" name="Picture 2" descr="Image result for three point lighting movies">
            <a:extLst>
              <a:ext uri="{FF2B5EF4-FFF2-40B4-BE49-F238E27FC236}">
                <a16:creationId xmlns:a16="http://schemas.microsoft.com/office/drawing/2014/main" id="{2C8C861A-3E86-46CE-82B2-6CD233744E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548" y="2621102"/>
            <a:ext cx="4721151" cy="297135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cxnSp>
        <p:nvCxnSpPr>
          <p:cNvPr id="5" name="Straight Arrow Connector 4">
            <a:extLst>
              <a:ext uri="{FF2B5EF4-FFF2-40B4-BE49-F238E27FC236}">
                <a16:creationId xmlns:a16="http://schemas.microsoft.com/office/drawing/2014/main" id="{4801B46E-CD06-5C4E-B719-677F1FCAE957}"/>
              </a:ext>
            </a:extLst>
          </p:cNvPr>
          <p:cNvCxnSpPr>
            <a:cxnSpLocks/>
          </p:cNvCxnSpPr>
          <p:nvPr/>
        </p:nvCxnSpPr>
        <p:spPr>
          <a:xfrm flipH="1">
            <a:off x="4618494" y="3595607"/>
            <a:ext cx="65092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1224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3609C-D345-493E-9C96-CE8B0B224FE7}"/>
              </a:ext>
            </a:extLst>
          </p:cNvPr>
          <p:cNvSpPr>
            <a:spLocks noGrp="1"/>
          </p:cNvSpPr>
          <p:nvPr>
            <p:ph type="title"/>
          </p:nvPr>
        </p:nvSpPr>
        <p:spPr/>
        <p:txBody>
          <a:bodyPr/>
          <a:lstStyle/>
          <a:p>
            <a:r>
              <a:rPr lang="en-US" dirty="0"/>
              <a:t>High-Key and Low-Key Lighting</a:t>
            </a:r>
          </a:p>
        </p:txBody>
      </p:sp>
      <p:sp>
        <p:nvSpPr>
          <p:cNvPr id="3" name="Content Placeholder 2">
            <a:extLst>
              <a:ext uri="{FF2B5EF4-FFF2-40B4-BE49-F238E27FC236}">
                <a16:creationId xmlns:a16="http://schemas.microsoft.com/office/drawing/2014/main" id="{782C3B62-6F66-492C-919F-F86482D20814}"/>
              </a:ext>
            </a:extLst>
          </p:cNvPr>
          <p:cNvSpPr>
            <a:spLocks noGrp="1"/>
          </p:cNvSpPr>
          <p:nvPr>
            <p:ph idx="1"/>
          </p:nvPr>
        </p:nvSpPr>
        <p:spPr/>
        <p:txBody>
          <a:bodyPr/>
          <a:lstStyle/>
          <a:p>
            <a:r>
              <a:rPr lang="en-US" dirty="0"/>
              <a:t>Object’s appearance is </a:t>
            </a:r>
            <a:r>
              <a:rPr lang="en-US" b="1" dirty="0"/>
              <a:t>usually defined by key-light, which is considered main source.</a:t>
            </a:r>
          </a:p>
          <a:p>
            <a:r>
              <a:rPr lang="en-US" dirty="0"/>
              <a:t>Outside examples of key-lights would be sun or moon, while inside examples would include a main light or a window.</a:t>
            </a:r>
          </a:p>
          <a:p>
            <a:r>
              <a:rPr lang="en-US" b="1" dirty="0"/>
              <a:t>High-key</a:t>
            </a:r>
            <a:r>
              <a:rPr lang="en-US" dirty="0"/>
              <a:t> and </a:t>
            </a:r>
            <a:r>
              <a:rPr lang="en-US" b="1" dirty="0"/>
              <a:t>low-key</a:t>
            </a:r>
            <a:r>
              <a:rPr lang="en-US" dirty="0"/>
              <a:t> are the two types of key-lights.</a:t>
            </a:r>
          </a:p>
          <a:p>
            <a:endParaRPr lang="en-US" dirty="0"/>
          </a:p>
        </p:txBody>
      </p:sp>
    </p:spTree>
    <p:extLst>
      <p:ext uri="{BB962C8B-B14F-4D97-AF65-F5344CB8AC3E}">
        <p14:creationId xmlns:p14="http://schemas.microsoft.com/office/powerpoint/2010/main" val="7513043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A6B10-2DA9-4A8C-B50E-4EE7A3F20C53}"/>
              </a:ext>
            </a:extLst>
          </p:cNvPr>
          <p:cNvSpPr>
            <a:spLocks noGrp="1"/>
          </p:cNvSpPr>
          <p:nvPr>
            <p:ph type="title"/>
          </p:nvPr>
        </p:nvSpPr>
        <p:spPr/>
        <p:txBody>
          <a:bodyPr/>
          <a:lstStyle/>
          <a:p>
            <a:r>
              <a:rPr lang="en-US" dirty="0"/>
              <a:t>High-Key Lighting</a:t>
            </a:r>
          </a:p>
        </p:txBody>
      </p:sp>
      <p:sp>
        <p:nvSpPr>
          <p:cNvPr id="3" name="Content Placeholder 2">
            <a:extLst>
              <a:ext uri="{FF2B5EF4-FFF2-40B4-BE49-F238E27FC236}">
                <a16:creationId xmlns:a16="http://schemas.microsoft.com/office/drawing/2014/main" id="{6A18FCE7-20A0-42AB-A6B2-006C6F37EA5A}"/>
              </a:ext>
            </a:extLst>
          </p:cNvPr>
          <p:cNvSpPr>
            <a:spLocks noGrp="1"/>
          </p:cNvSpPr>
          <p:nvPr>
            <p:ph idx="1"/>
          </p:nvPr>
        </p:nvSpPr>
        <p:spPr>
          <a:xfrm>
            <a:off x="545433" y="2556931"/>
            <a:ext cx="5550568" cy="3635321"/>
          </a:xfrm>
        </p:spPr>
        <p:txBody>
          <a:bodyPr>
            <a:normAutofit fontScale="92500"/>
          </a:bodyPr>
          <a:lstStyle/>
          <a:p>
            <a:r>
              <a:rPr lang="en-US" dirty="0">
                <a:solidFill>
                  <a:schemeClr val="tx1"/>
                </a:solidFill>
              </a:rPr>
              <a:t>Main source of light which </a:t>
            </a:r>
            <a:r>
              <a:rPr lang="en-US" b="1" dirty="0">
                <a:solidFill>
                  <a:schemeClr val="tx1"/>
                </a:solidFill>
              </a:rPr>
              <a:t>conveys an overall brightness to a picture with minimal shadows</a:t>
            </a:r>
            <a:r>
              <a:rPr lang="en-US" dirty="0">
                <a:solidFill>
                  <a:schemeClr val="tx1"/>
                </a:solidFill>
              </a:rPr>
              <a:t>. </a:t>
            </a:r>
          </a:p>
          <a:p>
            <a:r>
              <a:rPr lang="en-US" dirty="0">
                <a:solidFill>
                  <a:schemeClr val="tx1"/>
                </a:solidFill>
              </a:rPr>
              <a:t>This type of lighting is used to simulate daytime. </a:t>
            </a:r>
          </a:p>
          <a:p>
            <a:r>
              <a:rPr lang="en-US" dirty="0">
                <a:solidFill>
                  <a:schemeClr val="tx1"/>
                </a:solidFill>
              </a:rPr>
              <a:t>Seen in comedies or upbeat adventure films.  </a:t>
            </a:r>
          </a:p>
          <a:p>
            <a:r>
              <a:rPr lang="en-US" dirty="0">
                <a:solidFill>
                  <a:schemeClr val="tx1"/>
                </a:solidFill>
              </a:rPr>
              <a:t>High-key lighting designs are also seen in television sitcoms, news programs, and industrial videos. </a:t>
            </a:r>
          </a:p>
          <a:p>
            <a:endParaRPr lang="en-US" dirty="0"/>
          </a:p>
        </p:txBody>
      </p:sp>
      <p:pic>
        <p:nvPicPr>
          <p:cNvPr id="5122" name="Picture 2" descr="Her_Lighting 101: A Quick Guide for Lighting Film - high-key-lighting">
            <a:extLst>
              <a:ext uri="{FF2B5EF4-FFF2-40B4-BE49-F238E27FC236}">
                <a16:creationId xmlns:a16="http://schemas.microsoft.com/office/drawing/2014/main" id="{E3ECBC5C-7442-4F98-84D4-91E653598DE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854" r="16092"/>
          <a:stretch/>
        </p:blipFill>
        <p:spPr bwMode="auto">
          <a:xfrm>
            <a:off x="6304548" y="2564254"/>
            <a:ext cx="5181600" cy="30003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3566366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A6B10-2DA9-4A8C-B50E-4EE7A3F20C53}"/>
              </a:ext>
            </a:extLst>
          </p:cNvPr>
          <p:cNvSpPr>
            <a:spLocks noGrp="1"/>
          </p:cNvSpPr>
          <p:nvPr>
            <p:ph type="title"/>
          </p:nvPr>
        </p:nvSpPr>
        <p:spPr/>
        <p:txBody>
          <a:bodyPr/>
          <a:lstStyle/>
          <a:p>
            <a:r>
              <a:rPr lang="en-US" dirty="0"/>
              <a:t>Low-Key Lighting</a:t>
            </a:r>
          </a:p>
        </p:txBody>
      </p:sp>
      <p:sp>
        <p:nvSpPr>
          <p:cNvPr id="3" name="Content Placeholder 2">
            <a:extLst>
              <a:ext uri="{FF2B5EF4-FFF2-40B4-BE49-F238E27FC236}">
                <a16:creationId xmlns:a16="http://schemas.microsoft.com/office/drawing/2014/main" id="{6A18FCE7-20A0-42AB-A6B2-006C6F37EA5A}"/>
              </a:ext>
            </a:extLst>
          </p:cNvPr>
          <p:cNvSpPr>
            <a:spLocks noGrp="1"/>
          </p:cNvSpPr>
          <p:nvPr>
            <p:ph idx="1"/>
          </p:nvPr>
        </p:nvSpPr>
        <p:spPr>
          <a:xfrm>
            <a:off x="1295401" y="2556932"/>
            <a:ext cx="9601196" cy="3663564"/>
          </a:xfrm>
        </p:spPr>
        <p:txBody>
          <a:bodyPr>
            <a:normAutofit/>
          </a:bodyPr>
          <a:lstStyle/>
          <a:p>
            <a:r>
              <a:rPr lang="en-US" dirty="0">
                <a:solidFill>
                  <a:schemeClr val="tx1"/>
                </a:solidFill>
              </a:rPr>
              <a:t>Low key light </a:t>
            </a:r>
            <a:r>
              <a:rPr lang="en-US" b="1" dirty="0">
                <a:solidFill>
                  <a:schemeClr val="tx1"/>
                </a:solidFill>
              </a:rPr>
              <a:t>produces uneven distribution </a:t>
            </a:r>
            <a:r>
              <a:rPr lang="en-US" dirty="0">
                <a:solidFill>
                  <a:schemeClr val="tx1"/>
                </a:solidFill>
              </a:rPr>
              <a:t>of light. </a:t>
            </a:r>
          </a:p>
          <a:p>
            <a:r>
              <a:rPr lang="en-US" dirty="0">
                <a:solidFill>
                  <a:schemeClr val="tx1"/>
                </a:solidFill>
              </a:rPr>
              <a:t>Abundance of shadows and concentrated areas of atmospheric light.</a:t>
            </a:r>
          </a:p>
          <a:p>
            <a:r>
              <a:rPr lang="en-US" dirty="0">
                <a:solidFill>
                  <a:schemeClr val="tx1"/>
                </a:solidFill>
              </a:rPr>
              <a:t>Many areas of low-key scene are </a:t>
            </a:r>
            <a:r>
              <a:rPr lang="en-US" b="1" dirty="0" err="1">
                <a:solidFill>
                  <a:schemeClr val="tx1"/>
                </a:solidFill>
              </a:rPr>
              <a:t>underlit</a:t>
            </a:r>
            <a:r>
              <a:rPr lang="en-US" dirty="0">
                <a:solidFill>
                  <a:schemeClr val="tx1"/>
                </a:solidFill>
              </a:rPr>
              <a:t>, revealing very dark areas within a frame.  </a:t>
            </a:r>
          </a:p>
          <a:p>
            <a:r>
              <a:rPr lang="en-US" dirty="0">
                <a:solidFill>
                  <a:schemeClr val="tx1"/>
                </a:solidFill>
              </a:rPr>
              <a:t>The most popular low-key productions are in the </a:t>
            </a:r>
            <a:r>
              <a:rPr lang="en-US" sz="2800" i="1" dirty="0">
                <a:solidFill>
                  <a:schemeClr val="tx1"/>
                </a:solidFill>
              </a:rPr>
              <a:t>film-noir</a:t>
            </a:r>
            <a:r>
              <a:rPr lang="en-US" dirty="0">
                <a:solidFill>
                  <a:schemeClr val="tx1"/>
                </a:solidFill>
              </a:rPr>
              <a:t> style.</a:t>
            </a:r>
          </a:p>
          <a:p>
            <a:r>
              <a:rPr lang="en-US" dirty="0">
                <a:solidFill>
                  <a:schemeClr val="tx1"/>
                </a:solidFill>
              </a:rPr>
              <a:t>Other low-key productions are serious dramas, thrillers, murder mysteries, and horror films. </a:t>
            </a:r>
          </a:p>
          <a:p>
            <a:endParaRPr lang="en-US" dirty="0"/>
          </a:p>
        </p:txBody>
      </p:sp>
    </p:spTree>
    <p:extLst>
      <p:ext uri="{BB962C8B-B14F-4D97-AF65-F5344CB8AC3E}">
        <p14:creationId xmlns:p14="http://schemas.microsoft.com/office/powerpoint/2010/main" val="2638392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297F7-DA3C-46E8-B8C0-A1F4E408227D}"/>
              </a:ext>
            </a:extLst>
          </p:cNvPr>
          <p:cNvSpPr>
            <a:spLocks noGrp="1"/>
          </p:cNvSpPr>
          <p:nvPr>
            <p:ph type="title"/>
          </p:nvPr>
        </p:nvSpPr>
        <p:spPr/>
        <p:txBody>
          <a:bodyPr/>
          <a:lstStyle/>
          <a:p>
            <a:r>
              <a:rPr lang="en-US" dirty="0"/>
              <a:t>Contrast</a:t>
            </a:r>
          </a:p>
        </p:txBody>
      </p:sp>
      <p:sp>
        <p:nvSpPr>
          <p:cNvPr id="3" name="Content Placeholder 2">
            <a:extLst>
              <a:ext uri="{FF2B5EF4-FFF2-40B4-BE49-F238E27FC236}">
                <a16:creationId xmlns:a16="http://schemas.microsoft.com/office/drawing/2014/main" id="{3DD26D06-A6FB-48FF-B5A5-8502E7673D46}"/>
              </a:ext>
            </a:extLst>
          </p:cNvPr>
          <p:cNvSpPr>
            <a:spLocks noGrp="1"/>
          </p:cNvSpPr>
          <p:nvPr>
            <p:ph idx="1"/>
          </p:nvPr>
        </p:nvSpPr>
        <p:spPr>
          <a:xfrm>
            <a:off x="1295401" y="2556932"/>
            <a:ext cx="4903921" cy="3318936"/>
          </a:xfrm>
        </p:spPr>
        <p:txBody>
          <a:bodyPr/>
          <a:lstStyle/>
          <a:p>
            <a:r>
              <a:rPr lang="en-US" dirty="0">
                <a:solidFill>
                  <a:schemeClr val="tx1"/>
                </a:solidFill>
              </a:rPr>
              <a:t>Overall contrast is the </a:t>
            </a:r>
            <a:r>
              <a:rPr lang="en-US" b="1" dirty="0">
                <a:solidFill>
                  <a:schemeClr val="tx1"/>
                </a:solidFill>
              </a:rPr>
              <a:t>difference between the lightest and darkest </a:t>
            </a:r>
            <a:r>
              <a:rPr lang="en-US" dirty="0">
                <a:solidFill>
                  <a:schemeClr val="tx1"/>
                </a:solidFill>
              </a:rPr>
              <a:t>parts of a frame. </a:t>
            </a:r>
          </a:p>
          <a:p>
            <a:r>
              <a:rPr lang="en-US" dirty="0">
                <a:solidFill>
                  <a:schemeClr val="tx1"/>
                </a:solidFill>
              </a:rPr>
              <a:t>By using contrast within a composition, you can </a:t>
            </a:r>
            <a:r>
              <a:rPr lang="en-US" b="1" dirty="0">
                <a:solidFill>
                  <a:schemeClr val="tx1"/>
                </a:solidFill>
              </a:rPr>
              <a:t>focus the viewer's attention to specific areas</a:t>
            </a:r>
            <a:r>
              <a:rPr lang="en-US" dirty="0">
                <a:solidFill>
                  <a:schemeClr val="tx1"/>
                </a:solidFill>
              </a:rPr>
              <a:t>, whereas if the entire image is sharp, the focus is on the whole. </a:t>
            </a:r>
          </a:p>
          <a:p>
            <a:endParaRPr lang="en-US" dirty="0"/>
          </a:p>
        </p:txBody>
      </p:sp>
      <p:pic>
        <p:nvPicPr>
          <p:cNvPr id="4" name="Picture 3">
            <a:extLst>
              <a:ext uri="{FF2B5EF4-FFF2-40B4-BE49-F238E27FC236}">
                <a16:creationId xmlns:a16="http://schemas.microsoft.com/office/drawing/2014/main" id="{4E7E3DDE-BC49-804E-BAD3-0B8B2AA1B503}"/>
              </a:ext>
            </a:extLst>
          </p:cNvPr>
          <p:cNvPicPr>
            <a:picLocks noChangeAspect="1"/>
          </p:cNvPicPr>
          <p:nvPr/>
        </p:nvPicPr>
        <p:blipFill>
          <a:blip r:embed="rId3"/>
          <a:stretch>
            <a:fillRect/>
          </a:stretch>
        </p:blipFill>
        <p:spPr>
          <a:xfrm>
            <a:off x="6813407" y="2556932"/>
            <a:ext cx="4404825" cy="2561990"/>
          </a:xfrm>
          <a:prstGeom prst="rect">
            <a:avLst/>
          </a:prstGeom>
        </p:spPr>
      </p:pic>
      <p:sp>
        <p:nvSpPr>
          <p:cNvPr id="5" name="Content Placeholder 2">
            <a:extLst>
              <a:ext uri="{FF2B5EF4-FFF2-40B4-BE49-F238E27FC236}">
                <a16:creationId xmlns:a16="http://schemas.microsoft.com/office/drawing/2014/main" id="{30A0F8BA-2904-7F4B-B1C3-3863E215B80E}"/>
              </a:ext>
            </a:extLst>
          </p:cNvPr>
          <p:cNvSpPr txBox="1">
            <a:spLocks/>
          </p:cNvSpPr>
          <p:nvPr/>
        </p:nvSpPr>
        <p:spPr>
          <a:xfrm>
            <a:off x="6813407" y="5118922"/>
            <a:ext cx="4404825" cy="1018408"/>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US" sz="1400" dirty="0">
                <a:solidFill>
                  <a:schemeClr val="tx1"/>
                </a:solidFill>
              </a:rPr>
              <a:t>Ansel Adam’s concept of “Zone System” in Photography.</a:t>
            </a:r>
            <a:endParaRPr lang="en-US" sz="1400" dirty="0"/>
          </a:p>
        </p:txBody>
      </p:sp>
    </p:spTree>
    <p:extLst>
      <p:ext uri="{BB962C8B-B14F-4D97-AF65-F5344CB8AC3E}">
        <p14:creationId xmlns:p14="http://schemas.microsoft.com/office/powerpoint/2010/main" val="2386154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B1E3-B767-4302-8769-B174EF4370AE}"/>
              </a:ext>
            </a:extLst>
          </p:cNvPr>
          <p:cNvSpPr>
            <a:spLocks noGrp="1"/>
          </p:cNvSpPr>
          <p:nvPr>
            <p:ph type="title"/>
          </p:nvPr>
        </p:nvSpPr>
        <p:spPr/>
        <p:txBody>
          <a:bodyPr/>
          <a:lstStyle/>
          <a:p>
            <a:r>
              <a:rPr lang="en-US" dirty="0"/>
              <a:t>High-Contrast</a:t>
            </a:r>
          </a:p>
        </p:txBody>
      </p:sp>
      <p:sp>
        <p:nvSpPr>
          <p:cNvPr id="3" name="Content Placeholder 2">
            <a:extLst>
              <a:ext uri="{FF2B5EF4-FFF2-40B4-BE49-F238E27FC236}">
                <a16:creationId xmlns:a16="http://schemas.microsoft.com/office/drawing/2014/main" id="{C912632C-63AF-40B7-B6DA-F022DDB8DF69}"/>
              </a:ext>
            </a:extLst>
          </p:cNvPr>
          <p:cNvSpPr>
            <a:spLocks noGrp="1"/>
          </p:cNvSpPr>
          <p:nvPr>
            <p:ph idx="1"/>
          </p:nvPr>
        </p:nvSpPr>
        <p:spPr>
          <a:xfrm>
            <a:off x="1295401" y="2556932"/>
            <a:ext cx="5350098" cy="3318936"/>
          </a:xfrm>
        </p:spPr>
        <p:txBody>
          <a:bodyPr/>
          <a:lstStyle/>
          <a:p>
            <a:r>
              <a:rPr lang="en-US" dirty="0"/>
              <a:t>High Contrast Lighting </a:t>
            </a:r>
            <a:r>
              <a:rPr lang="en-US" b="1" dirty="0"/>
              <a:t>emphasizes differences between light and dark</a:t>
            </a:r>
            <a:r>
              <a:rPr lang="en-US" dirty="0"/>
              <a:t>.</a:t>
            </a:r>
          </a:p>
          <a:p>
            <a:r>
              <a:rPr lang="en-US" dirty="0"/>
              <a:t>Creates </a:t>
            </a:r>
            <a:r>
              <a:rPr lang="en-US" b="1" dirty="0"/>
              <a:t>dramatic</a:t>
            </a:r>
            <a:r>
              <a:rPr lang="en-US" dirty="0"/>
              <a:t> and interesting images by setting off one part of an image from another.</a:t>
            </a:r>
          </a:p>
          <a:p>
            <a:r>
              <a:rPr lang="en-US" dirty="0"/>
              <a:t>High-Contrast is usually seen in thrillers, horror and suspense films.</a:t>
            </a:r>
          </a:p>
        </p:txBody>
      </p:sp>
    </p:spTree>
    <p:extLst>
      <p:ext uri="{BB962C8B-B14F-4D97-AF65-F5344CB8AC3E}">
        <p14:creationId xmlns:p14="http://schemas.microsoft.com/office/powerpoint/2010/main" val="1153728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5FB58-8FA5-4AFF-82EF-BDF4DAC0642D}"/>
              </a:ext>
            </a:extLst>
          </p:cNvPr>
          <p:cNvSpPr>
            <a:spLocks noGrp="1"/>
          </p:cNvSpPr>
          <p:nvPr>
            <p:ph type="title"/>
          </p:nvPr>
        </p:nvSpPr>
        <p:spPr/>
        <p:txBody>
          <a:bodyPr/>
          <a:lstStyle/>
          <a:p>
            <a:r>
              <a:rPr lang="en-US" dirty="0"/>
              <a:t>Low Contrast</a:t>
            </a:r>
          </a:p>
        </p:txBody>
      </p:sp>
      <p:sp>
        <p:nvSpPr>
          <p:cNvPr id="3" name="Content Placeholder 2">
            <a:extLst>
              <a:ext uri="{FF2B5EF4-FFF2-40B4-BE49-F238E27FC236}">
                <a16:creationId xmlns:a16="http://schemas.microsoft.com/office/drawing/2014/main" id="{7A3B6C2E-E3B1-4BB8-98AD-CAA3BED6C4A3}"/>
              </a:ext>
            </a:extLst>
          </p:cNvPr>
          <p:cNvSpPr>
            <a:spLocks noGrp="1"/>
          </p:cNvSpPr>
          <p:nvPr>
            <p:ph idx="1"/>
          </p:nvPr>
        </p:nvSpPr>
        <p:spPr/>
        <p:txBody>
          <a:bodyPr/>
          <a:lstStyle/>
          <a:p>
            <a:r>
              <a:rPr lang="en-US" b="1" dirty="0">
                <a:solidFill>
                  <a:schemeClr val="tx1"/>
                </a:solidFill>
              </a:rPr>
              <a:t>No pure whites or blacks</a:t>
            </a:r>
            <a:r>
              <a:rPr lang="en-US" dirty="0">
                <a:solidFill>
                  <a:schemeClr val="tx1"/>
                </a:solidFill>
              </a:rPr>
              <a:t>, but rather a </a:t>
            </a:r>
            <a:r>
              <a:rPr lang="en-US" b="1" dirty="0">
                <a:solidFill>
                  <a:schemeClr val="tx1"/>
                </a:solidFill>
              </a:rPr>
              <a:t>range of grays</a:t>
            </a:r>
            <a:r>
              <a:rPr lang="en-US" dirty="0">
                <a:solidFill>
                  <a:schemeClr val="tx1"/>
                </a:solidFill>
              </a:rPr>
              <a:t>.</a:t>
            </a:r>
          </a:p>
          <a:p>
            <a:r>
              <a:rPr lang="en-US" dirty="0">
                <a:solidFill>
                  <a:schemeClr val="tx1"/>
                </a:solidFill>
              </a:rPr>
              <a:t>Viewer takes in the overall composition rather than its parts.</a:t>
            </a:r>
          </a:p>
          <a:p>
            <a:r>
              <a:rPr lang="en-US" dirty="0">
                <a:solidFill>
                  <a:schemeClr val="tx1"/>
                </a:solidFill>
              </a:rPr>
              <a:t>Low contrast lighting is sometimes considered boring because images are usually flat. </a:t>
            </a:r>
          </a:p>
          <a:p>
            <a:pPr marL="0" indent="0">
              <a:buNone/>
            </a:pPr>
            <a:r>
              <a:rPr lang="en-US" dirty="0">
                <a:solidFill>
                  <a:schemeClr val="tx1"/>
                </a:solidFill>
              </a:rPr>
              <a:t>  </a:t>
            </a:r>
          </a:p>
          <a:p>
            <a:endParaRPr lang="en-US" dirty="0"/>
          </a:p>
        </p:txBody>
      </p:sp>
    </p:spTree>
    <p:extLst>
      <p:ext uri="{BB962C8B-B14F-4D97-AF65-F5344CB8AC3E}">
        <p14:creationId xmlns:p14="http://schemas.microsoft.com/office/powerpoint/2010/main" val="35535857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988AC-CAB8-4D15-AB61-4DF0A3486B7B}"/>
              </a:ext>
            </a:extLst>
          </p:cNvPr>
          <p:cNvSpPr>
            <a:spLocks noGrp="1"/>
          </p:cNvSpPr>
          <p:nvPr>
            <p:ph type="title"/>
          </p:nvPr>
        </p:nvSpPr>
        <p:spPr/>
        <p:txBody>
          <a:bodyPr/>
          <a:lstStyle/>
          <a:p>
            <a:r>
              <a:rPr lang="en-US" dirty="0"/>
              <a:t>Light Quality</a:t>
            </a:r>
          </a:p>
        </p:txBody>
      </p:sp>
      <p:sp>
        <p:nvSpPr>
          <p:cNvPr id="3" name="Content Placeholder 2">
            <a:extLst>
              <a:ext uri="{FF2B5EF4-FFF2-40B4-BE49-F238E27FC236}">
                <a16:creationId xmlns:a16="http://schemas.microsoft.com/office/drawing/2014/main" id="{82EADEE0-AE5B-4C54-AF6C-5FD05BA3FE71}"/>
              </a:ext>
            </a:extLst>
          </p:cNvPr>
          <p:cNvSpPr>
            <a:spLocks noGrp="1"/>
          </p:cNvSpPr>
          <p:nvPr>
            <p:ph idx="1"/>
          </p:nvPr>
        </p:nvSpPr>
        <p:spPr/>
        <p:txBody>
          <a:bodyPr/>
          <a:lstStyle/>
          <a:p>
            <a:r>
              <a:rPr lang="en-US" dirty="0">
                <a:solidFill>
                  <a:schemeClr val="tx1"/>
                </a:solidFill>
              </a:rPr>
              <a:t>A sunny day creates harsh edges and shadows because it is a directional light. </a:t>
            </a:r>
          </a:p>
          <a:p>
            <a:r>
              <a:rPr lang="en-US" dirty="0">
                <a:solidFill>
                  <a:schemeClr val="tx1"/>
                </a:solidFill>
              </a:rPr>
              <a:t>The opposite is true of an overcast day, which creates soft diffuse shadows because the light comes from all directions. </a:t>
            </a:r>
          </a:p>
          <a:p>
            <a:endParaRPr lang="en-US" dirty="0"/>
          </a:p>
        </p:txBody>
      </p:sp>
    </p:spTree>
    <p:extLst>
      <p:ext uri="{BB962C8B-B14F-4D97-AF65-F5344CB8AC3E}">
        <p14:creationId xmlns:p14="http://schemas.microsoft.com/office/powerpoint/2010/main" val="2949063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67F6D-1442-4AAC-9B5C-E2640A022523}"/>
              </a:ext>
            </a:extLst>
          </p:cNvPr>
          <p:cNvSpPr>
            <a:spLocks noGrp="1"/>
          </p:cNvSpPr>
          <p:nvPr>
            <p:ph type="title"/>
          </p:nvPr>
        </p:nvSpPr>
        <p:spPr/>
        <p:txBody>
          <a:bodyPr/>
          <a:lstStyle/>
          <a:p>
            <a:r>
              <a:rPr lang="en-US" dirty="0"/>
              <a:t>Hard Light</a:t>
            </a:r>
          </a:p>
        </p:txBody>
      </p:sp>
      <p:sp>
        <p:nvSpPr>
          <p:cNvPr id="3" name="Content Placeholder 2">
            <a:extLst>
              <a:ext uri="{FF2B5EF4-FFF2-40B4-BE49-F238E27FC236}">
                <a16:creationId xmlns:a16="http://schemas.microsoft.com/office/drawing/2014/main" id="{013FB933-727E-4A97-8580-00D4AB394F84}"/>
              </a:ext>
            </a:extLst>
          </p:cNvPr>
          <p:cNvSpPr>
            <a:spLocks noGrp="1"/>
          </p:cNvSpPr>
          <p:nvPr>
            <p:ph idx="1"/>
          </p:nvPr>
        </p:nvSpPr>
        <p:spPr>
          <a:xfrm>
            <a:off x="7212013" y="2556932"/>
            <a:ext cx="4081629" cy="3318936"/>
          </a:xfrm>
        </p:spPr>
        <p:txBody>
          <a:bodyPr/>
          <a:lstStyle/>
          <a:p>
            <a:r>
              <a:rPr lang="en-US" dirty="0"/>
              <a:t>Hard light is often used to emphasize the dramatic</a:t>
            </a:r>
          </a:p>
          <a:p>
            <a:r>
              <a:rPr lang="en-US" dirty="0"/>
              <a:t>Illuminates everything; texture and imperfections.</a:t>
            </a:r>
          </a:p>
        </p:txBody>
      </p:sp>
      <p:pic>
        <p:nvPicPr>
          <p:cNvPr id="6148" name="Picture 4" descr="godfather">
            <a:extLst>
              <a:ext uri="{FF2B5EF4-FFF2-40B4-BE49-F238E27FC236}">
                <a16:creationId xmlns:a16="http://schemas.microsoft.com/office/drawing/2014/main" id="{5F649A9C-2A45-4492-9B76-D16E73BDBD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645" y="2611437"/>
            <a:ext cx="5715000" cy="3209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17905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67F6D-1442-4AAC-9B5C-E2640A022523}"/>
              </a:ext>
            </a:extLst>
          </p:cNvPr>
          <p:cNvSpPr>
            <a:spLocks noGrp="1"/>
          </p:cNvSpPr>
          <p:nvPr>
            <p:ph type="title"/>
          </p:nvPr>
        </p:nvSpPr>
        <p:spPr/>
        <p:txBody>
          <a:bodyPr/>
          <a:lstStyle/>
          <a:p>
            <a:r>
              <a:rPr lang="en-US" dirty="0"/>
              <a:t>Soft Light</a:t>
            </a:r>
          </a:p>
        </p:txBody>
      </p:sp>
      <p:sp>
        <p:nvSpPr>
          <p:cNvPr id="3" name="Content Placeholder 2">
            <a:extLst>
              <a:ext uri="{FF2B5EF4-FFF2-40B4-BE49-F238E27FC236}">
                <a16:creationId xmlns:a16="http://schemas.microsoft.com/office/drawing/2014/main" id="{013FB933-727E-4A97-8580-00D4AB394F84}"/>
              </a:ext>
            </a:extLst>
          </p:cNvPr>
          <p:cNvSpPr>
            <a:spLocks noGrp="1"/>
          </p:cNvSpPr>
          <p:nvPr>
            <p:ph idx="1"/>
          </p:nvPr>
        </p:nvSpPr>
        <p:spPr>
          <a:xfrm>
            <a:off x="1295402" y="2556932"/>
            <a:ext cx="4415587" cy="3318936"/>
          </a:xfrm>
        </p:spPr>
        <p:txBody>
          <a:bodyPr/>
          <a:lstStyle/>
          <a:p>
            <a:r>
              <a:rPr lang="en-US" dirty="0"/>
              <a:t>This sort of lighting </a:t>
            </a:r>
            <a:r>
              <a:rPr lang="en-US" b="1" dirty="0"/>
              <a:t>softens the object.</a:t>
            </a:r>
          </a:p>
          <a:p>
            <a:r>
              <a:rPr lang="en-US" dirty="0"/>
              <a:t>Was used in the 1940’s for many actresses to even out skin tone and hide any imperfections such as wrinkles and blemishes.</a:t>
            </a:r>
          </a:p>
          <a:p>
            <a:endParaRPr lang="en-US" dirty="0"/>
          </a:p>
        </p:txBody>
      </p:sp>
      <p:pic>
        <p:nvPicPr>
          <p:cNvPr id="2052" name="Picture 4" descr="Image result for high key lighting film">
            <a:extLst>
              <a:ext uri="{FF2B5EF4-FFF2-40B4-BE49-F238E27FC236}">
                <a16:creationId xmlns:a16="http://schemas.microsoft.com/office/drawing/2014/main" id="{30360233-AB87-4E2F-B2FB-C44B7B9A73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6545" y="2556932"/>
            <a:ext cx="4746693" cy="35631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2069024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8720B-A980-49B4-A2EB-F6186911E2A1}"/>
              </a:ext>
            </a:extLst>
          </p:cNvPr>
          <p:cNvSpPr>
            <a:spLocks noGrp="1"/>
          </p:cNvSpPr>
          <p:nvPr>
            <p:ph type="title"/>
          </p:nvPr>
        </p:nvSpPr>
        <p:spPr/>
        <p:txBody>
          <a:bodyPr/>
          <a:lstStyle/>
          <a:p>
            <a:r>
              <a:rPr lang="en-US" dirty="0"/>
              <a:t>Representing Light in Storyboard Frame</a:t>
            </a:r>
          </a:p>
        </p:txBody>
      </p:sp>
      <p:sp>
        <p:nvSpPr>
          <p:cNvPr id="3" name="Content Placeholder 2">
            <a:extLst>
              <a:ext uri="{FF2B5EF4-FFF2-40B4-BE49-F238E27FC236}">
                <a16:creationId xmlns:a16="http://schemas.microsoft.com/office/drawing/2014/main" id="{3BFF5B7B-2F1F-4218-BC22-FC9C102356C7}"/>
              </a:ext>
            </a:extLst>
          </p:cNvPr>
          <p:cNvSpPr>
            <a:spLocks noGrp="1"/>
          </p:cNvSpPr>
          <p:nvPr>
            <p:ph idx="1"/>
          </p:nvPr>
        </p:nvSpPr>
        <p:spPr/>
        <p:txBody>
          <a:bodyPr/>
          <a:lstStyle/>
          <a:p>
            <a:r>
              <a:rPr lang="en-US" dirty="0"/>
              <a:t>The kind of shadows drawn  in the storyboard frames depends on the quality of the light.</a:t>
            </a:r>
          </a:p>
          <a:p>
            <a:r>
              <a:rPr lang="en-US" dirty="0"/>
              <a:t>Hard light creates harsh shadows.</a:t>
            </a:r>
          </a:p>
          <a:p>
            <a:endParaRPr lang="en-US" dirty="0"/>
          </a:p>
        </p:txBody>
      </p:sp>
    </p:spTree>
    <p:extLst>
      <p:ext uri="{BB962C8B-B14F-4D97-AF65-F5344CB8AC3E}">
        <p14:creationId xmlns:p14="http://schemas.microsoft.com/office/powerpoint/2010/main" val="21330625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E19AC-E0F6-4483-9B6B-0E53E126940D}"/>
              </a:ext>
            </a:extLst>
          </p:cNvPr>
          <p:cNvSpPr>
            <a:spLocks noGrp="1"/>
          </p:cNvSpPr>
          <p:nvPr>
            <p:ph type="title"/>
          </p:nvPr>
        </p:nvSpPr>
        <p:spPr/>
        <p:txBody>
          <a:bodyPr/>
          <a:lstStyle/>
          <a:p>
            <a:r>
              <a:rPr lang="en-US" dirty="0"/>
              <a:t>Direction of Light</a:t>
            </a:r>
          </a:p>
        </p:txBody>
      </p:sp>
      <p:sp>
        <p:nvSpPr>
          <p:cNvPr id="3" name="Content Placeholder 2">
            <a:extLst>
              <a:ext uri="{FF2B5EF4-FFF2-40B4-BE49-F238E27FC236}">
                <a16:creationId xmlns:a16="http://schemas.microsoft.com/office/drawing/2014/main" id="{8BCB2F85-F269-4CCA-AE37-38F1736B244D}"/>
              </a:ext>
            </a:extLst>
          </p:cNvPr>
          <p:cNvSpPr>
            <a:spLocks noGrp="1"/>
          </p:cNvSpPr>
          <p:nvPr>
            <p:ph idx="1"/>
          </p:nvPr>
        </p:nvSpPr>
        <p:spPr/>
        <p:txBody>
          <a:bodyPr/>
          <a:lstStyle/>
          <a:p>
            <a:r>
              <a:rPr lang="en-US" dirty="0">
                <a:solidFill>
                  <a:schemeClr val="tx1"/>
                </a:solidFill>
              </a:rPr>
              <a:t>The direction of a light source changes the pattern of light and shadow, which affects the mood of a scene. </a:t>
            </a:r>
          </a:p>
          <a:p>
            <a:r>
              <a:rPr lang="en-US" dirty="0">
                <a:solidFill>
                  <a:schemeClr val="tx1"/>
                </a:solidFill>
              </a:rPr>
              <a:t>The direction of light is important because it cast shadows that can emphasize such things as textures and details. </a:t>
            </a:r>
          </a:p>
          <a:p>
            <a:pPr marL="0" indent="0">
              <a:buNone/>
            </a:pPr>
            <a:endParaRPr lang="en-US" dirty="0"/>
          </a:p>
        </p:txBody>
      </p:sp>
    </p:spTree>
    <p:extLst>
      <p:ext uri="{BB962C8B-B14F-4D97-AF65-F5344CB8AC3E}">
        <p14:creationId xmlns:p14="http://schemas.microsoft.com/office/powerpoint/2010/main" val="26478338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67FB4-5FBB-43DA-8AAF-285D74732A8B}"/>
              </a:ext>
            </a:extLst>
          </p:cNvPr>
          <p:cNvSpPr>
            <a:spLocks noGrp="1"/>
          </p:cNvSpPr>
          <p:nvPr>
            <p:ph type="title"/>
          </p:nvPr>
        </p:nvSpPr>
        <p:spPr/>
        <p:txBody>
          <a:bodyPr/>
          <a:lstStyle/>
          <a:p>
            <a:r>
              <a:rPr lang="en-US" dirty="0"/>
              <a:t>Frontal Lighting</a:t>
            </a:r>
          </a:p>
        </p:txBody>
      </p:sp>
      <p:sp>
        <p:nvSpPr>
          <p:cNvPr id="3" name="Content Placeholder 2">
            <a:extLst>
              <a:ext uri="{FF2B5EF4-FFF2-40B4-BE49-F238E27FC236}">
                <a16:creationId xmlns:a16="http://schemas.microsoft.com/office/drawing/2014/main" id="{CC7B6397-F489-4F1D-898E-99FBDC6470FA}"/>
              </a:ext>
            </a:extLst>
          </p:cNvPr>
          <p:cNvSpPr>
            <a:spLocks noGrp="1"/>
          </p:cNvSpPr>
          <p:nvPr>
            <p:ph idx="1"/>
          </p:nvPr>
        </p:nvSpPr>
        <p:spPr>
          <a:xfrm>
            <a:off x="927547" y="2556932"/>
            <a:ext cx="4928924" cy="3843868"/>
          </a:xfrm>
        </p:spPr>
        <p:txBody>
          <a:bodyPr>
            <a:normAutofit lnSpcReduction="10000"/>
          </a:bodyPr>
          <a:lstStyle/>
          <a:p>
            <a:r>
              <a:rPr lang="en-US" dirty="0">
                <a:solidFill>
                  <a:schemeClr val="tx1"/>
                </a:solidFill>
              </a:rPr>
              <a:t>Frontal lighting creates a </a:t>
            </a:r>
            <a:r>
              <a:rPr lang="en-US" b="1" dirty="0">
                <a:solidFill>
                  <a:schemeClr val="tx1"/>
                </a:solidFill>
              </a:rPr>
              <a:t>flat image with barely any distraction between the foreground and background </a:t>
            </a:r>
            <a:r>
              <a:rPr lang="en-US" dirty="0">
                <a:solidFill>
                  <a:schemeClr val="tx1"/>
                </a:solidFill>
              </a:rPr>
              <a:t>elements. </a:t>
            </a:r>
          </a:p>
          <a:p>
            <a:r>
              <a:rPr lang="en-US" dirty="0">
                <a:solidFill>
                  <a:schemeClr val="tx1"/>
                </a:solidFill>
              </a:rPr>
              <a:t>With frontal lighting, there are </a:t>
            </a:r>
            <a:r>
              <a:rPr lang="en-US" b="1" dirty="0">
                <a:solidFill>
                  <a:schemeClr val="tx1"/>
                </a:solidFill>
              </a:rPr>
              <a:t>minimal shadows and texture</a:t>
            </a:r>
            <a:r>
              <a:rPr lang="en-US" dirty="0">
                <a:solidFill>
                  <a:schemeClr val="tx1"/>
                </a:solidFill>
              </a:rPr>
              <a:t>, which tends to create a boring composition. </a:t>
            </a:r>
          </a:p>
          <a:p>
            <a:r>
              <a:rPr lang="en-US" dirty="0">
                <a:solidFill>
                  <a:schemeClr val="tx1"/>
                </a:solidFill>
              </a:rPr>
              <a:t>Frontal lighting is good for showing the </a:t>
            </a:r>
            <a:r>
              <a:rPr lang="en-US" b="1" dirty="0">
                <a:solidFill>
                  <a:schemeClr val="tx1"/>
                </a:solidFill>
              </a:rPr>
              <a:t>color relationships</a:t>
            </a:r>
            <a:r>
              <a:rPr lang="en-US" dirty="0">
                <a:solidFill>
                  <a:schemeClr val="tx1"/>
                </a:solidFill>
              </a:rPr>
              <a:t> in a scene. </a:t>
            </a:r>
          </a:p>
          <a:p>
            <a:endParaRPr lang="en-US" dirty="0"/>
          </a:p>
        </p:txBody>
      </p:sp>
      <p:pic>
        <p:nvPicPr>
          <p:cNvPr id="9218" name="Picture 2" descr="https://nofilmschool.com/sites/default/files/styles/article_wide/public/ted.jpg?itok=99zdvPML">
            <a:extLst>
              <a:ext uri="{FF2B5EF4-FFF2-40B4-BE49-F238E27FC236}">
                <a16:creationId xmlns:a16="http://schemas.microsoft.com/office/drawing/2014/main" id="{AB3E5005-C80F-4D37-874E-9CBA70387D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6471" y="2604163"/>
            <a:ext cx="5407982" cy="2850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9456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51433-44C1-4C7E-A046-4072E8A28715}"/>
              </a:ext>
            </a:extLst>
          </p:cNvPr>
          <p:cNvSpPr>
            <a:spLocks noGrp="1"/>
          </p:cNvSpPr>
          <p:nvPr>
            <p:ph type="title"/>
          </p:nvPr>
        </p:nvSpPr>
        <p:spPr/>
        <p:txBody>
          <a:bodyPr/>
          <a:lstStyle/>
          <a:p>
            <a:r>
              <a:rPr lang="en-US" dirty="0"/>
              <a:t>Side Lighting</a:t>
            </a:r>
          </a:p>
        </p:txBody>
      </p:sp>
      <p:sp>
        <p:nvSpPr>
          <p:cNvPr id="3" name="Content Placeholder 2">
            <a:extLst>
              <a:ext uri="{FF2B5EF4-FFF2-40B4-BE49-F238E27FC236}">
                <a16:creationId xmlns:a16="http://schemas.microsoft.com/office/drawing/2014/main" id="{E8B53EAA-B6DA-457A-A0EA-C5E704FE8AE9}"/>
              </a:ext>
            </a:extLst>
          </p:cNvPr>
          <p:cNvSpPr>
            <a:spLocks noGrp="1"/>
          </p:cNvSpPr>
          <p:nvPr>
            <p:ph idx="1"/>
          </p:nvPr>
        </p:nvSpPr>
        <p:spPr>
          <a:xfrm>
            <a:off x="1295401" y="2556932"/>
            <a:ext cx="5259945" cy="3318936"/>
          </a:xfrm>
        </p:spPr>
        <p:txBody>
          <a:bodyPr>
            <a:normAutofit/>
          </a:bodyPr>
          <a:lstStyle/>
          <a:p>
            <a:r>
              <a:rPr lang="en-US" dirty="0">
                <a:solidFill>
                  <a:schemeClr val="tx1"/>
                </a:solidFill>
              </a:rPr>
              <a:t>A </a:t>
            </a:r>
            <a:r>
              <a:rPr lang="en-US" b="1" dirty="0">
                <a:solidFill>
                  <a:schemeClr val="tx1"/>
                </a:solidFill>
              </a:rPr>
              <a:t>strong contrast is created when one side of an object is brightly lit and the other side is in shadows</a:t>
            </a:r>
            <a:r>
              <a:rPr lang="en-US" dirty="0">
                <a:solidFill>
                  <a:schemeClr val="tx1"/>
                </a:solidFill>
              </a:rPr>
              <a:t>. </a:t>
            </a:r>
          </a:p>
          <a:p>
            <a:r>
              <a:rPr lang="en-US" dirty="0">
                <a:solidFill>
                  <a:schemeClr val="tx1"/>
                </a:solidFill>
              </a:rPr>
              <a:t>Side lighting creates three-dimensional effect because of the Shadows made on one side of an object. </a:t>
            </a:r>
          </a:p>
          <a:p>
            <a:endParaRPr lang="en-US" dirty="0"/>
          </a:p>
        </p:txBody>
      </p:sp>
      <p:pic>
        <p:nvPicPr>
          <p:cNvPr id="5" name="Picture 2" descr="Image result for jack fight club side lighting">
            <a:extLst>
              <a:ext uri="{FF2B5EF4-FFF2-40B4-BE49-F238E27FC236}">
                <a16:creationId xmlns:a16="http://schemas.microsoft.com/office/drawing/2014/main" id="{B465B6BF-B458-4769-9697-DEC044C7BF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7355" y="2556932"/>
            <a:ext cx="4309497" cy="304537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3916168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51433-44C1-4C7E-A046-4072E8A28715}"/>
              </a:ext>
            </a:extLst>
          </p:cNvPr>
          <p:cNvSpPr>
            <a:spLocks noGrp="1"/>
          </p:cNvSpPr>
          <p:nvPr>
            <p:ph type="title"/>
          </p:nvPr>
        </p:nvSpPr>
        <p:spPr/>
        <p:txBody>
          <a:bodyPr/>
          <a:lstStyle/>
          <a:p>
            <a:r>
              <a:rPr lang="en-US" dirty="0"/>
              <a:t>Side Lighting</a:t>
            </a:r>
          </a:p>
        </p:txBody>
      </p:sp>
      <p:sp>
        <p:nvSpPr>
          <p:cNvPr id="3" name="Content Placeholder 2">
            <a:extLst>
              <a:ext uri="{FF2B5EF4-FFF2-40B4-BE49-F238E27FC236}">
                <a16:creationId xmlns:a16="http://schemas.microsoft.com/office/drawing/2014/main" id="{E8B53EAA-B6DA-457A-A0EA-C5E704FE8AE9}"/>
              </a:ext>
            </a:extLst>
          </p:cNvPr>
          <p:cNvSpPr>
            <a:spLocks noGrp="1"/>
          </p:cNvSpPr>
          <p:nvPr>
            <p:ph idx="1"/>
          </p:nvPr>
        </p:nvSpPr>
        <p:spPr>
          <a:xfrm>
            <a:off x="1295401" y="2556932"/>
            <a:ext cx="5259945" cy="3318936"/>
          </a:xfrm>
        </p:spPr>
        <p:txBody>
          <a:bodyPr>
            <a:normAutofit/>
          </a:bodyPr>
          <a:lstStyle/>
          <a:p>
            <a:r>
              <a:rPr lang="en-US" dirty="0">
                <a:solidFill>
                  <a:schemeClr val="tx1"/>
                </a:solidFill>
              </a:rPr>
              <a:t>Side lighting is </a:t>
            </a:r>
            <a:r>
              <a:rPr lang="en-US" b="1" dirty="0">
                <a:solidFill>
                  <a:schemeClr val="tx1"/>
                </a:solidFill>
              </a:rPr>
              <a:t>often used to convey a protagonist struggle</a:t>
            </a:r>
            <a:r>
              <a:rPr lang="en-US" dirty="0">
                <a:solidFill>
                  <a:schemeClr val="tx1"/>
                </a:solidFill>
              </a:rPr>
              <a:t> by being half in the light, half in the shadows. </a:t>
            </a:r>
          </a:p>
          <a:p>
            <a:r>
              <a:rPr lang="en-US" dirty="0">
                <a:solidFill>
                  <a:schemeClr val="tx1"/>
                </a:solidFill>
              </a:rPr>
              <a:t>Side lighting also brings out the detail and texture of objects, such as the leaves on a tree, or the creases in a wrinkled face.</a:t>
            </a:r>
          </a:p>
        </p:txBody>
      </p:sp>
      <p:pic>
        <p:nvPicPr>
          <p:cNvPr id="1026" name="Picture 2" descr="Image result for jack fight club side lighting">
            <a:extLst>
              <a:ext uri="{FF2B5EF4-FFF2-40B4-BE49-F238E27FC236}">
                <a16:creationId xmlns:a16="http://schemas.microsoft.com/office/drawing/2014/main" id="{0354DC66-883E-4130-AA6B-9831AC3DC2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7355" y="2556932"/>
            <a:ext cx="4309497" cy="304537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2471560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2433E-BCD6-4F31-AA5E-9657FA8FECDB}"/>
              </a:ext>
            </a:extLst>
          </p:cNvPr>
          <p:cNvSpPr>
            <a:spLocks noGrp="1"/>
          </p:cNvSpPr>
          <p:nvPr>
            <p:ph type="title"/>
          </p:nvPr>
        </p:nvSpPr>
        <p:spPr/>
        <p:txBody>
          <a:bodyPr/>
          <a:lstStyle/>
          <a:p>
            <a:r>
              <a:rPr lang="en-US" dirty="0"/>
              <a:t>Backlighting</a:t>
            </a:r>
          </a:p>
        </p:txBody>
      </p:sp>
      <p:sp>
        <p:nvSpPr>
          <p:cNvPr id="3" name="Content Placeholder 2">
            <a:extLst>
              <a:ext uri="{FF2B5EF4-FFF2-40B4-BE49-F238E27FC236}">
                <a16:creationId xmlns:a16="http://schemas.microsoft.com/office/drawing/2014/main" id="{196A34D7-90EF-4BC8-A257-AAE60DCE72D1}"/>
              </a:ext>
            </a:extLst>
          </p:cNvPr>
          <p:cNvSpPr>
            <a:spLocks noGrp="1"/>
          </p:cNvSpPr>
          <p:nvPr>
            <p:ph idx="1"/>
          </p:nvPr>
        </p:nvSpPr>
        <p:spPr>
          <a:xfrm>
            <a:off x="1295401" y="2556932"/>
            <a:ext cx="4559967" cy="3318936"/>
          </a:xfrm>
        </p:spPr>
        <p:txBody>
          <a:bodyPr/>
          <a:lstStyle/>
          <a:p>
            <a:r>
              <a:rPr lang="en-US" dirty="0"/>
              <a:t>Backlighting is when the source of light is behind an object or character that comes forward. </a:t>
            </a:r>
          </a:p>
          <a:p>
            <a:r>
              <a:rPr lang="en-US" dirty="0"/>
              <a:t>Backlighting </a:t>
            </a:r>
            <a:r>
              <a:rPr lang="en-US" b="1" dirty="0"/>
              <a:t>often creates the illusion of depth by separating the background from the subject</a:t>
            </a:r>
            <a:r>
              <a:rPr lang="en-US" dirty="0"/>
              <a:t>. </a:t>
            </a:r>
          </a:p>
          <a:p>
            <a:pPr marL="0" indent="0">
              <a:buNone/>
            </a:pPr>
            <a:endParaRPr lang="en-US" dirty="0"/>
          </a:p>
        </p:txBody>
      </p:sp>
      <p:pic>
        <p:nvPicPr>
          <p:cNvPr id="7170" name="Picture 2" descr="Related image">
            <a:extLst>
              <a:ext uri="{FF2B5EF4-FFF2-40B4-BE49-F238E27FC236}">
                <a16:creationId xmlns:a16="http://schemas.microsoft.com/office/drawing/2014/main" id="{ED4F9F0B-FDE1-44B0-B6CA-5A0DB52F49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605060"/>
            <a:ext cx="5159817" cy="2902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02326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2433E-BCD6-4F31-AA5E-9657FA8FECDB}"/>
              </a:ext>
            </a:extLst>
          </p:cNvPr>
          <p:cNvSpPr>
            <a:spLocks noGrp="1"/>
          </p:cNvSpPr>
          <p:nvPr>
            <p:ph type="title"/>
          </p:nvPr>
        </p:nvSpPr>
        <p:spPr/>
        <p:txBody>
          <a:bodyPr/>
          <a:lstStyle/>
          <a:p>
            <a:r>
              <a:rPr lang="en-US" dirty="0"/>
              <a:t>Underlighting</a:t>
            </a:r>
          </a:p>
        </p:txBody>
      </p:sp>
      <p:sp>
        <p:nvSpPr>
          <p:cNvPr id="3" name="Content Placeholder 2">
            <a:extLst>
              <a:ext uri="{FF2B5EF4-FFF2-40B4-BE49-F238E27FC236}">
                <a16:creationId xmlns:a16="http://schemas.microsoft.com/office/drawing/2014/main" id="{196A34D7-90EF-4BC8-A257-AAE60DCE72D1}"/>
              </a:ext>
            </a:extLst>
          </p:cNvPr>
          <p:cNvSpPr>
            <a:spLocks noGrp="1"/>
          </p:cNvSpPr>
          <p:nvPr>
            <p:ph idx="1"/>
          </p:nvPr>
        </p:nvSpPr>
        <p:spPr>
          <a:xfrm>
            <a:off x="1295402" y="2556932"/>
            <a:ext cx="5297904" cy="3587194"/>
          </a:xfrm>
        </p:spPr>
        <p:txBody>
          <a:bodyPr>
            <a:normAutofit lnSpcReduction="10000"/>
          </a:bodyPr>
          <a:lstStyle/>
          <a:p>
            <a:r>
              <a:rPr lang="en-US" dirty="0"/>
              <a:t>Comes from below an individual or object and produces odd-looking shadows. </a:t>
            </a:r>
          </a:p>
          <a:p>
            <a:r>
              <a:rPr lang="en-US" dirty="0"/>
              <a:t>This type of </a:t>
            </a:r>
            <a:r>
              <a:rPr lang="en-US" b="1" dirty="0"/>
              <a:t>lighting illuminates the bottom half </a:t>
            </a:r>
            <a:r>
              <a:rPr lang="en-US" dirty="0"/>
              <a:t>of a figure and shades the top, making a character appear malevolent and sinister. </a:t>
            </a:r>
          </a:p>
          <a:p>
            <a:r>
              <a:rPr lang="en-US" dirty="0"/>
              <a:t>Underlighting is seen in horror films and thrillers.</a:t>
            </a:r>
          </a:p>
        </p:txBody>
      </p:sp>
      <p:pic>
        <p:nvPicPr>
          <p:cNvPr id="4" name="Picture 2" descr="https://nofilmschool.com/sites/default/files/styles/article_wide/public/frankenstein_0.jpg?itok=x6uIK1xn">
            <a:extLst>
              <a:ext uri="{FF2B5EF4-FFF2-40B4-BE49-F238E27FC236}">
                <a16:creationId xmlns:a16="http://schemas.microsoft.com/office/drawing/2014/main" id="{F46C52CA-5012-45C7-BCE5-3CA389FC6AA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179" r="13102"/>
          <a:stretch/>
        </p:blipFill>
        <p:spPr bwMode="auto">
          <a:xfrm>
            <a:off x="6593309" y="2556932"/>
            <a:ext cx="4780547" cy="3318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32183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27440-5D03-40FF-913C-3AAE7D8CFC85}"/>
              </a:ext>
            </a:extLst>
          </p:cNvPr>
          <p:cNvSpPr>
            <a:spLocks noGrp="1"/>
          </p:cNvSpPr>
          <p:nvPr>
            <p:ph type="title"/>
          </p:nvPr>
        </p:nvSpPr>
        <p:spPr/>
        <p:txBody>
          <a:bodyPr/>
          <a:lstStyle/>
          <a:p>
            <a:r>
              <a:rPr lang="en-US" dirty="0"/>
              <a:t>Understanding Lighting</a:t>
            </a:r>
          </a:p>
        </p:txBody>
      </p:sp>
      <p:sp>
        <p:nvSpPr>
          <p:cNvPr id="3" name="Content Placeholder 2">
            <a:extLst>
              <a:ext uri="{FF2B5EF4-FFF2-40B4-BE49-F238E27FC236}">
                <a16:creationId xmlns:a16="http://schemas.microsoft.com/office/drawing/2014/main" id="{706827FB-D5EC-454C-A959-DBB966C05499}"/>
              </a:ext>
            </a:extLst>
          </p:cNvPr>
          <p:cNvSpPr>
            <a:spLocks noGrp="1"/>
          </p:cNvSpPr>
          <p:nvPr>
            <p:ph idx="1"/>
          </p:nvPr>
        </p:nvSpPr>
        <p:spPr/>
        <p:txBody>
          <a:bodyPr/>
          <a:lstStyle/>
          <a:p>
            <a:r>
              <a:rPr lang="en-US" dirty="0"/>
              <a:t>Look through </a:t>
            </a:r>
            <a:r>
              <a:rPr lang="en-US" b="1" dirty="0"/>
              <a:t>photography</a:t>
            </a:r>
            <a:r>
              <a:rPr lang="en-US" dirty="0"/>
              <a:t> books</a:t>
            </a:r>
          </a:p>
          <a:p>
            <a:r>
              <a:rPr lang="en-US" dirty="0"/>
              <a:t>Observe the lighting in different environments (inside, outside)</a:t>
            </a:r>
          </a:p>
          <a:p>
            <a:r>
              <a:rPr lang="en-US" dirty="0"/>
              <a:t>Observe differences between light in the </a:t>
            </a:r>
            <a:r>
              <a:rPr lang="en-US" b="1" dirty="0"/>
              <a:t>morning compared to afternoons and evenings</a:t>
            </a:r>
            <a:r>
              <a:rPr lang="en-US" dirty="0"/>
              <a:t>. </a:t>
            </a:r>
          </a:p>
          <a:p>
            <a:r>
              <a:rPr lang="en-US" dirty="0"/>
              <a:t>Observing light in various situations will help you to grasp how light looks at different times of the day, and how certain lighting decisions can affect the </a:t>
            </a:r>
            <a:r>
              <a:rPr lang="en-US" b="1" dirty="0"/>
              <a:t>mood</a:t>
            </a:r>
            <a:r>
              <a:rPr lang="en-US" dirty="0"/>
              <a:t>.</a:t>
            </a:r>
          </a:p>
          <a:p>
            <a:endParaRPr lang="en-US" dirty="0"/>
          </a:p>
        </p:txBody>
      </p:sp>
    </p:spTree>
    <p:extLst>
      <p:ext uri="{BB962C8B-B14F-4D97-AF65-F5344CB8AC3E}">
        <p14:creationId xmlns:p14="http://schemas.microsoft.com/office/powerpoint/2010/main" val="13667898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97650-0F80-497E-A3B4-9066D2D14E4C}"/>
              </a:ext>
            </a:extLst>
          </p:cNvPr>
          <p:cNvSpPr>
            <a:spLocks noGrp="1"/>
          </p:cNvSpPr>
          <p:nvPr>
            <p:ph type="title"/>
          </p:nvPr>
        </p:nvSpPr>
        <p:spPr/>
        <p:txBody>
          <a:bodyPr/>
          <a:lstStyle/>
          <a:p>
            <a:r>
              <a:rPr lang="en-US" dirty="0"/>
              <a:t>Realistic vs. Dramatic Lighting</a:t>
            </a:r>
          </a:p>
        </p:txBody>
      </p:sp>
      <p:sp>
        <p:nvSpPr>
          <p:cNvPr id="3" name="Content Placeholder 2">
            <a:extLst>
              <a:ext uri="{FF2B5EF4-FFF2-40B4-BE49-F238E27FC236}">
                <a16:creationId xmlns:a16="http://schemas.microsoft.com/office/drawing/2014/main" id="{92198438-9D5F-47B0-9F31-D18787BE4636}"/>
              </a:ext>
            </a:extLst>
          </p:cNvPr>
          <p:cNvSpPr>
            <a:spLocks noGrp="1"/>
          </p:cNvSpPr>
          <p:nvPr>
            <p:ph idx="1"/>
          </p:nvPr>
        </p:nvSpPr>
        <p:spPr>
          <a:xfrm>
            <a:off x="1295402" y="2556932"/>
            <a:ext cx="4624136" cy="3318936"/>
          </a:xfrm>
        </p:spPr>
        <p:txBody>
          <a:bodyPr/>
          <a:lstStyle/>
          <a:p>
            <a:r>
              <a:rPr lang="en-US" dirty="0"/>
              <a:t>Most productions use </a:t>
            </a:r>
            <a:r>
              <a:rPr lang="en-US" b="1" dirty="0"/>
              <a:t>realistic</a:t>
            </a:r>
            <a:r>
              <a:rPr lang="en-US" dirty="0"/>
              <a:t> lighting, trying to show the lighting that occurs naturally.</a:t>
            </a:r>
          </a:p>
          <a:p>
            <a:r>
              <a:rPr lang="en-US" dirty="0"/>
              <a:t>Light from candles, and fireplaces can enhance a realistic setting</a:t>
            </a:r>
          </a:p>
          <a:p>
            <a:r>
              <a:rPr lang="en-US" dirty="0"/>
              <a:t>Games often use realistic lighting to make characters look more natural.</a:t>
            </a:r>
          </a:p>
        </p:txBody>
      </p:sp>
      <p:pic>
        <p:nvPicPr>
          <p:cNvPr id="10242" name="Picture 2" descr="The landmark Steven Spielberg film is being remastered for 4K.">
            <a:extLst>
              <a:ext uri="{FF2B5EF4-FFF2-40B4-BE49-F238E27FC236}">
                <a16:creationId xmlns:a16="http://schemas.microsoft.com/office/drawing/2014/main" id="{4F5C4806-4CD0-4620-86C9-A856605924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637142"/>
            <a:ext cx="5204364" cy="293423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25972131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97650-0F80-497E-A3B4-9066D2D14E4C}"/>
              </a:ext>
            </a:extLst>
          </p:cNvPr>
          <p:cNvSpPr>
            <a:spLocks noGrp="1"/>
          </p:cNvSpPr>
          <p:nvPr>
            <p:ph type="title"/>
          </p:nvPr>
        </p:nvSpPr>
        <p:spPr/>
        <p:txBody>
          <a:bodyPr/>
          <a:lstStyle/>
          <a:p>
            <a:r>
              <a:rPr lang="en-US" dirty="0"/>
              <a:t>Realistic vs. Dramatic Lighting</a:t>
            </a:r>
          </a:p>
        </p:txBody>
      </p:sp>
      <p:sp>
        <p:nvSpPr>
          <p:cNvPr id="3" name="Content Placeholder 2">
            <a:extLst>
              <a:ext uri="{FF2B5EF4-FFF2-40B4-BE49-F238E27FC236}">
                <a16:creationId xmlns:a16="http://schemas.microsoft.com/office/drawing/2014/main" id="{92198438-9D5F-47B0-9F31-D18787BE4636}"/>
              </a:ext>
            </a:extLst>
          </p:cNvPr>
          <p:cNvSpPr>
            <a:spLocks noGrp="1"/>
          </p:cNvSpPr>
          <p:nvPr>
            <p:ph idx="1"/>
          </p:nvPr>
        </p:nvSpPr>
        <p:spPr>
          <a:xfrm>
            <a:off x="1295401" y="2556932"/>
            <a:ext cx="5259945" cy="3663564"/>
          </a:xfrm>
        </p:spPr>
        <p:txBody>
          <a:bodyPr/>
          <a:lstStyle/>
          <a:p>
            <a:r>
              <a:rPr lang="en-US" dirty="0">
                <a:solidFill>
                  <a:schemeClr val="tx1"/>
                </a:solidFill>
              </a:rPr>
              <a:t>Stylistic approach makes imagery appear more dramatic. </a:t>
            </a:r>
          </a:p>
          <a:p>
            <a:r>
              <a:rPr lang="en-US" dirty="0">
                <a:solidFill>
                  <a:schemeClr val="tx1"/>
                </a:solidFill>
              </a:rPr>
              <a:t>Stylized lighting is often used to accentuate mood. </a:t>
            </a:r>
          </a:p>
          <a:p>
            <a:r>
              <a:rPr lang="en-US" dirty="0">
                <a:solidFill>
                  <a:schemeClr val="tx1"/>
                </a:solidFill>
              </a:rPr>
              <a:t>Dramatic Lighting roots in early cinema can be found in German expressionism.</a:t>
            </a:r>
          </a:p>
          <a:p>
            <a:r>
              <a:rPr lang="en-US" dirty="0">
                <a:solidFill>
                  <a:schemeClr val="tx1"/>
                </a:solidFill>
              </a:rPr>
              <a:t>Is used in game design to emphasize to direct player’s focus.</a:t>
            </a:r>
          </a:p>
        </p:txBody>
      </p:sp>
      <p:pic>
        <p:nvPicPr>
          <p:cNvPr id="29698" name="Picture 2" descr="Image result for German expressionism film lighting">
            <a:extLst>
              <a:ext uri="{FF2B5EF4-FFF2-40B4-BE49-F238E27FC236}">
                <a16:creationId xmlns:a16="http://schemas.microsoft.com/office/drawing/2014/main" id="{4440380B-24F4-43D0-9926-207D8EF554A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572" r="7465"/>
          <a:stretch/>
        </p:blipFill>
        <p:spPr bwMode="auto">
          <a:xfrm>
            <a:off x="6890195" y="2657073"/>
            <a:ext cx="4341253"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73199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F593C-3319-4547-9A82-8F94C6D656E2}"/>
              </a:ext>
            </a:extLst>
          </p:cNvPr>
          <p:cNvSpPr>
            <a:spLocks noGrp="1"/>
          </p:cNvSpPr>
          <p:nvPr>
            <p:ph type="title"/>
          </p:nvPr>
        </p:nvSpPr>
        <p:spPr/>
        <p:txBody>
          <a:bodyPr/>
          <a:lstStyle/>
          <a:p>
            <a:r>
              <a:rPr lang="en-US" dirty="0"/>
              <a:t>Color</a:t>
            </a:r>
          </a:p>
        </p:txBody>
      </p:sp>
      <p:pic>
        <p:nvPicPr>
          <p:cNvPr id="2050" name="Picture 2" descr="Image result for color in film">
            <a:extLst>
              <a:ext uri="{FF2B5EF4-FFF2-40B4-BE49-F238E27FC236}">
                <a16:creationId xmlns:a16="http://schemas.microsoft.com/office/drawing/2014/main" id="{D95343BE-D5E5-40B8-A1F8-F7529117C64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321" b="12677"/>
          <a:stretch/>
        </p:blipFill>
        <p:spPr bwMode="auto">
          <a:xfrm>
            <a:off x="1809014" y="2545118"/>
            <a:ext cx="8573971" cy="3520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49378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5" descr="new_year_lanterns">
            <a:extLst>
              <a:ext uri="{FF2B5EF4-FFF2-40B4-BE49-F238E27FC236}">
                <a16:creationId xmlns:a16="http://schemas.microsoft.com/office/drawing/2014/main" id="{40DAD376-E9FC-4546-9A94-8AA4906D23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7299" y="2512708"/>
            <a:ext cx="5035346" cy="33631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pic>
        <p:nvPicPr>
          <p:cNvPr id="3076" name="Picture 10" descr="Barra Salvador">
            <a:extLst>
              <a:ext uri="{FF2B5EF4-FFF2-40B4-BE49-F238E27FC236}">
                <a16:creationId xmlns:a16="http://schemas.microsoft.com/office/drawing/2014/main" id="{8945CF11-45A2-4D1F-A345-C88FA399C1C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493" r="11179"/>
          <a:stretch/>
        </p:blipFill>
        <p:spPr bwMode="auto">
          <a:xfrm>
            <a:off x="6362699" y="2512708"/>
            <a:ext cx="4997767" cy="33631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
        <p:nvSpPr>
          <p:cNvPr id="2" name="Title 1">
            <a:extLst>
              <a:ext uri="{FF2B5EF4-FFF2-40B4-BE49-F238E27FC236}">
                <a16:creationId xmlns:a16="http://schemas.microsoft.com/office/drawing/2014/main" id="{843F593C-3319-4547-9A82-8F94C6D656E2}"/>
              </a:ext>
            </a:extLst>
          </p:cNvPr>
          <p:cNvSpPr>
            <a:spLocks noGrp="1"/>
          </p:cNvSpPr>
          <p:nvPr>
            <p:ph type="title"/>
          </p:nvPr>
        </p:nvSpPr>
        <p:spPr/>
        <p:txBody>
          <a:bodyPr/>
          <a:lstStyle/>
          <a:p>
            <a:r>
              <a:rPr lang="en-US" dirty="0"/>
              <a:t>Color</a:t>
            </a:r>
          </a:p>
        </p:txBody>
      </p:sp>
    </p:spTree>
    <p:extLst>
      <p:ext uri="{BB962C8B-B14F-4D97-AF65-F5344CB8AC3E}">
        <p14:creationId xmlns:p14="http://schemas.microsoft.com/office/powerpoint/2010/main" val="13600500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21DDDBD0-1E3B-46C9-A791-989300849ED5}"/>
              </a:ext>
            </a:extLst>
          </p:cNvPr>
          <p:cNvSpPr>
            <a:spLocks noGrp="1" noChangeArrowheads="1"/>
          </p:cNvSpPr>
          <p:nvPr>
            <p:ph type="title"/>
          </p:nvPr>
        </p:nvSpPr>
        <p:spPr/>
        <p:txBody>
          <a:bodyPr/>
          <a:lstStyle/>
          <a:p>
            <a:pPr eaLnBrk="1" hangingPunct="1"/>
            <a:r>
              <a:rPr lang="en-US" altLang="en-US" dirty="0">
                <a:solidFill>
                  <a:schemeClr val="tx1"/>
                </a:solidFill>
                <a:cs typeface="Times New Roman" panose="02020603050405020304" pitchFamily="18" charset="0"/>
              </a:rPr>
              <a:t>Color Wheel and The Basics of Color</a:t>
            </a:r>
            <a:endParaRPr lang="en-US" altLang="en-US" sz="4000" dirty="0">
              <a:solidFill>
                <a:schemeClr val="tx1"/>
              </a:solidFill>
              <a:cs typeface="Times New Roman" panose="02020603050405020304" pitchFamily="18" charset="0"/>
            </a:endParaRPr>
          </a:p>
        </p:txBody>
      </p:sp>
      <p:sp>
        <p:nvSpPr>
          <p:cNvPr id="2" name="Content Placeholder 1">
            <a:extLst>
              <a:ext uri="{FF2B5EF4-FFF2-40B4-BE49-F238E27FC236}">
                <a16:creationId xmlns:a16="http://schemas.microsoft.com/office/drawing/2014/main" id="{22D828D4-A916-4AB6-99F8-426BB33E89F7}"/>
              </a:ext>
            </a:extLst>
          </p:cNvPr>
          <p:cNvSpPr>
            <a:spLocks noGrp="1"/>
          </p:cNvSpPr>
          <p:nvPr>
            <p:ph idx="1"/>
          </p:nvPr>
        </p:nvSpPr>
        <p:spPr>
          <a:xfrm>
            <a:off x="4489361" y="2556932"/>
            <a:ext cx="6407235" cy="3318936"/>
          </a:xfrm>
        </p:spPr>
        <p:txBody>
          <a:bodyPr/>
          <a:lstStyle/>
          <a:p>
            <a:r>
              <a:rPr lang="en-US" dirty="0"/>
              <a:t>Most common color wheel is based on the 12 color model.</a:t>
            </a:r>
          </a:p>
          <a:p>
            <a:r>
              <a:rPr lang="en-US" dirty="0"/>
              <a:t>All colors in the RYB model are made up of either </a:t>
            </a:r>
            <a:r>
              <a:rPr lang="en-US" b="1" dirty="0"/>
              <a:t>Red</a:t>
            </a:r>
            <a:r>
              <a:rPr lang="en-US" dirty="0"/>
              <a:t>, </a:t>
            </a:r>
            <a:r>
              <a:rPr lang="en-US" b="1" dirty="0"/>
              <a:t>Yellow</a:t>
            </a:r>
            <a:r>
              <a:rPr lang="en-US" dirty="0"/>
              <a:t> or </a:t>
            </a:r>
            <a:r>
              <a:rPr lang="en-US" b="1" dirty="0"/>
              <a:t>Blue</a:t>
            </a:r>
            <a:r>
              <a:rPr lang="en-US" dirty="0"/>
              <a:t>.</a:t>
            </a:r>
          </a:p>
          <a:p>
            <a:r>
              <a:rPr lang="en-US" dirty="0"/>
              <a:t>These colors are called </a:t>
            </a:r>
            <a:r>
              <a:rPr lang="en-US" b="1" dirty="0"/>
              <a:t>primary</a:t>
            </a:r>
            <a:r>
              <a:rPr lang="en-US" dirty="0"/>
              <a:t> colors.</a:t>
            </a:r>
          </a:p>
        </p:txBody>
      </p:sp>
      <p:pic>
        <p:nvPicPr>
          <p:cNvPr id="5123" name="Picture 3" descr="Color wheel">
            <a:extLst>
              <a:ext uri="{FF2B5EF4-FFF2-40B4-BE49-F238E27FC236}">
                <a16:creationId xmlns:a16="http://schemas.microsoft.com/office/drawing/2014/main" id="{6FF8A4A4-F05C-40B1-B462-455D90D503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1" y="2556932"/>
            <a:ext cx="3193961" cy="3193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33497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21DDDBD0-1E3B-46C9-A791-989300849ED5}"/>
              </a:ext>
            </a:extLst>
          </p:cNvPr>
          <p:cNvSpPr>
            <a:spLocks noGrp="1" noChangeArrowheads="1"/>
          </p:cNvSpPr>
          <p:nvPr>
            <p:ph type="title"/>
          </p:nvPr>
        </p:nvSpPr>
        <p:spPr/>
        <p:txBody>
          <a:bodyPr/>
          <a:lstStyle/>
          <a:p>
            <a:pPr eaLnBrk="1" hangingPunct="1"/>
            <a:r>
              <a:rPr lang="en-US" altLang="en-US" dirty="0">
                <a:solidFill>
                  <a:schemeClr val="tx1"/>
                </a:solidFill>
                <a:cs typeface="Times New Roman" panose="02020603050405020304" pitchFamily="18" charset="0"/>
              </a:rPr>
              <a:t>Color Wheel and The Basics of Color</a:t>
            </a:r>
            <a:endParaRPr lang="en-US" altLang="en-US" sz="4000" dirty="0">
              <a:solidFill>
                <a:schemeClr val="tx1"/>
              </a:solidFill>
              <a:cs typeface="Times New Roman" panose="02020603050405020304" pitchFamily="18" charset="0"/>
            </a:endParaRPr>
          </a:p>
        </p:txBody>
      </p:sp>
      <p:sp>
        <p:nvSpPr>
          <p:cNvPr id="2" name="Content Placeholder 1">
            <a:extLst>
              <a:ext uri="{FF2B5EF4-FFF2-40B4-BE49-F238E27FC236}">
                <a16:creationId xmlns:a16="http://schemas.microsoft.com/office/drawing/2014/main" id="{22D828D4-A916-4AB6-99F8-426BB33E89F7}"/>
              </a:ext>
            </a:extLst>
          </p:cNvPr>
          <p:cNvSpPr>
            <a:spLocks noGrp="1"/>
          </p:cNvSpPr>
          <p:nvPr>
            <p:ph idx="1"/>
          </p:nvPr>
        </p:nvSpPr>
        <p:spPr>
          <a:xfrm>
            <a:off x="4489361" y="2556932"/>
            <a:ext cx="6407235" cy="3318936"/>
          </a:xfrm>
        </p:spPr>
        <p:txBody>
          <a:bodyPr/>
          <a:lstStyle/>
          <a:p>
            <a:r>
              <a:rPr lang="en-US" altLang="en-US" dirty="0">
                <a:latin typeface="Garamond" panose="02020404030301010803" pitchFamily="18" charset="0"/>
                <a:ea typeface="ＭＳ Ｐゴシック" panose="020B0600070205080204" pitchFamily="34" charset="-128"/>
                <a:cs typeface="Arial" panose="020B0604020202020204" pitchFamily="34" charset="0"/>
              </a:rPr>
              <a:t>Examples of secondary colors would include orange, green, and magenta, these are colors between primary colors on the color wheel.</a:t>
            </a:r>
          </a:p>
          <a:p>
            <a:r>
              <a:rPr lang="en-US" altLang="en-US" dirty="0">
                <a:latin typeface="Garamond" panose="02020404030301010803" pitchFamily="18" charset="0"/>
                <a:ea typeface="ＭＳ Ｐゴシック" panose="020B0600070205080204" pitchFamily="34" charset="-128"/>
                <a:cs typeface="Arial" panose="020B0604020202020204" pitchFamily="34" charset="0"/>
              </a:rPr>
              <a:t>Colors between the secondary colors are called tertiary.</a:t>
            </a:r>
          </a:p>
          <a:p>
            <a:r>
              <a:rPr lang="en-US" altLang="en-US" b="1" dirty="0">
                <a:latin typeface="Garamond" panose="02020404030301010803" pitchFamily="18" charset="0"/>
                <a:ea typeface="ＭＳ Ｐゴシック" panose="020B0600070205080204" pitchFamily="34" charset="-128"/>
                <a:cs typeface="Arial" panose="020B0604020202020204" pitchFamily="34" charset="0"/>
              </a:rPr>
              <a:t>Color</a:t>
            </a:r>
            <a:r>
              <a:rPr lang="en-US" altLang="en-US" dirty="0">
                <a:latin typeface="Garamond" panose="02020404030301010803" pitchFamily="18" charset="0"/>
                <a:ea typeface="ＭＳ Ｐゴシック" panose="020B0600070205080204" pitchFamily="34" charset="-128"/>
                <a:cs typeface="Arial" panose="020B0604020202020204" pitchFamily="34" charset="0"/>
              </a:rPr>
              <a:t> </a:t>
            </a:r>
            <a:r>
              <a:rPr lang="en-US" altLang="en-US" b="1" dirty="0">
                <a:latin typeface="Garamond" panose="02020404030301010803" pitchFamily="18" charset="0"/>
                <a:ea typeface="ＭＳ Ｐゴシック" panose="020B0600070205080204" pitchFamily="34" charset="-128"/>
                <a:cs typeface="Arial" panose="020B0604020202020204" pitchFamily="34" charset="0"/>
              </a:rPr>
              <a:t>harmonies</a:t>
            </a:r>
            <a:r>
              <a:rPr lang="en-US" altLang="en-US" dirty="0">
                <a:latin typeface="Garamond" panose="02020404030301010803" pitchFamily="18" charset="0"/>
                <a:ea typeface="ＭＳ Ｐゴシック" panose="020B0600070205080204" pitchFamily="34" charset="-128"/>
                <a:cs typeface="Arial" panose="020B0604020202020204" pitchFamily="34" charset="0"/>
              </a:rPr>
              <a:t>, or color chords are combinations considered pleasing.</a:t>
            </a:r>
          </a:p>
        </p:txBody>
      </p:sp>
      <p:pic>
        <p:nvPicPr>
          <p:cNvPr id="5123" name="Picture 3" descr="Color wheel">
            <a:extLst>
              <a:ext uri="{FF2B5EF4-FFF2-40B4-BE49-F238E27FC236}">
                <a16:creationId xmlns:a16="http://schemas.microsoft.com/office/drawing/2014/main" id="{6FF8A4A4-F05C-40B1-B462-455D90D503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1" y="2556932"/>
            <a:ext cx="3193961" cy="3193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24374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AE4EA9D-ED8E-45E5-9155-AA2AFC177180}"/>
              </a:ext>
            </a:extLst>
          </p:cNvPr>
          <p:cNvSpPr>
            <a:spLocks noGrp="1" noChangeArrowheads="1"/>
          </p:cNvSpPr>
          <p:nvPr>
            <p:ph type="title"/>
          </p:nvPr>
        </p:nvSpPr>
        <p:spPr/>
        <p:txBody>
          <a:bodyPr/>
          <a:lstStyle/>
          <a:p>
            <a:pPr eaLnBrk="1" hangingPunct="1"/>
            <a:r>
              <a:rPr lang="en-US" altLang="en-US" dirty="0">
                <a:solidFill>
                  <a:schemeClr val="tx1"/>
                </a:solidFill>
              </a:rPr>
              <a:t>Complimentary Colors</a:t>
            </a:r>
          </a:p>
        </p:txBody>
      </p:sp>
      <p:sp>
        <p:nvSpPr>
          <p:cNvPr id="2" name="Content Placeholder 1">
            <a:extLst>
              <a:ext uri="{FF2B5EF4-FFF2-40B4-BE49-F238E27FC236}">
                <a16:creationId xmlns:a16="http://schemas.microsoft.com/office/drawing/2014/main" id="{D359C930-2AAF-4EE7-AD1C-CE0C3360696E}"/>
              </a:ext>
            </a:extLst>
          </p:cNvPr>
          <p:cNvSpPr>
            <a:spLocks noGrp="1"/>
          </p:cNvSpPr>
          <p:nvPr>
            <p:ph idx="1"/>
          </p:nvPr>
        </p:nvSpPr>
        <p:spPr>
          <a:xfrm>
            <a:off x="4614337" y="2556932"/>
            <a:ext cx="3920060" cy="3318936"/>
          </a:xfrm>
        </p:spPr>
        <p:txBody>
          <a:bodyPr/>
          <a:lstStyle/>
          <a:p>
            <a:r>
              <a:rPr lang="en-US" altLang="en-US" dirty="0">
                <a:latin typeface="+mj-lt"/>
                <a:ea typeface="ＭＳ Ｐゴシック" panose="020B0600070205080204" pitchFamily="34" charset="-128"/>
                <a:cs typeface="Arial" panose="020B0604020202020204" pitchFamily="34" charset="0"/>
              </a:rPr>
              <a:t>Colors that are </a:t>
            </a:r>
            <a:r>
              <a:rPr lang="en-US" altLang="en-US" b="1" dirty="0">
                <a:latin typeface="+mj-lt"/>
                <a:ea typeface="ＭＳ Ｐゴシック" panose="020B0600070205080204" pitchFamily="34" charset="-128"/>
                <a:cs typeface="Arial" panose="020B0604020202020204" pitchFamily="34" charset="0"/>
              </a:rPr>
              <a:t>opposite</a:t>
            </a:r>
            <a:r>
              <a:rPr lang="en-US" altLang="en-US" dirty="0">
                <a:latin typeface="+mj-lt"/>
                <a:ea typeface="ＭＳ Ｐゴシック" panose="020B0600070205080204" pitchFamily="34" charset="-128"/>
                <a:cs typeface="Arial" panose="020B0604020202020204" pitchFamily="34" charset="0"/>
              </a:rPr>
              <a:t> each other on the color wheel are considered to be </a:t>
            </a:r>
            <a:r>
              <a:rPr lang="en-US" altLang="en-US" b="1" dirty="0">
                <a:latin typeface="+mj-lt"/>
                <a:ea typeface="ＭＳ Ｐゴシック" panose="020B0600070205080204" pitchFamily="34" charset="-128"/>
                <a:cs typeface="Arial" panose="020B0604020202020204" pitchFamily="34" charset="0"/>
              </a:rPr>
              <a:t>complementary</a:t>
            </a:r>
            <a:r>
              <a:rPr lang="en-US" altLang="en-US" dirty="0">
                <a:latin typeface="+mj-lt"/>
                <a:ea typeface="ＭＳ Ｐゴシック" panose="020B0600070205080204" pitchFamily="34" charset="-128"/>
                <a:cs typeface="Arial" panose="020B0604020202020204" pitchFamily="34" charset="0"/>
              </a:rPr>
              <a:t> colors.</a:t>
            </a:r>
            <a:endParaRPr lang="en-US" dirty="0">
              <a:latin typeface="+mj-lt"/>
            </a:endParaRPr>
          </a:p>
        </p:txBody>
      </p:sp>
      <p:pic>
        <p:nvPicPr>
          <p:cNvPr id="7171" name="Picture 7" descr="complementary">
            <a:extLst>
              <a:ext uri="{FF2B5EF4-FFF2-40B4-BE49-F238E27FC236}">
                <a16:creationId xmlns:a16="http://schemas.microsoft.com/office/drawing/2014/main" id="{9B208A40-858B-4B79-ADFB-832A8A3771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1" y="2556932"/>
            <a:ext cx="3318936" cy="3318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Rectangle 10">
            <a:extLst>
              <a:ext uri="{FF2B5EF4-FFF2-40B4-BE49-F238E27FC236}">
                <a16:creationId xmlns:a16="http://schemas.microsoft.com/office/drawing/2014/main" id="{9220ECA5-BB47-4127-8382-4391FD0B2FC1}"/>
              </a:ext>
            </a:extLst>
          </p:cNvPr>
          <p:cNvSpPr>
            <a:spLocks noChangeArrowheads="1"/>
          </p:cNvSpPr>
          <p:nvPr/>
        </p:nvSpPr>
        <p:spPr bwMode="auto">
          <a:xfrm>
            <a:off x="10237788" y="427990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5400">
                <a:solidFill>
                  <a:schemeClr val="tx1"/>
                </a:solidFill>
                <a:latin typeface="Arial" panose="020B0604020202020204" pitchFamily="34" charset="0"/>
                <a:ea typeface="ＭＳ Ｐゴシック" panose="020B0600070205080204" pitchFamily="34" charset="-128"/>
              </a:defRPr>
            </a:lvl1pPr>
            <a:lvl2pPr marL="742950" indent="-285750">
              <a:defRPr sz="5400">
                <a:solidFill>
                  <a:schemeClr val="tx1"/>
                </a:solidFill>
                <a:latin typeface="Arial" panose="020B0604020202020204" pitchFamily="34" charset="0"/>
                <a:ea typeface="ＭＳ Ｐゴシック" panose="020B0600070205080204" pitchFamily="34" charset="-128"/>
              </a:defRPr>
            </a:lvl2pPr>
            <a:lvl3pPr marL="1143000" indent="-228600">
              <a:defRPr sz="5400">
                <a:solidFill>
                  <a:schemeClr val="tx1"/>
                </a:solidFill>
                <a:latin typeface="Arial" panose="020B0604020202020204" pitchFamily="34" charset="0"/>
                <a:ea typeface="ＭＳ Ｐゴシック" panose="020B0600070205080204" pitchFamily="34" charset="-128"/>
              </a:defRPr>
            </a:lvl3pPr>
            <a:lvl4pPr marL="1600200" indent="-228600">
              <a:defRPr sz="5400">
                <a:solidFill>
                  <a:schemeClr val="tx1"/>
                </a:solidFill>
                <a:latin typeface="Arial" panose="020B0604020202020204" pitchFamily="34" charset="0"/>
                <a:ea typeface="ＭＳ Ｐゴシック" panose="020B0600070205080204" pitchFamily="34" charset="-128"/>
              </a:defRPr>
            </a:lvl4pPr>
            <a:lvl5pPr marL="2057400" indent="-228600">
              <a:defRPr sz="5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5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5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5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5400">
                <a:solidFill>
                  <a:schemeClr val="tx1"/>
                </a:solidFill>
                <a:latin typeface="Arial" panose="020B0604020202020204" pitchFamily="34" charset="0"/>
                <a:ea typeface="ＭＳ Ｐゴシック" panose="020B0600070205080204" pitchFamily="34" charset="-128"/>
              </a:defRPr>
            </a:lvl9pPr>
          </a:lstStyle>
          <a:p>
            <a:pPr algn="r" eaLnBrk="1" hangingPunct="1"/>
            <a:endParaRPr lang="en-US" altLang="en-US" sz="3600">
              <a:latin typeface="Century Gothic" panose="020B0502020202020204" pitchFamily="34" charset="0"/>
            </a:endParaRPr>
          </a:p>
        </p:txBody>
      </p:sp>
      <p:pic>
        <p:nvPicPr>
          <p:cNvPr id="7174" name="Picture 12" descr="complementary scheme">
            <a:extLst>
              <a:ext uri="{FF2B5EF4-FFF2-40B4-BE49-F238E27FC236}">
                <a16:creationId xmlns:a16="http://schemas.microsoft.com/office/drawing/2014/main" id="{653FEB93-DB41-4A69-A38A-EFA29A6B55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40459" y="2711450"/>
            <a:ext cx="2362200" cy="188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549116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871E4D8D-D9D2-4222-BFA4-D8DBEDC43FA1}"/>
              </a:ext>
            </a:extLst>
          </p:cNvPr>
          <p:cNvSpPr>
            <a:spLocks noGrp="1" noChangeArrowheads="1"/>
          </p:cNvSpPr>
          <p:nvPr>
            <p:ph type="title"/>
          </p:nvPr>
        </p:nvSpPr>
        <p:spPr/>
        <p:txBody>
          <a:bodyPr/>
          <a:lstStyle/>
          <a:p>
            <a:pPr eaLnBrk="1" hangingPunct="1"/>
            <a:r>
              <a:rPr lang="en-US" altLang="en-US" sz="6000">
                <a:solidFill>
                  <a:schemeClr val="tx1"/>
                </a:solidFill>
                <a:latin typeface="Century Gothic" panose="020B0502020202020204" pitchFamily="34" charset="0"/>
              </a:rPr>
              <a:t>analagous colors</a:t>
            </a:r>
          </a:p>
        </p:txBody>
      </p:sp>
      <p:sp>
        <p:nvSpPr>
          <p:cNvPr id="2" name="Content Placeholder 1">
            <a:extLst>
              <a:ext uri="{FF2B5EF4-FFF2-40B4-BE49-F238E27FC236}">
                <a16:creationId xmlns:a16="http://schemas.microsoft.com/office/drawing/2014/main" id="{38ADB4B8-949F-4439-A0B0-232522A7DD34}"/>
              </a:ext>
            </a:extLst>
          </p:cNvPr>
          <p:cNvSpPr>
            <a:spLocks noGrp="1"/>
          </p:cNvSpPr>
          <p:nvPr>
            <p:ph idx="1"/>
          </p:nvPr>
        </p:nvSpPr>
        <p:spPr>
          <a:xfrm>
            <a:off x="4987524" y="2556932"/>
            <a:ext cx="3542112" cy="3212803"/>
          </a:xfrm>
        </p:spPr>
        <p:txBody>
          <a:bodyPr/>
          <a:lstStyle/>
          <a:p>
            <a:r>
              <a:rPr lang="en-US" altLang="en-US" dirty="0">
                <a:latin typeface="+mj-lt"/>
                <a:ea typeface="ＭＳ Ｐゴシック" panose="020B0600070205080204" pitchFamily="34" charset="-128"/>
                <a:cs typeface="Arial" panose="020B0604020202020204" pitchFamily="34" charset="0"/>
              </a:rPr>
              <a:t>Analogous color schemes use colors that are next to each other on the color wheel. </a:t>
            </a:r>
          </a:p>
          <a:p>
            <a:r>
              <a:rPr lang="en-US" altLang="en-US" dirty="0">
                <a:latin typeface="+mj-lt"/>
                <a:ea typeface="ＭＳ Ｐゴシック" panose="020B0600070205080204" pitchFamily="34" charset="-128"/>
                <a:cs typeface="Arial" panose="020B0604020202020204" pitchFamily="34" charset="0"/>
              </a:rPr>
              <a:t>These are colors that tend to be found together in nature.</a:t>
            </a:r>
            <a:endParaRPr lang="en-US" dirty="0">
              <a:latin typeface="+mj-lt"/>
            </a:endParaRPr>
          </a:p>
        </p:txBody>
      </p:sp>
      <p:pic>
        <p:nvPicPr>
          <p:cNvPr id="9219" name="Picture 8" descr="analogous">
            <a:extLst>
              <a:ext uri="{FF2B5EF4-FFF2-40B4-BE49-F238E27FC236}">
                <a16:creationId xmlns:a16="http://schemas.microsoft.com/office/drawing/2014/main" id="{4069C2C1-68F7-4DFB-B64C-7781368E82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7387" y="2405307"/>
            <a:ext cx="3520828" cy="3520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13" descr="analogous scheme">
            <a:extLst>
              <a:ext uri="{FF2B5EF4-FFF2-40B4-BE49-F238E27FC236}">
                <a16:creationId xmlns:a16="http://schemas.microsoft.com/office/drawing/2014/main" id="{D0A866B7-1581-4F83-8B45-F58DAA2A8F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64854" y="2556932"/>
            <a:ext cx="2366962" cy="189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78166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3D9DCAF2-F010-4E98-BEF6-B12F299E11E5}"/>
              </a:ext>
            </a:extLst>
          </p:cNvPr>
          <p:cNvSpPr>
            <a:spLocks noGrp="1" noChangeArrowheads="1"/>
          </p:cNvSpPr>
          <p:nvPr>
            <p:ph type="title"/>
          </p:nvPr>
        </p:nvSpPr>
        <p:spPr/>
        <p:txBody>
          <a:bodyPr/>
          <a:lstStyle/>
          <a:p>
            <a:pPr eaLnBrk="1" hangingPunct="1"/>
            <a:r>
              <a:rPr lang="en-US" altLang="en-US" sz="6000">
                <a:solidFill>
                  <a:schemeClr val="tx1"/>
                </a:solidFill>
                <a:latin typeface="Century Gothic" panose="020B0502020202020204" pitchFamily="34" charset="0"/>
              </a:rPr>
              <a:t>triadic colors</a:t>
            </a:r>
          </a:p>
        </p:txBody>
      </p:sp>
      <p:sp>
        <p:nvSpPr>
          <p:cNvPr id="2" name="Content Placeholder 1">
            <a:extLst>
              <a:ext uri="{FF2B5EF4-FFF2-40B4-BE49-F238E27FC236}">
                <a16:creationId xmlns:a16="http://schemas.microsoft.com/office/drawing/2014/main" id="{F433E8A9-7D0E-43E9-AF61-9E3B917E746C}"/>
              </a:ext>
            </a:extLst>
          </p:cNvPr>
          <p:cNvSpPr>
            <a:spLocks noGrp="1"/>
          </p:cNvSpPr>
          <p:nvPr>
            <p:ph idx="1"/>
          </p:nvPr>
        </p:nvSpPr>
        <p:spPr>
          <a:xfrm>
            <a:off x="4842457" y="2556932"/>
            <a:ext cx="3695115" cy="3318936"/>
          </a:xfrm>
        </p:spPr>
        <p:txBody>
          <a:bodyPr/>
          <a:lstStyle/>
          <a:p>
            <a:r>
              <a:rPr lang="en-US" dirty="0"/>
              <a:t>Triadic color scheme uses colors that are evenly spaced around the color wheel.</a:t>
            </a:r>
          </a:p>
          <a:p>
            <a:r>
              <a:rPr lang="en-US" dirty="0"/>
              <a:t>Tend to be vibrant.</a:t>
            </a:r>
          </a:p>
        </p:txBody>
      </p:sp>
      <p:pic>
        <p:nvPicPr>
          <p:cNvPr id="11267" name="Picture 7" descr="triad">
            <a:extLst>
              <a:ext uri="{FF2B5EF4-FFF2-40B4-BE49-F238E27FC236}">
                <a16:creationId xmlns:a16="http://schemas.microsoft.com/office/drawing/2014/main" id="{8ACDD8CD-815B-4906-BDD9-FC174F0472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557412"/>
            <a:ext cx="3318456" cy="3318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8" name="Picture 9" descr="triadic scheme">
            <a:extLst>
              <a:ext uri="{FF2B5EF4-FFF2-40B4-BE49-F238E27FC236}">
                <a16:creationId xmlns:a16="http://schemas.microsoft.com/office/drawing/2014/main" id="{1326747A-0B0F-4BF3-9752-EE0D5063DA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37572" y="2556932"/>
            <a:ext cx="2359025"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88616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27890CA8-A0FA-465E-820B-3A811B3DCF8C}"/>
              </a:ext>
            </a:extLst>
          </p:cNvPr>
          <p:cNvSpPr>
            <a:spLocks noGrp="1" noChangeArrowheads="1"/>
          </p:cNvSpPr>
          <p:nvPr>
            <p:ph type="title"/>
          </p:nvPr>
        </p:nvSpPr>
        <p:spPr/>
        <p:txBody>
          <a:bodyPr/>
          <a:lstStyle/>
          <a:p>
            <a:pPr algn="r" eaLnBrk="1" hangingPunct="1"/>
            <a:r>
              <a:rPr lang="en-US" altLang="en-US">
                <a:solidFill>
                  <a:schemeClr val="tx1"/>
                </a:solidFill>
                <a:latin typeface="Century Gothic" panose="020B0502020202020204" pitchFamily="34" charset="0"/>
              </a:rPr>
              <a:t>split complimentary colors</a:t>
            </a:r>
          </a:p>
        </p:txBody>
      </p:sp>
      <p:sp>
        <p:nvSpPr>
          <p:cNvPr id="2" name="Content Placeholder 1">
            <a:extLst>
              <a:ext uri="{FF2B5EF4-FFF2-40B4-BE49-F238E27FC236}">
                <a16:creationId xmlns:a16="http://schemas.microsoft.com/office/drawing/2014/main" id="{504CD804-711B-4667-9E8A-0039715DD474}"/>
              </a:ext>
            </a:extLst>
          </p:cNvPr>
          <p:cNvSpPr>
            <a:spLocks noGrp="1"/>
          </p:cNvSpPr>
          <p:nvPr>
            <p:ph idx="1"/>
          </p:nvPr>
        </p:nvSpPr>
        <p:spPr>
          <a:xfrm>
            <a:off x="4881094" y="2556932"/>
            <a:ext cx="3272308" cy="3318936"/>
          </a:xfrm>
        </p:spPr>
        <p:txBody>
          <a:bodyPr>
            <a:normAutofit fontScale="85000" lnSpcReduction="10000"/>
          </a:bodyPr>
          <a:lstStyle/>
          <a:p>
            <a:r>
              <a:rPr lang="en-US" dirty="0"/>
              <a:t>variation of the complementary color scheme. </a:t>
            </a:r>
          </a:p>
          <a:p>
            <a:r>
              <a:rPr lang="en-US" dirty="0"/>
              <a:t>uses the two colors adjacent to its complementary color.</a:t>
            </a:r>
          </a:p>
          <a:p>
            <a:r>
              <a:rPr lang="en-US" dirty="0"/>
              <a:t>Same strong visual contrast as the complementary color scheme, but has less tension.</a:t>
            </a:r>
          </a:p>
          <a:p>
            <a:endParaRPr lang="en-US" dirty="0"/>
          </a:p>
        </p:txBody>
      </p:sp>
      <p:pic>
        <p:nvPicPr>
          <p:cNvPr id="13315" name="Picture 8" descr="split-complementary">
            <a:extLst>
              <a:ext uri="{FF2B5EF4-FFF2-40B4-BE49-F238E27FC236}">
                <a16:creationId xmlns:a16="http://schemas.microsoft.com/office/drawing/2014/main" id="{0E71FBAC-40F2-41DB-92BF-1010415FCD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2" y="2553238"/>
            <a:ext cx="3357091" cy="3357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6" name="Picture 10" descr="split-complementary scheme">
            <a:extLst>
              <a:ext uri="{FF2B5EF4-FFF2-40B4-BE49-F238E27FC236}">
                <a16:creationId xmlns:a16="http://schemas.microsoft.com/office/drawing/2014/main" id="{4B6E937C-8A45-4411-BA86-50E4C150F2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3402" y="2522471"/>
            <a:ext cx="2359025"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1813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8" descr="Tetrad">
            <a:extLst>
              <a:ext uri="{FF2B5EF4-FFF2-40B4-BE49-F238E27FC236}">
                <a16:creationId xmlns:a16="http://schemas.microsoft.com/office/drawing/2014/main" id="{1EDD1C0B-3566-40FE-ADF6-3B71F047FA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2" y="2556932"/>
            <a:ext cx="3318936" cy="3318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Rectangle 2">
            <a:extLst>
              <a:ext uri="{FF2B5EF4-FFF2-40B4-BE49-F238E27FC236}">
                <a16:creationId xmlns:a16="http://schemas.microsoft.com/office/drawing/2014/main" id="{E7C68C50-B671-4020-9C9D-70D3DFEE034C}"/>
              </a:ext>
            </a:extLst>
          </p:cNvPr>
          <p:cNvSpPr>
            <a:spLocks noGrp="1" noChangeArrowheads="1"/>
          </p:cNvSpPr>
          <p:nvPr>
            <p:ph type="title"/>
          </p:nvPr>
        </p:nvSpPr>
        <p:spPr/>
        <p:txBody>
          <a:bodyPr/>
          <a:lstStyle/>
          <a:p>
            <a:pPr algn="r" eaLnBrk="1" hangingPunct="1"/>
            <a:r>
              <a:rPr lang="en-US" altLang="en-US">
                <a:latin typeface="Century Gothic" panose="020B0502020202020204" pitchFamily="34" charset="0"/>
              </a:rPr>
              <a:t>rectangle (tetradic) color scheme</a:t>
            </a:r>
            <a:r>
              <a:rPr lang="en-US" altLang="en-US" b="1">
                <a:latin typeface="Century Gothic" panose="020B0502020202020204" pitchFamily="34" charset="0"/>
              </a:rPr>
              <a:t> </a:t>
            </a:r>
          </a:p>
        </p:txBody>
      </p:sp>
      <p:sp>
        <p:nvSpPr>
          <p:cNvPr id="2" name="Content Placeholder 1">
            <a:extLst>
              <a:ext uri="{FF2B5EF4-FFF2-40B4-BE49-F238E27FC236}">
                <a16:creationId xmlns:a16="http://schemas.microsoft.com/office/drawing/2014/main" id="{0CB37F0A-569F-4E46-B1C0-9AEB2E2BA040}"/>
              </a:ext>
            </a:extLst>
          </p:cNvPr>
          <p:cNvSpPr>
            <a:spLocks noGrp="1"/>
          </p:cNvSpPr>
          <p:nvPr>
            <p:ph idx="1"/>
          </p:nvPr>
        </p:nvSpPr>
        <p:spPr>
          <a:xfrm>
            <a:off x="4842938" y="2556932"/>
            <a:ext cx="3313638" cy="3318936"/>
          </a:xfrm>
        </p:spPr>
        <p:txBody>
          <a:bodyPr>
            <a:normAutofit/>
          </a:bodyPr>
          <a:lstStyle/>
          <a:p>
            <a:r>
              <a:rPr lang="en-US" dirty="0"/>
              <a:t>Uses four colors arranged into </a:t>
            </a:r>
            <a:r>
              <a:rPr lang="en-US" b="1" dirty="0"/>
              <a:t>two</a:t>
            </a:r>
            <a:r>
              <a:rPr lang="en-US" dirty="0"/>
              <a:t> </a:t>
            </a:r>
            <a:r>
              <a:rPr lang="en-US" b="1" dirty="0"/>
              <a:t>complementary</a:t>
            </a:r>
            <a:r>
              <a:rPr lang="en-US" dirty="0"/>
              <a:t> pairs.</a:t>
            </a:r>
          </a:p>
          <a:p>
            <a:r>
              <a:rPr lang="en-US" dirty="0"/>
              <a:t>Rich color scheme offers plenty of possibilities for variation.</a:t>
            </a:r>
          </a:p>
          <a:p>
            <a:endParaRPr lang="en-US" dirty="0"/>
          </a:p>
        </p:txBody>
      </p:sp>
      <p:pic>
        <p:nvPicPr>
          <p:cNvPr id="15365" name="Picture 11" descr="rectangle scheme">
            <a:extLst>
              <a:ext uri="{FF2B5EF4-FFF2-40B4-BE49-F238E27FC236}">
                <a16:creationId xmlns:a16="http://schemas.microsoft.com/office/drawing/2014/main" id="{91618405-7E0B-44EF-A399-B0C32075ED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6576" y="2556932"/>
            <a:ext cx="2359025"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0138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6" descr="square">
            <a:extLst>
              <a:ext uri="{FF2B5EF4-FFF2-40B4-BE49-F238E27FC236}">
                <a16:creationId xmlns:a16="http://schemas.microsoft.com/office/drawing/2014/main" id="{7C84C055-3B06-4FD3-82C1-A606DD6B42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1" y="1600201"/>
            <a:ext cx="5173663" cy="517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Rectangle 3">
            <a:extLst>
              <a:ext uri="{FF2B5EF4-FFF2-40B4-BE49-F238E27FC236}">
                <a16:creationId xmlns:a16="http://schemas.microsoft.com/office/drawing/2014/main" id="{2AEACF1B-3A5C-480D-99EA-6A2DF4E876B9}"/>
              </a:ext>
            </a:extLst>
          </p:cNvPr>
          <p:cNvSpPr>
            <a:spLocks noGrp="1" noChangeArrowheads="1"/>
          </p:cNvSpPr>
          <p:nvPr>
            <p:ph type="title"/>
          </p:nvPr>
        </p:nvSpPr>
        <p:spPr/>
        <p:txBody>
          <a:bodyPr/>
          <a:lstStyle/>
          <a:p>
            <a:pPr algn="r" eaLnBrk="1" hangingPunct="1"/>
            <a:r>
              <a:rPr lang="en-US" altLang="en-US">
                <a:latin typeface="Century Gothic" panose="020B0502020202020204" pitchFamily="34" charset="0"/>
              </a:rPr>
              <a:t>square color scheme</a:t>
            </a:r>
            <a:r>
              <a:rPr lang="en-US" altLang="en-US" b="1">
                <a:latin typeface="Century Gothic" panose="020B0502020202020204" pitchFamily="34" charset="0"/>
              </a:rPr>
              <a:t> </a:t>
            </a:r>
          </a:p>
        </p:txBody>
      </p:sp>
      <p:sp>
        <p:nvSpPr>
          <p:cNvPr id="2" name="Content Placeholder 1">
            <a:extLst>
              <a:ext uri="{FF2B5EF4-FFF2-40B4-BE49-F238E27FC236}">
                <a16:creationId xmlns:a16="http://schemas.microsoft.com/office/drawing/2014/main" id="{C1F75634-F38A-4758-844F-307884466626}"/>
              </a:ext>
            </a:extLst>
          </p:cNvPr>
          <p:cNvSpPr>
            <a:spLocks noGrp="1"/>
          </p:cNvSpPr>
          <p:nvPr>
            <p:ph idx="1"/>
          </p:nvPr>
        </p:nvSpPr>
        <p:spPr/>
        <p:txBody>
          <a:bodyPr/>
          <a:lstStyle/>
          <a:p>
            <a:endParaRPr lang="en-US"/>
          </a:p>
        </p:txBody>
      </p:sp>
      <p:pic>
        <p:nvPicPr>
          <p:cNvPr id="17412" name="Picture 8" descr="square scheme">
            <a:extLst>
              <a:ext uri="{FF2B5EF4-FFF2-40B4-BE49-F238E27FC236}">
                <a16:creationId xmlns:a16="http://schemas.microsoft.com/office/drawing/2014/main" id="{5924AC8F-BE4F-422F-A763-776E89076C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3401" y="4800600"/>
            <a:ext cx="2359025"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Rectangle 9">
            <a:extLst>
              <a:ext uri="{FF2B5EF4-FFF2-40B4-BE49-F238E27FC236}">
                <a16:creationId xmlns:a16="http://schemas.microsoft.com/office/drawing/2014/main" id="{F493D827-5CCA-4A79-9780-667EC57E4406}"/>
              </a:ext>
            </a:extLst>
          </p:cNvPr>
          <p:cNvSpPr>
            <a:spLocks noChangeArrowheads="1"/>
          </p:cNvSpPr>
          <p:nvPr/>
        </p:nvSpPr>
        <p:spPr bwMode="auto">
          <a:xfrm>
            <a:off x="2895600" y="1676401"/>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5400">
                <a:solidFill>
                  <a:schemeClr val="tx1"/>
                </a:solidFill>
                <a:latin typeface="Arial" panose="020B0604020202020204" pitchFamily="34" charset="0"/>
                <a:ea typeface="ＭＳ Ｐゴシック" panose="020B0600070205080204" pitchFamily="34" charset="-128"/>
              </a:defRPr>
            </a:lvl1pPr>
            <a:lvl2pPr marL="742950" indent="-285750">
              <a:defRPr sz="5400">
                <a:solidFill>
                  <a:schemeClr val="tx1"/>
                </a:solidFill>
                <a:latin typeface="Arial" panose="020B0604020202020204" pitchFamily="34" charset="0"/>
                <a:ea typeface="ＭＳ Ｐゴシック" panose="020B0600070205080204" pitchFamily="34" charset="-128"/>
              </a:defRPr>
            </a:lvl2pPr>
            <a:lvl3pPr marL="1143000" indent="-228600">
              <a:defRPr sz="5400">
                <a:solidFill>
                  <a:schemeClr val="tx1"/>
                </a:solidFill>
                <a:latin typeface="Arial" panose="020B0604020202020204" pitchFamily="34" charset="0"/>
                <a:ea typeface="ＭＳ Ｐゴシック" panose="020B0600070205080204" pitchFamily="34" charset="-128"/>
              </a:defRPr>
            </a:lvl3pPr>
            <a:lvl4pPr marL="1600200" indent="-228600">
              <a:defRPr sz="5400">
                <a:solidFill>
                  <a:schemeClr val="tx1"/>
                </a:solidFill>
                <a:latin typeface="Arial" panose="020B0604020202020204" pitchFamily="34" charset="0"/>
                <a:ea typeface="ＭＳ Ｐゴシック" panose="020B0600070205080204" pitchFamily="34" charset="-128"/>
              </a:defRPr>
            </a:lvl4pPr>
            <a:lvl5pPr marL="2057400" indent="-228600">
              <a:defRPr sz="5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5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5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5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5400">
                <a:solidFill>
                  <a:schemeClr val="tx1"/>
                </a:solidFill>
                <a:latin typeface="Arial" panose="020B0604020202020204" pitchFamily="34" charset="0"/>
                <a:ea typeface="ＭＳ Ｐゴシック" panose="020B0600070205080204" pitchFamily="34" charset="-128"/>
              </a:defRPr>
            </a:lvl9pPr>
          </a:lstStyle>
          <a:p>
            <a:pPr algn="r" eaLnBrk="1" hangingPunct="1"/>
            <a:r>
              <a:rPr lang="en-US" altLang="en-US" sz="3600">
                <a:solidFill>
                  <a:schemeClr val="tx2"/>
                </a:solidFill>
                <a:latin typeface="Century Gothic" panose="020B0502020202020204" pitchFamily="34" charset="0"/>
              </a:rPr>
              <a:t>4 colors</a:t>
            </a:r>
            <a:br>
              <a:rPr lang="en-US" altLang="en-US" sz="3600">
                <a:solidFill>
                  <a:schemeClr val="tx2"/>
                </a:solidFill>
                <a:latin typeface="Century Gothic" panose="020B0502020202020204" pitchFamily="34" charset="0"/>
              </a:rPr>
            </a:br>
            <a:r>
              <a:rPr lang="en-US" altLang="en-US" sz="3600">
                <a:solidFill>
                  <a:schemeClr val="tx2"/>
                </a:solidFill>
                <a:latin typeface="Century Gothic" panose="020B0502020202020204" pitchFamily="34" charset="0"/>
              </a:rPr>
              <a:t>evenly distributed</a:t>
            </a:r>
            <a:endParaRPr lang="en-US" altLang="en-US" sz="3600" b="1">
              <a:solidFill>
                <a:schemeClr val="tx2"/>
              </a:solidFill>
              <a:latin typeface="Century Gothic" panose="020B0502020202020204" pitchFamily="34" charset="0"/>
            </a:endParaRPr>
          </a:p>
        </p:txBody>
      </p:sp>
      <p:sp>
        <p:nvSpPr>
          <p:cNvPr id="17414" name="Rectangle 10">
            <a:extLst>
              <a:ext uri="{FF2B5EF4-FFF2-40B4-BE49-F238E27FC236}">
                <a16:creationId xmlns:a16="http://schemas.microsoft.com/office/drawing/2014/main" id="{74F1BE30-8BB7-49DE-9146-AC01D5252E32}"/>
              </a:ext>
            </a:extLst>
          </p:cNvPr>
          <p:cNvSpPr>
            <a:spLocks noChangeArrowheads="1"/>
          </p:cNvSpPr>
          <p:nvPr/>
        </p:nvSpPr>
        <p:spPr bwMode="auto">
          <a:xfrm>
            <a:off x="2895600" y="3101976"/>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5400">
                <a:solidFill>
                  <a:schemeClr val="tx1"/>
                </a:solidFill>
                <a:latin typeface="Arial" panose="020B0604020202020204" pitchFamily="34" charset="0"/>
                <a:ea typeface="ＭＳ Ｐゴシック" panose="020B0600070205080204" pitchFamily="34" charset="-128"/>
              </a:defRPr>
            </a:lvl1pPr>
            <a:lvl2pPr marL="742950" indent="-285750">
              <a:defRPr sz="5400">
                <a:solidFill>
                  <a:schemeClr val="tx1"/>
                </a:solidFill>
                <a:latin typeface="Arial" panose="020B0604020202020204" pitchFamily="34" charset="0"/>
                <a:ea typeface="ＭＳ Ｐゴシック" panose="020B0600070205080204" pitchFamily="34" charset="-128"/>
              </a:defRPr>
            </a:lvl2pPr>
            <a:lvl3pPr marL="1143000" indent="-228600">
              <a:defRPr sz="5400">
                <a:solidFill>
                  <a:schemeClr val="tx1"/>
                </a:solidFill>
                <a:latin typeface="Arial" panose="020B0604020202020204" pitchFamily="34" charset="0"/>
                <a:ea typeface="ＭＳ Ｐゴシック" panose="020B0600070205080204" pitchFamily="34" charset="-128"/>
              </a:defRPr>
            </a:lvl3pPr>
            <a:lvl4pPr marL="1600200" indent="-228600">
              <a:defRPr sz="5400">
                <a:solidFill>
                  <a:schemeClr val="tx1"/>
                </a:solidFill>
                <a:latin typeface="Arial" panose="020B0604020202020204" pitchFamily="34" charset="0"/>
                <a:ea typeface="ＭＳ Ｐゴシック" panose="020B0600070205080204" pitchFamily="34" charset="-128"/>
              </a:defRPr>
            </a:lvl4pPr>
            <a:lvl5pPr marL="2057400" indent="-228600">
              <a:defRPr sz="5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5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5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5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5400">
                <a:solidFill>
                  <a:schemeClr val="tx1"/>
                </a:solidFill>
                <a:latin typeface="Arial" panose="020B0604020202020204" pitchFamily="34" charset="0"/>
                <a:ea typeface="ＭＳ Ｐゴシック" panose="020B0600070205080204" pitchFamily="34" charset="-128"/>
              </a:defRPr>
            </a:lvl9pPr>
          </a:lstStyle>
          <a:p>
            <a:pPr algn="r" eaLnBrk="1" hangingPunct="1"/>
            <a:r>
              <a:rPr lang="en-US" altLang="en-US" sz="3600">
                <a:solidFill>
                  <a:schemeClr val="tx2"/>
                </a:solidFill>
                <a:latin typeface="Century Gothic" panose="020B0502020202020204" pitchFamily="34" charset="0"/>
              </a:rPr>
              <a:t>warm vs. cool</a:t>
            </a:r>
            <a:endParaRPr lang="en-US" altLang="en-US" sz="3600" b="1">
              <a:solidFill>
                <a:schemeClr val="tx2"/>
              </a:solidFill>
              <a:latin typeface="Century Gothic" panose="020B0502020202020204" pitchFamily="34" charset="0"/>
            </a:endParaRPr>
          </a:p>
        </p:txBody>
      </p:sp>
    </p:spTree>
    <p:extLst>
      <p:ext uri="{BB962C8B-B14F-4D97-AF65-F5344CB8AC3E}">
        <p14:creationId xmlns:p14="http://schemas.microsoft.com/office/powerpoint/2010/main" val="6422523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13" descr="500x_lordsdlc">
            <a:extLst>
              <a:ext uri="{FF2B5EF4-FFF2-40B4-BE49-F238E27FC236}">
                <a16:creationId xmlns:a16="http://schemas.microsoft.com/office/drawing/2014/main" id="{AE5D959E-3C43-420E-A8D5-AB36B843DF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8962" y="434974"/>
            <a:ext cx="8066467" cy="5937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9" name="Rectangle 3">
            <a:extLst>
              <a:ext uri="{FF2B5EF4-FFF2-40B4-BE49-F238E27FC236}">
                <a16:creationId xmlns:a16="http://schemas.microsoft.com/office/drawing/2014/main" id="{FAC894ED-01AE-41E6-B614-D6C27F2CF929}"/>
              </a:ext>
            </a:extLst>
          </p:cNvPr>
          <p:cNvSpPr>
            <a:spLocks noGrp="1" noChangeArrowheads="1"/>
          </p:cNvSpPr>
          <p:nvPr>
            <p:ph type="title"/>
          </p:nvPr>
        </p:nvSpPr>
        <p:spPr>
          <a:xfrm>
            <a:off x="901522" y="982132"/>
            <a:ext cx="2511380" cy="1303867"/>
          </a:xfrm>
        </p:spPr>
        <p:txBody>
          <a:bodyPr>
            <a:normAutofit fontScale="90000"/>
          </a:bodyPr>
          <a:lstStyle/>
          <a:p>
            <a:pPr eaLnBrk="1" hangingPunct="1"/>
            <a:r>
              <a:rPr lang="en-US" altLang="en-US" dirty="0"/>
              <a:t>Warm Colors</a:t>
            </a:r>
          </a:p>
        </p:txBody>
      </p:sp>
      <p:sp>
        <p:nvSpPr>
          <p:cNvPr id="2" name="Content Placeholder 1">
            <a:extLst>
              <a:ext uri="{FF2B5EF4-FFF2-40B4-BE49-F238E27FC236}">
                <a16:creationId xmlns:a16="http://schemas.microsoft.com/office/drawing/2014/main" id="{594248DB-E4C4-4B56-98CD-4E7C9811B664}"/>
              </a:ext>
            </a:extLst>
          </p:cNvPr>
          <p:cNvSpPr>
            <a:spLocks noGrp="1"/>
          </p:cNvSpPr>
          <p:nvPr>
            <p:ph idx="1"/>
          </p:nvPr>
        </p:nvSpPr>
        <p:spPr>
          <a:xfrm>
            <a:off x="901521" y="2556932"/>
            <a:ext cx="2717441" cy="3318936"/>
          </a:xfrm>
        </p:spPr>
        <p:txBody>
          <a:bodyPr/>
          <a:lstStyle/>
          <a:p>
            <a:r>
              <a:rPr lang="en-US" dirty="0"/>
              <a:t>red, orange, yellow</a:t>
            </a:r>
          </a:p>
          <a:p>
            <a:r>
              <a:rPr lang="en-US" dirty="0"/>
              <a:t>strong, energetic, passion</a:t>
            </a:r>
          </a:p>
          <a:p>
            <a:endParaRPr lang="en-US" dirty="0"/>
          </a:p>
        </p:txBody>
      </p:sp>
    </p:spTree>
    <p:extLst>
      <p:ext uri="{BB962C8B-B14F-4D97-AF65-F5344CB8AC3E}">
        <p14:creationId xmlns:p14="http://schemas.microsoft.com/office/powerpoint/2010/main" val="22306127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6" descr="asukashinji">
            <a:extLst>
              <a:ext uri="{FF2B5EF4-FFF2-40B4-BE49-F238E27FC236}">
                <a16:creationId xmlns:a16="http://schemas.microsoft.com/office/drawing/2014/main" id="{4689CA90-7C7D-49DB-B617-AF79BB9D88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730" y="434973"/>
            <a:ext cx="11361313" cy="6024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Rectangle 3">
            <a:extLst>
              <a:ext uri="{FF2B5EF4-FFF2-40B4-BE49-F238E27FC236}">
                <a16:creationId xmlns:a16="http://schemas.microsoft.com/office/drawing/2014/main" id="{998A060B-B4E5-41A5-9A41-6E517DADC2CB}"/>
              </a:ext>
            </a:extLst>
          </p:cNvPr>
          <p:cNvSpPr>
            <a:spLocks noGrp="1" noChangeArrowheads="1"/>
          </p:cNvSpPr>
          <p:nvPr>
            <p:ph type="title"/>
          </p:nvPr>
        </p:nvSpPr>
        <p:spPr>
          <a:xfrm>
            <a:off x="1295402" y="982132"/>
            <a:ext cx="2967505" cy="1303867"/>
          </a:xfrm>
        </p:spPr>
        <p:txBody>
          <a:bodyPr/>
          <a:lstStyle/>
          <a:p>
            <a:pPr algn="r" eaLnBrk="1" hangingPunct="1"/>
            <a:r>
              <a:rPr lang="en-US" altLang="en-US" dirty="0">
                <a:solidFill>
                  <a:schemeClr val="bg1"/>
                </a:solidFill>
              </a:rPr>
              <a:t>cool colors</a:t>
            </a:r>
          </a:p>
        </p:txBody>
      </p:sp>
      <p:sp>
        <p:nvSpPr>
          <p:cNvPr id="2" name="Content Placeholder 1">
            <a:extLst>
              <a:ext uri="{FF2B5EF4-FFF2-40B4-BE49-F238E27FC236}">
                <a16:creationId xmlns:a16="http://schemas.microsoft.com/office/drawing/2014/main" id="{ECB3E97A-1B61-4976-8C1D-D8A900A318E1}"/>
              </a:ext>
            </a:extLst>
          </p:cNvPr>
          <p:cNvSpPr>
            <a:spLocks noGrp="1"/>
          </p:cNvSpPr>
          <p:nvPr>
            <p:ph idx="1"/>
          </p:nvPr>
        </p:nvSpPr>
        <p:spPr>
          <a:xfrm>
            <a:off x="1295401" y="2556932"/>
            <a:ext cx="2838717" cy="3318936"/>
          </a:xfrm>
        </p:spPr>
        <p:txBody>
          <a:bodyPr/>
          <a:lstStyle/>
          <a:p>
            <a:r>
              <a:rPr lang="en-US" dirty="0">
                <a:solidFill>
                  <a:schemeClr val="bg1"/>
                </a:solidFill>
              </a:rPr>
              <a:t>blue, green, purple </a:t>
            </a:r>
            <a:br>
              <a:rPr lang="en-US" dirty="0">
                <a:solidFill>
                  <a:schemeClr val="bg1"/>
                </a:solidFill>
              </a:rPr>
            </a:br>
            <a:br>
              <a:rPr lang="en-US" dirty="0">
                <a:solidFill>
                  <a:schemeClr val="bg1"/>
                </a:solidFill>
              </a:rPr>
            </a:br>
            <a:r>
              <a:rPr lang="en-US" dirty="0">
                <a:solidFill>
                  <a:schemeClr val="bg1"/>
                </a:solidFill>
              </a:rPr>
              <a:t>calm, relaxing, sad, etc.</a:t>
            </a:r>
          </a:p>
          <a:p>
            <a:endParaRPr lang="en-US" dirty="0">
              <a:solidFill>
                <a:schemeClr val="bg1"/>
              </a:solidFill>
            </a:endParaRPr>
          </a:p>
        </p:txBody>
      </p:sp>
      <p:sp>
        <p:nvSpPr>
          <p:cNvPr id="21508" name="Rectangle 4">
            <a:extLst>
              <a:ext uri="{FF2B5EF4-FFF2-40B4-BE49-F238E27FC236}">
                <a16:creationId xmlns:a16="http://schemas.microsoft.com/office/drawing/2014/main" id="{A09CBBAA-D45A-4C5B-B9AA-9BEB0AEF8683}"/>
              </a:ext>
            </a:extLst>
          </p:cNvPr>
          <p:cNvSpPr>
            <a:spLocks noChangeArrowheads="1"/>
          </p:cNvSpPr>
          <p:nvPr/>
        </p:nvSpPr>
        <p:spPr bwMode="auto">
          <a:xfrm>
            <a:off x="2895600" y="4953001"/>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5400">
                <a:solidFill>
                  <a:schemeClr val="tx1"/>
                </a:solidFill>
                <a:latin typeface="Arial" panose="020B0604020202020204" pitchFamily="34" charset="0"/>
                <a:ea typeface="ＭＳ Ｐゴシック" panose="020B0600070205080204" pitchFamily="34" charset="-128"/>
              </a:defRPr>
            </a:lvl1pPr>
            <a:lvl2pPr marL="742950" indent="-285750">
              <a:defRPr sz="5400">
                <a:solidFill>
                  <a:schemeClr val="tx1"/>
                </a:solidFill>
                <a:latin typeface="Arial" panose="020B0604020202020204" pitchFamily="34" charset="0"/>
                <a:ea typeface="ＭＳ Ｐゴシック" panose="020B0600070205080204" pitchFamily="34" charset="-128"/>
              </a:defRPr>
            </a:lvl2pPr>
            <a:lvl3pPr marL="1143000" indent="-228600">
              <a:defRPr sz="5400">
                <a:solidFill>
                  <a:schemeClr val="tx1"/>
                </a:solidFill>
                <a:latin typeface="Arial" panose="020B0604020202020204" pitchFamily="34" charset="0"/>
                <a:ea typeface="ＭＳ Ｐゴシック" panose="020B0600070205080204" pitchFamily="34" charset="-128"/>
              </a:defRPr>
            </a:lvl3pPr>
            <a:lvl4pPr marL="1600200" indent="-228600">
              <a:defRPr sz="5400">
                <a:solidFill>
                  <a:schemeClr val="tx1"/>
                </a:solidFill>
                <a:latin typeface="Arial" panose="020B0604020202020204" pitchFamily="34" charset="0"/>
                <a:ea typeface="ＭＳ Ｐゴシック" panose="020B0600070205080204" pitchFamily="34" charset="-128"/>
              </a:defRPr>
            </a:lvl4pPr>
            <a:lvl5pPr marL="2057400" indent="-228600">
              <a:defRPr sz="5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5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5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5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5400">
                <a:solidFill>
                  <a:schemeClr val="tx1"/>
                </a:solidFill>
                <a:latin typeface="Arial" panose="020B0604020202020204" pitchFamily="34" charset="0"/>
                <a:ea typeface="ＭＳ Ｐゴシック" panose="020B0600070205080204" pitchFamily="34" charset="-128"/>
              </a:defRPr>
            </a:lvl9pPr>
          </a:lstStyle>
          <a:p>
            <a:pPr algn="r" eaLnBrk="1" hangingPunct="1">
              <a:buFontTx/>
              <a:buChar char="•"/>
            </a:pPr>
            <a:endParaRPr lang="en-US" altLang="en-US" sz="3600" b="1"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15912786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4">
            <a:extLst>
              <a:ext uri="{FF2B5EF4-FFF2-40B4-BE49-F238E27FC236}">
                <a16:creationId xmlns:a16="http://schemas.microsoft.com/office/drawing/2014/main" id="{A09CBBAA-D45A-4C5B-B9AA-9BEB0AEF8683}"/>
              </a:ext>
            </a:extLst>
          </p:cNvPr>
          <p:cNvSpPr>
            <a:spLocks noChangeArrowheads="1"/>
          </p:cNvSpPr>
          <p:nvPr/>
        </p:nvSpPr>
        <p:spPr bwMode="auto">
          <a:xfrm>
            <a:off x="2895600" y="4953001"/>
            <a:ext cx="77724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5400">
                <a:solidFill>
                  <a:schemeClr val="tx1"/>
                </a:solidFill>
                <a:latin typeface="Arial" panose="020B0604020202020204" pitchFamily="34" charset="0"/>
                <a:ea typeface="ＭＳ Ｐゴシック" panose="020B0600070205080204" pitchFamily="34" charset="-128"/>
              </a:defRPr>
            </a:lvl1pPr>
            <a:lvl2pPr marL="742950" indent="-285750">
              <a:defRPr sz="5400">
                <a:solidFill>
                  <a:schemeClr val="tx1"/>
                </a:solidFill>
                <a:latin typeface="Arial" panose="020B0604020202020204" pitchFamily="34" charset="0"/>
                <a:ea typeface="ＭＳ Ｐゴシック" panose="020B0600070205080204" pitchFamily="34" charset="-128"/>
              </a:defRPr>
            </a:lvl2pPr>
            <a:lvl3pPr marL="1143000" indent="-228600">
              <a:defRPr sz="5400">
                <a:solidFill>
                  <a:schemeClr val="tx1"/>
                </a:solidFill>
                <a:latin typeface="Arial" panose="020B0604020202020204" pitchFamily="34" charset="0"/>
                <a:ea typeface="ＭＳ Ｐゴシック" panose="020B0600070205080204" pitchFamily="34" charset="-128"/>
              </a:defRPr>
            </a:lvl3pPr>
            <a:lvl4pPr marL="1600200" indent="-228600">
              <a:defRPr sz="5400">
                <a:solidFill>
                  <a:schemeClr val="tx1"/>
                </a:solidFill>
                <a:latin typeface="Arial" panose="020B0604020202020204" pitchFamily="34" charset="0"/>
                <a:ea typeface="ＭＳ Ｐゴシック" panose="020B0600070205080204" pitchFamily="34" charset="-128"/>
              </a:defRPr>
            </a:lvl4pPr>
            <a:lvl5pPr marL="2057400" indent="-228600">
              <a:defRPr sz="5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5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5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5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5400">
                <a:solidFill>
                  <a:schemeClr val="tx1"/>
                </a:solidFill>
                <a:latin typeface="Arial" panose="020B0604020202020204" pitchFamily="34" charset="0"/>
                <a:ea typeface="ＭＳ Ｐゴシック" panose="020B0600070205080204" pitchFamily="34" charset="-128"/>
              </a:defRPr>
            </a:lvl9pPr>
          </a:lstStyle>
          <a:p>
            <a:pPr algn="r" eaLnBrk="1" hangingPunct="1">
              <a:buFontTx/>
              <a:buChar char="•"/>
            </a:pPr>
            <a:endParaRPr lang="en-US" altLang="en-US" sz="3600" b="1" dirty="0">
              <a:solidFill>
                <a:schemeClr val="bg1"/>
              </a:solidFill>
              <a:latin typeface="Century Gothic" panose="020B0502020202020204" pitchFamily="34" charset="0"/>
            </a:endParaRPr>
          </a:p>
        </p:txBody>
      </p:sp>
      <p:sp>
        <p:nvSpPr>
          <p:cNvPr id="4" name="Title 3">
            <a:extLst>
              <a:ext uri="{FF2B5EF4-FFF2-40B4-BE49-F238E27FC236}">
                <a16:creationId xmlns:a16="http://schemas.microsoft.com/office/drawing/2014/main" id="{095DE375-817D-F34E-8BC5-71B83CF01276}"/>
              </a:ext>
            </a:extLst>
          </p:cNvPr>
          <p:cNvSpPr>
            <a:spLocks noGrp="1"/>
          </p:cNvSpPr>
          <p:nvPr>
            <p:ph type="title"/>
          </p:nvPr>
        </p:nvSpPr>
        <p:spPr/>
        <p:txBody>
          <a:bodyPr/>
          <a:lstStyle/>
          <a:p>
            <a:r>
              <a:rPr lang="en-US" dirty="0">
                <a:solidFill>
                  <a:srgbClr val="40403F"/>
                </a:solidFill>
                <a:latin typeface="Century Gothic" panose="020B0502020202020204" pitchFamily="34" charset="0"/>
                <a:cs typeface="Futura Medium" panose="020B0602020204020303" pitchFamily="34" charset="-79"/>
              </a:rPr>
              <a:t>Meanings of Color</a:t>
            </a:r>
            <a:endParaRPr lang="en-US" dirty="0">
              <a:latin typeface="Century Gothic" panose="020B0502020202020204" pitchFamily="34" charset="0"/>
              <a:cs typeface="Futura Medium" panose="020B0602020204020303" pitchFamily="34" charset="-79"/>
            </a:endParaRPr>
          </a:p>
        </p:txBody>
      </p:sp>
      <p:sp>
        <p:nvSpPr>
          <p:cNvPr id="7" name="Rectangle 6">
            <a:extLst>
              <a:ext uri="{FF2B5EF4-FFF2-40B4-BE49-F238E27FC236}">
                <a16:creationId xmlns:a16="http://schemas.microsoft.com/office/drawing/2014/main" id="{85103960-7E94-5D41-B7E0-169AC2998944}"/>
              </a:ext>
            </a:extLst>
          </p:cNvPr>
          <p:cNvSpPr/>
          <p:nvPr/>
        </p:nvSpPr>
        <p:spPr>
          <a:xfrm>
            <a:off x="1295402" y="1994694"/>
            <a:ext cx="9601196" cy="3970318"/>
          </a:xfrm>
          <a:prstGeom prst="rect">
            <a:avLst/>
          </a:prstGeom>
        </p:spPr>
        <p:txBody>
          <a:bodyPr wrap="square">
            <a:spAutoFit/>
          </a:bodyPr>
          <a:lstStyle/>
          <a:p>
            <a:br>
              <a:rPr lang="en-US" b="1" dirty="0">
                <a:solidFill>
                  <a:srgbClr val="40403F"/>
                </a:solidFill>
                <a:latin typeface="Century Gothic" panose="020B0502020202020204" pitchFamily="34" charset="0"/>
              </a:rPr>
            </a:br>
            <a:endParaRPr lang="en-US" dirty="0">
              <a:solidFill>
                <a:srgbClr val="40403F"/>
              </a:solidFill>
              <a:latin typeface="Century Gothic" panose="020B0502020202020204" pitchFamily="34" charset="0"/>
            </a:endParaRPr>
          </a:p>
          <a:p>
            <a:r>
              <a:rPr lang="en-US" b="1" dirty="0">
                <a:solidFill>
                  <a:srgbClr val="40403F"/>
                </a:solidFill>
                <a:latin typeface="Century Gothic" panose="020B0502020202020204" pitchFamily="34" charset="0"/>
              </a:rPr>
              <a:t>Black</a:t>
            </a:r>
            <a:r>
              <a:rPr lang="en-US" dirty="0">
                <a:solidFill>
                  <a:srgbClr val="40403F"/>
                </a:solidFill>
                <a:latin typeface="Century Gothic" panose="020B0502020202020204" pitchFamily="34" charset="0"/>
              </a:rPr>
              <a:t> - Authority, power, evil, pessimism.</a:t>
            </a:r>
            <a:br>
              <a:rPr lang="en-US" dirty="0">
                <a:solidFill>
                  <a:srgbClr val="40403F"/>
                </a:solidFill>
                <a:latin typeface="Century Gothic" panose="020B0502020202020204" pitchFamily="34" charset="0"/>
              </a:rPr>
            </a:br>
            <a:r>
              <a:rPr lang="en-US" b="1" dirty="0">
                <a:solidFill>
                  <a:srgbClr val="FF0000"/>
                </a:solidFill>
                <a:latin typeface="Century Gothic" panose="020B0502020202020204" pitchFamily="34" charset="0"/>
              </a:rPr>
              <a:t>Red</a:t>
            </a:r>
            <a:r>
              <a:rPr lang="en-US" dirty="0">
                <a:solidFill>
                  <a:srgbClr val="40403F"/>
                </a:solidFill>
                <a:latin typeface="Century Gothic" panose="020B0502020202020204" pitchFamily="34" charset="0"/>
              </a:rPr>
              <a:t> - Optimism, sex, danger, aggression, energy, excitement, passion, fire, love</a:t>
            </a:r>
            <a:br>
              <a:rPr lang="en-US" dirty="0">
                <a:solidFill>
                  <a:srgbClr val="40403F"/>
                </a:solidFill>
                <a:latin typeface="Century Gothic" panose="020B0502020202020204" pitchFamily="34" charset="0"/>
              </a:rPr>
            </a:br>
            <a:r>
              <a:rPr lang="en-US" b="1" dirty="0">
                <a:solidFill>
                  <a:srgbClr val="339966"/>
                </a:solidFill>
                <a:latin typeface="Century Gothic" panose="020B0502020202020204" pitchFamily="34" charset="0"/>
              </a:rPr>
              <a:t>Green</a:t>
            </a:r>
            <a:r>
              <a:rPr lang="en-US" dirty="0">
                <a:solidFill>
                  <a:srgbClr val="339966"/>
                </a:solidFill>
                <a:latin typeface="Century Gothic" panose="020B0502020202020204" pitchFamily="34" charset="0"/>
              </a:rPr>
              <a:t> </a:t>
            </a:r>
            <a:r>
              <a:rPr lang="en-US" dirty="0">
                <a:solidFill>
                  <a:srgbClr val="40403F"/>
                </a:solidFill>
                <a:latin typeface="Century Gothic" panose="020B0502020202020204" pitchFamily="34" charset="0"/>
              </a:rPr>
              <a:t>- Envy, fertility, growth, money, luck, healing, success</a:t>
            </a:r>
            <a:br>
              <a:rPr lang="en-US" dirty="0">
                <a:solidFill>
                  <a:srgbClr val="40403F"/>
                </a:solidFill>
                <a:latin typeface="Century Gothic" panose="020B0502020202020204" pitchFamily="34" charset="0"/>
              </a:rPr>
            </a:br>
            <a:r>
              <a:rPr lang="en-US" b="1" dirty="0">
                <a:solidFill>
                  <a:srgbClr val="FF99CC"/>
                </a:solidFill>
                <a:latin typeface="Century Gothic" panose="020B0502020202020204" pitchFamily="34" charset="0"/>
              </a:rPr>
              <a:t>Pink</a:t>
            </a:r>
            <a:r>
              <a:rPr lang="en-US" dirty="0">
                <a:solidFill>
                  <a:srgbClr val="FF99CC"/>
                </a:solidFill>
                <a:latin typeface="Century Gothic" panose="020B0502020202020204" pitchFamily="34" charset="0"/>
              </a:rPr>
              <a:t> </a:t>
            </a:r>
            <a:r>
              <a:rPr lang="en-US" dirty="0">
                <a:solidFill>
                  <a:srgbClr val="40403F"/>
                </a:solidFill>
                <a:latin typeface="Century Gothic" panose="020B0502020202020204" pitchFamily="34" charset="0"/>
              </a:rPr>
              <a:t>- tranquility, love, flirtatiousness, softness, delicacy, sweetness</a:t>
            </a:r>
            <a:br>
              <a:rPr lang="en-US" dirty="0">
                <a:solidFill>
                  <a:srgbClr val="40403F"/>
                </a:solidFill>
                <a:latin typeface="Century Gothic" panose="020B0502020202020204" pitchFamily="34" charset="0"/>
              </a:rPr>
            </a:br>
            <a:r>
              <a:rPr lang="en-US" b="1" dirty="0">
                <a:solidFill>
                  <a:srgbClr val="FFCC00"/>
                </a:solidFill>
                <a:latin typeface="Century Gothic" panose="020B0502020202020204" pitchFamily="34" charset="0"/>
              </a:rPr>
              <a:t>Yellow</a:t>
            </a:r>
            <a:r>
              <a:rPr lang="en-US" dirty="0">
                <a:solidFill>
                  <a:srgbClr val="FFCC00"/>
                </a:solidFill>
                <a:latin typeface="Century Gothic" panose="020B0502020202020204" pitchFamily="34" charset="0"/>
              </a:rPr>
              <a:t> </a:t>
            </a:r>
            <a:r>
              <a:rPr lang="en-US" dirty="0">
                <a:solidFill>
                  <a:srgbClr val="40403F"/>
                </a:solidFill>
                <a:latin typeface="Century Gothic" panose="020B0502020202020204" pitchFamily="34" charset="0"/>
              </a:rPr>
              <a:t>- cheerfulness, joy, optimism, happiness, energy</a:t>
            </a:r>
            <a:br>
              <a:rPr lang="en-US" dirty="0">
                <a:solidFill>
                  <a:srgbClr val="40403F"/>
                </a:solidFill>
                <a:latin typeface="Century Gothic" panose="020B0502020202020204" pitchFamily="34" charset="0"/>
              </a:rPr>
            </a:br>
            <a:r>
              <a:rPr lang="en-US" b="1" dirty="0">
                <a:solidFill>
                  <a:srgbClr val="FF6600"/>
                </a:solidFill>
                <a:latin typeface="Century Gothic" panose="020B0502020202020204" pitchFamily="34" charset="0"/>
              </a:rPr>
              <a:t>Orange</a:t>
            </a:r>
            <a:r>
              <a:rPr lang="en-US" dirty="0">
                <a:solidFill>
                  <a:srgbClr val="FF6600"/>
                </a:solidFill>
                <a:latin typeface="Century Gothic" panose="020B0502020202020204" pitchFamily="34" charset="0"/>
              </a:rPr>
              <a:t> </a:t>
            </a:r>
            <a:r>
              <a:rPr lang="en-US" dirty="0">
                <a:solidFill>
                  <a:srgbClr val="40403F"/>
                </a:solidFill>
                <a:latin typeface="Century Gothic" panose="020B0502020202020204" pitchFamily="34" charset="0"/>
              </a:rPr>
              <a:t>- joy, creativity, energy, success, encouragement</a:t>
            </a:r>
            <a:br>
              <a:rPr lang="en-US" dirty="0">
                <a:solidFill>
                  <a:srgbClr val="40403F"/>
                </a:solidFill>
                <a:latin typeface="Century Gothic" panose="020B0502020202020204" pitchFamily="34" charset="0"/>
              </a:rPr>
            </a:br>
            <a:r>
              <a:rPr lang="en-US" b="1" dirty="0">
                <a:solidFill>
                  <a:srgbClr val="800080"/>
                </a:solidFill>
                <a:latin typeface="Century Gothic" panose="020B0502020202020204" pitchFamily="34" charset="0"/>
              </a:rPr>
              <a:t>Purple</a:t>
            </a:r>
            <a:r>
              <a:rPr lang="en-US" dirty="0">
                <a:solidFill>
                  <a:srgbClr val="800080"/>
                </a:solidFill>
                <a:latin typeface="Century Gothic" panose="020B0502020202020204" pitchFamily="34" charset="0"/>
              </a:rPr>
              <a:t> </a:t>
            </a:r>
            <a:r>
              <a:rPr lang="en-US" dirty="0">
                <a:solidFill>
                  <a:srgbClr val="40403F"/>
                </a:solidFill>
                <a:latin typeface="Century Gothic" panose="020B0502020202020204" pitchFamily="34" charset="0"/>
              </a:rPr>
              <a:t>- royalty, power, nobility, luxury, spirituality, wisdom, mystery, wealth</a:t>
            </a:r>
            <a:br>
              <a:rPr lang="en-US" dirty="0">
                <a:solidFill>
                  <a:srgbClr val="40403F"/>
                </a:solidFill>
                <a:latin typeface="Century Gothic" panose="020B0502020202020204" pitchFamily="34" charset="0"/>
              </a:rPr>
            </a:br>
            <a:r>
              <a:rPr lang="en-US" b="1" dirty="0">
                <a:solidFill>
                  <a:srgbClr val="3366FF"/>
                </a:solidFill>
                <a:latin typeface="Century Gothic" panose="020B0502020202020204" pitchFamily="34" charset="0"/>
              </a:rPr>
              <a:t>Blue</a:t>
            </a:r>
            <a:r>
              <a:rPr lang="en-US" dirty="0">
                <a:solidFill>
                  <a:srgbClr val="3366FF"/>
                </a:solidFill>
                <a:latin typeface="Century Gothic" panose="020B0502020202020204" pitchFamily="34" charset="0"/>
              </a:rPr>
              <a:t> </a:t>
            </a:r>
            <a:r>
              <a:rPr lang="en-US" dirty="0">
                <a:solidFill>
                  <a:srgbClr val="40403F"/>
                </a:solidFill>
                <a:latin typeface="Century Gothic" panose="020B0502020202020204" pitchFamily="34" charset="0"/>
              </a:rPr>
              <a:t>- calmness, truth, peace, harmony, confidence, wisdom, loyalty, healing, water, stability</a:t>
            </a:r>
            <a:br>
              <a:rPr lang="en-US" dirty="0">
                <a:solidFill>
                  <a:srgbClr val="40403F"/>
                </a:solidFill>
                <a:latin typeface="Century Gothic" panose="020B0502020202020204" pitchFamily="34" charset="0"/>
              </a:rPr>
            </a:br>
            <a:r>
              <a:rPr lang="en-US" b="1" dirty="0">
                <a:solidFill>
                  <a:srgbClr val="FFFFFF"/>
                </a:solidFill>
                <a:latin typeface="Century Gothic" panose="020B0502020202020204" pitchFamily="34" charset="0"/>
              </a:rPr>
              <a:t>White</a:t>
            </a:r>
            <a:r>
              <a:rPr lang="en-US" dirty="0">
                <a:solidFill>
                  <a:srgbClr val="FFFFFF"/>
                </a:solidFill>
                <a:latin typeface="Century Gothic" panose="020B0502020202020204" pitchFamily="34" charset="0"/>
              </a:rPr>
              <a:t> </a:t>
            </a:r>
            <a:r>
              <a:rPr lang="en-US" dirty="0">
                <a:solidFill>
                  <a:srgbClr val="40403F"/>
                </a:solidFill>
                <a:latin typeface="Century Gothic" panose="020B0502020202020204" pitchFamily="34" charset="0"/>
              </a:rPr>
              <a:t>- innocence, sterility, purity</a:t>
            </a:r>
            <a:br>
              <a:rPr lang="en-US" dirty="0">
                <a:solidFill>
                  <a:srgbClr val="40403F"/>
                </a:solidFill>
                <a:latin typeface="Century Gothic" panose="020B0502020202020204" pitchFamily="34" charset="0"/>
              </a:rPr>
            </a:br>
            <a:r>
              <a:rPr lang="en-US" b="1" dirty="0">
                <a:solidFill>
                  <a:srgbClr val="999999"/>
                </a:solidFill>
                <a:latin typeface="Century Gothic" panose="020B0502020202020204" pitchFamily="34" charset="0"/>
              </a:rPr>
              <a:t>Gray</a:t>
            </a:r>
            <a:r>
              <a:rPr lang="en-US" dirty="0">
                <a:solidFill>
                  <a:srgbClr val="999999"/>
                </a:solidFill>
                <a:latin typeface="Century Gothic" panose="020B0502020202020204" pitchFamily="34" charset="0"/>
              </a:rPr>
              <a:t> </a:t>
            </a:r>
            <a:r>
              <a:rPr lang="en-US" dirty="0">
                <a:solidFill>
                  <a:srgbClr val="40403F"/>
                </a:solidFill>
                <a:latin typeface="Century Gothic" panose="020B0502020202020204" pitchFamily="34" charset="0"/>
              </a:rPr>
              <a:t>-  neutrality, corporate, quality, practicality</a:t>
            </a:r>
            <a:br>
              <a:rPr lang="en-US" dirty="0">
                <a:solidFill>
                  <a:srgbClr val="40403F"/>
                </a:solidFill>
                <a:latin typeface="Century Gothic" panose="020B0502020202020204" pitchFamily="34" charset="0"/>
              </a:rPr>
            </a:br>
            <a:r>
              <a:rPr lang="en-US" b="1" dirty="0">
                <a:solidFill>
                  <a:srgbClr val="993300"/>
                </a:solidFill>
                <a:latin typeface="Century Gothic" panose="020B0502020202020204" pitchFamily="34" charset="0"/>
              </a:rPr>
              <a:t>Brown</a:t>
            </a:r>
            <a:r>
              <a:rPr lang="en-US" dirty="0">
                <a:solidFill>
                  <a:srgbClr val="993300"/>
                </a:solidFill>
                <a:latin typeface="Century Gothic" panose="020B0502020202020204" pitchFamily="34" charset="0"/>
              </a:rPr>
              <a:t> </a:t>
            </a:r>
            <a:r>
              <a:rPr lang="en-US" dirty="0">
                <a:solidFill>
                  <a:srgbClr val="40403F"/>
                </a:solidFill>
                <a:latin typeface="Century Gothic" panose="020B0502020202020204" pitchFamily="34" charset="0"/>
              </a:rPr>
              <a:t>- stability, endurance, simplicity, friendship</a:t>
            </a:r>
            <a:endParaRPr lang="en-US" b="0" i="0" dirty="0">
              <a:solidFill>
                <a:srgbClr val="40403F"/>
              </a:solidFill>
              <a:effectLst/>
              <a:latin typeface="Century Gothic" panose="020B0502020202020204" pitchFamily="34" charset="0"/>
            </a:endParaRPr>
          </a:p>
        </p:txBody>
      </p:sp>
    </p:spTree>
    <p:extLst>
      <p:ext uri="{BB962C8B-B14F-4D97-AF65-F5344CB8AC3E}">
        <p14:creationId xmlns:p14="http://schemas.microsoft.com/office/powerpoint/2010/main" val="243774155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7319</TotalTime>
  <Words>4248</Words>
  <Application>Microsoft Macintosh PowerPoint</Application>
  <PresentationFormat>Widescreen</PresentationFormat>
  <Paragraphs>347</Paragraphs>
  <Slides>42</Slides>
  <Notes>39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ＭＳ Ｐゴシック</vt:lpstr>
      <vt:lpstr>Arial</vt:lpstr>
      <vt:lpstr>Calibri</vt:lpstr>
      <vt:lpstr>Century Gothic</vt:lpstr>
      <vt:lpstr>Futura Medium</vt:lpstr>
      <vt:lpstr>Garamond</vt:lpstr>
      <vt:lpstr>Times New Roman</vt:lpstr>
      <vt:lpstr>Game Design Theme</vt:lpstr>
      <vt:lpstr>Storytelling through Lighting</vt:lpstr>
      <vt:lpstr>Storytelling through Light</vt:lpstr>
      <vt:lpstr>Storytelling through Light</vt:lpstr>
      <vt:lpstr>Lighting Design for Film and 3D animation</vt:lpstr>
      <vt:lpstr>Lighting Design for Film and 3D animation</vt:lpstr>
      <vt:lpstr>Three Point Lighting </vt:lpstr>
      <vt:lpstr>Key Light </vt:lpstr>
      <vt:lpstr>Key Light </vt:lpstr>
      <vt:lpstr>Fill Light</vt:lpstr>
      <vt:lpstr>Backlight</vt:lpstr>
      <vt:lpstr>High-Key and Low-Key Lighting</vt:lpstr>
      <vt:lpstr>High-Key Lighting</vt:lpstr>
      <vt:lpstr>Low-Key Lighting</vt:lpstr>
      <vt:lpstr>Contrast</vt:lpstr>
      <vt:lpstr>High-Contrast</vt:lpstr>
      <vt:lpstr>Low Contrast</vt:lpstr>
      <vt:lpstr>Light Quality</vt:lpstr>
      <vt:lpstr>Hard Light</vt:lpstr>
      <vt:lpstr>Soft Light</vt:lpstr>
      <vt:lpstr>Representing Light in Storyboard Frame</vt:lpstr>
      <vt:lpstr>Direction of Light</vt:lpstr>
      <vt:lpstr>Frontal Lighting</vt:lpstr>
      <vt:lpstr>Side Lighting</vt:lpstr>
      <vt:lpstr>Side Lighting</vt:lpstr>
      <vt:lpstr>Backlighting</vt:lpstr>
      <vt:lpstr>Underlighting</vt:lpstr>
      <vt:lpstr>Understanding Lighting</vt:lpstr>
      <vt:lpstr>Realistic vs. Dramatic Lighting</vt:lpstr>
      <vt:lpstr>Realistic vs. Dramatic Lighting</vt:lpstr>
      <vt:lpstr>Color</vt:lpstr>
      <vt:lpstr>Color</vt:lpstr>
      <vt:lpstr>Color Wheel and The Basics of Color</vt:lpstr>
      <vt:lpstr>Color Wheel and The Basics of Color</vt:lpstr>
      <vt:lpstr>Complimentary Colors</vt:lpstr>
      <vt:lpstr>analagous colors</vt:lpstr>
      <vt:lpstr>triadic colors</vt:lpstr>
      <vt:lpstr>split complimentary colors</vt:lpstr>
      <vt:lpstr>rectangle (tetradic) color scheme </vt:lpstr>
      <vt:lpstr>square color scheme </vt:lpstr>
      <vt:lpstr>Warm Colors</vt:lpstr>
      <vt:lpstr>cool colors</vt:lpstr>
      <vt:lpstr>Meanings of Color</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Microsoft Office User</cp:lastModifiedBy>
  <cp:revision>258</cp:revision>
  <dcterms:created xsi:type="dcterms:W3CDTF">2016-05-07T19:16:27Z</dcterms:created>
  <dcterms:modified xsi:type="dcterms:W3CDTF">2019-10-14T17:26:49Z</dcterms:modified>
</cp:coreProperties>
</file>