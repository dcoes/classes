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0"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8" r:id="rId33"/>
    <p:sldId id="291" r:id="rId34"/>
    <p:sldId id="289" r:id="rId35"/>
    <p:sldId id="290" r:id="rId36"/>
    <p:sldId id="293" r:id="rId37"/>
    <p:sldId id="292"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822"/>
    <a:srgbClr val="828282"/>
    <a:srgbClr val="E9E9E9"/>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24" autoAdjust="0"/>
    <p:restoredTop sz="80226" autoAdjust="0"/>
  </p:normalViewPr>
  <p:slideViewPr>
    <p:cSldViewPr snapToGrid="0">
      <p:cViewPr varScale="1">
        <p:scale>
          <a:sx n="104" d="100"/>
          <a:sy n="104" d="100"/>
        </p:scale>
        <p:origin x="1552" y="192"/>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28734-3244-491E-AA24-C884C7595C08}" type="datetimeFigureOut">
              <a:rPr lang="en-US" smtClean="0"/>
              <a:t>1/31/20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6D361-B4A4-4CC2-BE3E-6B169444DAA7}" type="slidenum">
              <a:rPr lang="en-US" smtClean="0"/>
              <a:t>‹#›</a:t>
            </a:fld>
            <a:endParaRPr lang="en-US"/>
          </a:p>
        </p:txBody>
      </p:sp>
    </p:spTree>
    <p:extLst>
      <p:ext uri="{BB962C8B-B14F-4D97-AF65-F5344CB8AC3E}">
        <p14:creationId xmlns:p14="http://schemas.microsoft.com/office/powerpoint/2010/main" val="206646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a:t>
            </a:fld>
            <a:endParaRPr lang="en-US"/>
          </a:p>
        </p:txBody>
      </p:sp>
    </p:spTree>
    <p:extLst>
      <p:ext uri="{BB962C8B-B14F-4D97-AF65-F5344CB8AC3E}">
        <p14:creationId xmlns:p14="http://schemas.microsoft.com/office/powerpoint/2010/main" val="187389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Visual storytelling has been around for thousands of years, but the technique of storyboarding is a relatively new Concept.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Disney</a:t>
            </a:r>
            <a:r>
              <a:rPr lang="en-US" sz="1200" kern="1200" dirty="0">
                <a:solidFill>
                  <a:schemeClr val="tx1"/>
                </a:solidFill>
                <a:effectLst/>
                <a:latin typeface="+mn-lt"/>
                <a:ea typeface="+mn-ea"/>
                <a:cs typeface="+mn-cs"/>
              </a:rPr>
              <a:t> Studios first conceived of storyboards with the rise of animated short in the early </a:t>
            </a:r>
            <a:r>
              <a:rPr lang="en-US" sz="1200" b="1" kern="1200" dirty="0">
                <a:solidFill>
                  <a:schemeClr val="tx1"/>
                </a:solidFill>
                <a:effectLst/>
                <a:latin typeface="+mn-lt"/>
                <a:ea typeface="+mn-ea"/>
                <a:cs typeface="+mn-cs"/>
              </a:rPr>
              <a:t>1930s</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Soon afterwards, film directors were planning </a:t>
            </a:r>
            <a:r>
              <a:rPr lang="en-US" sz="1200" b="1" kern="1200" dirty="0">
                <a:solidFill>
                  <a:schemeClr val="tx1"/>
                </a:solidFill>
                <a:effectLst/>
                <a:latin typeface="+mn-lt"/>
                <a:ea typeface="+mn-ea"/>
                <a:cs typeface="+mn-cs"/>
              </a:rPr>
              <a:t>complex sequences </a:t>
            </a:r>
            <a:r>
              <a:rPr lang="en-US" sz="1200" kern="1200" dirty="0">
                <a:solidFill>
                  <a:schemeClr val="tx1"/>
                </a:solidFill>
                <a:effectLst/>
                <a:latin typeface="+mn-lt"/>
                <a:ea typeface="+mn-ea"/>
                <a:cs typeface="+mn-cs"/>
              </a:rPr>
              <a:t>by sketching how they envision particular seems to unfold.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Directors also relied on storyboard panels that were the same size, or aspect ratio of the movie screen.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Aspect ratios changed over the years as new technologies, such as television, were introduced.</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2</a:t>
            </a:fld>
            <a:endParaRPr lang="en-US"/>
          </a:p>
        </p:txBody>
      </p:sp>
    </p:spTree>
    <p:extLst>
      <p:ext uri="{BB962C8B-B14F-4D97-AF65-F5344CB8AC3E}">
        <p14:creationId xmlns:p14="http://schemas.microsoft.com/office/powerpoint/2010/main" val="846070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The birth of the Cinematic image was a spectacle as audiences watched first pictures flicker across the screen.</a:t>
            </a:r>
          </a:p>
          <a:p>
            <a:pPr latinLnBrk="1"/>
            <a:r>
              <a:rPr lang="en-US" sz="1200" kern="1200" dirty="0">
                <a:solidFill>
                  <a:schemeClr val="tx1"/>
                </a:solidFill>
                <a:effectLst/>
                <a:latin typeface="+mn-lt"/>
                <a:ea typeface="+mn-ea"/>
                <a:cs typeface="+mn-cs"/>
              </a:rPr>
              <a:t>The Lumiere brothers were credited  with the first cinematic screening in 1895 of workers at The Lumiere Factory strolling through the front gate. </a:t>
            </a:r>
          </a:p>
          <a:p>
            <a:pPr latinLnBrk="1"/>
            <a:r>
              <a:rPr lang="en-US" sz="1200" kern="1200" dirty="0">
                <a:solidFill>
                  <a:schemeClr val="tx1"/>
                </a:solidFill>
                <a:effectLst/>
                <a:latin typeface="+mn-lt"/>
                <a:ea typeface="+mn-ea"/>
                <a:cs typeface="+mn-cs"/>
              </a:rPr>
              <a:t>Audiences were awed as they watched every day events, such as a train pulling into station and the baby eating. </a:t>
            </a:r>
          </a:p>
          <a:p>
            <a:pPr latinLnBrk="1"/>
            <a:r>
              <a:rPr lang="en-US" sz="1200" kern="1200" dirty="0">
                <a:solidFill>
                  <a:schemeClr val="tx1"/>
                </a:solidFill>
                <a:effectLst/>
                <a:latin typeface="+mn-lt"/>
                <a:ea typeface="+mn-ea"/>
                <a:cs typeface="+mn-cs"/>
              </a:rPr>
              <a:t>Although the public was fascinated, the </a:t>
            </a:r>
            <a:r>
              <a:rPr lang="en-US" sz="1200" kern="1200" dirty="0" err="1">
                <a:solidFill>
                  <a:schemeClr val="tx1"/>
                </a:solidFill>
                <a:effectLst/>
                <a:latin typeface="+mn-lt"/>
                <a:ea typeface="+mn-ea"/>
                <a:cs typeface="+mn-cs"/>
              </a:rPr>
              <a:t>Lumieres</a:t>
            </a:r>
            <a:r>
              <a:rPr lang="en-US" sz="1200" kern="1200" dirty="0">
                <a:solidFill>
                  <a:schemeClr val="tx1"/>
                </a:solidFill>
                <a:effectLst/>
                <a:latin typeface="+mn-lt"/>
                <a:ea typeface="+mn-ea"/>
                <a:cs typeface="+mn-cs"/>
              </a:rPr>
              <a:t> considered their many recordings as a purely scientific method to record reality, </a:t>
            </a:r>
          </a:p>
          <a:p>
            <a:pPr latinLnBrk="1"/>
            <a:r>
              <a:rPr lang="en-US" sz="1200" kern="1200" dirty="0">
                <a:solidFill>
                  <a:schemeClr val="tx1"/>
                </a:solidFill>
                <a:effectLst/>
                <a:latin typeface="+mn-lt"/>
                <a:ea typeface="+mn-ea"/>
                <a:cs typeface="+mn-cs"/>
              </a:rPr>
              <a:t>and so no real future for this new innovation. </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3</a:t>
            </a:fld>
            <a:endParaRPr lang="en-US"/>
          </a:p>
        </p:txBody>
      </p:sp>
    </p:spTree>
    <p:extLst>
      <p:ext uri="{BB962C8B-B14F-4D97-AF65-F5344CB8AC3E}">
        <p14:creationId xmlns:p14="http://schemas.microsoft.com/office/powerpoint/2010/main" val="792137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stark contrast to the loom years was George </a:t>
            </a:r>
            <a:r>
              <a:rPr lang="en-US" sz="1200" kern="1200" dirty="0" err="1">
                <a:solidFill>
                  <a:schemeClr val="tx1"/>
                </a:solidFill>
                <a:effectLst/>
                <a:latin typeface="+mn-lt"/>
                <a:ea typeface="+mn-ea"/>
                <a:cs typeface="+mn-cs"/>
              </a:rPr>
              <a:t>Melies</a:t>
            </a:r>
            <a:r>
              <a:rPr lang="en-US" sz="1200" kern="1200" dirty="0">
                <a:solidFill>
                  <a:schemeClr val="tx1"/>
                </a:solidFill>
                <a:effectLst/>
                <a:latin typeface="+mn-lt"/>
                <a:ea typeface="+mn-ea"/>
                <a:cs typeface="+mn-cs"/>
              </a:rPr>
              <a:t> , who was a </a:t>
            </a:r>
            <a:r>
              <a:rPr lang="en-US" sz="1200" b="1" kern="1200" dirty="0">
                <a:solidFill>
                  <a:schemeClr val="tx1"/>
                </a:solidFill>
                <a:effectLst/>
                <a:latin typeface="+mn-lt"/>
                <a:ea typeface="+mn-ea"/>
                <a:cs typeface="+mn-cs"/>
              </a:rPr>
              <a:t>magician</a:t>
            </a:r>
            <a:r>
              <a:rPr lang="en-US" sz="1200" kern="1200" dirty="0">
                <a:solidFill>
                  <a:schemeClr val="tx1"/>
                </a:solidFill>
                <a:effectLst/>
                <a:latin typeface="+mn-lt"/>
                <a:ea typeface="+mn-ea"/>
                <a:cs typeface="+mn-cs"/>
              </a:rPr>
              <a:t> by trade. </a:t>
            </a:r>
          </a:p>
          <a:p>
            <a:r>
              <a:rPr lang="en-US" sz="1200" kern="1200" dirty="0">
                <a:solidFill>
                  <a:schemeClr val="tx1"/>
                </a:solidFill>
                <a:effectLst/>
                <a:latin typeface="+mn-lt"/>
                <a:ea typeface="+mn-ea"/>
                <a:cs typeface="+mn-cs"/>
              </a:rPr>
              <a:t>He used the camera </a:t>
            </a:r>
            <a:r>
              <a:rPr lang="en-US" sz="1200" b="1" kern="1200" dirty="0">
                <a:solidFill>
                  <a:schemeClr val="tx1"/>
                </a:solidFill>
                <a:effectLst/>
                <a:latin typeface="+mn-lt"/>
                <a:ea typeface="+mn-ea"/>
                <a:cs typeface="+mn-cs"/>
              </a:rPr>
              <a:t>not to record everyday occurrences</a:t>
            </a:r>
            <a:r>
              <a:rPr lang="en-US" sz="1200" kern="1200" dirty="0">
                <a:solidFill>
                  <a:schemeClr val="tx1"/>
                </a:solidFill>
                <a:effectLst/>
                <a:latin typeface="+mn-lt"/>
                <a:ea typeface="+mn-ea"/>
                <a:cs typeface="+mn-cs"/>
              </a:rPr>
              <a:t>, but to </a:t>
            </a:r>
            <a:r>
              <a:rPr lang="en-US" sz="1200" b="1" kern="1200" dirty="0">
                <a:solidFill>
                  <a:schemeClr val="tx1"/>
                </a:solidFill>
                <a:effectLst/>
                <a:latin typeface="+mn-lt"/>
                <a:ea typeface="+mn-ea"/>
                <a:cs typeface="+mn-cs"/>
              </a:rPr>
              <a:t>document his own magic tricks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 created </a:t>
            </a:r>
            <a:r>
              <a:rPr lang="en-US" sz="1200" b="1" kern="1200" dirty="0">
                <a:solidFill>
                  <a:schemeClr val="tx1"/>
                </a:solidFill>
                <a:effectLst/>
                <a:latin typeface="+mn-lt"/>
                <a:ea typeface="+mn-ea"/>
                <a:cs typeface="+mn-cs"/>
              </a:rPr>
              <a:t>stylized sets for his elaborate film narratives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His best-known work is in the 1902 film a trip to the moon, which is a tale of Space Explorers who land on the Moon.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4</a:t>
            </a:fld>
            <a:endParaRPr lang="en-US"/>
          </a:p>
        </p:txBody>
      </p:sp>
    </p:spTree>
    <p:extLst>
      <p:ext uri="{BB962C8B-B14F-4D97-AF65-F5344CB8AC3E}">
        <p14:creationId xmlns:p14="http://schemas.microsoft.com/office/powerpoint/2010/main" val="3097081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With the evolution of film came more elaborate stories and sophisticated camera techniques. </a:t>
            </a:r>
          </a:p>
          <a:p>
            <a:r>
              <a:rPr lang="en-US" sz="1200" kern="1200" dirty="0">
                <a:solidFill>
                  <a:schemeClr val="tx1"/>
                </a:solidFill>
                <a:effectLst/>
                <a:latin typeface="+mn-lt"/>
                <a:ea typeface="+mn-ea"/>
                <a:cs typeface="+mn-cs"/>
              </a:rPr>
              <a:t>Although the modern storyboard was still years away during cinemas early history, directors such as </a:t>
            </a:r>
            <a:r>
              <a:rPr lang="en-US" sz="1200" b="1" kern="1200" dirty="0">
                <a:solidFill>
                  <a:schemeClr val="tx1"/>
                </a:solidFill>
                <a:effectLst/>
                <a:latin typeface="+mn-lt"/>
                <a:ea typeface="+mn-ea"/>
                <a:cs typeface="+mn-cs"/>
              </a:rPr>
              <a:t>Sergei Eisenstein </a:t>
            </a:r>
            <a:r>
              <a:rPr lang="en-US" sz="1200" kern="1200" dirty="0">
                <a:solidFill>
                  <a:schemeClr val="tx1"/>
                </a:solidFill>
                <a:effectLst/>
                <a:latin typeface="+mn-lt"/>
                <a:ea typeface="+mn-ea"/>
                <a:cs typeface="+mn-cs"/>
              </a:rPr>
              <a:t>and </a:t>
            </a:r>
            <a:r>
              <a:rPr lang="en-US" sz="1200" b="1" kern="1200" dirty="0">
                <a:solidFill>
                  <a:schemeClr val="tx1"/>
                </a:solidFill>
                <a:effectLst/>
                <a:latin typeface="+mn-lt"/>
                <a:ea typeface="+mn-ea"/>
                <a:cs typeface="+mn-cs"/>
              </a:rPr>
              <a:t>Cecil B DeMille </a:t>
            </a:r>
            <a:r>
              <a:rPr lang="en-US" sz="1200" kern="1200" dirty="0">
                <a:solidFill>
                  <a:schemeClr val="tx1"/>
                </a:solidFill>
                <a:effectLst/>
                <a:latin typeface="+mn-lt"/>
                <a:ea typeface="+mn-ea"/>
                <a:cs typeface="+mn-cs"/>
              </a:rPr>
              <a:t>relied on an artist sketches to help develop story ideas.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5</a:t>
            </a:fld>
            <a:endParaRPr lang="en-US"/>
          </a:p>
        </p:txBody>
      </p:sp>
    </p:spTree>
    <p:extLst>
      <p:ext uri="{BB962C8B-B14F-4D97-AF65-F5344CB8AC3E}">
        <p14:creationId xmlns:p14="http://schemas.microsoft.com/office/powerpoint/2010/main" val="485095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Eisenstein created a multitude of his own sketches before undertaking the 1925 film the battleship Potemkin and later the 1931 film black Majesty .  </a:t>
            </a:r>
          </a:p>
          <a:p>
            <a:pPr latinLnBrk="1"/>
            <a:r>
              <a:rPr lang="en-US" sz="1200" kern="1200" dirty="0">
                <a:solidFill>
                  <a:schemeClr val="tx1"/>
                </a:solidFill>
                <a:effectLst/>
                <a:latin typeface="+mn-lt"/>
                <a:ea typeface="+mn-ea"/>
                <a:cs typeface="+mn-cs"/>
              </a:rPr>
              <a:t>These sketches guided him for how the action would move within each scene. </a:t>
            </a:r>
          </a:p>
        </p:txBody>
      </p:sp>
      <p:sp>
        <p:nvSpPr>
          <p:cNvPr id="4" name="Slide Number Placeholder 3"/>
          <p:cNvSpPr>
            <a:spLocks noGrp="1"/>
          </p:cNvSpPr>
          <p:nvPr>
            <p:ph type="sldNum" sz="quarter" idx="10"/>
          </p:nvPr>
        </p:nvSpPr>
        <p:spPr/>
        <p:txBody>
          <a:bodyPr/>
          <a:lstStyle/>
          <a:p>
            <a:fld id="{1796D361-B4A4-4CC2-BE3E-6B169444DAA7}" type="slidenum">
              <a:rPr lang="en-US" smtClean="0"/>
              <a:t>6</a:t>
            </a:fld>
            <a:endParaRPr lang="en-US"/>
          </a:p>
        </p:txBody>
      </p:sp>
    </p:spTree>
    <p:extLst>
      <p:ext uri="{BB962C8B-B14F-4D97-AF65-F5344CB8AC3E}">
        <p14:creationId xmlns:p14="http://schemas.microsoft.com/office/powerpoint/2010/main" val="1446370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Cecil B </a:t>
            </a:r>
            <a:r>
              <a:rPr lang="en-US" sz="1200" dirty="0" err="1">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Demille</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the famed Hollywood director use the talents of artist Dan Sayre Groesbeck to assist him in visualizing the dramatic scenes for his 1923 film The Ten Commandments.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7</a:t>
            </a:fld>
            <a:endParaRPr lang="en-US"/>
          </a:p>
        </p:txBody>
      </p:sp>
    </p:spTree>
    <p:extLst>
      <p:ext uri="{BB962C8B-B14F-4D97-AF65-F5344CB8AC3E}">
        <p14:creationId xmlns:p14="http://schemas.microsoft.com/office/powerpoint/2010/main" val="3646372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Real strides towards the birth of modern storyboard took place not in film, but in animation. </a:t>
            </a:r>
          </a:p>
          <a:p>
            <a:pPr latinLnBrk="1"/>
            <a:r>
              <a:rPr lang="en-US" sz="1200" kern="1200" dirty="0">
                <a:solidFill>
                  <a:schemeClr val="tx1"/>
                </a:solidFill>
                <a:effectLst/>
                <a:latin typeface="+mn-lt"/>
                <a:ea typeface="+mn-ea"/>
                <a:cs typeface="+mn-cs"/>
              </a:rPr>
              <a:t>During animations infancy, Studios rely solely on their artists to generate story ideas.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8</a:t>
            </a:fld>
            <a:endParaRPr lang="en-US"/>
          </a:p>
        </p:txBody>
      </p:sp>
    </p:spTree>
    <p:extLst>
      <p:ext uri="{BB962C8B-B14F-4D97-AF65-F5344CB8AC3E}">
        <p14:creationId xmlns:p14="http://schemas.microsoft.com/office/powerpoint/2010/main" val="3425394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Animators were responsible for cartoons, which were often no more than simple gags and jokes strung together around the theme. </a:t>
            </a:r>
          </a:p>
          <a:p>
            <a:r>
              <a:rPr lang="en-US" sz="1200" kern="1200" dirty="0">
                <a:solidFill>
                  <a:schemeClr val="tx1"/>
                </a:solidFill>
                <a:effectLst/>
                <a:latin typeface="+mn-lt"/>
                <a:ea typeface="+mn-ea"/>
                <a:cs typeface="+mn-cs"/>
              </a:rPr>
              <a:t>Early animation such as crazy cat and Bobby bumps were five minute cartoons with no storyline.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was how Winsor </a:t>
            </a:r>
            <a:r>
              <a:rPr lang="en-US" sz="1200" kern="1200" dirty="0" err="1">
                <a:solidFill>
                  <a:schemeClr val="tx1"/>
                </a:solidFill>
                <a:effectLst/>
                <a:latin typeface="+mn-lt"/>
                <a:ea typeface="+mn-ea"/>
                <a:cs typeface="+mn-cs"/>
              </a:rPr>
              <a:t>McCay</a:t>
            </a:r>
            <a:r>
              <a:rPr lang="en-US" sz="1200" kern="1200" dirty="0">
                <a:solidFill>
                  <a:schemeClr val="tx1"/>
                </a:solidFill>
                <a:effectLst/>
                <a:latin typeface="+mn-lt"/>
                <a:ea typeface="+mn-ea"/>
                <a:cs typeface="+mn-cs"/>
              </a:rPr>
              <a:t>, who is considered the father of Animation got his start. McKay's first animation was based on his popular newspaper strip Little Nemo in </a:t>
            </a:r>
            <a:r>
              <a:rPr lang="en-US" sz="1200" kern="1200" dirty="0" err="1">
                <a:solidFill>
                  <a:schemeClr val="tx1"/>
                </a:solidFill>
                <a:effectLst/>
                <a:latin typeface="+mn-lt"/>
                <a:ea typeface="+mn-ea"/>
                <a:cs typeface="+mn-cs"/>
              </a:rPr>
              <a:t>Slumberland</a:t>
            </a:r>
            <a:r>
              <a:rPr lang="en-US" sz="1200" kern="1200" dirty="0">
                <a:solidFill>
                  <a:schemeClr val="tx1"/>
                </a:solidFill>
                <a:effectLst/>
                <a:latin typeface="+mn-lt"/>
                <a:ea typeface="+mn-ea"/>
                <a:cs typeface="+mn-cs"/>
              </a:rPr>
              <a:t>.</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9</a:t>
            </a:fld>
            <a:endParaRPr lang="en-US"/>
          </a:p>
        </p:txBody>
      </p:sp>
    </p:spTree>
    <p:extLst>
      <p:ext uri="{BB962C8B-B14F-4D97-AF65-F5344CB8AC3E}">
        <p14:creationId xmlns:p14="http://schemas.microsoft.com/office/powerpoint/2010/main" val="4179165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It was not until cartoonist Ed McMahon wagered McKay that he could not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bring a dinosaur to life</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that the public became aware of this new technology.</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As a result of the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bet</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McKay created a series of drawings for his 1914 animation Gertie the dinosaur.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McKay animated Gertie almost single-handedly, creating over 10,000 sketches which he then hand colored frame by frame.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Gertie like so many animations to follow was an experiment in motion rather than a fully-formed story with a beginning, middle, and end.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10</a:t>
            </a:fld>
            <a:endParaRPr lang="en-US"/>
          </a:p>
        </p:txBody>
      </p:sp>
    </p:spTree>
    <p:extLst>
      <p:ext uri="{BB962C8B-B14F-4D97-AF65-F5344CB8AC3E}">
        <p14:creationId xmlns:p14="http://schemas.microsoft.com/office/powerpoint/2010/main" val="709370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Arguably, the most successful and influential of these early animators were Max and Dave Fleischer , creators of Koko the Clown  and Betty </a:t>
            </a:r>
            <a:r>
              <a:rPr lang="en-US" sz="1200" kern="1200" dirty="0" err="1">
                <a:solidFill>
                  <a:schemeClr val="tx1"/>
                </a:solidFill>
                <a:effectLst/>
                <a:latin typeface="+mn-lt"/>
                <a:ea typeface="+mn-ea"/>
                <a:cs typeface="+mn-cs"/>
              </a:rPr>
              <a:t>Boop</a:t>
            </a:r>
            <a:r>
              <a:rPr lang="en-US" sz="1200" kern="1200" dirty="0">
                <a:solidFill>
                  <a:schemeClr val="tx1"/>
                </a:solidFill>
                <a:effectLst/>
                <a:latin typeface="+mn-lt"/>
                <a:ea typeface="+mn-ea"/>
                <a:cs typeface="+mn-cs"/>
              </a:rPr>
              <a:t> cartoons.  </a:t>
            </a:r>
          </a:p>
          <a:p>
            <a:pPr latinLnBrk="1"/>
            <a:r>
              <a:rPr lang="en-US" sz="1200" kern="1200" dirty="0">
                <a:solidFill>
                  <a:schemeClr val="tx1"/>
                </a:solidFill>
                <a:effectLst/>
                <a:latin typeface="+mn-lt"/>
                <a:ea typeface="+mn-ea"/>
                <a:cs typeface="+mn-cs"/>
              </a:rPr>
              <a:t>In the 1920s and early 1930s, Fleischer Studios had </a:t>
            </a:r>
            <a:r>
              <a:rPr lang="en-US" sz="1200" b="1" kern="1200" dirty="0">
                <a:solidFill>
                  <a:schemeClr val="tx1"/>
                </a:solidFill>
                <a:effectLst/>
                <a:latin typeface="+mn-lt"/>
                <a:ea typeface="+mn-ea"/>
                <a:cs typeface="+mn-cs"/>
              </a:rPr>
              <a:t>no story department </a:t>
            </a:r>
            <a:r>
              <a:rPr lang="en-US" sz="1200" kern="1200" dirty="0">
                <a:solidFill>
                  <a:schemeClr val="tx1"/>
                </a:solidFill>
                <a:effectLst/>
                <a:latin typeface="+mn-lt"/>
                <a:ea typeface="+mn-ea"/>
                <a:cs typeface="+mn-cs"/>
              </a:rPr>
              <a:t>and often relied on their </a:t>
            </a:r>
            <a:r>
              <a:rPr lang="en-US" sz="1200" b="1" kern="1200" dirty="0">
                <a:solidFill>
                  <a:schemeClr val="tx1"/>
                </a:solidFill>
                <a:effectLst/>
                <a:latin typeface="+mn-lt"/>
                <a:ea typeface="+mn-ea"/>
                <a:cs typeface="+mn-cs"/>
              </a:rPr>
              <a:t>animators to generate stories based on gags</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The Fleischer gave their animators </a:t>
            </a:r>
            <a:r>
              <a:rPr lang="en-US" sz="1200" b="1" kern="1200" dirty="0">
                <a:solidFill>
                  <a:schemeClr val="tx1"/>
                </a:solidFill>
                <a:effectLst/>
                <a:latin typeface="+mn-lt"/>
                <a:ea typeface="+mn-ea"/>
                <a:cs typeface="+mn-cs"/>
              </a:rPr>
              <a:t>ideas for scenes </a:t>
            </a:r>
            <a:r>
              <a:rPr lang="en-US" sz="1200" kern="1200" dirty="0">
                <a:solidFill>
                  <a:schemeClr val="tx1"/>
                </a:solidFill>
                <a:effectLst/>
                <a:latin typeface="+mn-lt"/>
                <a:ea typeface="+mn-ea"/>
                <a:cs typeface="+mn-cs"/>
              </a:rPr>
              <a:t>but </a:t>
            </a:r>
            <a:r>
              <a:rPr lang="en-US" sz="1200" b="1" kern="1200" dirty="0">
                <a:solidFill>
                  <a:schemeClr val="tx1"/>
                </a:solidFill>
                <a:effectLst/>
                <a:latin typeface="+mn-lt"/>
                <a:ea typeface="+mn-ea"/>
                <a:cs typeface="+mn-cs"/>
              </a:rPr>
              <a:t>nothing was ever written down on paper</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There was no script. Rather, Dave Fleischer would </a:t>
            </a:r>
            <a:r>
              <a:rPr lang="en-US" sz="1200" b="1" kern="1200" dirty="0">
                <a:solidFill>
                  <a:schemeClr val="tx1"/>
                </a:solidFill>
                <a:effectLst/>
                <a:latin typeface="+mn-lt"/>
                <a:ea typeface="+mn-ea"/>
                <a:cs typeface="+mn-cs"/>
              </a:rPr>
              <a:t>make the rounds every morning </a:t>
            </a:r>
            <a:r>
              <a:rPr lang="en-US" sz="1200" kern="1200" dirty="0">
                <a:solidFill>
                  <a:schemeClr val="tx1"/>
                </a:solidFill>
                <a:effectLst/>
                <a:latin typeface="+mn-lt"/>
                <a:ea typeface="+mn-ea"/>
                <a:cs typeface="+mn-cs"/>
              </a:rPr>
              <a:t>among the animators and suggest where more gags should be added.</a:t>
            </a:r>
          </a:p>
          <a:p>
            <a:pPr latinLnBrk="1"/>
            <a:r>
              <a:rPr lang="en-US" sz="1200" kern="1200" dirty="0">
                <a:solidFill>
                  <a:schemeClr val="tx1"/>
                </a:solidFill>
                <a:effectLst/>
                <a:latin typeface="+mn-lt"/>
                <a:ea typeface="+mn-ea"/>
                <a:cs typeface="+mn-cs"/>
              </a:rPr>
              <a:t>This practice is commonly known in the animation and effects industry as “</a:t>
            </a:r>
            <a:r>
              <a:rPr lang="en-US" sz="1200" b="1" kern="1200" dirty="0">
                <a:solidFill>
                  <a:schemeClr val="tx1"/>
                </a:solidFill>
                <a:effectLst/>
                <a:latin typeface="+mn-lt"/>
                <a:ea typeface="+mn-ea"/>
                <a:cs typeface="+mn-cs"/>
              </a:rPr>
              <a:t>dailies</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1796D361-B4A4-4CC2-BE3E-6B169444DAA7}" type="slidenum">
              <a:rPr lang="en-US" smtClean="0"/>
              <a:t>11</a:t>
            </a:fld>
            <a:endParaRPr lang="en-US"/>
          </a:p>
        </p:txBody>
      </p:sp>
    </p:spTree>
    <p:extLst>
      <p:ext uri="{BB962C8B-B14F-4D97-AF65-F5344CB8AC3E}">
        <p14:creationId xmlns:p14="http://schemas.microsoft.com/office/powerpoint/2010/main" val="3294387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beginning of his career, Walt Disney imitated the style of Fleischer and McKay with his animated short Alice in </a:t>
            </a:r>
            <a:r>
              <a:rPr lang="en-US" sz="1200" kern="1200" dirty="0" err="1">
                <a:solidFill>
                  <a:schemeClr val="tx1"/>
                </a:solidFill>
                <a:effectLst/>
                <a:latin typeface="+mn-lt"/>
                <a:ea typeface="+mn-ea"/>
                <a:cs typeface="+mn-cs"/>
              </a:rPr>
              <a:t>cartoonland</a:t>
            </a:r>
            <a:r>
              <a:rPr lang="en-US"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But his interest in live action film peaked,  so did his motivation to think beyond the scope of presenting cartoons as a series of uncomplicated sight gags.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Disney and his small crew started sketching out ideas for stories after studying the films of </a:t>
            </a:r>
            <a:r>
              <a:rPr lang="en-US" sz="1200" b="1" kern="1200" dirty="0">
                <a:solidFill>
                  <a:schemeClr val="tx1"/>
                </a:solidFill>
                <a:effectLst/>
                <a:latin typeface="+mn-lt"/>
                <a:ea typeface="+mn-ea"/>
                <a:cs typeface="+mn-cs"/>
              </a:rPr>
              <a:t>Charlie Chaplin </a:t>
            </a:r>
            <a:r>
              <a:rPr lang="en-US" sz="1200" kern="1200" dirty="0">
                <a:solidFill>
                  <a:schemeClr val="tx1"/>
                </a:solidFill>
                <a:effectLst/>
                <a:latin typeface="+mn-lt"/>
                <a:ea typeface="+mn-ea"/>
                <a:cs typeface="+mn-cs"/>
              </a:rPr>
              <a:t>and </a:t>
            </a:r>
            <a:r>
              <a:rPr lang="en-US" sz="1200" b="1" kern="1200" dirty="0">
                <a:solidFill>
                  <a:schemeClr val="tx1"/>
                </a:solidFill>
                <a:effectLst/>
                <a:latin typeface="+mn-lt"/>
                <a:ea typeface="+mn-ea"/>
                <a:cs typeface="+mn-cs"/>
              </a:rPr>
              <a:t>Buster Keaton</a:t>
            </a:r>
            <a:r>
              <a:rPr lang="en-US"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They studied the </a:t>
            </a:r>
            <a:r>
              <a:rPr lang="en-US" sz="1200" b="1" kern="1200" dirty="0">
                <a:solidFill>
                  <a:schemeClr val="tx1"/>
                </a:solidFill>
                <a:effectLst/>
                <a:latin typeface="+mn-lt"/>
                <a:ea typeface="+mn-ea"/>
                <a:cs typeface="+mn-cs"/>
              </a:rPr>
              <a:t>camera angles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camera movement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Over time, their work paid off.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12</a:t>
            </a:fld>
            <a:endParaRPr lang="en-US"/>
          </a:p>
        </p:txBody>
      </p:sp>
    </p:spTree>
    <p:extLst>
      <p:ext uri="{BB962C8B-B14F-4D97-AF65-F5344CB8AC3E}">
        <p14:creationId xmlns:p14="http://schemas.microsoft.com/office/powerpoint/2010/main" val="325153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1928 Disney released Plane Crazy, the first Mickey Mouse cartoon.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Plane crazy was meticulously crafted from story sketches that looked similar to a comic strip.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story sketches included Dynamic camera angles, Framing, and character action.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the sketches were action descriptions for each scene, written out on separate piece of paper.</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13</a:t>
            </a:fld>
            <a:endParaRPr lang="en-US"/>
          </a:p>
        </p:txBody>
      </p:sp>
    </p:spTree>
    <p:extLst>
      <p:ext uri="{BB962C8B-B14F-4D97-AF65-F5344CB8AC3E}">
        <p14:creationId xmlns:p14="http://schemas.microsoft.com/office/powerpoint/2010/main" val="1514124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Disney animators worked as both </a:t>
            </a:r>
            <a:r>
              <a:rPr lang="en-US" sz="1200" b="1" kern="1200" dirty="0">
                <a:solidFill>
                  <a:schemeClr val="tx1"/>
                </a:solidFill>
                <a:effectLst/>
                <a:latin typeface="+mn-lt"/>
                <a:ea typeface="+mn-ea"/>
                <a:cs typeface="+mn-cs"/>
              </a:rPr>
              <a:t>Gag-men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animators</a:t>
            </a:r>
            <a:r>
              <a:rPr lang="en-US" sz="1200" kern="1200" dirty="0">
                <a:solidFill>
                  <a:schemeClr val="tx1"/>
                </a:solidFill>
                <a:effectLst/>
                <a:latin typeface="+mn-lt"/>
                <a:ea typeface="+mn-ea"/>
                <a:cs typeface="+mn-cs"/>
              </a:rPr>
              <a:t>, but as they experimented  with story sketches, Walt realized the need for a </a:t>
            </a:r>
            <a:r>
              <a:rPr lang="en-US" sz="1200" b="1" kern="1200" dirty="0">
                <a:solidFill>
                  <a:schemeClr val="tx1"/>
                </a:solidFill>
                <a:effectLst/>
                <a:latin typeface="+mn-lt"/>
                <a:ea typeface="+mn-ea"/>
                <a:cs typeface="+mn-cs"/>
              </a:rPr>
              <a:t>separate story Department</a:t>
            </a:r>
            <a:r>
              <a:rPr lang="en-US" sz="1200" kern="1200" dirty="0">
                <a:solidFill>
                  <a:schemeClr val="tx1"/>
                </a:solidFill>
                <a:effectLst/>
                <a:latin typeface="+mn-lt"/>
                <a:ea typeface="+mn-ea"/>
                <a:cs typeface="+mn-cs"/>
              </a:rPr>
              <a:t> with its own writers. </a:t>
            </a:r>
          </a:p>
          <a:p>
            <a:r>
              <a:rPr lang="en-US" sz="1200" kern="1200" dirty="0">
                <a:solidFill>
                  <a:schemeClr val="tx1"/>
                </a:solidFill>
                <a:effectLst/>
                <a:latin typeface="+mn-lt"/>
                <a:ea typeface="+mn-ea"/>
                <a:cs typeface="+mn-cs"/>
              </a:rPr>
              <a:t>Ted Sears, who began his career as a gag man for Disney, was appointed head up This newly-formed department in the early 1930s.  </a:t>
            </a:r>
          </a:p>
          <a:p>
            <a:r>
              <a:rPr lang="en-US" sz="1200" kern="1200" dirty="0">
                <a:solidFill>
                  <a:schemeClr val="tx1"/>
                </a:solidFill>
                <a:effectLst/>
                <a:latin typeface="+mn-lt"/>
                <a:ea typeface="+mn-ea"/>
                <a:cs typeface="+mn-cs"/>
              </a:rPr>
              <a:t>From this point forward, animators were no longer responsible for both the story and the art. </a:t>
            </a:r>
          </a:p>
          <a:p>
            <a:r>
              <a:rPr lang="en-US" sz="1200" kern="1200" dirty="0">
                <a:solidFill>
                  <a:schemeClr val="tx1"/>
                </a:solidFill>
                <a:effectLst/>
                <a:latin typeface="+mn-lt"/>
                <a:ea typeface="+mn-ea"/>
                <a:cs typeface="+mn-cs"/>
              </a:rPr>
              <a:t>Instead, they worked with writers who developed the story ideas.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14</a:t>
            </a:fld>
            <a:endParaRPr lang="en-US"/>
          </a:p>
        </p:txBody>
      </p:sp>
    </p:spTree>
    <p:extLst>
      <p:ext uri="{BB962C8B-B14F-4D97-AF65-F5344CB8AC3E}">
        <p14:creationId xmlns:p14="http://schemas.microsoft.com/office/powerpoint/2010/main" val="2997363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Before too long, the number of sketches that each project generated grew to the extent that understanding is stories logical flow and content became increasingly a difficult task. </a:t>
            </a:r>
          </a:p>
          <a:p>
            <a:pPr latinLnBrk="1"/>
            <a:r>
              <a:rPr lang="en-US" sz="1200" kern="1200" dirty="0">
                <a:solidFill>
                  <a:schemeClr val="tx1"/>
                </a:solidFill>
                <a:effectLst/>
                <a:latin typeface="+mn-lt"/>
                <a:ea typeface="+mn-ea"/>
                <a:cs typeface="+mn-cs"/>
              </a:rPr>
              <a:t>Story Man </a:t>
            </a:r>
            <a:r>
              <a:rPr lang="en-US" sz="1200" b="1" kern="1200" dirty="0">
                <a:solidFill>
                  <a:schemeClr val="tx1"/>
                </a:solidFill>
                <a:effectLst/>
                <a:latin typeface="+mn-lt"/>
                <a:ea typeface="+mn-ea"/>
                <a:cs typeface="+mn-cs"/>
              </a:rPr>
              <a:t>Webb</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Smith</a:t>
            </a:r>
            <a:r>
              <a:rPr lang="en-US" sz="1200" kern="1200" dirty="0">
                <a:solidFill>
                  <a:schemeClr val="tx1"/>
                </a:solidFill>
                <a:effectLst/>
                <a:latin typeface="+mn-lt"/>
                <a:ea typeface="+mn-ea"/>
                <a:cs typeface="+mn-cs"/>
              </a:rPr>
              <a:t> had a solution: he pinned all the sketches and dialogue to the wall in a sequence from beginning to end. </a:t>
            </a:r>
          </a:p>
          <a:p>
            <a:pPr latinLnBrk="1"/>
            <a:r>
              <a:rPr lang="en-US" sz="1200" kern="1200" dirty="0">
                <a:solidFill>
                  <a:schemeClr val="tx1"/>
                </a:solidFill>
                <a:effectLst/>
                <a:latin typeface="+mn-lt"/>
                <a:ea typeface="+mn-ea"/>
                <a:cs typeface="+mn-cs"/>
              </a:rPr>
              <a:t>Smith then we work the sequence of shots Until he felt that a story continuity was achieved. </a:t>
            </a:r>
          </a:p>
          <a:p>
            <a:pPr latinLnBrk="1"/>
            <a:r>
              <a:rPr lang="en-US" sz="1200" kern="1200" dirty="0">
                <a:solidFill>
                  <a:schemeClr val="tx1"/>
                </a:solidFill>
                <a:effectLst/>
                <a:latin typeface="+mn-lt"/>
                <a:ea typeface="+mn-ea"/>
                <a:cs typeface="+mn-cs"/>
              </a:rPr>
              <a:t>The first cartoon recognized for using Smith's method of storyboarding was the </a:t>
            </a:r>
            <a:r>
              <a:rPr lang="en-US" sz="1200" b="1" kern="1200" dirty="0">
                <a:solidFill>
                  <a:schemeClr val="tx1"/>
                </a:solidFill>
                <a:effectLst/>
                <a:latin typeface="+mn-lt"/>
                <a:ea typeface="+mn-ea"/>
                <a:cs typeface="+mn-cs"/>
              </a:rPr>
              <a:t>1933 cartoon the three little pigs.</a:t>
            </a:r>
          </a:p>
        </p:txBody>
      </p:sp>
      <p:sp>
        <p:nvSpPr>
          <p:cNvPr id="4" name="Slide Number Placeholder 3"/>
          <p:cNvSpPr>
            <a:spLocks noGrp="1"/>
          </p:cNvSpPr>
          <p:nvPr>
            <p:ph type="sldNum" sz="quarter" idx="10"/>
          </p:nvPr>
        </p:nvSpPr>
        <p:spPr/>
        <p:txBody>
          <a:bodyPr/>
          <a:lstStyle/>
          <a:p>
            <a:fld id="{1796D361-B4A4-4CC2-BE3E-6B169444DAA7}" type="slidenum">
              <a:rPr lang="en-US" smtClean="0"/>
              <a:t>15</a:t>
            </a:fld>
            <a:endParaRPr lang="en-US"/>
          </a:p>
        </p:txBody>
      </p:sp>
    </p:spTree>
    <p:extLst>
      <p:ext uri="{BB962C8B-B14F-4D97-AF65-F5344CB8AC3E}">
        <p14:creationId xmlns:p14="http://schemas.microsoft.com/office/powerpoint/2010/main" val="422765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Early Disney storyboards were a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collaborative</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process between the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writer </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and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animator</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making it easy to visualize ideas by shifting scenes, and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adding</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and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deleting</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drawings.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Over time, the process was streamlined so that eventually all ideas submitted for review to Walt Disney World on storyboards.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If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approved</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by Disney, the boards were used to coordinate production.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One of the earliest most well-known uses of the modern storyboard was for the animated feature film Snow White and the Seven Dwarves.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Storyboards played an integral role in the development of Snow White with thousands of sketches being generated to bring the story to life.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Disney had the story board panels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pinned to a wall </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and then  he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acted out the scenes</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of the movie to the crew working on  production (as visual reference).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16</a:t>
            </a:fld>
            <a:endParaRPr lang="en-US"/>
          </a:p>
        </p:txBody>
      </p:sp>
    </p:spTree>
    <p:extLst>
      <p:ext uri="{BB962C8B-B14F-4D97-AF65-F5344CB8AC3E}">
        <p14:creationId xmlns:p14="http://schemas.microsoft.com/office/powerpoint/2010/main" val="2667798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As storyboard usage became more common, and Animation Studios flourished,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live action directors took notice</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Film directors began to pre-plan their films, storyboarding elaborate action sequences and special effect.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For Citizen Kane, Orson Welles storyboarded complex lighting sequences and scenes used “deep-focus” cinematography.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Producer David O  Selznick,  whose films include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Gone With the Wind </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and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Duel in the Sun</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worked with illustrator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William Cameron Menzies </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who storyboarded many early films.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Menzies was credited with a visual design of Gone With The Wind, in which he created hundreds of drawings that encompassed framing, composition, and camera movement.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17</a:t>
            </a:fld>
            <a:endParaRPr lang="en-US"/>
          </a:p>
        </p:txBody>
      </p:sp>
    </p:spTree>
    <p:extLst>
      <p:ext uri="{BB962C8B-B14F-4D97-AF65-F5344CB8AC3E}">
        <p14:creationId xmlns:p14="http://schemas.microsoft.com/office/powerpoint/2010/main" val="2856109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Alfred Hitchcock, the director of such films as vertigo, rear window, and psycho, considered his films as storyboards come to life.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Hitchcock Drew many of his own storyboards, as well as Enlisted the help of famous title designer Saul bass, who storyboarded the intricate shower sequence in Psycho, which included over 75 camera setups.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Hitchcock referred to Bases storyboards as a guideline For setting up the murder. </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18</a:t>
            </a:fld>
            <a:endParaRPr lang="en-US"/>
          </a:p>
        </p:txBody>
      </p:sp>
    </p:spTree>
    <p:extLst>
      <p:ext uri="{BB962C8B-B14F-4D97-AF65-F5344CB8AC3E}">
        <p14:creationId xmlns:p14="http://schemas.microsoft.com/office/powerpoint/2010/main" val="518695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From the 1930s through the 1970s many live-action directors only storyboarded special effects and complex action sequences. </a:t>
            </a:r>
          </a:p>
          <a:p>
            <a:pPr latinLnBrk="1"/>
            <a:r>
              <a:rPr lang="en-US" sz="1200" kern="1200" dirty="0">
                <a:solidFill>
                  <a:schemeClr val="tx1"/>
                </a:solidFill>
                <a:effectLst/>
                <a:latin typeface="+mn-lt"/>
                <a:ea typeface="+mn-ea"/>
                <a:cs typeface="+mn-cs"/>
              </a:rPr>
              <a:t>This was the case with many James Bond films that were created during the 1960's and 1970’s. </a:t>
            </a:r>
          </a:p>
          <a:p>
            <a:pPr latinLnBrk="1"/>
            <a:r>
              <a:rPr lang="en-US" sz="1200" kern="1200" dirty="0">
                <a:solidFill>
                  <a:schemeClr val="tx1"/>
                </a:solidFill>
                <a:effectLst/>
                <a:latin typeface="+mn-lt"/>
                <a:ea typeface="+mn-ea"/>
                <a:cs typeface="+mn-cs"/>
              </a:rPr>
              <a:t>Artist Syd Cain choreographed the storyboards for the key action sequences for the film From Russia with Love. </a:t>
            </a:r>
          </a:p>
          <a:p>
            <a:pPr latinLnBrk="1"/>
            <a:r>
              <a:rPr lang="en-US" sz="1200" kern="1200" dirty="0">
                <a:solidFill>
                  <a:schemeClr val="tx1"/>
                </a:solidFill>
                <a:effectLst/>
                <a:latin typeface="+mn-lt"/>
                <a:ea typeface="+mn-ea"/>
                <a:cs typeface="+mn-cs"/>
              </a:rPr>
              <a:t>He later went on to create both concept art and storyboards for such Bond films as Live and Let Die, on Her Majesty's Secret Service, and </a:t>
            </a:r>
            <a:r>
              <a:rPr lang="en-US" sz="1200" kern="1200" dirty="0" err="1">
                <a:solidFill>
                  <a:schemeClr val="tx1"/>
                </a:solidFill>
                <a:effectLst/>
                <a:latin typeface="+mn-lt"/>
                <a:ea typeface="+mn-ea"/>
                <a:cs typeface="+mn-cs"/>
              </a:rPr>
              <a:t>GoldenEye</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On the film Live and Let Die came created detailed story boards for three intricate action sequences that had never been tried before.  </a:t>
            </a:r>
          </a:p>
          <a:p>
            <a:pPr latinLnBrk="1"/>
            <a:r>
              <a:rPr lang="en-US" sz="1200" kern="1200" dirty="0">
                <a:solidFill>
                  <a:schemeClr val="tx1"/>
                </a:solidFill>
                <a:effectLst/>
                <a:latin typeface="+mn-lt"/>
                <a:ea typeface="+mn-ea"/>
                <a:cs typeface="+mn-cs"/>
              </a:rPr>
              <a:t>Storyboarding such scenes allowed the director to visualize on paper what would work without going through the expense of having to shoot different variations of the scene. </a:t>
            </a:r>
          </a:p>
          <a:p>
            <a:pPr latinLnBrk="1"/>
            <a:r>
              <a:rPr lang="en-US" sz="1200" kern="1200" dirty="0">
                <a:solidFill>
                  <a:schemeClr val="tx1"/>
                </a:solidFill>
                <a:effectLst/>
                <a:latin typeface="+mn-lt"/>
                <a:ea typeface="+mn-ea"/>
                <a:cs typeface="+mn-cs"/>
              </a:rPr>
              <a:t>As films became more expensive to create, many directors took note of the efficiency that storyboards provided. </a:t>
            </a:r>
          </a:p>
          <a:p>
            <a:pPr latinLnBrk="1"/>
            <a:r>
              <a:rPr lang="en-US" sz="1200" kern="1200" dirty="0">
                <a:solidFill>
                  <a:schemeClr val="tx1"/>
                </a:solidFill>
                <a:effectLst/>
                <a:latin typeface="+mn-lt"/>
                <a:ea typeface="+mn-ea"/>
                <a:cs typeface="+mn-cs"/>
              </a:rPr>
              <a:t>The storyboard process became particularly important to directors who had several units involved in shooting different scenes. </a:t>
            </a:r>
          </a:p>
          <a:p>
            <a:pPr latinLnBrk="1"/>
            <a:r>
              <a:rPr lang="en-US" sz="1200" kern="1200" dirty="0">
                <a:solidFill>
                  <a:schemeClr val="tx1"/>
                </a:solidFill>
                <a:effectLst/>
                <a:latin typeface="+mn-lt"/>
                <a:ea typeface="+mn-ea"/>
                <a:cs typeface="+mn-cs"/>
              </a:rPr>
              <a:t>For big budget films, such as Raiders of the Lost Ark, the creation of storyboards ensured that all units involved in staging scenes were on the same page.</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19</a:t>
            </a:fld>
            <a:endParaRPr lang="en-US"/>
          </a:p>
        </p:txBody>
      </p:sp>
    </p:spTree>
    <p:extLst>
      <p:ext uri="{BB962C8B-B14F-4D97-AF65-F5344CB8AC3E}">
        <p14:creationId xmlns:p14="http://schemas.microsoft.com/office/powerpoint/2010/main" val="2686189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As films became more expensive to create, many directors took note of the efficiency that storyboards provided. </a:t>
            </a:r>
          </a:p>
          <a:p>
            <a:pPr latinLnBrk="1"/>
            <a:r>
              <a:rPr lang="en-US" sz="1200" kern="1200" dirty="0">
                <a:solidFill>
                  <a:schemeClr val="tx1"/>
                </a:solidFill>
                <a:effectLst/>
                <a:latin typeface="+mn-lt"/>
                <a:ea typeface="+mn-ea"/>
                <a:cs typeface="+mn-cs"/>
              </a:rPr>
              <a:t>The storyboard process became particularly important to directors who had several units involved in shooting different scenes. </a:t>
            </a:r>
          </a:p>
          <a:p>
            <a:pPr latinLnBrk="1"/>
            <a:r>
              <a:rPr lang="en-US" sz="1200" kern="1200" dirty="0">
                <a:solidFill>
                  <a:schemeClr val="tx1"/>
                </a:solidFill>
                <a:effectLst/>
                <a:latin typeface="+mn-lt"/>
                <a:ea typeface="+mn-ea"/>
                <a:cs typeface="+mn-cs"/>
              </a:rPr>
              <a:t>For big budget films, such as Raiders of the Lost Ark, the creation of storyboards ensured that all units involved in staging scenes were on the same page.</a:t>
            </a:r>
          </a:p>
          <a:p>
            <a:pPr latinLnBrk="1"/>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20</a:t>
            </a:fld>
            <a:endParaRPr lang="en-US"/>
          </a:p>
        </p:txBody>
      </p:sp>
    </p:spTree>
    <p:extLst>
      <p:ext uri="{BB962C8B-B14F-4D97-AF65-F5344CB8AC3E}">
        <p14:creationId xmlns:p14="http://schemas.microsoft.com/office/powerpoint/2010/main" val="3090424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Have you ever watched a film on television and, just before the movie starts, the words this film has been modified from its original format appear. </a:t>
            </a:r>
          </a:p>
          <a:p>
            <a:pPr latinLnBrk="1"/>
            <a:r>
              <a:rPr lang="en-US" sz="1200" kern="1200" dirty="0">
                <a:solidFill>
                  <a:schemeClr val="tx1"/>
                </a:solidFill>
                <a:effectLst/>
                <a:latin typeface="+mn-lt"/>
                <a:ea typeface="+mn-ea"/>
                <a:cs typeface="+mn-cs"/>
              </a:rPr>
              <a:t>If you're like many people , you probably thought  what original format? </a:t>
            </a:r>
          </a:p>
          <a:p>
            <a:pPr latinLnBrk="1"/>
            <a:r>
              <a:rPr lang="en-US" sz="1200" kern="1200" dirty="0">
                <a:solidFill>
                  <a:schemeClr val="tx1"/>
                </a:solidFill>
                <a:effectLst/>
                <a:latin typeface="+mn-lt"/>
                <a:ea typeface="+mn-ea"/>
                <a:cs typeface="+mn-cs"/>
              </a:rPr>
              <a:t>This format refers to the shape of the screen, or size relationship between its width and height. Since there are many different aspect ratios in use for film, the image has to be modified to fit the television screen. </a:t>
            </a:r>
          </a:p>
        </p:txBody>
      </p:sp>
      <p:sp>
        <p:nvSpPr>
          <p:cNvPr id="4" name="Slide Number Placeholder 3"/>
          <p:cNvSpPr>
            <a:spLocks noGrp="1"/>
          </p:cNvSpPr>
          <p:nvPr>
            <p:ph type="sldNum" sz="quarter" idx="10"/>
          </p:nvPr>
        </p:nvSpPr>
        <p:spPr/>
        <p:txBody>
          <a:bodyPr/>
          <a:lstStyle/>
          <a:p>
            <a:fld id="{1796D361-B4A4-4CC2-BE3E-6B169444DAA7}" type="slidenum">
              <a:rPr lang="en-US" smtClean="0"/>
              <a:t>21</a:t>
            </a:fld>
            <a:endParaRPr lang="en-US"/>
          </a:p>
        </p:txBody>
      </p:sp>
    </p:spTree>
    <p:extLst>
      <p:ext uri="{BB962C8B-B14F-4D97-AF65-F5344CB8AC3E}">
        <p14:creationId xmlns:p14="http://schemas.microsoft.com/office/powerpoint/2010/main" val="140869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The first number in an aspect ratio indicate the frames width, Relative to its height. </a:t>
            </a:r>
          </a:p>
          <a:p>
            <a:pPr latinLnBrk="1"/>
            <a:r>
              <a:rPr lang="en-US" sz="1200" kern="1200" dirty="0">
                <a:solidFill>
                  <a:schemeClr val="tx1"/>
                </a:solidFill>
                <a:effectLst/>
                <a:latin typeface="+mn-lt"/>
                <a:ea typeface="+mn-ea"/>
                <a:cs typeface="+mn-cs"/>
              </a:rPr>
              <a:t>For example , 1.5:1 Is an aspect ratio.  </a:t>
            </a:r>
          </a:p>
          <a:p>
            <a:pPr latinLnBrk="1"/>
            <a:r>
              <a:rPr lang="en-US" sz="1200" kern="1200" dirty="0">
                <a:solidFill>
                  <a:schemeClr val="tx1"/>
                </a:solidFill>
                <a:effectLst/>
                <a:latin typeface="+mn-lt"/>
                <a:ea typeface="+mn-ea"/>
                <a:cs typeface="+mn-cs"/>
              </a:rPr>
              <a:t>The first number, 1.5, represents the width of the frame , whereas the second number, 1, stands for the height.  </a:t>
            </a:r>
          </a:p>
          <a:p>
            <a:pPr latinLnBrk="1"/>
            <a:r>
              <a:rPr lang="en-US" sz="1200" kern="1200" dirty="0">
                <a:solidFill>
                  <a:schemeClr val="tx1"/>
                </a:solidFill>
                <a:effectLst/>
                <a:latin typeface="+mn-lt"/>
                <a:ea typeface="+mn-ea"/>
                <a:cs typeface="+mn-cs"/>
              </a:rPr>
              <a:t>The 1.5:1 ratio tells us that for every one unit of height, there are 1.5 units of width . </a:t>
            </a:r>
          </a:p>
        </p:txBody>
      </p:sp>
      <p:sp>
        <p:nvSpPr>
          <p:cNvPr id="4" name="Slide Number Placeholder 3"/>
          <p:cNvSpPr>
            <a:spLocks noGrp="1"/>
          </p:cNvSpPr>
          <p:nvPr>
            <p:ph type="sldNum" sz="quarter" idx="10"/>
          </p:nvPr>
        </p:nvSpPr>
        <p:spPr/>
        <p:txBody>
          <a:bodyPr/>
          <a:lstStyle/>
          <a:p>
            <a:fld id="{1796D361-B4A4-4CC2-BE3E-6B169444DAA7}" type="slidenum">
              <a:rPr lang="en-US" smtClean="0"/>
              <a:t>22</a:t>
            </a:fld>
            <a:endParaRPr lang="en-US"/>
          </a:p>
        </p:txBody>
      </p:sp>
    </p:spTree>
    <p:extLst>
      <p:ext uri="{BB962C8B-B14F-4D97-AF65-F5344CB8AC3E}">
        <p14:creationId xmlns:p14="http://schemas.microsoft.com/office/powerpoint/2010/main" val="805968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In the early days of Film Production, movies were created using an aspect ratio of 1.33:1 , </a:t>
            </a:r>
          </a:p>
          <a:p>
            <a:pPr latinLnBrk="1"/>
            <a:r>
              <a:rPr lang="en-US" sz="1200" kern="1200" dirty="0">
                <a:solidFill>
                  <a:schemeClr val="tx1"/>
                </a:solidFill>
                <a:effectLst/>
                <a:latin typeface="+mn-lt"/>
                <a:ea typeface="+mn-ea"/>
                <a:cs typeface="+mn-cs"/>
              </a:rPr>
              <a:t>which is the ratio for </a:t>
            </a:r>
            <a:r>
              <a:rPr lang="en-US" sz="1200" b="1" kern="1200" dirty="0">
                <a:solidFill>
                  <a:schemeClr val="tx1"/>
                </a:solidFill>
                <a:effectLst/>
                <a:latin typeface="+mn-lt"/>
                <a:ea typeface="+mn-ea"/>
                <a:cs typeface="+mn-cs"/>
              </a:rPr>
              <a:t>35 millimeter film.</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1796D361-B4A4-4CC2-BE3E-6B169444DAA7}" type="slidenum">
              <a:rPr lang="en-US" smtClean="0"/>
              <a:t>23</a:t>
            </a:fld>
            <a:endParaRPr lang="en-US"/>
          </a:p>
        </p:txBody>
      </p:sp>
    </p:spTree>
    <p:extLst>
      <p:ext uri="{BB962C8B-B14F-4D97-AF65-F5344CB8AC3E}">
        <p14:creationId xmlns:p14="http://schemas.microsoft.com/office/powerpoint/2010/main" val="21997849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When sound was Incorporated into Motion Pictures, the aspect ratio was adjusted to 1.37:1 to make room for an optical soundtrack on the film. </a:t>
            </a:r>
          </a:p>
          <a:p>
            <a:pPr latinLnBrk="1"/>
            <a:r>
              <a:rPr lang="en-US" sz="1200" kern="1200" dirty="0">
                <a:solidFill>
                  <a:schemeClr val="tx1"/>
                </a:solidFill>
                <a:effectLst/>
                <a:latin typeface="+mn-lt"/>
                <a:ea typeface="+mn-ea"/>
                <a:cs typeface="+mn-cs"/>
              </a:rPr>
              <a:t>This new ratio became known throughout the industry as the academy ratio. </a:t>
            </a:r>
          </a:p>
          <a:p>
            <a:pPr latinLnBrk="1"/>
            <a:r>
              <a:rPr lang="en-US" sz="1200" kern="1200" dirty="0">
                <a:solidFill>
                  <a:schemeClr val="tx1"/>
                </a:solidFill>
                <a:effectLst/>
                <a:latin typeface="+mn-lt"/>
                <a:ea typeface="+mn-ea"/>
                <a:cs typeface="+mn-cs"/>
              </a:rPr>
              <a:t>Films produced in a 1.37:1 aspect ratio  include The Wizard of Oz, Gone With the Wind, Citizen Kane, and Casablanca.  </a:t>
            </a:r>
          </a:p>
          <a:p>
            <a:pPr latinLnBrk="1"/>
            <a:r>
              <a:rPr lang="en-US" sz="1200" kern="1200" dirty="0">
                <a:solidFill>
                  <a:schemeClr val="tx1"/>
                </a:solidFill>
                <a:effectLst/>
                <a:latin typeface="+mn-lt"/>
                <a:ea typeface="+mn-ea"/>
                <a:cs typeface="+mn-cs"/>
              </a:rPr>
              <a:t>When these films are shown today, there is no need for additional formatting to play on a standard television set. </a:t>
            </a:r>
          </a:p>
        </p:txBody>
      </p:sp>
      <p:sp>
        <p:nvSpPr>
          <p:cNvPr id="4" name="Slide Number Placeholder 3"/>
          <p:cNvSpPr>
            <a:spLocks noGrp="1"/>
          </p:cNvSpPr>
          <p:nvPr>
            <p:ph type="sldNum" sz="quarter" idx="10"/>
          </p:nvPr>
        </p:nvSpPr>
        <p:spPr/>
        <p:txBody>
          <a:bodyPr/>
          <a:lstStyle/>
          <a:p>
            <a:fld id="{1796D361-B4A4-4CC2-BE3E-6B169444DAA7}" type="slidenum">
              <a:rPr lang="en-US" smtClean="0"/>
              <a:t>24</a:t>
            </a:fld>
            <a:endParaRPr lang="en-US"/>
          </a:p>
        </p:txBody>
      </p:sp>
    </p:spTree>
    <p:extLst>
      <p:ext uri="{BB962C8B-B14F-4D97-AF65-F5344CB8AC3E}">
        <p14:creationId xmlns:p14="http://schemas.microsoft.com/office/powerpoint/2010/main" val="3179817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the height of film popularity in the 1930s, an estimated 95 million people attended the theater.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Families would frequent the movies three or four times a Week, and kids  would go every Saturday morning.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That all changed when television was introduced, which adopted the same 1.33:1 aspect ratio in the film industry.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By mid-1950s, the number of people attending decreased  to 45 million. Movie attendance  dropped further  220 million in the late 1960s, as television penetrated over 90% of homes.  By 1970, Hollywood needed to provide audiences with an entertainment experience they could not get at home. What they gave them was wider screen movies, which translated into bigger left-to-right Dimension than the square shape of a television screen. A wider image feels more of or peripheral vision and, as a result,  Is more intense and realistic because the effect imitates the way we actually see the world. Studios began to compose their films in various widescreen ratios including Cinerama, </a:t>
            </a:r>
            <a:r>
              <a:rPr lang="en-US" sz="1200" kern="1200" dirty="0" err="1">
                <a:solidFill>
                  <a:schemeClr val="tx1"/>
                </a:solidFill>
                <a:effectLst/>
                <a:latin typeface="+mn-lt"/>
                <a:ea typeface="+mn-ea"/>
                <a:cs typeface="+mn-cs"/>
              </a:rPr>
              <a:t>cinescope</a:t>
            </a:r>
            <a:r>
              <a:rPr lang="en-US" sz="1200" kern="1200" dirty="0">
                <a:solidFill>
                  <a:schemeClr val="tx1"/>
                </a:solidFill>
                <a:effectLst/>
                <a:latin typeface="+mn-lt"/>
                <a:ea typeface="+mn-ea"/>
                <a:cs typeface="+mn-cs"/>
              </a:rPr>
              <a:t> , and Panavision. </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25</a:t>
            </a:fld>
            <a:endParaRPr lang="en-US"/>
          </a:p>
        </p:txBody>
      </p:sp>
    </p:spTree>
    <p:extLst>
      <p:ext uri="{BB962C8B-B14F-4D97-AF65-F5344CB8AC3E}">
        <p14:creationId xmlns:p14="http://schemas.microsoft.com/office/powerpoint/2010/main" val="302341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By mid-1950s, the number of people attending decreased  to 45 million. Movie attendance  dropped further  220 million in the late 1960s, as television penetrated over 90% of homes.  By 1970, Hollywood needed to provide audiences with an entertainment experience they could not get at home. </a:t>
            </a:r>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26</a:t>
            </a:fld>
            <a:endParaRPr lang="en-US"/>
          </a:p>
        </p:txBody>
      </p:sp>
    </p:spTree>
    <p:extLst>
      <p:ext uri="{BB962C8B-B14F-4D97-AF65-F5344CB8AC3E}">
        <p14:creationId xmlns:p14="http://schemas.microsoft.com/office/powerpoint/2010/main" val="2052045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movie industry was in a quandary after television adopted the same aspect ratio. </a:t>
            </a:r>
          </a:p>
          <a:p>
            <a:r>
              <a:rPr lang="en-US" sz="1200" kern="1200" dirty="0">
                <a:solidFill>
                  <a:schemeClr val="tx1"/>
                </a:solidFill>
                <a:effectLst/>
                <a:latin typeface="+mn-lt"/>
                <a:ea typeface="+mn-ea"/>
                <a:cs typeface="+mn-cs"/>
              </a:rPr>
              <a:t>One of the ways the film industry fought back was with the introduction of Cinerama, with an aspect ratio of 2.60:1. </a:t>
            </a:r>
          </a:p>
          <a:p>
            <a:r>
              <a:rPr lang="en-US" sz="1200" kern="1200" dirty="0">
                <a:solidFill>
                  <a:schemeClr val="tx1"/>
                </a:solidFill>
                <a:effectLst/>
                <a:latin typeface="+mn-lt"/>
                <a:ea typeface="+mn-ea"/>
                <a:cs typeface="+mn-cs"/>
              </a:rPr>
              <a:t>The widescreen technique was introduced in New York in the 1952 show entitled this is Cinerama. </a:t>
            </a:r>
          </a:p>
          <a:p>
            <a:r>
              <a:rPr lang="en-US" sz="1200" kern="1200" dirty="0">
                <a:solidFill>
                  <a:schemeClr val="tx1"/>
                </a:solidFill>
                <a:effectLst/>
                <a:latin typeface="+mn-lt"/>
                <a:ea typeface="+mn-ea"/>
                <a:cs typeface="+mn-cs"/>
              </a:rPr>
              <a:t>The Cinerama experience was it </a:t>
            </a:r>
            <a:r>
              <a:rPr lang="en-US" sz="1200" b="1" kern="1200" dirty="0">
                <a:solidFill>
                  <a:schemeClr val="tx1"/>
                </a:solidFill>
                <a:effectLst/>
                <a:latin typeface="+mn-lt"/>
                <a:ea typeface="+mn-ea"/>
                <a:cs typeface="+mn-cs"/>
              </a:rPr>
              <a:t>3 camera, 3 projector </a:t>
            </a:r>
            <a:r>
              <a:rPr lang="en-US" sz="1200" kern="1200" dirty="0">
                <a:solidFill>
                  <a:schemeClr val="tx1"/>
                </a:solidFill>
                <a:effectLst/>
                <a:latin typeface="+mn-lt"/>
                <a:ea typeface="+mn-ea"/>
                <a:cs typeface="+mn-cs"/>
              </a:rPr>
              <a:t>setup that transmitted the film image onto a </a:t>
            </a:r>
            <a:r>
              <a:rPr lang="en-US" sz="1200" b="1" kern="1200" dirty="0">
                <a:solidFill>
                  <a:schemeClr val="tx1"/>
                </a:solidFill>
                <a:effectLst/>
                <a:latin typeface="+mn-lt"/>
                <a:ea typeface="+mn-ea"/>
                <a:cs typeface="+mn-cs"/>
              </a:rPr>
              <a:t>curved</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screen</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1796D361-B4A4-4CC2-BE3E-6B169444DAA7}" type="slidenum">
              <a:rPr lang="en-US" smtClean="0"/>
              <a:t>27</a:t>
            </a:fld>
            <a:endParaRPr lang="en-US"/>
          </a:p>
        </p:txBody>
      </p:sp>
    </p:spTree>
    <p:extLst>
      <p:ext uri="{BB962C8B-B14F-4D97-AF65-F5344CB8AC3E}">
        <p14:creationId xmlns:p14="http://schemas.microsoft.com/office/powerpoint/2010/main" val="13913870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Cinerama images were a roller coaster ride.  The viewers felt as if they were  in the first car as It sped up, down, and around the tracks. </a:t>
            </a:r>
          </a:p>
          <a:p>
            <a:r>
              <a:rPr lang="en-US" sz="1200" kern="1200" dirty="0">
                <a:solidFill>
                  <a:schemeClr val="tx1"/>
                </a:solidFill>
                <a:effectLst/>
                <a:latin typeface="+mn-lt"/>
                <a:ea typeface="+mn-ea"/>
                <a:cs typeface="+mn-cs"/>
              </a:rPr>
              <a:t>There were seven movies released under the Cinerama moniker, including How the West Was Won, South Seas adventure, and seven wonders of the world. </a:t>
            </a:r>
          </a:p>
          <a:p>
            <a:r>
              <a:rPr lang="en-US" sz="1200" kern="1200" dirty="0">
                <a:solidFill>
                  <a:schemeClr val="tx1"/>
                </a:solidFill>
                <a:effectLst/>
                <a:latin typeface="+mn-lt"/>
                <a:ea typeface="+mn-ea"/>
                <a:cs typeface="+mn-cs"/>
              </a:rPr>
              <a:t>Cinerama ultimately was abandoned because of high cost of outfitting theaters with multiple cameras and projectors.</a:t>
            </a:r>
          </a:p>
        </p:txBody>
      </p:sp>
      <p:sp>
        <p:nvSpPr>
          <p:cNvPr id="4" name="Slide Number Placeholder 3"/>
          <p:cNvSpPr>
            <a:spLocks noGrp="1"/>
          </p:cNvSpPr>
          <p:nvPr>
            <p:ph type="sldNum" sz="quarter" idx="10"/>
          </p:nvPr>
        </p:nvSpPr>
        <p:spPr/>
        <p:txBody>
          <a:bodyPr/>
          <a:lstStyle/>
          <a:p>
            <a:fld id="{1796D361-B4A4-4CC2-BE3E-6B169444DAA7}" type="slidenum">
              <a:rPr lang="en-US" smtClean="0"/>
              <a:t>28</a:t>
            </a:fld>
            <a:endParaRPr lang="en-US"/>
          </a:p>
        </p:txBody>
      </p:sp>
    </p:spTree>
    <p:extLst>
      <p:ext uri="{BB962C8B-B14F-4D97-AF65-F5344CB8AC3E}">
        <p14:creationId xmlns:p14="http://schemas.microsoft.com/office/powerpoint/2010/main" val="18379386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20th Century Fox introduce cinemascope one year after Cinerama made it to entrance at the widescreen  experience.  The cinemascope process required outfitting cameras with an  anamorphic lens,  which photographs the film image and then compresses it. When the image is ready to be screened, another anamorphic lens is used to </a:t>
            </a:r>
            <a:r>
              <a:rPr lang="en-US" sz="1200" kern="1200" dirty="0" err="1">
                <a:solidFill>
                  <a:schemeClr val="tx1"/>
                </a:solidFill>
                <a:effectLst/>
                <a:latin typeface="+mn-lt"/>
                <a:ea typeface="+mn-ea"/>
                <a:cs typeface="+mn-cs"/>
              </a:rPr>
              <a:t>uncompress</a:t>
            </a:r>
            <a:r>
              <a:rPr lang="en-US" sz="1200" kern="1200" dirty="0">
                <a:solidFill>
                  <a:schemeClr val="tx1"/>
                </a:solidFill>
                <a:effectLst/>
                <a:latin typeface="+mn-lt"/>
                <a:ea typeface="+mn-ea"/>
                <a:cs typeface="+mn-cs"/>
              </a:rPr>
              <a:t> the footage. </a:t>
            </a:r>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29</a:t>
            </a:fld>
            <a:endParaRPr lang="en-US"/>
          </a:p>
        </p:txBody>
      </p:sp>
    </p:spTree>
    <p:extLst>
      <p:ext uri="{BB962C8B-B14F-4D97-AF65-F5344CB8AC3E}">
        <p14:creationId xmlns:p14="http://schemas.microsoft.com/office/powerpoint/2010/main" val="334877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first introduced, the aspect ratio for </a:t>
            </a:r>
            <a:r>
              <a:rPr lang="en-US" sz="1200" kern="1200" dirty="0" err="1">
                <a:solidFill>
                  <a:schemeClr val="tx1"/>
                </a:solidFill>
                <a:effectLst/>
                <a:latin typeface="+mn-lt"/>
                <a:ea typeface="+mn-ea"/>
                <a:cs typeface="+mn-cs"/>
              </a:rPr>
              <a:t>cinescope</a:t>
            </a:r>
            <a:r>
              <a:rPr lang="en-US" sz="1200" kern="1200" dirty="0">
                <a:solidFill>
                  <a:schemeClr val="tx1"/>
                </a:solidFill>
                <a:effectLst/>
                <a:latin typeface="+mn-lt"/>
                <a:ea typeface="+mn-ea"/>
                <a:cs typeface="+mn-cs"/>
              </a:rPr>
              <a:t> was 2.66:1, But ultimately was reduced to 2.55:1. </a:t>
            </a:r>
          </a:p>
          <a:p>
            <a:r>
              <a:rPr lang="en-US" sz="1200" kern="1200" dirty="0">
                <a:solidFill>
                  <a:schemeClr val="tx1"/>
                </a:solidFill>
                <a:effectLst/>
                <a:latin typeface="+mn-lt"/>
                <a:ea typeface="+mn-ea"/>
                <a:cs typeface="+mn-cs"/>
              </a:rPr>
              <a:t>Films produced in </a:t>
            </a:r>
            <a:r>
              <a:rPr lang="en-US" sz="1200" kern="1200" dirty="0" err="1">
                <a:solidFill>
                  <a:schemeClr val="tx1"/>
                </a:solidFill>
                <a:effectLst/>
                <a:latin typeface="+mn-lt"/>
                <a:ea typeface="+mn-ea"/>
                <a:cs typeface="+mn-cs"/>
              </a:rPr>
              <a:t>Cinescope</a:t>
            </a:r>
            <a:r>
              <a:rPr lang="en-US" sz="1200" kern="1200" dirty="0">
                <a:solidFill>
                  <a:schemeClr val="tx1"/>
                </a:solidFill>
                <a:effectLst/>
                <a:latin typeface="+mn-lt"/>
                <a:ea typeface="+mn-ea"/>
                <a:cs typeface="+mn-cs"/>
              </a:rPr>
              <a:t> include Disney's 20000 Leagues Under the Sea, Lady and the Tramp, In Like Flint, and rope. This process lasted until the late 1960s .</a:t>
            </a:r>
          </a:p>
        </p:txBody>
      </p:sp>
      <p:sp>
        <p:nvSpPr>
          <p:cNvPr id="4" name="Slide Number Placeholder 3"/>
          <p:cNvSpPr>
            <a:spLocks noGrp="1"/>
          </p:cNvSpPr>
          <p:nvPr>
            <p:ph type="sldNum" sz="quarter" idx="10"/>
          </p:nvPr>
        </p:nvSpPr>
        <p:spPr/>
        <p:txBody>
          <a:bodyPr/>
          <a:lstStyle/>
          <a:p>
            <a:fld id="{1796D361-B4A4-4CC2-BE3E-6B169444DAA7}" type="slidenum">
              <a:rPr lang="en-US" smtClean="0"/>
              <a:t>30</a:t>
            </a:fld>
            <a:endParaRPr lang="en-US"/>
          </a:p>
        </p:txBody>
      </p:sp>
    </p:spTree>
    <p:extLst>
      <p:ext uri="{BB962C8B-B14F-4D97-AF65-F5344CB8AC3E}">
        <p14:creationId xmlns:p14="http://schemas.microsoft.com/office/powerpoint/2010/main" val="3740180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Panavision followed on the heels of cinemascope by creating anamorphic lenses in the late 1950s.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Panavision reduced some of the issues that cinemascope was having with compression, which ultimately lead to it becoming the standard Choice within the industry  The aspect ratios for Panavision are 2.35:1 and 1.85:1, which are the current film standards. </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31</a:t>
            </a:fld>
            <a:endParaRPr lang="en-US"/>
          </a:p>
        </p:txBody>
      </p:sp>
    </p:spTree>
    <p:extLst>
      <p:ext uri="{BB962C8B-B14F-4D97-AF65-F5344CB8AC3E}">
        <p14:creationId xmlns:p14="http://schemas.microsoft.com/office/powerpoint/2010/main" val="2427941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Most films today are shot in either 1.85 :1 or 2:35:1 aspect ratio.  The most common aspect ratio for Motion Pictures is 1.85:1, or standardized, non anamorphic films. Films produced in the 1.85:1 aspect ratio are personal films that include comedy, drama, and many animated films .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32</a:t>
            </a:fld>
            <a:endParaRPr lang="en-US"/>
          </a:p>
        </p:txBody>
      </p:sp>
    </p:spTree>
    <p:extLst>
      <p:ext uri="{BB962C8B-B14F-4D97-AF65-F5344CB8AC3E}">
        <p14:creationId xmlns:p14="http://schemas.microsoft.com/office/powerpoint/2010/main" val="2965951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someone were to describe a film as “epic" or monumental,  chances are the film was shot using a 2.35:1 aspect ratio, which included Panavision and other anamorphic films. Some films shot using the 2.35:1 aspect ratio include Gladiator, the Lord of the Rings, and Braveheart . </a:t>
            </a:r>
          </a:p>
        </p:txBody>
      </p:sp>
      <p:sp>
        <p:nvSpPr>
          <p:cNvPr id="4" name="Slide Number Placeholder 3"/>
          <p:cNvSpPr>
            <a:spLocks noGrp="1"/>
          </p:cNvSpPr>
          <p:nvPr>
            <p:ph type="sldNum" sz="quarter" idx="10"/>
          </p:nvPr>
        </p:nvSpPr>
        <p:spPr/>
        <p:txBody>
          <a:bodyPr/>
          <a:lstStyle/>
          <a:p>
            <a:fld id="{1796D361-B4A4-4CC2-BE3E-6B169444DAA7}" type="slidenum">
              <a:rPr lang="en-US" smtClean="0"/>
              <a:t>33</a:t>
            </a:fld>
            <a:endParaRPr lang="en-US"/>
          </a:p>
        </p:txBody>
      </p:sp>
    </p:spTree>
    <p:extLst>
      <p:ext uri="{BB962C8B-B14F-4D97-AF65-F5344CB8AC3E}">
        <p14:creationId xmlns:p14="http://schemas.microsoft.com/office/powerpoint/2010/main" val="2229224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standard television screen has a 1.33 to 1 aspect ratio , but many televisions being manufactured today have a wider aspect ratio of 1.78 to 1 (commonly referred to as 16:9 ratio). </a:t>
            </a:r>
          </a:p>
          <a:p>
            <a:r>
              <a:rPr lang="en-US" sz="1200" kern="1200" dirty="0">
                <a:solidFill>
                  <a:schemeClr val="tx1"/>
                </a:solidFill>
                <a:effectLst/>
                <a:latin typeface="+mn-lt"/>
                <a:ea typeface="+mn-ea"/>
                <a:cs typeface="+mn-cs"/>
              </a:rPr>
              <a:t>This new standard was introduced into the broadcast Market because of consumer preferences for a wider screen . A 16 to 9 screen contains more of the images content and enhances the movie experience. </a:t>
            </a:r>
          </a:p>
          <a:p>
            <a:r>
              <a:rPr lang="en-US" sz="1200" kern="1200" dirty="0">
                <a:solidFill>
                  <a:schemeClr val="tx1"/>
                </a:solidFill>
                <a:effectLst/>
                <a:latin typeface="+mn-lt"/>
                <a:ea typeface="+mn-ea"/>
                <a:cs typeface="+mn-cs"/>
              </a:rPr>
              <a:t>Since the 16:9 Aspect ratio is closer to the theatrical screen ratio of 1.85 to 1, when cropped for widescreen television, the theatrical aspect ratio of 1.85 to 1 does not lose noticeable picture information.</a:t>
            </a:r>
          </a:p>
        </p:txBody>
      </p:sp>
      <p:sp>
        <p:nvSpPr>
          <p:cNvPr id="4" name="Slide Number Placeholder 3"/>
          <p:cNvSpPr>
            <a:spLocks noGrp="1"/>
          </p:cNvSpPr>
          <p:nvPr>
            <p:ph type="sldNum" sz="quarter" idx="10"/>
          </p:nvPr>
        </p:nvSpPr>
        <p:spPr/>
        <p:txBody>
          <a:bodyPr/>
          <a:lstStyle/>
          <a:p>
            <a:fld id="{1796D361-B4A4-4CC2-BE3E-6B169444DAA7}" type="slidenum">
              <a:rPr lang="en-US" smtClean="0"/>
              <a:t>34</a:t>
            </a:fld>
            <a:endParaRPr lang="en-US"/>
          </a:p>
        </p:txBody>
      </p:sp>
    </p:spTree>
    <p:extLst>
      <p:ext uri="{BB962C8B-B14F-4D97-AF65-F5344CB8AC3E}">
        <p14:creationId xmlns:p14="http://schemas.microsoft.com/office/powerpoint/2010/main" val="42722627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difference  between the width and the height of the movie screen is much greater than the difference between the width and the height of a standard television screen. For example, if you were to show Gladiator on a conventional television screen without altering the image, you would lose about 20% of the image on each end. Fortunately there are techniques that can adjust the proportional difference between motion picture images and television screens. </a:t>
            </a:r>
          </a:p>
        </p:txBody>
      </p:sp>
      <p:sp>
        <p:nvSpPr>
          <p:cNvPr id="4" name="Slide Number Placeholder 3"/>
          <p:cNvSpPr>
            <a:spLocks noGrp="1"/>
          </p:cNvSpPr>
          <p:nvPr>
            <p:ph type="sldNum" sz="quarter" idx="10"/>
          </p:nvPr>
        </p:nvSpPr>
        <p:spPr/>
        <p:txBody>
          <a:bodyPr/>
          <a:lstStyle/>
          <a:p>
            <a:fld id="{1796D361-B4A4-4CC2-BE3E-6B169444DAA7}" type="slidenum">
              <a:rPr lang="en-US" smtClean="0"/>
              <a:t>35</a:t>
            </a:fld>
            <a:endParaRPr lang="en-US"/>
          </a:p>
        </p:txBody>
      </p:sp>
    </p:spTree>
    <p:extLst>
      <p:ext uri="{BB962C8B-B14F-4D97-AF65-F5344CB8AC3E}">
        <p14:creationId xmlns:p14="http://schemas.microsoft.com/office/powerpoint/2010/main" val="18593537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industry was once again  in predicament when their movies sold to television and home video, and had to be cropped from their original size to fit the </a:t>
            </a:r>
            <a:r>
              <a:rPr lang="en-US" dirty="0"/>
              <a:t>1.33:1</a:t>
            </a:r>
            <a:r>
              <a:rPr lang="en-US" sz="1200" kern="1200" dirty="0">
                <a:solidFill>
                  <a:schemeClr val="tx1"/>
                </a:solidFill>
                <a:effectLst/>
                <a:latin typeface="+mn-lt"/>
                <a:ea typeface="+mn-ea"/>
                <a:cs typeface="+mn-cs"/>
              </a:rPr>
              <a:t> screen shape of the television.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early 1960s, 20th Century Fox developed the pan-and-scan process that resizes widescreen movies to fit a 1.33 to one aspect ratio.</a:t>
            </a:r>
          </a:p>
          <a:p>
            <a:r>
              <a:rPr lang="en-US" sz="1200" kern="1200" dirty="0">
                <a:solidFill>
                  <a:schemeClr val="tx1"/>
                </a:solidFill>
                <a:effectLst/>
                <a:latin typeface="+mn-lt"/>
                <a:ea typeface="+mn-ea"/>
                <a:cs typeface="+mn-cs"/>
              </a:rPr>
              <a:t>The pan and scan process locates the center of interest of an image and fits it into the space available for standard television. </a:t>
            </a:r>
          </a:p>
        </p:txBody>
      </p:sp>
      <p:sp>
        <p:nvSpPr>
          <p:cNvPr id="4" name="Slide Number Placeholder 3"/>
          <p:cNvSpPr>
            <a:spLocks noGrp="1"/>
          </p:cNvSpPr>
          <p:nvPr>
            <p:ph type="sldNum" sz="quarter" idx="10"/>
          </p:nvPr>
        </p:nvSpPr>
        <p:spPr/>
        <p:txBody>
          <a:bodyPr/>
          <a:lstStyle/>
          <a:p>
            <a:fld id="{1796D361-B4A4-4CC2-BE3E-6B169444DAA7}" type="slidenum">
              <a:rPr lang="en-US" smtClean="0"/>
              <a:t>36</a:t>
            </a:fld>
            <a:endParaRPr lang="en-US"/>
          </a:p>
        </p:txBody>
      </p:sp>
    </p:spTree>
    <p:extLst>
      <p:ext uri="{BB962C8B-B14F-4D97-AF65-F5344CB8AC3E}">
        <p14:creationId xmlns:p14="http://schemas.microsoft.com/office/powerpoint/2010/main" val="32677079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example, if you have two characters at either end of a shot within a widescreen version, one or both characters will be lost when it is displayed in a standard 4:3 frame.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Using pan-and-scan, a video technician will reset it the shot by either cutting back and forth between a conversation to follow the action, or by cropping the image according to the center of Interest.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37</a:t>
            </a:fld>
            <a:endParaRPr lang="en-US"/>
          </a:p>
        </p:txBody>
      </p:sp>
    </p:spTree>
    <p:extLst>
      <p:ext uri="{BB962C8B-B14F-4D97-AF65-F5344CB8AC3E}">
        <p14:creationId xmlns:p14="http://schemas.microsoft.com/office/powerpoint/2010/main" val="20720887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drawback to pan-and-scan is that audiences only see a portion of the image on there  television sets,  which Alters the way the director intended audiences to view the film. For instance, a 1.85 to one aspect ratio will lose about 25% of the film image, Whereas a 2.35 to one aspect ratio loses almost 45 to 50%.</a:t>
            </a:r>
          </a:p>
          <a:p>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38</a:t>
            </a:fld>
            <a:endParaRPr lang="en-US"/>
          </a:p>
        </p:txBody>
      </p:sp>
    </p:spTree>
    <p:extLst>
      <p:ext uri="{BB962C8B-B14F-4D97-AF65-F5344CB8AC3E}">
        <p14:creationId xmlns:p14="http://schemas.microsoft.com/office/powerpoint/2010/main" val="36643256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most directors, pan-and-scan was not viable alternative to showcasing their films on television. </a:t>
            </a:r>
          </a:p>
          <a:p>
            <a:r>
              <a:rPr lang="en-US" sz="1200" kern="1200" dirty="0">
                <a:solidFill>
                  <a:schemeClr val="tx1"/>
                </a:solidFill>
                <a:effectLst/>
                <a:latin typeface="+mn-lt"/>
                <a:ea typeface="+mn-ea"/>
                <a:cs typeface="+mn-cs"/>
              </a:rPr>
              <a:t>Many banded together to ensure their compositions would not be manipulated under pan-and-scan. </a:t>
            </a:r>
          </a:p>
          <a:p>
            <a:r>
              <a:rPr lang="en-US" sz="1200" kern="1200" dirty="0">
                <a:solidFill>
                  <a:schemeClr val="tx1"/>
                </a:solidFill>
                <a:effectLst/>
                <a:latin typeface="+mn-lt"/>
                <a:ea typeface="+mn-ea"/>
                <a:cs typeface="+mn-cs"/>
              </a:rPr>
              <a:t>Instead, directors opted for letterboxing which maintains a film's original aspect ratio, reserving the image as it was originally seen in a movie theater.</a:t>
            </a:r>
          </a:p>
        </p:txBody>
      </p:sp>
      <p:sp>
        <p:nvSpPr>
          <p:cNvPr id="4" name="Slide Number Placeholder 3"/>
          <p:cNvSpPr>
            <a:spLocks noGrp="1"/>
          </p:cNvSpPr>
          <p:nvPr>
            <p:ph type="sldNum" sz="quarter" idx="10"/>
          </p:nvPr>
        </p:nvSpPr>
        <p:spPr/>
        <p:txBody>
          <a:bodyPr/>
          <a:lstStyle/>
          <a:p>
            <a:fld id="{1796D361-B4A4-4CC2-BE3E-6B169444DAA7}" type="slidenum">
              <a:rPr lang="en-US" smtClean="0"/>
              <a:t>39</a:t>
            </a:fld>
            <a:endParaRPr lang="en-US"/>
          </a:p>
        </p:txBody>
      </p:sp>
    </p:spTree>
    <p:extLst>
      <p:ext uri="{BB962C8B-B14F-4D97-AF65-F5344CB8AC3E}">
        <p14:creationId xmlns:p14="http://schemas.microsoft.com/office/powerpoint/2010/main" val="13395882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Letterboxed images, however, do not fill the entire screen. </a:t>
            </a:r>
          </a:p>
          <a:p>
            <a:r>
              <a:rPr lang="en-US" sz="1200" kern="1200" dirty="0">
                <a:solidFill>
                  <a:schemeClr val="tx1"/>
                </a:solidFill>
                <a:effectLst/>
                <a:latin typeface="+mn-lt"/>
                <a:ea typeface="+mn-ea"/>
                <a:cs typeface="+mn-cs"/>
              </a:rPr>
              <a:t>Rather, the picture is centered along the horizontal plane and shrunk to fit the shape of a television screen. </a:t>
            </a:r>
          </a:p>
          <a:p>
            <a:r>
              <a:rPr lang="en-US" sz="1200" kern="1200" dirty="0">
                <a:solidFill>
                  <a:schemeClr val="tx1"/>
                </a:solidFill>
                <a:effectLst/>
                <a:latin typeface="+mn-lt"/>
                <a:ea typeface="+mn-ea"/>
                <a:cs typeface="+mn-cs"/>
              </a:rPr>
              <a:t>This results in empty space above and below the image. </a:t>
            </a:r>
          </a:p>
        </p:txBody>
      </p:sp>
      <p:sp>
        <p:nvSpPr>
          <p:cNvPr id="4" name="Slide Number Placeholder 3"/>
          <p:cNvSpPr>
            <a:spLocks noGrp="1"/>
          </p:cNvSpPr>
          <p:nvPr>
            <p:ph type="sldNum" sz="quarter" idx="10"/>
          </p:nvPr>
        </p:nvSpPr>
        <p:spPr/>
        <p:txBody>
          <a:bodyPr/>
          <a:lstStyle/>
          <a:p>
            <a:fld id="{1796D361-B4A4-4CC2-BE3E-6B169444DAA7}" type="slidenum">
              <a:rPr lang="en-US" smtClean="0"/>
              <a:t>40</a:t>
            </a:fld>
            <a:endParaRPr lang="en-US"/>
          </a:p>
        </p:txBody>
      </p:sp>
    </p:spTree>
    <p:extLst>
      <p:ext uri="{BB962C8B-B14F-4D97-AF65-F5344CB8AC3E}">
        <p14:creationId xmlns:p14="http://schemas.microsoft.com/office/powerpoint/2010/main" val="19593958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working on a project, you will need to calculate  storyboard frames in proportion to the aspect ratio for the film. </a:t>
            </a:r>
          </a:p>
          <a:p>
            <a:r>
              <a:rPr lang="en-US" sz="1200" kern="1200" dirty="0">
                <a:solidFill>
                  <a:schemeClr val="tx1"/>
                </a:solidFill>
                <a:effectLst/>
                <a:latin typeface="+mn-lt"/>
                <a:ea typeface="+mn-ea"/>
                <a:cs typeface="+mn-cs"/>
              </a:rPr>
              <a:t>Let's say for example,  the aspect ratio for a film is 1.85 to 1.  </a:t>
            </a:r>
          </a:p>
          <a:p>
            <a:r>
              <a:rPr lang="en-US" sz="1200" kern="1200" dirty="0">
                <a:solidFill>
                  <a:schemeClr val="tx1"/>
                </a:solidFill>
                <a:effectLst/>
                <a:latin typeface="+mn-lt"/>
                <a:ea typeface="+mn-ea"/>
                <a:cs typeface="+mn-cs"/>
              </a:rPr>
              <a:t>First, you must decide at what height you want to render your storyboards.</a:t>
            </a:r>
          </a:p>
          <a:p>
            <a:r>
              <a:rPr lang="en-US" sz="1200" kern="1200" dirty="0">
                <a:solidFill>
                  <a:schemeClr val="tx1"/>
                </a:solidFill>
                <a:effectLst/>
                <a:latin typeface="+mn-lt"/>
                <a:ea typeface="+mn-ea"/>
                <a:cs typeface="+mn-cs"/>
              </a:rPr>
              <a:t>Determining frame height is based on either the preference of the director, or how many frames you work best on a page. Once the frame height is chosen, calculate its width. If, in case, you have decided on a frame height of 4 inch, you would multiply 1.85 by 4 to obtain a film frame width of 7.4 inches. </a:t>
            </a:r>
          </a:p>
        </p:txBody>
      </p:sp>
      <p:sp>
        <p:nvSpPr>
          <p:cNvPr id="4" name="Slide Number Placeholder 3"/>
          <p:cNvSpPr>
            <a:spLocks noGrp="1"/>
          </p:cNvSpPr>
          <p:nvPr>
            <p:ph type="sldNum" sz="quarter" idx="10"/>
          </p:nvPr>
        </p:nvSpPr>
        <p:spPr/>
        <p:txBody>
          <a:bodyPr/>
          <a:lstStyle/>
          <a:p>
            <a:fld id="{1796D361-B4A4-4CC2-BE3E-6B169444DAA7}" type="slidenum">
              <a:rPr lang="en-US" smtClean="0"/>
              <a:t>41</a:t>
            </a:fld>
            <a:endParaRPr lang="en-US"/>
          </a:p>
        </p:txBody>
      </p:sp>
    </p:spTree>
    <p:extLst>
      <p:ext uri="{BB962C8B-B14F-4D97-AF65-F5344CB8AC3E}">
        <p14:creationId xmlns:p14="http://schemas.microsoft.com/office/powerpoint/2010/main" val="24174704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may also calculate the aspect ratio for a film or animation if you already know the height and width of the screen. </a:t>
            </a:r>
          </a:p>
          <a:p>
            <a:r>
              <a:rPr lang="en-US" sz="1200" kern="1200" dirty="0">
                <a:solidFill>
                  <a:schemeClr val="tx1"/>
                </a:solidFill>
                <a:effectLst/>
                <a:latin typeface="+mn-lt"/>
                <a:ea typeface="+mn-ea"/>
                <a:cs typeface="+mn-cs"/>
              </a:rPr>
              <a:t>Divide the screens with by its height to calculate the aspect ratio.  </a:t>
            </a:r>
          </a:p>
          <a:p>
            <a:r>
              <a:rPr lang="en-US" sz="1200" kern="1200" dirty="0">
                <a:solidFill>
                  <a:schemeClr val="tx1"/>
                </a:solidFill>
                <a:effectLst/>
                <a:latin typeface="+mn-lt"/>
                <a:ea typeface="+mn-ea"/>
                <a:cs typeface="+mn-cs"/>
              </a:rPr>
              <a:t>For example, a screen width of 4 is divided by a screen height of 3  is equal to an aspect ratio of 1.33 to 1 . </a:t>
            </a:r>
          </a:p>
        </p:txBody>
      </p:sp>
      <p:sp>
        <p:nvSpPr>
          <p:cNvPr id="4" name="Slide Number Placeholder 3"/>
          <p:cNvSpPr>
            <a:spLocks noGrp="1"/>
          </p:cNvSpPr>
          <p:nvPr>
            <p:ph type="sldNum" sz="quarter" idx="10"/>
          </p:nvPr>
        </p:nvSpPr>
        <p:spPr/>
        <p:txBody>
          <a:bodyPr/>
          <a:lstStyle/>
          <a:p>
            <a:fld id="{1796D361-B4A4-4CC2-BE3E-6B169444DAA7}" type="slidenum">
              <a:rPr lang="en-US" smtClean="0"/>
              <a:t>42</a:t>
            </a:fld>
            <a:endParaRPr lang="en-US"/>
          </a:p>
        </p:txBody>
      </p:sp>
    </p:spTree>
    <p:extLst>
      <p:ext uri="{BB962C8B-B14F-4D97-AF65-F5344CB8AC3E}">
        <p14:creationId xmlns:p14="http://schemas.microsoft.com/office/powerpoint/2010/main" val="25061973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modern storyboard arose out of Disney Studios, but early filmmakers such a </a:t>
            </a:r>
            <a:r>
              <a:rPr lang="en-US" sz="1200" kern="1200" dirty="0" err="1">
                <a:solidFill>
                  <a:schemeClr val="tx1"/>
                </a:solidFill>
                <a:effectLst/>
                <a:latin typeface="+mn-lt"/>
                <a:ea typeface="+mn-ea"/>
                <a:cs typeface="+mn-cs"/>
              </a:rPr>
              <a:t>Sergi</a:t>
            </a:r>
            <a:r>
              <a:rPr lang="en-US" sz="1200" kern="1200" dirty="0">
                <a:solidFill>
                  <a:schemeClr val="tx1"/>
                </a:solidFill>
                <a:effectLst/>
                <a:latin typeface="+mn-lt"/>
                <a:ea typeface="+mn-ea"/>
                <a:cs typeface="+mn-cs"/>
              </a:rPr>
              <a:t> Eisenstein, and Cecil B </a:t>
            </a:r>
            <a:r>
              <a:rPr lang="en-US" sz="1200" kern="1200" dirty="0" err="1">
                <a:solidFill>
                  <a:schemeClr val="tx1"/>
                </a:solidFill>
                <a:effectLst/>
                <a:latin typeface="+mn-lt"/>
                <a:ea typeface="+mn-ea"/>
                <a:cs typeface="+mn-cs"/>
              </a:rPr>
              <a:t>Demille</a:t>
            </a:r>
            <a:r>
              <a:rPr lang="en-US" sz="1200" kern="1200" dirty="0">
                <a:solidFill>
                  <a:schemeClr val="tx1"/>
                </a:solidFill>
                <a:effectLst/>
                <a:latin typeface="+mn-lt"/>
                <a:ea typeface="+mn-ea"/>
                <a:cs typeface="+mn-cs"/>
              </a:rPr>
              <a:t> were creating detailed sketches to help determine the staging of scenes and Camera placement. The real need for the storyboard came from the animation industry. </a:t>
            </a:r>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43</a:t>
            </a:fld>
            <a:endParaRPr lang="en-US"/>
          </a:p>
        </p:txBody>
      </p:sp>
    </p:spTree>
    <p:extLst>
      <p:ext uri="{BB962C8B-B14F-4D97-AF65-F5344CB8AC3E}">
        <p14:creationId xmlns:p14="http://schemas.microsoft.com/office/powerpoint/2010/main" val="16664040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animations infancy, there were no story departments. </a:t>
            </a:r>
          </a:p>
          <a:p>
            <a:r>
              <a:rPr lang="en-US" sz="1200" kern="1200" dirty="0">
                <a:solidFill>
                  <a:schemeClr val="tx1"/>
                </a:solidFill>
                <a:effectLst/>
                <a:latin typeface="+mn-lt"/>
                <a:ea typeface="+mn-ea"/>
                <a:cs typeface="+mn-cs"/>
              </a:rPr>
              <a:t>Rather, the Studio's relied on their animators to generate stories based on gags. This changed when Disney formed the first story Department in the 1930s, which was led by Ted Sears. Gagmen and artists would work together, sketching out story ideas for upcoming cartoons. The first animation to use the modern storyboard was the short The Three Little Pigs. Live-action directors who adapted storyboards to their projects included Alfred Hitchcock and Orson Welles.</a:t>
            </a:r>
          </a:p>
        </p:txBody>
      </p:sp>
      <p:sp>
        <p:nvSpPr>
          <p:cNvPr id="4" name="Slide Number Placeholder 3"/>
          <p:cNvSpPr>
            <a:spLocks noGrp="1"/>
          </p:cNvSpPr>
          <p:nvPr>
            <p:ph type="sldNum" sz="quarter" idx="10"/>
          </p:nvPr>
        </p:nvSpPr>
        <p:spPr/>
        <p:txBody>
          <a:bodyPr/>
          <a:lstStyle/>
          <a:p>
            <a:fld id="{1796D361-B4A4-4CC2-BE3E-6B169444DAA7}" type="slidenum">
              <a:rPr lang="en-US" smtClean="0"/>
              <a:t>44</a:t>
            </a:fld>
            <a:endParaRPr lang="en-US"/>
          </a:p>
        </p:txBody>
      </p:sp>
    </p:spTree>
    <p:extLst>
      <p:ext uri="{BB962C8B-B14F-4D97-AF65-F5344CB8AC3E}">
        <p14:creationId xmlns:p14="http://schemas.microsoft.com/office/powerpoint/2010/main" val="2224228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early years of film, The aspect ratio was 1.33:1 which is a square shape. As film matured, and received competition from television, the aspect ratio was adjusted to reflect wider screens. Two popular widescreen formats in the 1950s were Cinerama and </a:t>
            </a:r>
            <a:r>
              <a:rPr lang="en-US" sz="1200" kern="1200" dirty="0" err="1">
                <a:solidFill>
                  <a:schemeClr val="tx1"/>
                </a:solidFill>
                <a:effectLst/>
                <a:latin typeface="+mn-lt"/>
                <a:ea typeface="+mn-ea"/>
                <a:cs typeface="+mn-cs"/>
              </a:rPr>
              <a:t>Cinescope</a:t>
            </a:r>
            <a:r>
              <a:rPr lang="en-US" sz="1200" kern="1200" dirty="0">
                <a:solidFill>
                  <a:schemeClr val="tx1"/>
                </a:solidFill>
                <a:effectLst/>
                <a:latin typeface="+mn-lt"/>
                <a:ea typeface="+mn-ea"/>
                <a:cs typeface="+mn-cs"/>
              </a:rPr>
              <a:t>. These two formats eventually gave way to Panavision, and standard aspect ratios of 1.85 to 1 and 2.35 to 1. </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1796D361-B4A4-4CC2-BE3E-6B169444DAA7}" type="slidenum">
              <a:rPr lang="en-US" smtClean="0"/>
              <a:t>45</a:t>
            </a:fld>
            <a:endParaRPr lang="en-US"/>
          </a:p>
        </p:txBody>
      </p:sp>
    </p:spTree>
    <p:extLst>
      <p:ext uri="{BB962C8B-B14F-4D97-AF65-F5344CB8AC3E}">
        <p14:creationId xmlns:p14="http://schemas.microsoft.com/office/powerpoint/2010/main" val="9586326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widescreen format had some trouble when films began to be shown on television. </a:t>
            </a:r>
          </a:p>
          <a:p>
            <a:r>
              <a:rPr lang="en-US" sz="1200" kern="1200" dirty="0">
                <a:solidFill>
                  <a:schemeClr val="tx1"/>
                </a:solidFill>
                <a:effectLst/>
                <a:latin typeface="+mn-lt"/>
                <a:ea typeface="+mn-ea"/>
                <a:cs typeface="+mn-cs"/>
              </a:rPr>
              <a:t>The difference between the width and height in an average movie image  is much greater than the difference between the width and height of a standard television screen. The industry came up with a technique of pan-and-scan, which resizes the image by finding the center of interest and cropping. The more favorable letterbox technique shrinks the image to fit the screen rather than losing any parts of the image. </a:t>
            </a:r>
          </a:p>
        </p:txBody>
      </p:sp>
      <p:sp>
        <p:nvSpPr>
          <p:cNvPr id="4" name="Slide Number Placeholder 3"/>
          <p:cNvSpPr>
            <a:spLocks noGrp="1"/>
          </p:cNvSpPr>
          <p:nvPr>
            <p:ph type="sldNum" sz="quarter" idx="10"/>
          </p:nvPr>
        </p:nvSpPr>
        <p:spPr/>
        <p:txBody>
          <a:bodyPr/>
          <a:lstStyle/>
          <a:p>
            <a:fld id="{1796D361-B4A4-4CC2-BE3E-6B169444DAA7}" type="slidenum">
              <a:rPr lang="en-US" smtClean="0"/>
              <a:t>46</a:t>
            </a:fld>
            <a:endParaRPr lang="en-US"/>
          </a:p>
        </p:txBody>
      </p:sp>
    </p:spTree>
    <p:extLst>
      <p:ext uri="{BB962C8B-B14F-4D97-AF65-F5344CB8AC3E}">
        <p14:creationId xmlns:p14="http://schemas.microsoft.com/office/powerpoint/2010/main" val="19441144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determining compositional elements of the storyboard frame, an artist must establish the shape of storyboard panel. Many artists work within the aspect ratio used to photograph a film. The aspect ratio for a film or animation refers to the height and width of a screen. </a:t>
            </a:r>
          </a:p>
        </p:txBody>
      </p:sp>
      <p:sp>
        <p:nvSpPr>
          <p:cNvPr id="4" name="Slide Number Placeholder 3"/>
          <p:cNvSpPr>
            <a:spLocks noGrp="1"/>
          </p:cNvSpPr>
          <p:nvPr>
            <p:ph type="sldNum" sz="quarter" idx="10"/>
          </p:nvPr>
        </p:nvSpPr>
        <p:spPr/>
        <p:txBody>
          <a:bodyPr/>
          <a:lstStyle/>
          <a:p>
            <a:fld id="{1796D361-B4A4-4CC2-BE3E-6B169444DAA7}" type="slidenum">
              <a:rPr lang="en-US" smtClean="0"/>
              <a:t>47</a:t>
            </a:fld>
            <a:endParaRPr lang="en-US"/>
          </a:p>
        </p:txBody>
      </p:sp>
    </p:spTree>
    <p:extLst>
      <p:ext uri="{BB962C8B-B14F-4D97-AF65-F5344CB8AC3E}">
        <p14:creationId xmlns:p14="http://schemas.microsoft.com/office/powerpoint/2010/main" val="10399101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21000"/>
            <a:lum/>
          </a:blip>
          <a:srcRect/>
          <a:tile tx="0" ty="0" sx="100000" sy="100000" flip="none" algn="tl"/>
        </a:blipFill>
        <a:effectLst/>
      </p:bgPr>
    </p:bg>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a:noFill/>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837BF610-71BB-45D1-8BAD-DB306F755D9B}"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3122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alphaModFix amt="21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626532"/>
            <a:ext cx="6815669" cy="1515533"/>
          </a:xfrm>
        </p:spPr>
        <p:txBody>
          <a:bodyPr anchor="b">
            <a:noAutofit/>
          </a:bodyPr>
          <a:lstStyle>
            <a:lvl1pPr algn="ctr">
              <a:defRPr sz="5400">
                <a:effectLst/>
              </a:defRPr>
            </a:lvl1pPr>
          </a:lstStyle>
          <a:p>
            <a:r>
              <a:rPr lang="en-US" dirty="0"/>
              <a:t>Click to edit Master title style</a:t>
            </a:r>
          </a:p>
        </p:txBody>
      </p:sp>
      <p:sp>
        <p:nvSpPr>
          <p:cNvPr id="11" name="Picture Placeholder 10"/>
          <p:cNvSpPr>
            <a:spLocks noGrp="1"/>
          </p:cNvSpPr>
          <p:nvPr>
            <p:ph type="pic" sz="quarter" idx="10"/>
          </p:nvPr>
        </p:nvSpPr>
        <p:spPr>
          <a:xfrm>
            <a:off x="2692397" y="2254250"/>
            <a:ext cx="6815669" cy="4184650"/>
          </a:xfrm>
          <a:effectLst>
            <a:outerShdw blurRad="50800" dist="50800" dir="5400000" algn="ctr" rotWithShape="0">
              <a:schemeClr val="tx1"/>
            </a:outerShdw>
          </a:effectLst>
        </p:spPr>
        <p:txBody>
          <a:bodyPr/>
          <a:lstStyle/>
          <a:p>
            <a:endParaRPr lang="en-US" dirty="0"/>
          </a:p>
        </p:txBody>
      </p:sp>
    </p:spTree>
    <p:extLst>
      <p:ext uri="{BB962C8B-B14F-4D97-AF65-F5344CB8AC3E}">
        <p14:creationId xmlns:p14="http://schemas.microsoft.com/office/powerpoint/2010/main" val="79299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1581021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245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8139C1-1262-42B4-8C9D-564A735A2FD1}" type="datetimeFigureOut">
              <a:rPr lang="en-US" smtClean="0"/>
              <a:t>1/31/20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4276602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8139C1-1262-42B4-8C9D-564A735A2FD1}" type="datetimeFigureOut">
              <a:rPr lang="en-US" smtClean="0"/>
              <a:t>1/31/20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7BF610-71BB-45D1-8BAD-DB306F755D9B}"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2914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8139C1-1262-42B4-8C9D-564A735A2FD1}" type="datetimeFigureOut">
              <a:rPr lang="en-US" smtClean="0"/>
              <a:t>1/31/20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7BF610-71BB-45D1-8BAD-DB306F755D9B}"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446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8139C1-1262-42B4-8C9D-564A735A2FD1}" type="datetimeFigureOut">
              <a:rPr lang="en-US" smtClean="0"/>
              <a:t>1/31/20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264913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28139C1-1262-42B4-8C9D-564A735A2FD1}" type="datetimeFigureOut">
              <a:rPr lang="en-US" smtClean="0"/>
              <a:t>1/31/20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8219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28139C1-1262-42B4-8C9D-564A735A2FD1}" type="datetimeFigureOut">
              <a:rPr lang="en-US" smtClean="0"/>
              <a:t>1/31/20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403379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28139C1-1262-42B4-8C9D-564A735A2FD1}" type="datetimeFigureOut">
              <a:rPr lang="en-US" smtClean="0"/>
              <a:t>1/31/20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179305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4885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6237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4828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1788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26996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8549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8139C1-1262-42B4-8C9D-564A735A2FD1}" type="datetimeFigureOut">
              <a:rPr lang="en-US" smtClean="0"/>
              <a:t>1/31/20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5949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20000"/>
          </a:blip>
          <a:srcRect/>
          <a:tile tx="0" ty="0" sx="100000" sy="100000" flip="none" algn="tl"/>
        </a:blipFill>
        <a:effectLst/>
      </p:bgPr>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8139C1-1262-42B4-8C9D-564A735A2FD1}" type="datetimeFigureOut">
              <a:rPr lang="en-US" smtClean="0"/>
              <a:t>1/31/20</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37BF610-71BB-45D1-8BAD-DB306F755D9B}" type="slidenum">
              <a:rPr lang="en-US" smtClean="0"/>
              <a:t>‹#›</a:t>
            </a:fld>
            <a:endParaRPr lang="en-US"/>
          </a:p>
        </p:txBody>
      </p:sp>
    </p:spTree>
    <p:extLst>
      <p:ext uri="{BB962C8B-B14F-4D97-AF65-F5344CB8AC3E}">
        <p14:creationId xmlns:p14="http://schemas.microsoft.com/office/powerpoint/2010/main" val="1164824427"/>
      </p:ext>
    </p:extLst>
  </p:cSld>
  <p:clrMap bg1="lt1" tx1="dk1" bg2="lt2" tx2="dk2" accent1="accent1" accent2="accent2" accent3="accent3" accent4="accent4" accent5="accent5" accent6="accent6" hlink="hlink" folHlink="folHlink"/>
  <p:sldLayoutIdLst>
    <p:sldLayoutId id="2147483931" r:id="rId1"/>
    <p:sldLayoutId id="2147483948"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2.jpe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22.jpe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jpeg"/><Relationship Id="rId7"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4.jpeg"/><Relationship Id="rId5" Type="http://schemas.openxmlformats.org/officeDocument/2006/relationships/image" Target="../media/image23.gif"/><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32.jpeg"/><Relationship Id="rId4" Type="http://schemas.openxmlformats.org/officeDocument/2006/relationships/image" Target="../media/image31.jpe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 Ratios</a:t>
            </a:r>
          </a:p>
        </p:txBody>
      </p:sp>
      <p:sp>
        <p:nvSpPr>
          <p:cNvPr id="5" name="Subtitle 4">
            <a:extLst>
              <a:ext uri="{FF2B5EF4-FFF2-40B4-BE49-F238E27FC236}">
                <a16:creationId xmlns:a16="http://schemas.microsoft.com/office/drawing/2014/main" id="{9E0DCD0E-30AE-419B-AD7D-A4A00A81707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44522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CE8E-7E94-49FB-AD69-D26DCEFF700B}"/>
              </a:ext>
            </a:extLst>
          </p:cNvPr>
          <p:cNvSpPr>
            <a:spLocks noGrp="1"/>
          </p:cNvSpPr>
          <p:nvPr>
            <p:ph type="title"/>
          </p:nvPr>
        </p:nvSpPr>
        <p:spPr/>
        <p:txBody>
          <a:bodyPr/>
          <a:lstStyle/>
          <a:p>
            <a:r>
              <a:rPr lang="en-US" dirty="0"/>
              <a:t>Storyboarding and Aspect Ratios</a:t>
            </a:r>
          </a:p>
        </p:txBody>
      </p:sp>
      <p:pic>
        <p:nvPicPr>
          <p:cNvPr id="2050" name="Picture 2" descr="Image result for disney storyboarding">
            <a:extLst>
              <a:ext uri="{FF2B5EF4-FFF2-40B4-BE49-F238E27FC236}">
                <a16:creationId xmlns:a16="http://schemas.microsoft.com/office/drawing/2014/main" id="{86ED091C-B3CB-419B-825B-05E462DC94E1}"/>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295403" y="2437736"/>
            <a:ext cx="4523506" cy="37318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349F9D-46E1-4513-BA17-0E48D5AD0DCD}"/>
              </a:ext>
            </a:extLst>
          </p:cNvPr>
          <p:cNvSpPr txBox="1"/>
          <p:nvPr/>
        </p:nvSpPr>
        <p:spPr>
          <a:xfrm>
            <a:off x="5818909" y="2578775"/>
            <a:ext cx="5077689"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mj-lt"/>
              </a:rPr>
              <a:t>Disney studios </a:t>
            </a:r>
            <a:r>
              <a:rPr lang="en-US" dirty="0"/>
              <a:t>first conceived of storyboards in the early 1930s, with rise of animated shorts.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Directors also relied on storyboard panels that were the same size, or aspect ratio of the movie screen.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Similar experiments by Edward Muybridge and others tied to photography.</a:t>
            </a:r>
          </a:p>
        </p:txBody>
      </p:sp>
    </p:spTree>
    <p:extLst>
      <p:ext uri="{BB962C8B-B14F-4D97-AF65-F5344CB8AC3E}">
        <p14:creationId xmlns:p14="http://schemas.microsoft.com/office/powerpoint/2010/main" val="3877801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7356764" y="2578775"/>
            <a:ext cx="3539834"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mj-lt"/>
              </a:rPr>
              <a:t>Lumiere Brothers </a:t>
            </a:r>
            <a:r>
              <a:rPr lang="en-US" dirty="0">
                <a:latin typeface="+mj-lt"/>
              </a:rPr>
              <a:t>were credited  with the first cinematic screening in 1895</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Considered recordings </a:t>
            </a:r>
            <a:r>
              <a:rPr lang="en-US" b="1" dirty="0">
                <a:latin typeface="+mj-lt"/>
              </a:rPr>
              <a:t>scientific observation.</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Similar experiments by Edward Muybridge and others tied to photography.</a:t>
            </a:r>
          </a:p>
        </p:txBody>
      </p:sp>
      <p:pic>
        <p:nvPicPr>
          <p:cNvPr id="1028" name="Picture 4" descr="Image result for lumiere brothers train 1895">
            <a:extLst>
              <a:ext uri="{FF2B5EF4-FFF2-40B4-BE49-F238E27FC236}">
                <a16:creationId xmlns:a16="http://schemas.microsoft.com/office/drawing/2014/main" id="{3D80B748-6BA1-43DB-8906-024195618B6D}"/>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295402" y="2557993"/>
            <a:ext cx="5898444"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841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Early History of the Storyboard </a:t>
            </a:r>
          </a:p>
        </p:txBody>
      </p:sp>
      <p:pic>
        <p:nvPicPr>
          <p:cNvPr id="1026" name="Picture 2" descr="Image result for lumiere brothers">
            <a:extLst>
              <a:ext uri="{FF2B5EF4-FFF2-40B4-BE49-F238E27FC236}">
                <a16:creationId xmlns:a16="http://schemas.microsoft.com/office/drawing/2014/main" id="{E9F6D102-56AE-41C9-A2A1-DE3182B106CE}"/>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295402" y="2557993"/>
            <a:ext cx="5898444" cy="3317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5538E9-5B1C-4EE2-A577-10786CD63BF5}"/>
              </a:ext>
            </a:extLst>
          </p:cNvPr>
          <p:cNvSpPr txBox="1"/>
          <p:nvPr/>
        </p:nvSpPr>
        <p:spPr>
          <a:xfrm>
            <a:off x="7460672" y="2568384"/>
            <a:ext cx="3761509"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George </a:t>
            </a:r>
            <a:r>
              <a:rPr lang="en-US" b="1" dirty="0" err="1"/>
              <a:t>Melies</a:t>
            </a:r>
            <a:r>
              <a:rPr lang="en-US" dirty="0"/>
              <a:t>, magician by trade used film to document his magic tricks.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1902 film “</a:t>
            </a:r>
            <a:r>
              <a:rPr lang="en-US" b="1" dirty="0"/>
              <a:t>A Trip to the Moon</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Film does not document, but tells fictional story about explorers landing on moon.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One of first uses of film as </a:t>
            </a:r>
            <a:r>
              <a:rPr lang="en-US" b="1" i="1" dirty="0"/>
              <a:t>art</a:t>
            </a:r>
            <a:r>
              <a:rPr lang="en-US" dirty="0"/>
              <a:t>.</a:t>
            </a:r>
          </a:p>
        </p:txBody>
      </p:sp>
    </p:spTree>
    <p:extLst>
      <p:ext uri="{BB962C8B-B14F-4D97-AF65-F5344CB8AC3E}">
        <p14:creationId xmlns:p14="http://schemas.microsoft.com/office/powerpoint/2010/main" val="1569977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9382992" y="2568384"/>
            <a:ext cx="2140526"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Sergei Eisenstein</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Cecil B. DeMille </a:t>
            </a:r>
          </a:p>
          <a:p>
            <a:pPr marL="285750" indent="-285750">
              <a:buFont typeface="Arial" panose="020B0604020202020204" pitchFamily="34" charset="0"/>
              <a:buChar char="•"/>
            </a:pPr>
            <a:endParaRPr lang="en-US" b="1" dirty="0"/>
          </a:p>
          <a:p>
            <a:pPr algn="ctr"/>
            <a:r>
              <a:rPr lang="en-US" dirty="0"/>
              <a:t>used artist sketches to develop story ideas.</a:t>
            </a:r>
          </a:p>
        </p:txBody>
      </p:sp>
      <p:sp>
        <p:nvSpPr>
          <p:cNvPr id="5" name="Content Placeholder 4">
            <a:extLst>
              <a:ext uri="{FF2B5EF4-FFF2-40B4-BE49-F238E27FC236}">
                <a16:creationId xmlns:a16="http://schemas.microsoft.com/office/drawing/2014/main" id="{AB8B7F2F-75AC-48F9-9EBB-9E4E95C3A3AF}"/>
              </a:ext>
            </a:extLst>
          </p:cNvPr>
          <p:cNvSpPr>
            <a:spLocks noGrp="1"/>
          </p:cNvSpPr>
          <p:nvPr>
            <p:ph idx="1"/>
          </p:nvPr>
        </p:nvSpPr>
        <p:spPr>
          <a:xfrm>
            <a:off x="1295401" y="2556932"/>
            <a:ext cx="4112918" cy="3318936"/>
          </a:xfrm>
        </p:spPr>
        <p:txBody>
          <a:bodyPr/>
          <a:lstStyle/>
          <a:p>
            <a:endParaRPr lang="en-US" dirty="0"/>
          </a:p>
        </p:txBody>
      </p:sp>
      <p:pic>
        <p:nvPicPr>
          <p:cNvPr id="5122" name="Picture 2" descr="Image result for sergei eisenstein">
            <a:extLst>
              <a:ext uri="{FF2B5EF4-FFF2-40B4-BE49-F238E27FC236}">
                <a16:creationId xmlns:a16="http://schemas.microsoft.com/office/drawing/2014/main" id="{C7703CB3-1E48-47CF-8139-AF8BBCF8E7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1" y="2568384"/>
            <a:ext cx="3816926" cy="306945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cecil b. demille storyboarding">
            <a:extLst>
              <a:ext uri="{FF2B5EF4-FFF2-40B4-BE49-F238E27FC236}">
                <a16:creationId xmlns:a16="http://schemas.microsoft.com/office/drawing/2014/main" id="{1DAC5060-937E-4544-895F-63A8DDD886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444" r="16293"/>
          <a:stretch/>
        </p:blipFill>
        <p:spPr bwMode="auto">
          <a:xfrm>
            <a:off x="5112327" y="2568384"/>
            <a:ext cx="4143120" cy="309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689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9382992" y="2568384"/>
            <a:ext cx="2140526"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Sergei Eisenstein</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Created several of his own sketches before making </a:t>
            </a:r>
            <a:r>
              <a:rPr lang="en-US" b="1" dirty="0"/>
              <a:t>Battleship Potemkin </a:t>
            </a:r>
            <a:r>
              <a:rPr lang="en-US" dirty="0"/>
              <a:t>(1925)</a:t>
            </a:r>
          </a:p>
        </p:txBody>
      </p:sp>
      <p:sp>
        <p:nvSpPr>
          <p:cNvPr id="5" name="Content Placeholder 4">
            <a:extLst>
              <a:ext uri="{FF2B5EF4-FFF2-40B4-BE49-F238E27FC236}">
                <a16:creationId xmlns:a16="http://schemas.microsoft.com/office/drawing/2014/main" id="{AB8B7F2F-75AC-48F9-9EBB-9E4E95C3A3AF}"/>
              </a:ext>
            </a:extLst>
          </p:cNvPr>
          <p:cNvSpPr>
            <a:spLocks noGrp="1"/>
          </p:cNvSpPr>
          <p:nvPr>
            <p:ph idx="1"/>
          </p:nvPr>
        </p:nvSpPr>
        <p:spPr>
          <a:xfrm>
            <a:off x="1295401" y="2556932"/>
            <a:ext cx="4112918" cy="3318936"/>
          </a:xfrm>
        </p:spPr>
        <p:txBody>
          <a:bodyPr/>
          <a:lstStyle/>
          <a:p>
            <a:endParaRPr lang="en-US" dirty="0"/>
          </a:p>
        </p:txBody>
      </p:sp>
      <p:pic>
        <p:nvPicPr>
          <p:cNvPr id="5122" name="Picture 2" descr="Image result for sergei eisenstein">
            <a:extLst>
              <a:ext uri="{FF2B5EF4-FFF2-40B4-BE49-F238E27FC236}">
                <a16:creationId xmlns:a16="http://schemas.microsoft.com/office/drawing/2014/main" id="{C7703CB3-1E48-47CF-8139-AF8BBCF8E7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1" y="2568384"/>
            <a:ext cx="3816926" cy="306945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cecil b. demille storyboarding">
            <a:extLst>
              <a:ext uri="{FF2B5EF4-FFF2-40B4-BE49-F238E27FC236}">
                <a16:creationId xmlns:a16="http://schemas.microsoft.com/office/drawing/2014/main" id="{1DAC5060-937E-4544-895F-63A8DDD886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444" r="16293"/>
          <a:stretch/>
        </p:blipFill>
        <p:spPr bwMode="auto">
          <a:xfrm>
            <a:off x="5112327" y="2568384"/>
            <a:ext cx="4143120" cy="309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578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9255447" y="2568384"/>
            <a:ext cx="2486279"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Cecil B. DeMille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Dan Sayre Groesbeck </a:t>
            </a:r>
            <a:r>
              <a:rPr lang="en-US" dirty="0"/>
              <a:t>helped DeMille visualize sequences for </a:t>
            </a:r>
            <a:r>
              <a:rPr lang="en-US" b="1" dirty="0"/>
              <a:t>The Ten Commandments </a:t>
            </a:r>
            <a:r>
              <a:rPr lang="en-US" dirty="0"/>
              <a:t>(1923)</a:t>
            </a:r>
          </a:p>
        </p:txBody>
      </p:sp>
      <p:sp>
        <p:nvSpPr>
          <p:cNvPr id="5" name="Content Placeholder 4">
            <a:extLst>
              <a:ext uri="{FF2B5EF4-FFF2-40B4-BE49-F238E27FC236}">
                <a16:creationId xmlns:a16="http://schemas.microsoft.com/office/drawing/2014/main" id="{AB8B7F2F-75AC-48F9-9EBB-9E4E95C3A3AF}"/>
              </a:ext>
            </a:extLst>
          </p:cNvPr>
          <p:cNvSpPr>
            <a:spLocks noGrp="1"/>
          </p:cNvSpPr>
          <p:nvPr>
            <p:ph idx="1"/>
          </p:nvPr>
        </p:nvSpPr>
        <p:spPr>
          <a:xfrm>
            <a:off x="1295401" y="2556932"/>
            <a:ext cx="4112918" cy="3318936"/>
          </a:xfrm>
        </p:spPr>
        <p:txBody>
          <a:bodyPr/>
          <a:lstStyle/>
          <a:p>
            <a:endParaRPr lang="en-US" dirty="0"/>
          </a:p>
        </p:txBody>
      </p:sp>
      <p:pic>
        <p:nvPicPr>
          <p:cNvPr id="5122" name="Picture 2" descr="Image result for sergei eisenstein">
            <a:extLst>
              <a:ext uri="{FF2B5EF4-FFF2-40B4-BE49-F238E27FC236}">
                <a16:creationId xmlns:a16="http://schemas.microsoft.com/office/drawing/2014/main" id="{C7703CB3-1E48-47CF-8139-AF8BBCF8E7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1" y="2568384"/>
            <a:ext cx="3816926" cy="306945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cecil b. demille storyboarding">
            <a:extLst>
              <a:ext uri="{FF2B5EF4-FFF2-40B4-BE49-F238E27FC236}">
                <a16:creationId xmlns:a16="http://schemas.microsoft.com/office/drawing/2014/main" id="{1DAC5060-937E-4544-895F-63A8DDD886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444" r="16293"/>
          <a:stretch/>
        </p:blipFill>
        <p:spPr bwMode="auto">
          <a:xfrm>
            <a:off x="5112327" y="2568384"/>
            <a:ext cx="4143120" cy="309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14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Modern Storyboards evolved more through animation.</a:t>
            </a:r>
          </a:p>
          <a:p>
            <a:pPr marL="285750" indent="-285750">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In beginning, animation </a:t>
            </a:r>
            <a:r>
              <a:rPr lang="en-US" sz="1600" dirty="0"/>
              <a:t>studios relied </a:t>
            </a:r>
            <a:r>
              <a:rPr lang="en-US" sz="1600" i="1" dirty="0"/>
              <a:t>purely on their artists</a:t>
            </a:r>
            <a:r>
              <a:rPr lang="en-US" sz="1600" dirty="0"/>
              <a:t> to generate story ideas. </a:t>
            </a:r>
          </a:p>
          <a:p>
            <a:pPr marL="285750" indent="-285750">
              <a:spcBef>
                <a:spcPct val="20000"/>
              </a:spcBef>
              <a:spcAft>
                <a:spcPts val="600"/>
              </a:spcAft>
              <a:buClr>
                <a:schemeClr val="accent1"/>
              </a:buClr>
              <a:buSzPct val="115000"/>
              <a:buFont typeface="Arial"/>
              <a:buChar char="•"/>
            </a:pPr>
            <a:endParaRPr lang="en-US" sz="1600" dirty="0"/>
          </a:p>
          <a:p>
            <a:pPr marL="285750" indent="-285750">
              <a:spcBef>
                <a:spcPct val="20000"/>
              </a:spcBef>
              <a:spcAft>
                <a:spcPts val="600"/>
              </a:spcAft>
              <a:buClr>
                <a:schemeClr val="accent1"/>
              </a:buClr>
              <a:buSzPct val="115000"/>
              <a:buFont typeface="Arial"/>
              <a:buChar char="•"/>
            </a:pPr>
            <a:endParaRPr lang="en-US" sz="1600" dirty="0"/>
          </a:p>
          <a:p>
            <a:pPr marL="285750" indent="-285750">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p:txBody>
      </p:sp>
      <p:pic>
        <p:nvPicPr>
          <p:cNvPr id="6146" name="Picture 2" descr="Image result for gertie the dinosaur">
            <a:extLst>
              <a:ext uri="{FF2B5EF4-FFF2-40B4-BE49-F238E27FC236}">
                <a16:creationId xmlns:a16="http://schemas.microsoft.com/office/drawing/2014/main" id="{93F83F03-341D-4097-A0C4-56300649CAA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27132" y="1581002"/>
            <a:ext cx="5469466" cy="3076574"/>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2753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Animators were responsible for cartoons, which were simple </a:t>
            </a:r>
            <a:r>
              <a:rPr lang="en-US" sz="1600" i="1" dirty="0">
                <a:solidFill>
                  <a:schemeClr val="tx1">
                    <a:lumMod val="85000"/>
                    <a:lumOff val="15000"/>
                  </a:schemeClr>
                </a:solidFill>
              </a:rPr>
              <a:t>gags and jokes </a:t>
            </a:r>
            <a:r>
              <a:rPr lang="en-US" sz="1600" dirty="0">
                <a:solidFill>
                  <a:schemeClr val="tx1">
                    <a:lumMod val="85000"/>
                    <a:lumOff val="15000"/>
                  </a:schemeClr>
                </a:solidFill>
              </a:rPr>
              <a:t>that revolved around the theme.</a:t>
            </a:r>
          </a:p>
          <a:p>
            <a:pPr marL="285750" indent="-285750">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a:p>
            <a:pPr marL="285750" indent="-285750">
              <a:spcBef>
                <a:spcPct val="20000"/>
              </a:spcBef>
              <a:spcAft>
                <a:spcPts val="600"/>
              </a:spcAft>
              <a:buClr>
                <a:schemeClr val="accent1"/>
              </a:buClr>
              <a:buSzPct val="115000"/>
              <a:buFont typeface="Arial"/>
              <a:buChar char="•"/>
            </a:pPr>
            <a:r>
              <a:rPr lang="en-US" sz="1600" b="1" dirty="0">
                <a:solidFill>
                  <a:schemeClr val="tx1">
                    <a:lumMod val="85000"/>
                    <a:lumOff val="15000"/>
                  </a:schemeClr>
                </a:solidFill>
              </a:rPr>
              <a:t>Winsor </a:t>
            </a:r>
            <a:r>
              <a:rPr lang="en-US" sz="1600" b="1" dirty="0" err="1">
                <a:solidFill>
                  <a:schemeClr val="tx1">
                    <a:lumMod val="85000"/>
                    <a:lumOff val="15000"/>
                  </a:schemeClr>
                </a:solidFill>
              </a:rPr>
              <a:t>McCay</a:t>
            </a:r>
            <a:r>
              <a:rPr lang="en-US" sz="1600" b="1" dirty="0">
                <a:solidFill>
                  <a:schemeClr val="tx1">
                    <a:lumMod val="85000"/>
                    <a:lumOff val="15000"/>
                  </a:schemeClr>
                </a:solidFill>
              </a:rPr>
              <a:t> </a:t>
            </a:r>
            <a:r>
              <a:rPr lang="en-US" sz="1600" dirty="0">
                <a:solidFill>
                  <a:schemeClr val="tx1">
                    <a:lumMod val="85000"/>
                    <a:lumOff val="15000"/>
                  </a:schemeClr>
                </a:solidFill>
              </a:rPr>
              <a:t>helped popularize animation by turning his newspaper strip, essentially a short gag, into a moving animation.</a:t>
            </a:r>
            <a:endParaRPr lang="en-US" sz="1600" dirty="0"/>
          </a:p>
          <a:p>
            <a:pPr marL="285750" indent="-285750">
              <a:spcBef>
                <a:spcPct val="20000"/>
              </a:spcBef>
              <a:spcAft>
                <a:spcPts val="600"/>
              </a:spcAft>
              <a:buClr>
                <a:schemeClr val="accent1"/>
              </a:buClr>
              <a:buSzPct val="115000"/>
              <a:buFont typeface="Arial"/>
              <a:buChar char="•"/>
            </a:pPr>
            <a:endParaRPr lang="en-US" sz="1600" dirty="0"/>
          </a:p>
          <a:p>
            <a:pPr marL="285750" indent="-285750">
              <a:spcBef>
                <a:spcPct val="20000"/>
              </a:spcBef>
              <a:spcAft>
                <a:spcPts val="600"/>
              </a:spcAft>
              <a:buClr>
                <a:schemeClr val="accent1"/>
              </a:buClr>
              <a:buSzPct val="115000"/>
              <a:buFont typeface="Arial"/>
              <a:buChar char="•"/>
            </a:pPr>
            <a:endParaRPr lang="en-US" sz="1600" dirty="0"/>
          </a:p>
          <a:p>
            <a:pPr marL="285750" indent="-285750">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p:txBody>
      </p:sp>
      <p:pic>
        <p:nvPicPr>
          <p:cNvPr id="6146" name="Picture 2" descr="Image result for gertie the dinosaur">
            <a:extLst>
              <a:ext uri="{FF2B5EF4-FFF2-40B4-BE49-F238E27FC236}">
                <a16:creationId xmlns:a16="http://schemas.microsoft.com/office/drawing/2014/main" id="{93F83F03-341D-4097-A0C4-56300649CAA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27132" y="1581002"/>
            <a:ext cx="5469466" cy="3076574"/>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115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4000499"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t>Cartoonist friend Ed McMahon bet McKay that he could not “bring a dinosaur to life”. </a:t>
            </a:r>
          </a:p>
          <a:p>
            <a:pPr marL="285750" indent="-285750">
              <a:spcBef>
                <a:spcPct val="20000"/>
              </a:spcBef>
              <a:spcAft>
                <a:spcPts val="600"/>
              </a:spcAft>
              <a:buClr>
                <a:schemeClr val="accent1"/>
              </a:buClr>
              <a:buSzPct val="115000"/>
              <a:buFont typeface="Arial"/>
              <a:buChar char="•"/>
            </a:pPr>
            <a:r>
              <a:rPr lang="en-US" sz="1600" dirty="0"/>
              <a:t>Gertie like so many animations to follow was an experiment in motion rather than a fully-formed story with a </a:t>
            </a:r>
            <a:r>
              <a:rPr lang="en-US" sz="1600" b="1" dirty="0"/>
              <a:t>beginning</a:t>
            </a:r>
            <a:r>
              <a:rPr lang="en-US" sz="1600" dirty="0"/>
              <a:t>, </a:t>
            </a:r>
            <a:r>
              <a:rPr lang="en-US" sz="1600" b="1" dirty="0"/>
              <a:t>middle</a:t>
            </a:r>
            <a:r>
              <a:rPr lang="en-US" sz="1600" dirty="0"/>
              <a:t>, and </a:t>
            </a:r>
            <a:r>
              <a:rPr lang="en-US" sz="1600" b="1" dirty="0"/>
              <a:t>end</a:t>
            </a:r>
            <a:r>
              <a:rPr lang="en-US" sz="1600" dirty="0"/>
              <a:t>. </a:t>
            </a:r>
            <a:endParaRPr lang="en-US" sz="1600" dirty="0">
              <a:solidFill>
                <a:schemeClr val="tx1">
                  <a:lumMod val="85000"/>
                  <a:lumOff val="15000"/>
                </a:schemeClr>
              </a:solidFill>
            </a:endParaRPr>
          </a:p>
        </p:txBody>
      </p:sp>
      <p:pic>
        <p:nvPicPr>
          <p:cNvPr id="6146" name="Picture 2" descr="Image result for gertie the dinosaur">
            <a:extLst>
              <a:ext uri="{FF2B5EF4-FFF2-40B4-BE49-F238E27FC236}">
                <a16:creationId xmlns:a16="http://schemas.microsoft.com/office/drawing/2014/main" id="{93F83F03-341D-4097-A0C4-56300649CAA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27132" y="1581002"/>
            <a:ext cx="5469466" cy="3076574"/>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730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endParaRPr lang="en-US" sz="2400" dirty="0"/>
          </a:p>
        </p:txBody>
      </p:sp>
      <p:sp>
        <p:nvSpPr>
          <p:cNvPr id="4" name="TextBox 3">
            <a:extLst>
              <a:ext uri="{FF2B5EF4-FFF2-40B4-BE49-F238E27FC236}">
                <a16:creationId xmlns:a16="http://schemas.microsoft.com/office/drawing/2014/main" id="{A25538E9-5B1C-4EE2-A577-10786CD63BF5}"/>
              </a:ext>
            </a:extLst>
          </p:cNvPr>
          <p:cNvSpPr txBox="1"/>
          <p:nvPr/>
        </p:nvSpPr>
        <p:spPr>
          <a:xfrm>
            <a:off x="1092201" y="2493773"/>
            <a:ext cx="3467099" cy="3602221"/>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b="1" dirty="0"/>
              <a:t>Max and Dave Fleischer </a:t>
            </a:r>
            <a:r>
              <a:rPr lang="en-US" sz="1600" dirty="0"/>
              <a:t>– creators of Betty </a:t>
            </a:r>
            <a:r>
              <a:rPr lang="en-US" sz="1600" dirty="0" err="1"/>
              <a:t>Boop</a:t>
            </a:r>
            <a:r>
              <a:rPr lang="en-US" sz="1600" dirty="0"/>
              <a:t>, were among the most successful of these early animators in the 20s and 30s.</a:t>
            </a:r>
          </a:p>
          <a:p>
            <a:pPr marL="285750" indent="-285750">
              <a:spcBef>
                <a:spcPct val="20000"/>
              </a:spcBef>
              <a:spcAft>
                <a:spcPts val="600"/>
              </a:spcAft>
              <a:buClr>
                <a:schemeClr val="accent1"/>
              </a:buClr>
              <a:buSzPct val="115000"/>
              <a:buFont typeface="Arial"/>
              <a:buChar char="•"/>
            </a:pPr>
            <a:r>
              <a:rPr lang="en-US" sz="1600" dirty="0" err="1"/>
              <a:t>Fleischers</a:t>
            </a:r>
            <a:r>
              <a:rPr lang="en-US" sz="1600" dirty="0"/>
              <a:t> </a:t>
            </a:r>
            <a:r>
              <a:rPr lang="en-US" sz="1600" b="1" dirty="0"/>
              <a:t>did not use script</a:t>
            </a:r>
            <a:r>
              <a:rPr lang="en-US" sz="1600" dirty="0"/>
              <a:t>. Ideas were added through suggestion of gags every morning.</a:t>
            </a:r>
            <a:endParaRPr lang="en-US" sz="1600" dirty="0">
              <a:solidFill>
                <a:schemeClr val="tx1">
                  <a:lumMod val="85000"/>
                  <a:lumOff val="15000"/>
                </a:schemeClr>
              </a:solidFill>
            </a:endParaRPr>
          </a:p>
        </p:txBody>
      </p:sp>
      <p:pic>
        <p:nvPicPr>
          <p:cNvPr id="1030" name="Picture 6" descr="Image result for max and dave fleischer">
            <a:extLst>
              <a:ext uri="{FF2B5EF4-FFF2-40B4-BE49-F238E27FC236}">
                <a16:creationId xmlns:a16="http://schemas.microsoft.com/office/drawing/2014/main" id="{F361FDC1-268E-4FF2-990A-13A8CB55D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458" y="1585190"/>
            <a:ext cx="6224281" cy="3501157"/>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14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7535825" y="982132"/>
            <a:ext cx="3360772" cy="1303867"/>
          </a:xfrm>
        </p:spPr>
        <p:txBody>
          <a:bodyPr vert="horz" lIns="91440" tIns="45720" rIns="91440" bIns="45720" rtlCol="0" anchor="ctr">
            <a:normAutofit/>
          </a:bodyPr>
          <a:lstStyle/>
          <a:p>
            <a:pPr>
              <a:lnSpc>
                <a:spcPct val="90000"/>
              </a:lnSpc>
            </a:pPr>
            <a:r>
              <a:rPr lang="en-US" sz="3400"/>
              <a:t>Early History of the Storyboard </a:t>
            </a:r>
          </a:p>
        </p:txBody>
      </p:sp>
      <p:pic>
        <p:nvPicPr>
          <p:cNvPr id="1026" name="Picture 2" descr="Image result for walt disney cartoonland">
            <a:extLst>
              <a:ext uri="{FF2B5EF4-FFF2-40B4-BE49-F238E27FC236}">
                <a16:creationId xmlns:a16="http://schemas.microsoft.com/office/drawing/2014/main" id="{A363BADD-3034-4D0E-A015-734AB79B0E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26"/>
          <a:stretch/>
        </p:blipFill>
        <p:spPr bwMode="auto">
          <a:xfrm>
            <a:off x="1541016" y="1420362"/>
            <a:ext cx="5045940" cy="38587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5538E9-5B1C-4EE2-A577-10786CD63BF5}"/>
              </a:ext>
            </a:extLst>
          </p:cNvPr>
          <p:cNvSpPr txBox="1"/>
          <p:nvPr/>
        </p:nvSpPr>
        <p:spPr>
          <a:xfrm>
            <a:off x="7535824" y="2556932"/>
            <a:ext cx="3360771" cy="3318936"/>
          </a:xfrm>
          <a:prstGeom prst="rect">
            <a:avLst/>
          </a:prstGeom>
        </p:spPr>
        <p:txBody>
          <a:bodyPr vert="horz" lIns="91440" tIns="45720" rIns="91440" bIns="45720" rtlCol="0" anchor="t">
            <a:normAutofit/>
          </a:bodyPr>
          <a:lstStyle/>
          <a:p>
            <a:pPr marL="285750" indent="-285750">
              <a:lnSpc>
                <a:spcPct val="90000"/>
              </a:lnSpc>
              <a:spcBef>
                <a:spcPct val="20000"/>
              </a:spcBef>
              <a:spcAft>
                <a:spcPts val="600"/>
              </a:spcAft>
              <a:buClr>
                <a:schemeClr val="accent1"/>
              </a:buClr>
              <a:buSzPct val="115000"/>
              <a:buFont typeface="Arial"/>
              <a:buChar char="•"/>
            </a:pPr>
            <a:r>
              <a:rPr lang="en-US" sz="1700" b="1" dirty="0">
                <a:solidFill>
                  <a:schemeClr val="tx1">
                    <a:lumMod val="85000"/>
                    <a:lumOff val="15000"/>
                  </a:schemeClr>
                </a:solidFill>
              </a:rPr>
              <a:t>Walt Disney</a:t>
            </a:r>
            <a:r>
              <a:rPr lang="en-US" sz="1700" dirty="0">
                <a:solidFill>
                  <a:schemeClr val="tx1">
                    <a:lumMod val="85000"/>
                    <a:lumOff val="15000"/>
                  </a:schemeClr>
                </a:solidFill>
              </a:rPr>
              <a:t> was influenced by Fleischer and </a:t>
            </a:r>
            <a:r>
              <a:rPr lang="en-US" sz="1700" dirty="0" err="1">
                <a:solidFill>
                  <a:schemeClr val="tx1">
                    <a:lumMod val="85000"/>
                    <a:lumOff val="15000"/>
                  </a:schemeClr>
                </a:solidFill>
              </a:rPr>
              <a:t>McCay</a:t>
            </a:r>
            <a:r>
              <a:rPr lang="en-US" sz="1700" dirty="0">
                <a:solidFill>
                  <a:schemeClr val="tx1">
                    <a:lumMod val="85000"/>
                    <a:lumOff val="15000"/>
                  </a:schemeClr>
                </a:solidFill>
              </a:rPr>
              <a:t>.</a:t>
            </a:r>
          </a:p>
          <a:p>
            <a:pPr marL="285750" indent="-285750">
              <a:lnSpc>
                <a:spcPct val="90000"/>
              </a:lnSpc>
              <a:spcBef>
                <a:spcPct val="20000"/>
              </a:spcBef>
              <a:spcAft>
                <a:spcPts val="600"/>
              </a:spcAft>
              <a:buClr>
                <a:schemeClr val="accent1"/>
              </a:buClr>
              <a:buSzPct val="115000"/>
              <a:buFont typeface="Arial"/>
              <a:buChar char="•"/>
            </a:pPr>
            <a:endParaRPr lang="en-US" sz="1700" dirty="0">
              <a:solidFill>
                <a:schemeClr val="tx1">
                  <a:lumMod val="85000"/>
                  <a:lumOff val="15000"/>
                </a:schemeClr>
              </a:solidFill>
            </a:endParaRPr>
          </a:p>
          <a:p>
            <a:pPr marL="285750" indent="-285750">
              <a:lnSpc>
                <a:spcPct val="90000"/>
              </a:lnSpc>
              <a:spcBef>
                <a:spcPct val="20000"/>
              </a:spcBef>
              <a:spcAft>
                <a:spcPts val="600"/>
              </a:spcAft>
              <a:buClr>
                <a:schemeClr val="accent1"/>
              </a:buClr>
              <a:buSzPct val="115000"/>
              <a:buFont typeface="Arial"/>
              <a:buChar char="•"/>
            </a:pPr>
            <a:r>
              <a:rPr lang="en-US" sz="1700" dirty="0">
                <a:solidFill>
                  <a:schemeClr val="tx1">
                    <a:lumMod val="85000"/>
                    <a:lumOff val="15000"/>
                  </a:schemeClr>
                </a:solidFill>
              </a:rPr>
              <a:t>Also influenced by live action such as </a:t>
            </a:r>
            <a:r>
              <a:rPr lang="en-US" sz="1700" b="1" i="1" dirty="0">
                <a:solidFill>
                  <a:schemeClr val="tx1">
                    <a:lumMod val="85000"/>
                    <a:lumOff val="15000"/>
                  </a:schemeClr>
                </a:solidFill>
              </a:rPr>
              <a:t>Charlie Chaplin </a:t>
            </a:r>
            <a:r>
              <a:rPr lang="en-US" sz="1700" i="1" dirty="0">
                <a:solidFill>
                  <a:schemeClr val="tx1">
                    <a:lumMod val="85000"/>
                    <a:lumOff val="15000"/>
                  </a:schemeClr>
                </a:solidFill>
              </a:rPr>
              <a:t>and</a:t>
            </a:r>
            <a:r>
              <a:rPr lang="en-US" sz="1700" b="1" i="1" dirty="0">
                <a:solidFill>
                  <a:schemeClr val="tx1">
                    <a:lumMod val="85000"/>
                    <a:lumOff val="15000"/>
                  </a:schemeClr>
                </a:solidFill>
              </a:rPr>
              <a:t> Buster Keaton</a:t>
            </a:r>
            <a:r>
              <a:rPr lang="en-US" sz="1700" dirty="0">
                <a:solidFill>
                  <a:schemeClr val="tx1">
                    <a:lumMod val="85000"/>
                    <a:lumOff val="15000"/>
                  </a:schemeClr>
                </a:solidFill>
              </a:rPr>
              <a:t>.</a:t>
            </a:r>
          </a:p>
          <a:p>
            <a:pPr marL="285750" indent="-285750">
              <a:lnSpc>
                <a:spcPct val="90000"/>
              </a:lnSpc>
              <a:spcBef>
                <a:spcPct val="20000"/>
              </a:spcBef>
              <a:spcAft>
                <a:spcPts val="600"/>
              </a:spcAft>
              <a:buClr>
                <a:schemeClr val="accent1"/>
              </a:buClr>
              <a:buSzPct val="115000"/>
              <a:buFont typeface="Arial"/>
              <a:buChar char="•"/>
            </a:pPr>
            <a:endParaRPr lang="en-US" sz="1700" dirty="0">
              <a:solidFill>
                <a:schemeClr val="tx1">
                  <a:lumMod val="85000"/>
                  <a:lumOff val="15000"/>
                </a:schemeClr>
              </a:solidFill>
            </a:endParaRPr>
          </a:p>
          <a:p>
            <a:pPr marL="285750" indent="-285750">
              <a:lnSpc>
                <a:spcPct val="90000"/>
              </a:lnSpc>
              <a:spcBef>
                <a:spcPct val="20000"/>
              </a:spcBef>
              <a:spcAft>
                <a:spcPts val="600"/>
              </a:spcAft>
              <a:buClr>
                <a:schemeClr val="accent1"/>
              </a:buClr>
              <a:buSzPct val="115000"/>
              <a:buFont typeface="Arial"/>
              <a:buChar char="•"/>
            </a:pPr>
            <a:r>
              <a:rPr lang="en-US" sz="1700" dirty="0">
                <a:solidFill>
                  <a:schemeClr val="tx1">
                    <a:lumMod val="85000"/>
                    <a:lumOff val="15000"/>
                  </a:schemeClr>
                </a:solidFill>
              </a:rPr>
              <a:t>Disney studied the camera angles, camera movement, and timing from these films.</a:t>
            </a:r>
          </a:p>
        </p:txBody>
      </p:sp>
    </p:spTree>
    <p:extLst>
      <p:ext uri="{BB962C8B-B14F-4D97-AF65-F5344CB8AC3E}">
        <p14:creationId xmlns:p14="http://schemas.microsoft.com/office/powerpoint/2010/main" val="1322304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b="1" dirty="0">
                <a:solidFill>
                  <a:schemeClr val="tx1">
                    <a:lumMod val="85000"/>
                    <a:lumOff val="15000"/>
                  </a:schemeClr>
                </a:solidFill>
              </a:rPr>
              <a:t>Plane Crazy</a:t>
            </a:r>
            <a:r>
              <a:rPr lang="en-US" sz="1600" dirty="0">
                <a:solidFill>
                  <a:schemeClr val="tx1">
                    <a:lumMod val="85000"/>
                    <a:lumOff val="15000"/>
                  </a:schemeClr>
                </a:solidFill>
              </a:rPr>
              <a:t> features sketches that looked similar to comic strip.</a:t>
            </a:r>
          </a:p>
          <a:p>
            <a:pPr marL="285750" indent="-285750">
              <a:spcBef>
                <a:spcPct val="20000"/>
              </a:spcBef>
              <a:spcAft>
                <a:spcPts val="600"/>
              </a:spcAft>
              <a:buClr>
                <a:schemeClr val="accent1"/>
              </a:buClr>
              <a:buSzPct val="115000"/>
              <a:buFont typeface="Arial"/>
              <a:buChar char="•"/>
            </a:pPr>
            <a:r>
              <a:rPr lang="en-US" sz="1600" dirty="0"/>
              <a:t>The story sketches included </a:t>
            </a:r>
            <a:r>
              <a:rPr lang="en-US" sz="1600" b="1" dirty="0"/>
              <a:t>Dynamic Camera Angles</a:t>
            </a:r>
            <a:r>
              <a:rPr lang="en-US" sz="1600" dirty="0"/>
              <a:t>, </a:t>
            </a:r>
            <a:r>
              <a:rPr lang="en-US" sz="1600" b="1" dirty="0"/>
              <a:t>Framing</a:t>
            </a:r>
            <a:r>
              <a:rPr lang="en-US" sz="1600" dirty="0"/>
              <a:t>, and </a:t>
            </a:r>
            <a:r>
              <a:rPr lang="en-US" sz="1600" b="1" dirty="0"/>
              <a:t>character action</a:t>
            </a:r>
            <a:r>
              <a:rPr lang="en-US" sz="1600" dirty="0"/>
              <a:t>. </a:t>
            </a:r>
          </a:p>
          <a:p>
            <a:pPr marL="285750" indent="-285750">
              <a:spcBef>
                <a:spcPct val="20000"/>
              </a:spcBef>
              <a:spcAft>
                <a:spcPts val="600"/>
              </a:spcAft>
              <a:buClr>
                <a:schemeClr val="accent1"/>
              </a:buClr>
              <a:buSzPct val="115000"/>
              <a:buFont typeface="Arial"/>
              <a:buChar char="•"/>
            </a:pPr>
            <a:r>
              <a:rPr lang="en-US" sz="1600" dirty="0"/>
              <a:t>With the sketches were </a:t>
            </a:r>
            <a:r>
              <a:rPr lang="en-US" sz="1600" b="1" dirty="0"/>
              <a:t>action descriptions</a:t>
            </a:r>
            <a:r>
              <a:rPr lang="en-US" sz="1600" dirty="0"/>
              <a:t> for each scene, written out on separate piece of paper.</a:t>
            </a:r>
          </a:p>
        </p:txBody>
      </p:sp>
      <p:pic>
        <p:nvPicPr>
          <p:cNvPr id="2050" name="Picture 2" descr="Image result for plane crazy">
            <a:extLst>
              <a:ext uri="{FF2B5EF4-FFF2-40B4-BE49-F238E27FC236}">
                <a16:creationId xmlns:a16="http://schemas.microsoft.com/office/drawing/2014/main" id="{D16DFD92-0EC9-4AE5-A124-E12BA370E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668" y="1213865"/>
            <a:ext cx="5469466" cy="4430267"/>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901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Disney animators did both animation and gag development</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Disney soon realized need for </a:t>
            </a:r>
            <a:r>
              <a:rPr lang="en-US" sz="1600" b="1" dirty="0">
                <a:solidFill>
                  <a:schemeClr val="tx1">
                    <a:lumMod val="85000"/>
                    <a:lumOff val="15000"/>
                  </a:schemeClr>
                </a:solidFill>
              </a:rPr>
              <a:t>separate story department</a:t>
            </a:r>
            <a:r>
              <a:rPr lang="en-US" sz="1600" dirty="0">
                <a:solidFill>
                  <a:schemeClr val="tx1">
                    <a:lumMod val="85000"/>
                    <a:lumOff val="15000"/>
                  </a:schemeClr>
                </a:solidFill>
              </a:rPr>
              <a:t>.</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Instituting a story department changed the way the company wrote and </a:t>
            </a:r>
            <a:r>
              <a:rPr lang="en-US" sz="1600" b="1" dirty="0">
                <a:solidFill>
                  <a:schemeClr val="tx1">
                    <a:lumMod val="85000"/>
                    <a:lumOff val="15000"/>
                  </a:schemeClr>
                </a:solidFill>
              </a:rPr>
              <a:t>developed story ideas</a:t>
            </a:r>
            <a:r>
              <a:rPr lang="en-US" sz="1600" dirty="0">
                <a:solidFill>
                  <a:schemeClr val="tx1">
                    <a:lumMod val="85000"/>
                    <a:lumOff val="15000"/>
                  </a:schemeClr>
                </a:solidFill>
              </a:rPr>
              <a:t>, letting animators focus on animation.</a:t>
            </a:r>
          </a:p>
          <a:p>
            <a:pPr>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p:txBody>
      </p:sp>
      <p:pic>
        <p:nvPicPr>
          <p:cNvPr id="3074" name="Picture 2" descr="Image result for early disney storyboarding department">
            <a:extLst>
              <a:ext uri="{FF2B5EF4-FFF2-40B4-BE49-F238E27FC236}">
                <a16:creationId xmlns:a16="http://schemas.microsoft.com/office/drawing/2014/main" id="{EF1B5936-8C68-42A2-99B6-84274C4AF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668" y="1282233"/>
            <a:ext cx="5469466" cy="4293530"/>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738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With dedicated story department, stories became more complex and difficult to develop.</a:t>
            </a:r>
          </a:p>
          <a:p>
            <a:pPr marL="285750" indent="-285750">
              <a:spcBef>
                <a:spcPct val="20000"/>
              </a:spcBef>
              <a:spcAft>
                <a:spcPts val="600"/>
              </a:spcAft>
              <a:buClr>
                <a:schemeClr val="accent1"/>
              </a:buClr>
              <a:buSzPct val="115000"/>
              <a:buFont typeface="Arial"/>
              <a:buChar char="•"/>
            </a:pPr>
            <a:r>
              <a:rPr lang="en-US" sz="1600" dirty="0" err="1">
                <a:solidFill>
                  <a:schemeClr val="tx1">
                    <a:lumMod val="85000"/>
                    <a:lumOff val="15000"/>
                  </a:schemeClr>
                </a:solidFill>
              </a:rPr>
              <a:t>Storyman</a:t>
            </a:r>
            <a:r>
              <a:rPr lang="en-US" sz="1600" dirty="0">
                <a:solidFill>
                  <a:schemeClr val="tx1">
                    <a:lumMod val="85000"/>
                    <a:lumOff val="15000"/>
                  </a:schemeClr>
                </a:solidFill>
              </a:rPr>
              <a:t> </a:t>
            </a:r>
            <a:r>
              <a:rPr lang="en-US" sz="1600" b="1" dirty="0">
                <a:solidFill>
                  <a:schemeClr val="tx1">
                    <a:lumMod val="85000"/>
                    <a:lumOff val="15000"/>
                  </a:schemeClr>
                </a:solidFill>
              </a:rPr>
              <a:t>Webb Smith</a:t>
            </a:r>
            <a:r>
              <a:rPr lang="en-US" sz="1600" dirty="0">
                <a:solidFill>
                  <a:schemeClr val="tx1">
                    <a:lumMod val="85000"/>
                    <a:lumOff val="15000"/>
                  </a:schemeClr>
                </a:solidFill>
              </a:rPr>
              <a:t> had idea of </a:t>
            </a:r>
            <a:r>
              <a:rPr lang="en-US" sz="1600" b="1" dirty="0">
                <a:solidFill>
                  <a:schemeClr val="tx1">
                    <a:lumMod val="85000"/>
                    <a:lumOff val="15000"/>
                  </a:schemeClr>
                </a:solidFill>
              </a:rPr>
              <a:t>pinning sketches do dialogue wall</a:t>
            </a:r>
            <a:r>
              <a:rPr lang="en-US" sz="1600" dirty="0">
                <a:solidFill>
                  <a:schemeClr val="tx1">
                    <a:lumMod val="85000"/>
                    <a:lumOff val="15000"/>
                  </a:schemeClr>
                </a:solidFill>
              </a:rPr>
              <a:t> to show sequence.</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Smith would rework the sequence until continuity was achieved.</a:t>
            </a:r>
          </a:p>
          <a:p>
            <a:pPr>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p:txBody>
      </p:sp>
      <p:pic>
        <p:nvPicPr>
          <p:cNvPr id="3074" name="Picture 2" descr="Image result for early disney storyboarding department">
            <a:extLst>
              <a:ext uri="{FF2B5EF4-FFF2-40B4-BE49-F238E27FC236}">
                <a16:creationId xmlns:a16="http://schemas.microsoft.com/office/drawing/2014/main" id="{EF1B5936-8C68-42A2-99B6-84274C4AF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668" y="1282233"/>
            <a:ext cx="5469466" cy="4293530"/>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470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Early Disney storyboards were </a:t>
            </a:r>
            <a:r>
              <a:rPr lang="en-US" sz="1600" b="1" dirty="0">
                <a:solidFill>
                  <a:schemeClr val="tx1">
                    <a:lumMod val="85000"/>
                    <a:lumOff val="15000"/>
                  </a:schemeClr>
                </a:solidFill>
              </a:rPr>
              <a:t>collaborative </a:t>
            </a:r>
            <a:r>
              <a:rPr lang="en-US" sz="1600" dirty="0">
                <a:solidFill>
                  <a:schemeClr val="tx1">
                    <a:lumMod val="85000"/>
                    <a:lumOff val="15000"/>
                  </a:schemeClr>
                </a:solidFill>
              </a:rPr>
              <a:t>process between animator and writer, and had a lot of editing.</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Snow White used thousands of sketches in the storyboard, and used actors to aid with animation reference.</a:t>
            </a:r>
          </a:p>
          <a:p>
            <a:pPr>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p:txBody>
      </p:sp>
      <p:pic>
        <p:nvPicPr>
          <p:cNvPr id="3074" name="Picture 2" descr="Image result for early disney storyboarding department">
            <a:extLst>
              <a:ext uri="{FF2B5EF4-FFF2-40B4-BE49-F238E27FC236}">
                <a16:creationId xmlns:a16="http://schemas.microsoft.com/office/drawing/2014/main" id="{EF1B5936-8C68-42A2-99B6-84274C4AF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668" y="1282233"/>
            <a:ext cx="5469466" cy="4293530"/>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574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7535825" y="982132"/>
            <a:ext cx="3360772" cy="1303867"/>
          </a:xfrm>
        </p:spPr>
        <p:txBody>
          <a:bodyPr vert="horz" lIns="91440" tIns="45720" rIns="91440" bIns="45720" rtlCol="0" anchor="ctr">
            <a:normAutofit/>
          </a:bodyPr>
          <a:lstStyle/>
          <a:p>
            <a:pPr>
              <a:lnSpc>
                <a:spcPct val="90000"/>
              </a:lnSpc>
            </a:pPr>
            <a:r>
              <a:rPr lang="en-US" sz="3400"/>
              <a:t>Early History of the Storyboard </a:t>
            </a:r>
          </a:p>
        </p:txBody>
      </p:sp>
      <p:pic>
        <p:nvPicPr>
          <p:cNvPr id="4098" name="Picture 2" descr="William Cameron Menzies William Cameron Menzies and the Clumsy Sublime Graphic">
            <a:extLst>
              <a:ext uri="{FF2B5EF4-FFF2-40B4-BE49-F238E27FC236}">
                <a16:creationId xmlns:a16="http://schemas.microsoft.com/office/drawing/2014/main" id="{5338960B-447E-4791-873D-625C5CB663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70" r="1060" b="2"/>
          <a:stretch/>
        </p:blipFill>
        <p:spPr bwMode="auto">
          <a:xfrm>
            <a:off x="1412683" y="1410208"/>
            <a:ext cx="5278777" cy="38587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5538E9-5B1C-4EE2-A577-10786CD63BF5}"/>
              </a:ext>
            </a:extLst>
          </p:cNvPr>
          <p:cNvSpPr txBox="1"/>
          <p:nvPr/>
        </p:nvSpPr>
        <p:spPr>
          <a:xfrm>
            <a:off x="7520090" y="2556931"/>
            <a:ext cx="3743656" cy="3646439"/>
          </a:xfrm>
          <a:prstGeom prst="rect">
            <a:avLst/>
          </a:prstGeom>
        </p:spPr>
        <p:txBody>
          <a:bodyPr vert="horz" lIns="91440" tIns="45720" rIns="91440" bIns="45720" rtlCol="0" anchor="t">
            <a:normAutofit lnSpcReduction="10000"/>
          </a:bodyPr>
          <a:lstStyle/>
          <a:p>
            <a:pPr marL="285750" indent="-285750">
              <a:spcBef>
                <a:spcPct val="20000"/>
              </a:spcBef>
              <a:spcAft>
                <a:spcPts val="600"/>
              </a:spcAft>
              <a:buClr>
                <a:schemeClr val="accent1"/>
              </a:buClr>
              <a:buSzPct val="115000"/>
              <a:buFont typeface="Arial"/>
              <a:buChar char="•"/>
            </a:pPr>
            <a:r>
              <a:rPr lang="en-US" dirty="0">
                <a:solidFill>
                  <a:schemeClr val="tx1">
                    <a:lumMod val="85000"/>
                    <a:lumOff val="15000"/>
                  </a:schemeClr>
                </a:solidFill>
              </a:rPr>
              <a:t>Film studios soon took notice of storyboarding methods to plan film.</a:t>
            </a:r>
          </a:p>
          <a:p>
            <a:pPr marL="285750" indent="-285750">
              <a:spcBef>
                <a:spcPct val="20000"/>
              </a:spcBef>
              <a:spcAft>
                <a:spcPts val="600"/>
              </a:spcAft>
              <a:buClr>
                <a:schemeClr val="accent1"/>
              </a:buClr>
              <a:buSzPct val="115000"/>
              <a:buFont typeface="Arial"/>
              <a:buChar char="•"/>
            </a:pPr>
            <a:r>
              <a:rPr lang="en-US" dirty="0">
                <a:solidFill>
                  <a:schemeClr val="tx1">
                    <a:lumMod val="85000"/>
                    <a:lumOff val="15000"/>
                  </a:schemeClr>
                </a:solidFill>
              </a:rPr>
              <a:t>Citizen Kane used storyboards for complex sequences.</a:t>
            </a:r>
          </a:p>
          <a:p>
            <a:pPr marL="285750" indent="-285750">
              <a:spcBef>
                <a:spcPct val="20000"/>
              </a:spcBef>
              <a:spcAft>
                <a:spcPts val="600"/>
              </a:spcAft>
              <a:buClr>
                <a:schemeClr val="accent1"/>
              </a:buClr>
              <a:buSzPct val="115000"/>
              <a:buFont typeface="Arial"/>
              <a:buChar char="•"/>
            </a:pPr>
            <a:r>
              <a:rPr lang="en-US" dirty="0"/>
              <a:t>William Cameron Menzies helped storyboard many popular films such as Gone With the Wind, focusing on framing, camera movement and </a:t>
            </a:r>
            <a:r>
              <a:rPr lang="en-US" b="1" dirty="0"/>
              <a:t>composition</a:t>
            </a:r>
            <a:r>
              <a:rPr lang="en-US" dirty="0"/>
              <a:t>.</a:t>
            </a:r>
            <a:endParaRPr lang="en-US" dirty="0">
              <a:solidFill>
                <a:schemeClr val="tx1">
                  <a:lumMod val="85000"/>
                  <a:lumOff val="15000"/>
                </a:schemeClr>
              </a:solidFill>
            </a:endParaRPr>
          </a:p>
          <a:p>
            <a:pPr marL="285750" indent="-285750">
              <a:spcBef>
                <a:spcPct val="20000"/>
              </a:spcBef>
              <a:spcAft>
                <a:spcPts val="600"/>
              </a:spcAft>
              <a:buClr>
                <a:schemeClr val="accent1"/>
              </a:buClr>
              <a:buSzPct val="115000"/>
              <a:buFont typeface="Arial"/>
              <a:buChar char="•"/>
            </a:pPr>
            <a:endParaRPr lang="en-US" dirty="0">
              <a:solidFill>
                <a:schemeClr val="tx1">
                  <a:lumMod val="85000"/>
                  <a:lumOff val="15000"/>
                </a:schemeClr>
              </a:solidFill>
            </a:endParaRPr>
          </a:p>
          <a:p>
            <a:pPr>
              <a:spcBef>
                <a:spcPct val="20000"/>
              </a:spcBef>
              <a:spcAft>
                <a:spcPts val="600"/>
              </a:spcAft>
              <a:buClr>
                <a:schemeClr val="accent1"/>
              </a:buClr>
              <a:buSzPct val="115000"/>
              <a:buFont typeface="Arial"/>
              <a:buChar char="•"/>
            </a:pPr>
            <a:endParaRPr lang="en-US" dirty="0">
              <a:solidFill>
                <a:schemeClr val="tx1">
                  <a:lumMod val="85000"/>
                  <a:lumOff val="15000"/>
                </a:schemeClr>
              </a:solidFill>
            </a:endParaRPr>
          </a:p>
        </p:txBody>
      </p:sp>
    </p:spTree>
    <p:extLst>
      <p:ext uri="{BB962C8B-B14F-4D97-AF65-F5344CB8AC3E}">
        <p14:creationId xmlns:p14="http://schemas.microsoft.com/office/powerpoint/2010/main" val="1289495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Alfred Hitchcock considered his films storyboards come to life, having even drawn some of his own storyboards.</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Hitchcock enlisted </a:t>
            </a:r>
            <a:r>
              <a:rPr lang="en-US" sz="1600" b="1" dirty="0">
                <a:solidFill>
                  <a:schemeClr val="tx1">
                    <a:lumMod val="85000"/>
                    <a:lumOff val="15000"/>
                  </a:schemeClr>
                </a:solidFill>
              </a:rPr>
              <a:t>Saul Bass </a:t>
            </a:r>
            <a:r>
              <a:rPr lang="en-US" sz="1600" dirty="0">
                <a:solidFill>
                  <a:schemeClr val="tx1">
                    <a:lumMod val="85000"/>
                    <a:lumOff val="15000"/>
                  </a:schemeClr>
                </a:solidFill>
              </a:rPr>
              <a:t>to assist him in creating the storyboard for the shower sequence of </a:t>
            </a:r>
            <a:r>
              <a:rPr lang="en-US" sz="1600" b="1" dirty="0">
                <a:solidFill>
                  <a:schemeClr val="tx1">
                    <a:lumMod val="85000"/>
                    <a:lumOff val="15000"/>
                  </a:schemeClr>
                </a:solidFill>
              </a:rPr>
              <a:t>Psycho</a:t>
            </a:r>
            <a:r>
              <a:rPr lang="en-US" sz="1600" dirty="0">
                <a:solidFill>
                  <a:schemeClr val="tx1">
                    <a:lumMod val="85000"/>
                    <a:lumOff val="15000"/>
                  </a:schemeClr>
                </a:solidFill>
              </a:rPr>
              <a:t>, which contained </a:t>
            </a:r>
            <a:r>
              <a:rPr lang="en-US" sz="1600" b="1" dirty="0">
                <a:solidFill>
                  <a:schemeClr val="tx1">
                    <a:lumMod val="85000"/>
                    <a:lumOff val="15000"/>
                  </a:schemeClr>
                </a:solidFill>
              </a:rPr>
              <a:t>75 different camera</a:t>
            </a:r>
            <a:r>
              <a:rPr lang="en-US" sz="1600" dirty="0">
                <a:solidFill>
                  <a:schemeClr val="tx1">
                    <a:lumMod val="85000"/>
                    <a:lumOff val="15000"/>
                  </a:schemeClr>
                </a:solidFill>
              </a:rPr>
              <a:t> </a:t>
            </a:r>
            <a:r>
              <a:rPr lang="en-US" sz="1600" b="1" dirty="0">
                <a:solidFill>
                  <a:schemeClr val="tx1">
                    <a:lumMod val="85000"/>
                    <a:lumOff val="15000"/>
                  </a:schemeClr>
                </a:solidFill>
              </a:rPr>
              <a:t>setups</a:t>
            </a:r>
            <a:r>
              <a:rPr lang="en-US" sz="1600" dirty="0">
                <a:solidFill>
                  <a:schemeClr val="tx1">
                    <a:lumMod val="85000"/>
                    <a:lumOff val="15000"/>
                  </a:schemeClr>
                </a:solidFill>
              </a:rPr>
              <a:t>.</a:t>
            </a:r>
          </a:p>
          <a:p>
            <a:pPr algn="ctr">
              <a:spcBef>
                <a:spcPct val="20000"/>
              </a:spcBef>
              <a:spcAft>
                <a:spcPts val="600"/>
              </a:spcAft>
              <a:buClr>
                <a:schemeClr val="accent1"/>
              </a:buClr>
              <a:buSzPct val="115000"/>
              <a:buFont typeface="Arial"/>
              <a:buChar char="•"/>
            </a:pPr>
            <a:endParaRPr lang="en-US" sz="1600" dirty="0">
              <a:solidFill>
                <a:schemeClr val="tx1">
                  <a:lumMod val="85000"/>
                  <a:lumOff val="15000"/>
                </a:schemeClr>
              </a:solidFill>
            </a:endParaRPr>
          </a:p>
        </p:txBody>
      </p:sp>
      <p:pic>
        <p:nvPicPr>
          <p:cNvPr id="7170" name="Picture 2" descr="Image result for hitchcock">
            <a:extLst>
              <a:ext uri="{FF2B5EF4-FFF2-40B4-BE49-F238E27FC236}">
                <a16:creationId xmlns:a16="http://schemas.microsoft.com/office/drawing/2014/main" id="{F364D2E3-828B-458B-A7DB-3A153012E7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56" r="3432" b="-1"/>
          <a:stretch/>
        </p:blipFill>
        <p:spPr bwMode="auto">
          <a:xfrm>
            <a:off x="5418668" y="982131"/>
            <a:ext cx="5469466" cy="489373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34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lgn="ctr">
              <a:spcBef>
                <a:spcPct val="20000"/>
              </a:spcBef>
              <a:spcAft>
                <a:spcPts val="600"/>
              </a:spcAft>
              <a:buClr>
                <a:schemeClr val="accent1"/>
              </a:buClr>
              <a:buSzPct val="115000"/>
              <a:buFont typeface="Arial"/>
              <a:buChar char="•"/>
            </a:pPr>
            <a:r>
              <a:rPr lang="en-US" sz="1600">
                <a:solidFill>
                  <a:schemeClr val="tx1">
                    <a:lumMod val="85000"/>
                    <a:lumOff val="15000"/>
                  </a:schemeClr>
                </a:solidFill>
              </a:rPr>
              <a:t>From 1930s-1970s, many used storyboards to plan out special effects and complex action shots.</a:t>
            </a:r>
          </a:p>
          <a:p>
            <a:pPr marL="285750" indent="-285750" algn="ctr">
              <a:spcBef>
                <a:spcPct val="20000"/>
              </a:spcBef>
              <a:spcAft>
                <a:spcPts val="600"/>
              </a:spcAft>
              <a:buClr>
                <a:schemeClr val="accent1"/>
              </a:buClr>
              <a:buSzPct val="115000"/>
              <a:buFont typeface="Arial"/>
              <a:buChar char="•"/>
            </a:pPr>
            <a:r>
              <a:rPr lang="en-US" sz="1600" b="1">
                <a:solidFill>
                  <a:schemeClr val="tx1">
                    <a:lumMod val="85000"/>
                    <a:lumOff val="15000"/>
                  </a:schemeClr>
                </a:solidFill>
              </a:rPr>
              <a:t>Syd Cain </a:t>
            </a:r>
            <a:r>
              <a:rPr lang="en-US" sz="1600">
                <a:solidFill>
                  <a:schemeClr val="tx1">
                    <a:lumMod val="85000"/>
                    <a:lumOff val="15000"/>
                  </a:schemeClr>
                </a:solidFill>
              </a:rPr>
              <a:t>choreographed action sequences in many James Bond Films.</a:t>
            </a:r>
          </a:p>
        </p:txBody>
      </p:sp>
      <p:pic>
        <p:nvPicPr>
          <p:cNvPr id="9218" name="Picture 2" descr="Image result for syd cain">
            <a:extLst>
              <a:ext uri="{FF2B5EF4-FFF2-40B4-BE49-F238E27FC236}">
                <a16:creationId xmlns:a16="http://schemas.microsoft.com/office/drawing/2014/main" id="{59B76658-BAC5-4A02-B2A3-7EB267C352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143" r="24504" b="-1"/>
          <a:stretch/>
        </p:blipFill>
        <p:spPr bwMode="auto">
          <a:xfrm>
            <a:off x="5418668" y="982131"/>
            <a:ext cx="5469466" cy="489373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493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a:t>Early History of the Storyboard </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Storyboards were used because of the efficiency that they provided directors.</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Large films such as Star Wars and Raiders of the Lost Ark used storyboards extensively to ensure that the entire crew/production was on the same page.</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Even with digital technology, these methods are still popular today.</a:t>
            </a:r>
          </a:p>
        </p:txBody>
      </p:sp>
      <p:pic>
        <p:nvPicPr>
          <p:cNvPr id="8194" name="Picture 2" descr="A group of storyboards for Raiders of the Lost Ark">
            <a:extLst>
              <a:ext uri="{FF2B5EF4-FFF2-40B4-BE49-F238E27FC236}">
                <a16:creationId xmlns:a16="http://schemas.microsoft.com/office/drawing/2014/main" id="{D592196B-C028-41C8-8A4D-24D228F2D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0621" y="1303868"/>
            <a:ext cx="6038850" cy="45720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spTree>
    <p:extLst>
      <p:ext uri="{BB962C8B-B14F-4D97-AF65-F5344CB8AC3E}">
        <p14:creationId xmlns:p14="http://schemas.microsoft.com/office/powerpoint/2010/main" val="2357104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What are Aspect Ratios</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900837"/>
            <a:ext cx="4842165"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t>shape of the screen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size relationship between its width and height.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Since there are many different aspect ratios in use for film, the image has to be modified to fit the television screen</a:t>
            </a:r>
            <a:endParaRPr lang="en-US" sz="2000" dirty="0">
              <a:latin typeface="+mj-lt"/>
            </a:endParaRPr>
          </a:p>
        </p:txBody>
      </p:sp>
      <p:pic>
        <p:nvPicPr>
          <p:cNvPr id="1026" name="Picture 2" descr="Image result for formatted to fit your screen">
            <a:extLst>
              <a:ext uri="{FF2B5EF4-FFF2-40B4-BE49-F238E27FC236}">
                <a16:creationId xmlns:a16="http://schemas.microsoft.com/office/drawing/2014/main" id="{B2839219-FD46-4159-9C3F-0EA101783A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43" r="984" b="3150"/>
          <a:stretch/>
        </p:blipFill>
        <p:spPr bwMode="auto">
          <a:xfrm>
            <a:off x="1423553" y="2578775"/>
            <a:ext cx="4547755" cy="3395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504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DE3DA1-6771-436D-A739-77EEA9CC59E3}"/>
              </a:ext>
            </a:extLst>
          </p:cNvPr>
          <p:cNvSpPr/>
          <p:nvPr/>
        </p:nvSpPr>
        <p:spPr>
          <a:xfrm>
            <a:off x="1295402" y="3034145"/>
            <a:ext cx="4378034" cy="23691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What are Aspect Ratios</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900837"/>
            <a:ext cx="4842165" cy="1938992"/>
          </a:xfrm>
          <a:prstGeom prst="rect">
            <a:avLst/>
          </a:prstGeom>
          <a:noFill/>
        </p:spPr>
        <p:txBody>
          <a:bodyPr wrap="square" rtlCol="0">
            <a:spAutoFit/>
          </a:bodyPr>
          <a:lstStyle/>
          <a:p>
            <a:pPr marL="285750" indent="-285750">
              <a:buFont typeface="Arial" panose="020B0604020202020204" pitchFamily="34" charset="0"/>
              <a:buChar char="•"/>
            </a:pPr>
            <a:r>
              <a:rPr lang="en-US" sz="2000" b="1" dirty="0"/>
              <a:t>First number represents width </a:t>
            </a:r>
            <a:r>
              <a:rPr lang="en-US" sz="2000" dirty="0"/>
              <a:t>in relation to the height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Second number represents height </a:t>
            </a:r>
            <a:r>
              <a:rPr lang="en-US" sz="2000" dirty="0"/>
              <a:t>in relation to width.</a:t>
            </a:r>
          </a:p>
          <a:p>
            <a:pPr marL="285750" indent="-285750">
              <a:buFont typeface="Arial" panose="020B0604020202020204" pitchFamily="34" charset="0"/>
              <a:buChar char="•"/>
            </a:pPr>
            <a:endParaRPr lang="en-US" sz="2000" dirty="0">
              <a:latin typeface="+mj-lt"/>
            </a:endParaRPr>
          </a:p>
        </p:txBody>
      </p:sp>
      <p:sp>
        <p:nvSpPr>
          <p:cNvPr id="5" name="TextBox 4">
            <a:extLst>
              <a:ext uri="{FF2B5EF4-FFF2-40B4-BE49-F238E27FC236}">
                <a16:creationId xmlns:a16="http://schemas.microsoft.com/office/drawing/2014/main" id="{F15E3F63-9C1F-4364-B765-B53852A921CD}"/>
              </a:ext>
            </a:extLst>
          </p:cNvPr>
          <p:cNvSpPr txBox="1"/>
          <p:nvPr/>
        </p:nvSpPr>
        <p:spPr>
          <a:xfrm>
            <a:off x="2324101" y="3639500"/>
            <a:ext cx="2518064" cy="1200329"/>
          </a:xfrm>
          <a:prstGeom prst="rect">
            <a:avLst/>
          </a:prstGeom>
          <a:noFill/>
        </p:spPr>
        <p:txBody>
          <a:bodyPr wrap="square" rtlCol="0">
            <a:spAutoFit/>
          </a:bodyPr>
          <a:lstStyle/>
          <a:p>
            <a:r>
              <a:rPr lang="en-US" sz="7200" dirty="0">
                <a:solidFill>
                  <a:schemeClr val="tx2">
                    <a:lumMod val="10000"/>
                    <a:lumOff val="90000"/>
                  </a:schemeClr>
                </a:solidFill>
              </a:rPr>
              <a:t>1.5:1</a:t>
            </a:r>
            <a:endParaRPr lang="en-US" sz="7200" dirty="0">
              <a:solidFill>
                <a:schemeClr val="tx2">
                  <a:lumMod val="10000"/>
                  <a:lumOff val="90000"/>
                </a:schemeClr>
              </a:solidFill>
              <a:latin typeface="+mj-lt"/>
            </a:endParaRPr>
          </a:p>
        </p:txBody>
      </p:sp>
    </p:spTree>
    <p:extLst>
      <p:ext uri="{BB962C8B-B14F-4D97-AF65-F5344CB8AC3E}">
        <p14:creationId xmlns:p14="http://schemas.microsoft.com/office/powerpoint/2010/main" val="3782861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History of Aspect Ratios</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687782"/>
            <a:ext cx="4842165" cy="163121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1.33:1</a:t>
            </a:r>
            <a:r>
              <a:rPr lang="en-US" sz="2000" dirty="0"/>
              <a:t> was the format used during the early days of film production.</a:t>
            </a:r>
          </a:p>
          <a:p>
            <a:pPr marL="285750" indent="-285750">
              <a:buFont typeface="Arial" panose="020B0604020202020204" pitchFamily="34" charset="0"/>
              <a:buChar char="•"/>
            </a:pPr>
            <a:endParaRPr lang="en-US" sz="2000" dirty="0">
              <a:latin typeface="+mj-lt"/>
            </a:endParaRPr>
          </a:p>
          <a:p>
            <a:pPr marL="285750" indent="-285750">
              <a:buFont typeface="Arial" panose="020B0604020202020204" pitchFamily="34" charset="0"/>
              <a:buChar char="•"/>
            </a:pPr>
            <a:r>
              <a:rPr lang="en-US" sz="2000" dirty="0">
                <a:latin typeface="+mj-lt"/>
              </a:rPr>
              <a:t>This format is the ratio of the </a:t>
            </a:r>
            <a:r>
              <a:rPr lang="en-US" sz="2000" b="1" dirty="0">
                <a:latin typeface="+mj-lt"/>
              </a:rPr>
              <a:t>35 mm </a:t>
            </a:r>
            <a:r>
              <a:rPr lang="en-US" sz="2000" dirty="0">
                <a:latin typeface="+mj-lt"/>
              </a:rPr>
              <a:t>film camera.</a:t>
            </a:r>
          </a:p>
        </p:txBody>
      </p:sp>
      <p:pic>
        <p:nvPicPr>
          <p:cNvPr id="5" name="Picture 2" descr="Image result for wizard of oz">
            <a:extLst>
              <a:ext uri="{FF2B5EF4-FFF2-40B4-BE49-F238E27FC236}">
                <a16:creationId xmlns:a16="http://schemas.microsoft.com/office/drawing/2014/main" id="{B4D99D84-DF7D-4233-B638-A64DDD9B0A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2687782"/>
            <a:ext cx="5105400" cy="25527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595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History of Aspect Ratios</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578485"/>
            <a:ext cx="5226627" cy="347787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1.37:1</a:t>
            </a:r>
            <a:r>
              <a:rPr lang="en-US" sz="2000" dirty="0"/>
              <a:t> was created to fit the soundtrack on the film.</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Became known as “</a:t>
            </a:r>
            <a:r>
              <a:rPr lang="en-US" sz="2000" b="1" dirty="0"/>
              <a:t>Academy Ratio</a:t>
            </a:r>
            <a:r>
              <a:rPr lang="en-US" sz="2000" dirty="0"/>
              <a:t>”</a:t>
            </a:r>
          </a:p>
          <a:p>
            <a:pPr marL="285750" indent="-285750">
              <a:buFont typeface="Arial" panose="020B0604020202020204" pitchFamily="34" charset="0"/>
              <a:buChar char="•"/>
            </a:pPr>
            <a:endParaRPr lang="en-US" sz="2000" dirty="0">
              <a:latin typeface="+mj-lt"/>
            </a:endParaRPr>
          </a:p>
          <a:p>
            <a:pPr marL="285750" indent="-285750">
              <a:buFont typeface="Arial" panose="020B0604020202020204" pitchFamily="34" charset="0"/>
              <a:buChar char="•"/>
            </a:pPr>
            <a:r>
              <a:rPr lang="en-US" sz="2000" dirty="0">
                <a:latin typeface="+mj-lt"/>
              </a:rPr>
              <a:t>Was used on films like </a:t>
            </a:r>
            <a:r>
              <a:rPr lang="en-US" sz="2000" b="1" dirty="0">
                <a:latin typeface="+mj-lt"/>
              </a:rPr>
              <a:t>Gone With the Wind</a:t>
            </a:r>
            <a:r>
              <a:rPr lang="en-US" sz="2000" dirty="0">
                <a:latin typeface="+mj-lt"/>
              </a:rPr>
              <a:t>, </a:t>
            </a:r>
            <a:r>
              <a:rPr lang="en-US" sz="2000" b="1" dirty="0">
                <a:latin typeface="+mj-lt"/>
              </a:rPr>
              <a:t>Wizard of Oz</a:t>
            </a:r>
            <a:r>
              <a:rPr lang="en-US" sz="2000" dirty="0">
                <a:latin typeface="+mj-lt"/>
              </a:rPr>
              <a:t>, </a:t>
            </a:r>
            <a:r>
              <a:rPr lang="en-US" sz="2000" b="1" dirty="0">
                <a:latin typeface="+mj-lt"/>
              </a:rPr>
              <a:t>Citizen</a:t>
            </a:r>
            <a:r>
              <a:rPr lang="en-US" sz="2000" dirty="0">
                <a:latin typeface="+mj-lt"/>
              </a:rPr>
              <a:t> </a:t>
            </a:r>
            <a:r>
              <a:rPr lang="en-US" sz="2000" b="1" dirty="0">
                <a:latin typeface="+mj-lt"/>
              </a:rPr>
              <a:t>Kane</a:t>
            </a:r>
            <a:r>
              <a:rPr lang="en-US" sz="2000" dirty="0">
                <a:latin typeface="+mj-lt"/>
              </a:rPr>
              <a:t> and </a:t>
            </a:r>
            <a:r>
              <a:rPr lang="en-US" sz="2000" b="1" dirty="0">
                <a:latin typeface="+mj-lt"/>
              </a:rPr>
              <a:t>Casablanca</a:t>
            </a:r>
            <a:r>
              <a:rPr lang="en-US" sz="2000" dirty="0">
                <a:latin typeface="+mj-lt"/>
              </a:rPr>
              <a:t>.</a:t>
            </a:r>
          </a:p>
          <a:p>
            <a:pPr marL="285750" indent="-285750">
              <a:buFont typeface="Arial" panose="020B0604020202020204" pitchFamily="34" charset="0"/>
              <a:buChar char="•"/>
            </a:pPr>
            <a:endParaRPr lang="en-US" sz="2000" dirty="0">
              <a:latin typeface="+mj-lt"/>
            </a:endParaRPr>
          </a:p>
          <a:p>
            <a:pPr marL="285750" indent="-285750">
              <a:buFont typeface="Arial" panose="020B0604020202020204" pitchFamily="34" charset="0"/>
              <a:buChar char="•"/>
            </a:pPr>
            <a:r>
              <a:rPr lang="en-US" sz="2000" dirty="0">
                <a:latin typeface="+mj-lt"/>
              </a:rPr>
              <a:t>These films do not need additional formatting to fit on a standard TV.</a:t>
            </a:r>
          </a:p>
        </p:txBody>
      </p:sp>
      <p:pic>
        <p:nvPicPr>
          <p:cNvPr id="2050" name="Picture 2" descr="Image result for wizard of oz">
            <a:extLst>
              <a:ext uri="{FF2B5EF4-FFF2-40B4-BE49-F238E27FC236}">
                <a16:creationId xmlns:a16="http://schemas.microsoft.com/office/drawing/2014/main" id="{732B4447-96E9-481C-A840-D5CC92D537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2687782"/>
            <a:ext cx="5105400" cy="25527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861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pic>
        <p:nvPicPr>
          <p:cNvPr id="2052" name="Picture 70">
            <a:extLst>
              <a:ext uri="{FF2B5EF4-FFF2-40B4-BE49-F238E27FC236}">
                <a16:creationId xmlns:a16="http://schemas.microsoft.com/office/drawing/2014/main" id="{EC451D95-F442-41F5-B7F3-ADFF8BF522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sp>
        <p:nvSpPr>
          <p:cNvPr id="2" name="Title 1">
            <a:extLst>
              <a:ext uri="{FF2B5EF4-FFF2-40B4-BE49-F238E27FC236}">
                <a16:creationId xmlns:a16="http://schemas.microsoft.com/office/drawing/2014/main" id="{D99EF2C5-E374-412B-8637-AAFB894C40B7}"/>
              </a:ext>
            </a:extLst>
          </p:cNvPr>
          <p:cNvSpPr>
            <a:spLocks noGrp="1"/>
          </p:cNvSpPr>
          <p:nvPr>
            <p:ph type="title"/>
          </p:nvPr>
        </p:nvSpPr>
        <p:spPr>
          <a:xfrm>
            <a:off x="1295402" y="982132"/>
            <a:ext cx="3660056" cy="1325373"/>
          </a:xfrm>
        </p:spPr>
        <p:txBody>
          <a:bodyPr anchor="b">
            <a:normAutofit/>
          </a:bodyPr>
          <a:lstStyle/>
          <a:p>
            <a:r>
              <a:rPr lang="en-US" sz="3200" dirty="0"/>
              <a:t>History of </a:t>
            </a:r>
            <a:br>
              <a:rPr lang="en-US" sz="3200" dirty="0"/>
            </a:br>
            <a:r>
              <a:rPr lang="en-US" sz="3200" dirty="0"/>
              <a:t>Aspect Ratios</a:t>
            </a:r>
          </a:p>
        </p:txBody>
      </p:sp>
      <p:cxnSp>
        <p:nvCxnSpPr>
          <p:cNvPr id="2053" name="Straight Connector 72">
            <a:extLst>
              <a:ext uri="{FF2B5EF4-FFF2-40B4-BE49-F238E27FC236}">
                <a16:creationId xmlns:a16="http://schemas.microsoft.com/office/drawing/2014/main" id="{3393F3B5-23C9-4DE1-BF93-BBDEE17705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295401" y="2766314"/>
            <a:ext cx="3660057" cy="3382094"/>
          </a:xfrm>
        </p:spPr>
        <p:txBody>
          <a:bodyPr>
            <a:normAutofit fontScale="92500"/>
          </a:bodyPr>
          <a:lstStyle/>
          <a:p>
            <a:r>
              <a:rPr lang="en-US" sz="1800" dirty="0"/>
              <a:t>At height of film’s popularity in </a:t>
            </a:r>
            <a:r>
              <a:rPr lang="en-US" sz="1800" b="1" dirty="0"/>
              <a:t>1930s</a:t>
            </a:r>
            <a:r>
              <a:rPr lang="en-US" sz="1800" dirty="0"/>
              <a:t>, an estimated </a:t>
            </a:r>
            <a:r>
              <a:rPr lang="en-US" sz="1800" b="1" dirty="0"/>
              <a:t>95 million people attended the theater</a:t>
            </a:r>
            <a:r>
              <a:rPr lang="en-US" sz="1800" dirty="0"/>
              <a:t>.</a:t>
            </a:r>
          </a:p>
          <a:p>
            <a:r>
              <a:rPr lang="en-US" sz="1800" dirty="0"/>
              <a:t>Families went </a:t>
            </a:r>
            <a:r>
              <a:rPr lang="en-US" sz="1800" i="1" dirty="0"/>
              <a:t>3 – 4 times a week </a:t>
            </a:r>
            <a:r>
              <a:rPr lang="en-US" sz="1800" dirty="0"/>
              <a:t>to movies.</a:t>
            </a:r>
          </a:p>
          <a:p>
            <a:r>
              <a:rPr lang="en-US" sz="1800" dirty="0"/>
              <a:t>When Television was introduced it incorporated the same 1.33:1 aspect ratio.</a:t>
            </a:r>
          </a:p>
          <a:p>
            <a:r>
              <a:rPr lang="en-US" sz="1800" dirty="0"/>
              <a:t>In other words, the same exact experience – at home. For </a:t>
            </a:r>
            <a:r>
              <a:rPr lang="en-US" sz="1800" i="1" dirty="0"/>
              <a:t>free</a:t>
            </a:r>
            <a:r>
              <a:rPr lang="en-US" sz="1800" dirty="0"/>
              <a:t>.</a:t>
            </a:r>
          </a:p>
        </p:txBody>
      </p:sp>
      <p:pic>
        <p:nvPicPr>
          <p:cNvPr id="2050" name="Picture 2" descr="Image result for early television watching">
            <a:extLst>
              <a:ext uri="{FF2B5EF4-FFF2-40B4-BE49-F238E27FC236}">
                <a16:creationId xmlns:a16="http://schemas.microsoft.com/office/drawing/2014/main" id="{CD956B04-BC35-4A0B-A3B4-AB32A446AC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792" r="2" b="2"/>
          <a:stretch/>
        </p:blipFill>
        <p:spPr bwMode="auto">
          <a:xfrm>
            <a:off x="5418668" y="982131"/>
            <a:ext cx="5469466" cy="4893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3996155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pic>
        <p:nvPicPr>
          <p:cNvPr id="2052" name="Picture 70">
            <a:extLst>
              <a:ext uri="{FF2B5EF4-FFF2-40B4-BE49-F238E27FC236}">
                <a16:creationId xmlns:a16="http://schemas.microsoft.com/office/drawing/2014/main" id="{EC451D95-F442-41F5-B7F3-ADFF8BF522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sp>
        <p:nvSpPr>
          <p:cNvPr id="2" name="Title 1">
            <a:extLst>
              <a:ext uri="{FF2B5EF4-FFF2-40B4-BE49-F238E27FC236}">
                <a16:creationId xmlns:a16="http://schemas.microsoft.com/office/drawing/2014/main" id="{D99EF2C5-E374-412B-8637-AAFB894C40B7}"/>
              </a:ext>
            </a:extLst>
          </p:cNvPr>
          <p:cNvSpPr>
            <a:spLocks noGrp="1"/>
          </p:cNvSpPr>
          <p:nvPr>
            <p:ph type="title"/>
          </p:nvPr>
        </p:nvSpPr>
        <p:spPr>
          <a:xfrm>
            <a:off x="1295402" y="982132"/>
            <a:ext cx="3660056" cy="1325373"/>
          </a:xfrm>
        </p:spPr>
        <p:txBody>
          <a:bodyPr anchor="b">
            <a:normAutofit/>
          </a:bodyPr>
          <a:lstStyle/>
          <a:p>
            <a:r>
              <a:rPr lang="en-US" sz="3200" dirty="0"/>
              <a:t>History of </a:t>
            </a:r>
            <a:br>
              <a:rPr lang="en-US" sz="3200" dirty="0"/>
            </a:br>
            <a:r>
              <a:rPr lang="en-US" sz="3200" dirty="0"/>
              <a:t>Aspect Ratios</a:t>
            </a:r>
          </a:p>
        </p:txBody>
      </p:sp>
      <p:cxnSp>
        <p:nvCxnSpPr>
          <p:cNvPr id="2053" name="Straight Connector 72">
            <a:extLst>
              <a:ext uri="{FF2B5EF4-FFF2-40B4-BE49-F238E27FC236}">
                <a16:creationId xmlns:a16="http://schemas.microsoft.com/office/drawing/2014/main" id="{3393F3B5-23C9-4DE1-BF93-BBDEE17705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295401" y="2766314"/>
            <a:ext cx="3660057" cy="3382094"/>
          </a:xfrm>
        </p:spPr>
        <p:txBody>
          <a:bodyPr>
            <a:normAutofit/>
          </a:bodyPr>
          <a:lstStyle/>
          <a:p>
            <a:r>
              <a:rPr lang="en-US" sz="1800" dirty="0"/>
              <a:t>By 1950s number of movie goers had decreased to </a:t>
            </a:r>
            <a:r>
              <a:rPr lang="en-US" sz="1800" i="1" dirty="0"/>
              <a:t>45 million.</a:t>
            </a:r>
          </a:p>
          <a:p>
            <a:r>
              <a:rPr lang="en-US" sz="1800" dirty="0"/>
              <a:t>By 1960s, 90% of homes had TVs.</a:t>
            </a:r>
          </a:p>
          <a:p>
            <a:r>
              <a:rPr lang="en-US" sz="1800" dirty="0"/>
              <a:t>By 1970s Hollywood </a:t>
            </a:r>
            <a:r>
              <a:rPr lang="en-US" sz="1800" b="1" dirty="0"/>
              <a:t>needed to create an experience their audience could not get at home</a:t>
            </a:r>
            <a:r>
              <a:rPr lang="en-US" sz="1800" dirty="0"/>
              <a:t>. Something to entice them into going to the theater.</a:t>
            </a:r>
          </a:p>
        </p:txBody>
      </p:sp>
      <p:pic>
        <p:nvPicPr>
          <p:cNvPr id="2050" name="Picture 2" descr="Image result for early television watching">
            <a:extLst>
              <a:ext uri="{FF2B5EF4-FFF2-40B4-BE49-F238E27FC236}">
                <a16:creationId xmlns:a16="http://schemas.microsoft.com/office/drawing/2014/main" id="{CD956B04-BC35-4A0B-A3B4-AB32A446AC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792" r="2" b="2"/>
          <a:stretch/>
        </p:blipFill>
        <p:spPr bwMode="auto">
          <a:xfrm>
            <a:off x="5418668" y="982131"/>
            <a:ext cx="5469466" cy="4893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1835798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sp useBgFill="1">
        <p:nvSpPr>
          <p:cNvPr id="3078" name="Rectangle 191">
            <a:extLst>
              <a:ext uri="{FF2B5EF4-FFF2-40B4-BE49-F238E27FC236}">
                <a16:creationId xmlns:a16="http://schemas.microsoft.com/office/drawing/2014/main" id="{EE1374CC-E745-4BC0-92A0-180B70E3D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9" name="Picture 192">
            <a:extLst>
              <a:ext uri="{FF2B5EF4-FFF2-40B4-BE49-F238E27FC236}">
                <a16:creationId xmlns:a16="http://schemas.microsoft.com/office/drawing/2014/main" id="{1CF8A95A-9DEB-454B-92B4-86057447CB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3080" name="Straight Connector 193">
            <a:extLst>
              <a:ext uri="{FF2B5EF4-FFF2-40B4-BE49-F238E27FC236}">
                <a16:creationId xmlns:a16="http://schemas.microsoft.com/office/drawing/2014/main" id="{DB24AD5B-7E5E-4F3C-82E6-1234F4C589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77057" y="2400639"/>
            <a:ext cx="576072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167385" y="2556932"/>
            <a:ext cx="6460285" cy="3318936"/>
          </a:xfrm>
        </p:spPr>
        <p:txBody>
          <a:bodyPr>
            <a:normAutofit/>
          </a:bodyPr>
          <a:lstStyle/>
          <a:p>
            <a:r>
              <a:rPr lang="en-US" sz="2200" dirty="0"/>
              <a:t>This format, introduced in 1952 had an aspect ratio of </a:t>
            </a:r>
            <a:r>
              <a:rPr lang="en-US" sz="2200" b="1" dirty="0"/>
              <a:t>2.6:1.</a:t>
            </a:r>
          </a:p>
          <a:p>
            <a:r>
              <a:rPr lang="en-US" sz="2200" dirty="0"/>
              <a:t>Used </a:t>
            </a:r>
            <a:r>
              <a:rPr lang="en-US" sz="2200" b="1" dirty="0"/>
              <a:t>3 cameras</a:t>
            </a:r>
            <a:r>
              <a:rPr lang="en-US" sz="2200" dirty="0"/>
              <a:t>, and </a:t>
            </a:r>
            <a:r>
              <a:rPr lang="en-US" sz="2200" b="1" dirty="0"/>
              <a:t>3 projectors</a:t>
            </a:r>
            <a:r>
              <a:rPr lang="en-US" sz="2200" dirty="0"/>
              <a:t> transmitted onto </a:t>
            </a:r>
            <a:r>
              <a:rPr lang="en-US" sz="2200" b="1" dirty="0"/>
              <a:t>curved screen</a:t>
            </a:r>
            <a:r>
              <a:rPr lang="en-US" sz="2200" dirty="0"/>
              <a:t>.</a:t>
            </a:r>
          </a:p>
        </p:txBody>
      </p:sp>
      <p:pic>
        <p:nvPicPr>
          <p:cNvPr id="3076" name="Picture 4" descr="https://upload.wikimedia.org/wikipedia/commons/2/24/How_Cinerama_is_projected.gif">
            <a:extLst>
              <a:ext uri="{FF2B5EF4-FFF2-40B4-BE49-F238E27FC236}">
                <a16:creationId xmlns:a16="http://schemas.microsoft.com/office/drawing/2014/main" id="{434CB4F2-BCDB-4CF0-8941-FC48B4962E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188" r="-5" b="-5"/>
          <a:stretch/>
        </p:blipFill>
        <p:spPr bwMode="auto">
          <a:xfrm>
            <a:off x="7506720" y="1516186"/>
            <a:ext cx="1725985" cy="1666187"/>
          </a:xfrm>
          <a:prstGeom prst="rect">
            <a:avLst/>
          </a:prstGeom>
          <a:solidFill>
            <a:srgbClr val="FFFFFF">
              <a:shade val="85000"/>
            </a:srgbClr>
          </a:solidFill>
          <a:ln w="57150" cmpd="thickThin">
            <a:noFill/>
            <a:miter lim="800000"/>
          </a:ln>
          <a:scene3d>
            <a:camera prst="orthographicFront"/>
            <a:lightRig rig="twoPt" dir="t">
              <a:rot lat="0" lon="0" rev="7200000"/>
            </a:lightRig>
          </a:scene3d>
          <a:sp3d>
            <a:bevelT w="25400" h="19050"/>
            <a:contourClr>
              <a:srgbClr val="FFFFFF"/>
            </a:contourClr>
          </a:sp3d>
          <a:extLst/>
        </p:spPr>
      </p:pic>
      <p:pic>
        <p:nvPicPr>
          <p:cNvPr id="3074" name="Picture 2" descr="Image result for cinerama format">
            <a:extLst>
              <a:ext uri="{FF2B5EF4-FFF2-40B4-BE49-F238E27FC236}">
                <a16:creationId xmlns:a16="http://schemas.microsoft.com/office/drawing/2014/main" id="{A741F4D0-2C94-4424-BB7F-9A71CA234BB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348" r="-2" b="-2"/>
          <a:stretch/>
        </p:blipFill>
        <p:spPr bwMode="auto">
          <a:xfrm>
            <a:off x="7506720" y="3416995"/>
            <a:ext cx="3933394" cy="1852210"/>
          </a:xfrm>
          <a:prstGeom prst="rect">
            <a:avLst/>
          </a:prstGeom>
          <a:noFill/>
          <a:ln w="57150" cmpd="thickThin">
            <a:noFill/>
            <a:miter lim="800000"/>
          </a:ln>
          <a:extLst>
            <a:ext uri="{909E8E84-426E-40DD-AFC4-6F175D3DCCD1}">
              <a14:hiddenFill xmlns:a14="http://schemas.microsoft.com/office/drawing/2010/main">
                <a:solidFill>
                  <a:srgbClr val="FFFFFF"/>
                </a:solidFill>
              </a14:hiddenFill>
            </a:ext>
          </a:extLst>
        </p:spPr>
      </p:pic>
      <p:pic>
        <p:nvPicPr>
          <p:cNvPr id="5" name="Picture 8" descr="Image result for cinerama format theater 1960">
            <a:extLst>
              <a:ext uri="{FF2B5EF4-FFF2-40B4-BE49-F238E27FC236}">
                <a16:creationId xmlns:a16="http://schemas.microsoft.com/office/drawing/2014/main" id="{97E228BF-2BB1-4FA4-B59B-AA386168CFC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6472" t="95" r="9077" b="9808"/>
          <a:stretch/>
        </p:blipFill>
        <p:spPr bwMode="auto">
          <a:xfrm>
            <a:off x="9519195" y="1516186"/>
            <a:ext cx="1920919" cy="166619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cinerama">
            <a:extLst>
              <a:ext uri="{FF2B5EF4-FFF2-40B4-BE49-F238E27FC236}">
                <a16:creationId xmlns:a16="http://schemas.microsoft.com/office/drawing/2014/main" id="{563ED3DC-99AF-4722-97BC-0242F6312F3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57828" y="778083"/>
            <a:ext cx="4255943" cy="1284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206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sp useBgFill="1">
        <p:nvSpPr>
          <p:cNvPr id="3078" name="Rectangle 191">
            <a:extLst>
              <a:ext uri="{FF2B5EF4-FFF2-40B4-BE49-F238E27FC236}">
                <a16:creationId xmlns:a16="http://schemas.microsoft.com/office/drawing/2014/main" id="{EE1374CC-E745-4BC0-92A0-180B70E3D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9" name="Picture 192">
            <a:extLst>
              <a:ext uri="{FF2B5EF4-FFF2-40B4-BE49-F238E27FC236}">
                <a16:creationId xmlns:a16="http://schemas.microsoft.com/office/drawing/2014/main" id="{1CF8A95A-9DEB-454B-92B4-86057447CB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3080" name="Straight Connector 193">
            <a:extLst>
              <a:ext uri="{FF2B5EF4-FFF2-40B4-BE49-F238E27FC236}">
                <a16:creationId xmlns:a16="http://schemas.microsoft.com/office/drawing/2014/main" id="{DB24AD5B-7E5E-4F3C-82E6-1234F4C589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77057" y="2400639"/>
            <a:ext cx="576072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167385" y="2556932"/>
            <a:ext cx="6460285" cy="3318936"/>
          </a:xfrm>
        </p:spPr>
        <p:txBody>
          <a:bodyPr>
            <a:normAutofit/>
          </a:bodyPr>
          <a:lstStyle/>
          <a:p>
            <a:r>
              <a:rPr lang="en-US" sz="2200" dirty="0"/>
              <a:t>First images were from a roller coaster ride, “Atom Smasher” in 1952.</a:t>
            </a:r>
          </a:p>
          <a:p>
            <a:r>
              <a:rPr lang="en-US" sz="2200" dirty="0"/>
              <a:t>Other movies included “How the West was Won”, “South Seas Adventure”, and “Seven Wonders of the World”</a:t>
            </a:r>
          </a:p>
          <a:p>
            <a:r>
              <a:rPr lang="en-US" sz="2200" dirty="0"/>
              <a:t>Cinerama’s high cost led to it being abandoned.</a:t>
            </a:r>
          </a:p>
        </p:txBody>
      </p:sp>
      <p:pic>
        <p:nvPicPr>
          <p:cNvPr id="5122" name="Picture 2" descr="Image result for cinerama">
            <a:extLst>
              <a:ext uri="{FF2B5EF4-FFF2-40B4-BE49-F238E27FC236}">
                <a16:creationId xmlns:a16="http://schemas.microsoft.com/office/drawing/2014/main" id="{DD471B84-3435-476F-9358-0188D02412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57828" y="778083"/>
            <a:ext cx="4255943" cy="128442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cinerama roller coaster">
            <a:extLst>
              <a:ext uri="{FF2B5EF4-FFF2-40B4-BE49-F238E27FC236}">
                <a16:creationId xmlns:a16="http://schemas.microsoft.com/office/drawing/2014/main" id="{10DBEAD8-B1E1-498C-B331-4FB382E293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0982" y="1086043"/>
            <a:ext cx="3766870" cy="22182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5126" name="Picture 6" descr="Image result for how the west was won">
            <a:extLst>
              <a:ext uri="{FF2B5EF4-FFF2-40B4-BE49-F238E27FC236}">
                <a16:creationId xmlns:a16="http://schemas.microsoft.com/office/drawing/2014/main" id="{4D5E5781-79B8-4C41-A6C5-834AB77DC1B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80983" y="3737115"/>
            <a:ext cx="3766869" cy="21188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472714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8C1893-B1C7-4ECD-B307-FB91893112B9}"/>
              </a:ext>
            </a:extLst>
          </p:cNvPr>
          <p:cNvSpPr>
            <a:spLocks noGrp="1"/>
          </p:cNvSpPr>
          <p:nvPr>
            <p:ph idx="1"/>
          </p:nvPr>
        </p:nvSpPr>
        <p:spPr>
          <a:xfrm>
            <a:off x="1302328" y="2732809"/>
            <a:ext cx="4932217" cy="3177679"/>
          </a:xfrm>
        </p:spPr>
        <p:txBody>
          <a:bodyPr>
            <a:noAutofit/>
          </a:bodyPr>
          <a:lstStyle/>
          <a:p>
            <a:r>
              <a:rPr lang="en-US" sz="2200" dirty="0"/>
              <a:t>20th Century Fox introduced cinemascope one year after Cinerama.</a:t>
            </a:r>
          </a:p>
          <a:p>
            <a:r>
              <a:rPr lang="en-US" sz="2200" dirty="0"/>
              <a:t>Process required outfitting cameras with an  anamorphic lens,  which </a:t>
            </a:r>
            <a:r>
              <a:rPr lang="en-US" sz="2200" b="1" dirty="0"/>
              <a:t>captures image and then compresses it</a:t>
            </a:r>
            <a:r>
              <a:rPr lang="en-US" sz="2200" dirty="0"/>
              <a:t>. </a:t>
            </a:r>
          </a:p>
          <a:p>
            <a:r>
              <a:rPr lang="en-US" sz="2200" dirty="0"/>
              <a:t>Another anamorphic lens is used to </a:t>
            </a:r>
            <a:r>
              <a:rPr lang="en-US" sz="2200" dirty="0" err="1"/>
              <a:t>uncompress</a:t>
            </a:r>
            <a:r>
              <a:rPr lang="en-US" sz="2200" dirty="0"/>
              <a:t> the image.</a:t>
            </a:r>
          </a:p>
          <a:p>
            <a:endParaRPr lang="en-US" sz="2200" dirty="0"/>
          </a:p>
        </p:txBody>
      </p:sp>
      <p:pic>
        <p:nvPicPr>
          <p:cNvPr id="6148" name="Picture 4" descr="Image result for cinemascope">
            <a:extLst>
              <a:ext uri="{FF2B5EF4-FFF2-40B4-BE49-F238E27FC236}">
                <a16:creationId xmlns:a16="http://schemas.microsoft.com/office/drawing/2014/main" id="{CB63FED6-7446-41A7-8F08-17C2EB8442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248" b="30133"/>
          <a:stretch/>
        </p:blipFill>
        <p:spPr bwMode="auto">
          <a:xfrm>
            <a:off x="1291939" y="675409"/>
            <a:ext cx="9597734" cy="173528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Image result for cinemascope">
            <a:extLst>
              <a:ext uri="{FF2B5EF4-FFF2-40B4-BE49-F238E27FC236}">
                <a16:creationId xmlns:a16="http://schemas.microsoft.com/office/drawing/2014/main" id="{A070315A-0AB4-4D11-BA4B-1124F49725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2724358"/>
            <a:ext cx="3803072" cy="31776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68166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8C1893-B1C7-4ECD-B307-FB91893112B9}"/>
              </a:ext>
            </a:extLst>
          </p:cNvPr>
          <p:cNvSpPr>
            <a:spLocks noGrp="1"/>
          </p:cNvSpPr>
          <p:nvPr>
            <p:ph idx="1"/>
          </p:nvPr>
        </p:nvSpPr>
        <p:spPr>
          <a:xfrm>
            <a:off x="1302328" y="2732809"/>
            <a:ext cx="4932217" cy="3177679"/>
          </a:xfrm>
        </p:spPr>
        <p:txBody>
          <a:bodyPr>
            <a:noAutofit/>
          </a:bodyPr>
          <a:lstStyle/>
          <a:p>
            <a:r>
              <a:rPr lang="en-US" sz="2200" dirty="0"/>
              <a:t>Began as </a:t>
            </a:r>
            <a:r>
              <a:rPr lang="en-US" sz="2200" b="1" dirty="0"/>
              <a:t>2.66:1</a:t>
            </a:r>
            <a:r>
              <a:rPr lang="en-US" sz="2200" dirty="0"/>
              <a:t> aspect ratio, when introduced, but was reduced to 2.55:1</a:t>
            </a:r>
          </a:p>
          <a:p>
            <a:r>
              <a:rPr lang="en-US" dirty="0">
                <a:solidFill>
                  <a:schemeClr val="tx1"/>
                </a:solidFill>
              </a:rPr>
              <a:t>Films produced in </a:t>
            </a:r>
            <a:r>
              <a:rPr lang="en-US" dirty="0" err="1">
                <a:solidFill>
                  <a:schemeClr val="tx1"/>
                </a:solidFill>
              </a:rPr>
              <a:t>Cinescope</a:t>
            </a:r>
            <a:r>
              <a:rPr lang="en-US" dirty="0">
                <a:solidFill>
                  <a:schemeClr val="tx1"/>
                </a:solidFill>
              </a:rPr>
              <a:t> include Disney's 20000 Leagues Under the Sea and Lady and the Tramp.</a:t>
            </a:r>
          </a:p>
          <a:p>
            <a:r>
              <a:rPr lang="en-US" sz="2200" dirty="0">
                <a:solidFill>
                  <a:schemeClr val="tx1"/>
                </a:solidFill>
              </a:rPr>
              <a:t>Process lasted until late 1960s.</a:t>
            </a:r>
            <a:endParaRPr lang="en-US" sz="2200" dirty="0"/>
          </a:p>
        </p:txBody>
      </p:sp>
      <p:pic>
        <p:nvPicPr>
          <p:cNvPr id="6148" name="Picture 4" descr="Image result for cinemascope">
            <a:extLst>
              <a:ext uri="{FF2B5EF4-FFF2-40B4-BE49-F238E27FC236}">
                <a16:creationId xmlns:a16="http://schemas.microsoft.com/office/drawing/2014/main" id="{CB63FED6-7446-41A7-8F08-17C2EB8442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248" b="30133"/>
          <a:stretch/>
        </p:blipFill>
        <p:spPr bwMode="auto">
          <a:xfrm>
            <a:off x="1291939" y="675409"/>
            <a:ext cx="9597734" cy="1735282"/>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Image result for 20 000 leagues under the sea (1954 film)">
            <a:extLst>
              <a:ext uri="{FF2B5EF4-FFF2-40B4-BE49-F238E27FC236}">
                <a16:creationId xmlns:a16="http://schemas.microsoft.com/office/drawing/2014/main" id="{40ECD06F-848C-47F5-A4F6-4D2AA3632E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2011" y="2597727"/>
            <a:ext cx="2754751" cy="20574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lady and the tramp cinemascope">
            <a:extLst>
              <a:ext uri="{FF2B5EF4-FFF2-40B4-BE49-F238E27FC236}">
                <a16:creationId xmlns:a16="http://schemas.microsoft.com/office/drawing/2014/main" id="{DE5C0A4E-9F80-4696-86B0-434522268F5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34545" y="2597727"/>
            <a:ext cx="2074430" cy="3213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076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B098C-E5A2-4983-8AA8-A915B41C1EAA}"/>
              </a:ext>
            </a:extLst>
          </p:cNvPr>
          <p:cNvSpPr>
            <a:spLocks noGrp="1"/>
          </p:cNvSpPr>
          <p:nvPr>
            <p:ph idx="1"/>
          </p:nvPr>
        </p:nvSpPr>
        <p:spPr>
          <a:xfrm>
            <a:off x="1295401" y="2784764"/>
            <a:ext cx="9601196" cy="3091104"/>
          </a:xfrm>
        </p:spPr>
        <p:txBody>
          <a:bodyPr/>
          <a:lstStyle/>
          <a:p>
            <a:r>
              <a:rPr lang="en-US" dirty="0"/>
              <a:t>Following Cinemascope, Panavision created their anamorphic lenses in the late 1950s.</a:t>
            </a:r>
          </a:p>
          <a:p>
            <a:r>
              <a:rPr lang="en-US" dirty="0"/>
              <a:t>Reduced some of the issues </a:t>
            </a:r>
            <a:r>
              <a:rPr lang="en-US" b="1" dirty="0"/>
              <a:t>Cinemascope</a:t>
            </a:r>
            <a:r>
              <a:rPr lang="en-US" dirty="0"/>
              <a:t> had with compression, which made it a new standard of choice within the industry.</a:t>
            </a:r>
          </a:p>
          <a:p>
            <a:r>
              <a:rPr lang="en-US" dirty="0"/>
              <a:t>Aspect ratios for Panavision are </a:t>
            </a:r>
            <a:r>
              <a:rPr lang="en-US" b="1" dirty="0"/>
              <a:t>2.35:1</a:t>
            </a:r>
            <a:r>
              <a:rPr lang="en-US" dirty="0"/>
              <a:t> and </a:t>
            </a:r>
            <a:r>
              <a:rPr lang="en-US" b="1" dirty="0"/>
              <a:t>1.85:1</a:t>
            </a:r>
            <a:r>
              <a:rPr lang="en-US" dirty="0"/>
              <a:t>, which are the current film standards.</a:t>
            </a:r>
          </a:p>
        </p:txBody>
      </p:sp>
      <p:pic>
        <p:nvPicPr>
          <p:cNvPr id="1026" name="Picture 2" descr="Image result for panavision">
            <a:extLst>
              <a:ext uri="{FF2B5EF4-FFF2-40B4-BE49-F238E27FC236}">
                <a16:creationId xmlns:a16="http://schemas.microsoft.com/office/drawing/2014/main" id="{9D17F1E1-8791-4911-8159-A99143228F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65719" y="542493"/>
            <a:ext cx="4460562" cy="1847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694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Common Aspect Ratio Formats</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028700" y="2556932"/>
            <a:ext cx="4135540" cy="3318936"/>
          </a:xfrm>
        </p:spPr>
        <p:txBody>
          <a:bodyPr>
            <a:normAutofit fontScale="92500"/>
          </a:bodyPr>
          <a:lstStyle/>
          <a:p>
            <a:r>
              <a:rPr lang="en-US" dirty="0"/>
              <a:t>Most films today are shot in either </a:t>
            </a:r>
            <a:r>
              <a:rPr lang="en-US" b="1" dirty="0"/>
              <a:t>1.85 :1</a:t>
            </a:r>
            <a:r>
              <a:rPr lang="en-US" dirty="0"/>
              <a:t> or </a:t>
            </a:r>
            <a:r>
              <a:rPr lang="en-US" b="1" dirty="0"/>
              <a:t>2:35:1</a:t>
            </a:r>
            <a:r>
              <a:rPr lang="en-US" dirty="0"/>
              <a:t> aspect ratio.  </a:t>
            </a:r>
          </a:p>
          <a:p>
            <a:r>
              <a:rPr lang="en-US" b="1" dirty="0"/>
              <a:t>1.85:1</a:t>
            </a:r>
            <a:r>
              <a:rPr lang="en-US" dirty="0"/>
              <a:t> is the most common aspect ratio.</a:t>
            </a:r>
          </a:p>
          <a:p>
            <a:r>
              <a:rPr lang="en-US" dirty="0"/>
              <a:t>Films shot in 1.85:1 ratio include comedy, drama and many animated films.</a:t>
            </a:r>
          </a:p>
          <a:p>
            <a:endParaRPr lang="en-US" dirty="0"/>
          </a:p>
        </p:txBody>
      </p:sp>
      <p:pic>
        <p:nvPicPr>
          <p:cNvPr id="2052" name="Picture 4" descr="http://www.lyberty.com/mediatech/img/185-1_waroftheworlds1.jpg">
            <a:extLst>
              <a:ext uri="{FF2B5EF4-FFF2-40B4-BE49-F238E27FC236}">
                <a16:creationId xmlns:a16="http://schemas.microsoft.com/office/drawing/2014/main" id="{F3D92FB7-B4AA-45CF-A32E-ABE8208C1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239" y="2556933"/>
            <a:ext cx="6140031" cy="331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807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Common Aspect Ratio Formats</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755074" y="2556932"/>
            <a:ext cx="3577935" cy="3318936"/>
          </a:xfrm>
        </p:spPr>
        <p:txBody>
          <a:bodyPr>
            <a:normAutofit lnSpcReduction="10000"/>
          </a:bodyPr>
          <a:lstStyle/>
          <a:p>
            <a:r>
              <a:rPr lang="en-US" b="1" dirty="0"/>
              <a:t>2:35:1</a:t>
            </a:r>
            <a:r>
              <a:rPr lang="en-US" dirty="0"/>
              <a:t> aspect ratio is usually used for films that are often described as “epic” or monumental.  </a:t>
            </a:r>
          </a:p>
          <a:p>
            <a:r>
              <a:rPr lang="en-US" dirty="0"/>
              <a:t>Such films include “Gladiator”, “Lord of the Rings”, and Braveheart.</a:t>
            </a:r>
          </a:p>
          <a:p>
            <a:endParaRPr lang="en-US" dirty="0"/>
          </a:p>
        </p:txBody>
      </p:sp>
      <p:pic>
        <p:nvPicPr>
          <p:cNvPr id="3074" name="Picture 2" descr="https://78.media.tumblr.com/55fe15581842b13226cc662f476074d9/tumblr_np4n2ts1wE1r5m80bo3_1280.jpg">
            <a:extLst>
              <a:ext uri="{FF2B5EF4-FFF2-40B4-BE49-F238E27FC236}">
                <a16:creationId xmlns:a16="http://schemas.microsoft.com/office/drawing/2014/main" id="{4B33B951-A177-4EF0-9DC2-82D7721A18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262" y="2556932"/>
            <a:ext cx="6799461" cy="280477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651AE82-25E1-4389-A19D-DFE44D43469B}"/>
              </a:ext>
            </a:extLst>
          </p:cNvPr>
          <p:cNvSpPr/>
          <p:nvPr/>
        </p:nvSpPr>
        <p:spPr>
          <a:xfrm>
            <a:off x="8610096" y="4896488"/>
            <a:ext cx="2228495" cy="369332"/>
          </a:xfrm>
          <a:prstGeom prst="rect">
            <a:avLst/>
          </a:prstGeom>
        </p:spPr>
        <p:txBody>
          <a:bodyPr wrap="none">
            <a:spAutoFit/>
          </a:bodyPr>
          <a:lstStyle/>
          <a:p>
            <a:r>
              <a:rPr lang="en-US" b="1" dirty="0">
                <a:solidFill>
                  <a:schemeClr val="bg1"/>
                </a:solidFill>
              </a:rPr>
              <a:t>2:35:1 aspect ratio</a:t>
            </a:r>
            <a:endParaRPr lang="en-US" dirty="0">
              <a:solidFill>
                <a:schemeClr val="bg1"/>
              </a:solidFill>
            </a:endParaRPr>
          </a:p>
        </p:txBody>
      </p:sp>
    </p:spTree>
    <p:extLst>
      <p:ext uri="{BB962C8B-B14F-4D97-AF65-F5344CB8AC3E}">
        <p14:creationId xmlns:p14="http://schemas.microsoft.com/office/powerpoint/2010/main" val="3914525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Common Aspect Ratio Formats</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lstStyle/>
          <a:p>
            <a:r>
              <a:rPr lang="en-US" dirty="0">
                <a:solidFill>
                  <a:schemeClr val="tx1"/>
                </a:solidFill>
              </a:rPr>
              <a:t>A standard television screen has a 1.33 to 1 aspect ratio</a:t>
            </a:r>
          </a:p>
          <a:p>
            <a:r>
              <a:rPr lang="en-US" dirty="0">
                <a:solidFill>
                  <a:schemeClr val="tx1"/>
                </a:solidFill>
              </a:rPr>
              <a:t>The 1.78:1 or </a:t>
            </a:r>
            <a:r>
              <a:rPr lang="en-US" b="1" dirty="0">
                <a:solidFill>
                  <a:schemeClr val="tx1"/>
                </a:solidFill>
              </a:rPr>
              <a:t>16:9</a:t>
            </a:r>
            <a:r>
              <a:rPr lang="en-US" dirty="0">
                <a:solidFill>
                  <a:schemeClr val="tx1"/>
                </a:solidFill>
              </a:rPr>
              <a:t> aspect ratio was introduced to televisions due to a higher demand.</a:t>
            </a:r>
          </a:p>
          <a:p>
            <a:r>
              <a:rPr lang="en-US" dirty="0">
                <a:solidFill>
                  <a:schemeClr val="tx1"/>
                </a:solidFill>
              </a:rPr>
              <a:t>Since the 16:9 Aspect ratio is closer to the theatrical screen ratio of 1.85 to 1, when cropped for widescreen television, the theatrical aspect ratio of 1.85 to 1 does not lose noticeable picture information.</a:t>
            </a:r>
          </a:p>
          <a:p>
            <a:endParaRPr lang="en-US" dirty="0"/>
          </a:p>
          <a:p>
            <a:endParaRPr lang="en-US" dirty="0"/>
          </a:p>
        </p:txBody>
      </p:sp>
    </p:spTree>
    <p:extLst>
      <p:ext uri="{BB962C8B-B14F-4D97-AF65-F5344CB8AC3E}">
        <p14:creationId xmlns:p14="http://schemas.microsoft.com/office/powerpoint/2010/main" val="36130681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Common Aspect Ratio Formats</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normAutofit lnSpcReduction="10000"/>
          </a:bodyPr>
          <a:lstStyle/>
          <a:p>
            <a:r>
              <a:rPr lang="en-US" dirty="0"/>
              <a:t>The difference  between the width and the height of the movie screen is much greater than the difference between the width and the height of a standard television screen. </a:t>
            </a:r>
          </a:p>
          <a:p>
            <a:r>
              <a:rPr lang="en-US" dirty="0"/>
              <a:t>For example, if you were to show Gladiator on a conventional television screen without altering the image, you would lose about 20% of the image on each end.</a:t>
            </a:r>
          </a:p>
          <a:p>
            <a:r>
              <a:rPr lang="en-US" dirty="0"/>
              <a:t> Fortunately there are techniques that can adjust the proportional difference between motion picture images and television screens. </a:t>
            </a:r>
          </a:p>
          <a:p>
            <a:endParaRPr lang="en-US" dirty="0"/>
          </a:p>
        </p:txBody>
      </p:sp>
    </p:spTree>
    <p:extLst>
      <p:ext uri="{BB962C8B-B14F-4D97-AF65-F5344CB8AC3E}">
        <p14:creationId xmlns:p14="http://schemas.microsoft.com/office/powerpoint/2010/main" val="105440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Pan &amp; Scan</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1295401" y="2912534"/>
            <a:ext cx="9479972" cy="3318936"/>
          </a:xfrm>
        </p:spPr>
        <p:txBody>
          <a:bodyPr>
            <a:normAutofit/>
          </a:bodyPr>
          <a:lstStyle/>
          <a:p>
            <a:r>
              <a:rPr lang="en-US" dirty="0"/>
              <a:t>The introduction on video once again presented a challenge to the film industry, in which film had to be cropped from the original size to fit the 1.33:1 screen shape of the television.</a:t>
            </a:r>
          </a:p>
          <a:p>
            <a:endParaRPr lang="en-US" dirty="0"/>
          </a:p>
          <a:p>
            <a:r>
              <a:rPr lang="en-US" dirty="0"/>
              <a:t>20</a:t>
            </a:r>
            <a:r>
              <a:rPr lang="en-US" baseline="30000" dirty="0"/>
              <a:t>th</a:t>
            </a:r>
            <a:r>
              <a:rPr lang="en-US" dirty="0"/>
              <a:t> Century Fox developed the Pan &amp; Scan process to resize widescreen movies so that they fit a 1.33:1 aspect ratio.</a:t>
            </a:r>
          </a:p>
        </p:txBody>
      </p:sp>
    </p:spTree>
    <p:extLst>
      <p:ext uri="{BB962C8B-B14F-4D97-AF65-F5344CB8AC3E}">
        <p14:creationId xmlns:p14="http://schemas.microsoft.com/office/powerpoint/2010/main" val="663664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Pan &amp; Scan</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670214" y="2720067"/>
            <a:ext cx="4909333" cy="3318936"/>
          </a:xfrm>
        </p:spPr>
        <p:txBody>
          <a:bodyPr>
            <a:noAutofit/>
          </a:bodyPr>
          <a:lstStyle/>
          <a:p>
            <a:r>
              <a:rPr lang="en-US" sz="2000" dirty="0"/>
              <a:t>Image is “cropped”, “resized” or zoomed in to capture main focus of film, often sacrificing some screen space.</a:t>
            </a:r>
          </a:p>
          <a:p>
            <a:r>
              <a:rPr lang="en-US" sz="2000" dirty="0">
                <a:solidFill>
                  <a:schemeClr val="tx1"/>
                </a:solidFill>
              </a:rPr>
              <a:t>Using pan-and-scan, a video technician will adjust the shot by either cutting back and forth between a conversation to follow the action, or by cropping the image according to the center of Interest.</a:t>
            </a:r>
          </a:p>
          <a:p>
            <a:endParaRPr lang="en-US" sz="2000" dirty="0">
              <a:solidFill>
                <a:schemeClr val="tx1"/>
              </a:solidFill>
            </a:endParaRPr>
          </a:p>
          <a:p>
            <a:endParaRPr lang="en-US" sz="2000" dirty="0"/>
          </a:p>
        </p:txBody>
      </p:sp>
      <p:pic>
        <p:nvPicPr>
          <p:cNvPr id="4" name="Picture 2" descr="Image result for pan and scan example">
            <a:extLst>
              <a:ext uri="{FF2B5EF4-FFF2-40B4-BE49-F238E27FC236}">
                <a16:creationId xmlns:a16="http://schemas.microsoft.com/office/drawing/2014/main" id="{20958DC7-8F98-48F8-B3A1-9DE089E98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0067"/>
            <a:ext cx="5724525"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164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Pan &amp; Scan</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4649931" cy="3318936"/>
          </a:xfrm>
        </p:spPr>
        <p:txBody>
          <a:bodyPr>
            <a:normAutofit/>
          </a:bodyPr>
          <a:lstStyle/>
          <a:p>
            <a:r>
              <a:rPr lang="en-US" dirty="0">
                <a:solidFill>
                  <a:schemeClr val="tx1"/>
                </a:solidFill>
              </a:rPr>
              <a:t>A drawback to pan-and-scan is that </a:t>
            </a:r>
            <a:r>
              <a:rPr lang="en-US" b="1" dirty="0">
                <a:solidFill>
                  <a:schemeClr val="tx1"/>
                </a:solidFill>
              </a:rPr>
              <a:t>audiences only see a portion of the image </a:t>
            </a:r>
            <a:r>
              <a:rPr lang="en-US" dirty="0">
                <a:solidFill>
                  <a:schemeClr val="tx1"/>
                </a:solidFill>
              </a:rPr>
              <a:t>on their  television sets,  which alters the way the director intended audiences to view the film. </a:t>
            </a:r>
            <a:endParaRPr lang="en-US" dirty="0"/>
          </a:p>
          <a:p>
            <a:endParaRPr lang="en-US" dirty="0">
              <a:solidFill>
                <a:schemeClr val="tx1"/>
              </a:solidFill>
            </a:endParaRPr>
          </a:p>
          <a:p>
            <a:endParaRPr lang="en-US" dirty="0"/>
          </a:p>
        </p:txBody>
      </p:sp>
      <p:pic>
        <p:nvPicPr>
          <p:cNvPr id="1026" name="Picture 2" descr="Image result for pan and scan example">
            <a:extLst>
              <a:ext uri="{FF2B5EF4-FFF2-40B4-BE49-F238E27FC236}">
                <a16:creationId xmlns:a16="http://schemas.microsoft.com/office/drawing/2014/main" id="{15E435F6-3E5B-4543-B274-92871A35C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0067"/>
            <a:ext cx="5724525"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305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Letterboxing</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4649931" cy="3318936"/>
          </a:xfrm>
        </p:spPr>
        <p:txBody>
          <a:bodyPr>
            <a:normAutofit/>
          </a:bodyPr>
          <a:lstStyle/>
          <a:p>
            <a:r>
              <a:rPr lang="en-US" dirty="0">
                <a:solidFill>
                  <a:schemeClr val="tx1"/>
                </a:solidFill>
              </a:rPr>
              <a:t>Pan &amp; Scan was </a:t>
            </a:r>
            <a:r>
              <a:rPr lang="en-US" i="1" dirty="0">
                <a:solidFill>
                  <a:schemeClr val="tx1"/>
                </a:solidFill>
              </a:rPr>
              <a:t>not</a:t>
            </a:r>
            <a:r>
              <a:rPr lang="en-US" dirty="0">
                <a:solidFill>
                  <a:schemeClr val="tx1"/>
                </a:solidFill>
              </a:rPr>
              <a:t> a viable option for some directors in getting their films onto television.</a:t>
            </a:r>
          </a:p>
          <a:p>
            <a:r>
              <a:rPr lang="en-US" dirty="0">
                <a:solidFill>
                  <a:schemeClr val="tx1"/>
                </a:solidFill>
              </a:rPr>
              <a:t>Many opted instead for letterboxing in order to </a:t>
            </a:r>
            <a:r>
              <a:rPr lang="en-US" b="1" dirty="0">
                <a:solidFill>
                  <a:schemeClr val="tx1"/>
                </a:solidFill>
              </a:rPr>
              <a:t>maintain original movie as seen in theater</a:t>
            </a:r>
            <a:r>
              <a:rPr lang="en-US" dirty="0">
                <a:solidFill>
                  <a:schemeClr val="tx1"/>
                </a:solidFill>
              </a:rPr>
              <a:t>.</a:t>
            </a:r>
          </a:p>
          <a:p>
            <a:endParaRPr lang="en-US" dirty="0"/>
          </a:p>
        </p:txBody>
      </p:sp>
      <p:pic>
        <p:nvPicPr>
          <p:cNvPr id="2050" name="Picture 2" descr="Image result for letterboxing aspect ratio">
            <a:extLst>
              <a:ext uri="{FF2B5EF4-FFF2-40B4-BE49-F238E27FC236}">
                <a16:creationId xmlns:a16="http://schemas.microsoft.com/office/drawing/2014/main" id="{3A3C3359-8AE4-4486-ADA6-A85493EEE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4765"/>
            <a:ext cx="571500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9689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Letterboxing</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4649931" cy="3318936"/>
          </a:xfrm>
        </p:spPr>
        <p:txBody>
          <a:bodyPr>
            <a:normAutofit/>
          </a:bodyPr>
          <a:lstStyle/>
          <a:p>
            <a:r>
              <a:rPr lang="en-US" dirty="0">
                <a:solidFill>
                  <a:schemeClr val="tx1"/>
                </a:solidFill>
              </a:rPr>
              <a:t>Letterboxed images, </a:t>
            </a:r>
            <a:r>
              <a:rPr lang="en-US" b="1" dirty="0">
                <a:solidFill>
                  <a:schemeClr val="tx1"/>
                </a:solidFill>
              </a:rPr>
              <a:t>do not fill the entire screen</a:t>
            </a:r>
            <a:r>
              <a:rPr lang="en-US" dirty="0">
                <a:solidFill>
                  <a:schemeClr val="tx1"/>
                </a:solidFill>
              </a:rPr>
              <a:t>. </a:t>
            </a:r>
          </a:p>
          <a:p>
            <a:r>
              <a:rPr lang="en-US" dirty="0">
                <a:solidFill>
                  <a:schemeClr val="tx1"/>
                </a:solidFill>
              </a:rPr>
              <a:t>Picture is centered along the horizontal plane and shrunk to fit the shape of a television screen. </a:t>
            </a:r>
          </a:p>
          <a:p>
            <a:endParaRPr lang="en-US" dirty="0"/>
          </a:p>
        </p:txBody>
      </p:sp>
      <p:pic>
        <p:nvPicPr>
          <p:cNvPr id="2050" name="Picture 2" descr="Image result for letterboxing aspect ratio">
            <a:extLst>
              <a:ext uri="{FF2B5EF4-FFF2-40B4-BE49-F238E27FC236}">
                <a16:creationId xmlns:a16="http://schemas.microsoft.com/office/drawing/2014/main" id="{3A3C3359-8AE4-4486-ADA6-A85493EEE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4765"/>
            <a:ext cx="571500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620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normAutofit fontScale="90000"/>
          </a:bodyPr>
          <a:lstStyle/>
          <a:p>
            <a:r>
              <a:rPr lang="en-US" dirty="0"/>
              <a:t>Calculating Aspect Ratios for Storyboards</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10355036" cy="3318936"/>
          </a:xfrm>
        </p:spPr>
        <p:txBody>
          <a:bodyPr>
            <a:normAutofit/>
          </a:bodyPr>
          <a:lstStyle/>
          <a:p>
            <a:r>
              <a:rPr lang="en-US" dirty="0">
                <a:solidFill>
                  <a:schemeClr val="tx1"/>
                </a:solidFill>
              </a:rPr>
              <a:t>When working on a Storyboard, one of the first things to define is the aspect ratio.</a:t>
            </a:r>
          </a:p>
          <a:p>
            <a:r>
              <a:rPr lang="en-US" dirty="0">
                <a:solidFill>
                  <a:schemeClr val="tx1"/>
                </a:solidFill>
              </a:rPr>
              <a:t>First decide on height of frame. </a:t>
            </a:r>
            <a:r>
              <a:rPr lang="en-US" i="1" dirty="0">
                <a:solidFill>
                  <a:schemeClr val="tx1"/>
                </a:solidFill>
              </a:rPr>
              <a:t>(For example 4”)</a:t>
            </a:r>
          </a:p>
          <a:p>
            <a:r>
              <a:rPr lang="en-US" dirty="0">
                <a:solidFill>
                  <a:schemeClr val="tx1"/>
                </a:solidFill>
              </a:rPr>
              <a:t>Next multiply by the aspect ratio. </a:t>
            </a:r>
            <a:r>
              <a:rPr lang="en-US" i="1" dirty="0">
                <a:solidFill>
                  <a:schemeClr val="tx1"/>
                </a:solidFill>
              </a:rPr>
              <a:t>(For example 4 x 1.84 = 7.4”)</a:t>
            </a:r>
          </a:p>
          <a:p>
            <a:endParaRPr lang="en-US" dirty="0"/>
          </a:p>
        </p:txBody>
      </p:sp>
    </p:spTree>
    <p:extLst>
      <p:ext uri="{BB962C8B-B14F-4D97-AF65-F5344CB8AC3E}">
        <p14:creationId xmlns:p14="http://schemas.microsoft.com/office/powerpoint/2010/main" val="2360759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normAutofit fontScale="90000"/>
          </a:bodyPr>
          <a:lstStyle/>
          <a:p>
            <a:r>
              <a:rPr lang="en-US" dirty="0"/>
              <a:t>Calculating Aspect Ratios for Storyboards</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10355036" cy="3318936"/>
          </a:xfrm>
        </p:spPr>
        <p:txBody>
          <a:bodyPr>
            <a:normAutofit/>
          </a:bodyPr>
          <a:lstStyle/>
          <a:p>
            <a:r>
              <a:rPr lang="en-US" dirty="0">
                <a:solidFill>
                  <a:schemeClr val="tx1"/>
                </a:solidFill>
              </a:rPr>
              <a:t>You may also calculate the aspect ratio for a film or animation if you already know the height and width of the screen.</a:t>
            </a:r>
          </a:p>
          <a:p>
            <a:r>
              <a:rPr lang="en-US" dirty="0">
                <a:solidFill>
                  <a:schemeClr val="tx1"/>
                </a:solidFill>
              </a:rPr>
              <a:t>Divide the screens with by its height to calculate the aspect ratio.</a:t>
            </a:r>
          </a:p>
          <a:p>
            <a:pPr marL="0" indent="0">
              <a:buNone/>
            </a:pPr>
            <a:r>
              <a:rPr lang="en-US" sz="1800" i="1" dirty="0">
                <a:solidFill>
                  <a:schemeClr val="tx1"/>
                </a:solidFill>
              </a:rPr>
              <a:t>(  For example, a screen width of 4 is divided by a screen height of 3  is equal to an aspect ratio of 1.33:1. )</a:t>
            </a:r>
          </a:p>
          <a:p>
            <a:endParaRPr lang="en-US" sz="1800" i="1" dirty="0">
              <a:solidFill>
                <a:schemeClr val="tx1"/>
              </a:solidFill>
            </a:endParaRPr>
          </a:p>
          <a:p>
            <a:endParaRPr lang="en-US" dirty="0"/>
          </a:p>
        </p:txBody>
      </p:sp>
    </p:spTree>
    <p:extLst>
      <p:ext uri="{BB962C8B-B14F-4D97-AF65-F5344CB8AC3E}">
        <p14:creationId xmlns:p14="http://schemas.microsoft.com/office/powerpoint/2010/main" val="3668413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In Summary</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t>Modern storyboards </a:t>
            </a:r>
            <a:r>
              <a:rPr lang="en-US" b="1" dirty="0"/>
              <a:t>got started from animation </a:t>
            </a:r>
            <a:r>
              <a:rPr lang="en-US" dirty="0"/>
              <a:t>such as Disney Studios.</a:t>
            </a:r>
          </a:p>
          <a:p>
            <a:r>
              <a:rPr lang="en-US" dirty="0"/>
              <a:t>Early filmmakers soon adopted the practice for their films.</a:t>
            </a:r>
          </a:p>
        </p:txBody>
      </p:sp>
    </p:spTree>
    <p:extLst>
      <p:ext uri="{BB962C8B-B14F-4D97-AF65-F5344CB8AC3E}">
        <p14:creationId xmlns:p14="http://schemas.microsoft.com/office/powerpoint/2010/main" val="400963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In Summary</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t>In early animation, there was no story department. The </a:t>
            </a:r>
            <a:r>
              <a:rPr lang="en-US" b="1" dirty="0"/>
              <a:t>studios relied on animators</a:t>
            </a:r>
            <a:r>
              <a:rPr lang="en-US" dirty="0"/>
              <a:t> to come up with jokes and visual gags.</a:t>
            </a:r>
          </a:p>
          <a:p>
            <a:r>
              <a:rPr lang="en-US" dirty="0"/>
              <a:t>Disney formed their first story department in the 1930s.</a:t>
            </a:r>
          </a:p>
          <a:p>
            <a:r>
              <a:rPr lang="en-US" dirty="0"/>
              <a:t>Directors such as Alfred Hitchcock and Orson Welles adopted storyboards soon after, </a:t>
            </a:r>
            <a:r>
              <a:rPr lang="en-US" b="1" dirty="0"/>
              <a:t>to plan out complex shots</a:t>
            </a:r>
            <a:r>
              <a:rPr lang="en-US" dirty="0"/>
              <a:t>.</a:t>
            </a:r>
          </a:p>
        </p:txBody>
      </p:sp>
    </p:spTree>
    <p:extLst>
      <p:ext uri="{BB962C8B-B14F-4D97-AF65-F5344CB8AC3E}">
        <p14:creationId xmlns:p14="http://schemas.microsoft.com/office/powerpoint/2010/main" val="1967497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In Summary</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solidFill>
                  <a:schemeClr val="tx1"/>
                </a:solidFill>
              </a:rPr>
              <a:t>In the early years of film, The aspect ratio was </a:t>
            </a:r>
            <a:r>
              <a:rPr lang="en-US" b="1" dirty="0">
                <a:solidFill>
                  <a:schemeClr val="tx1"/>
                </a:solidFill>
              </a:rPr>
              <a:t>1.33:1 </a:t>
            </a:r>
            <a:r>
              <a:rPr lang="en-US" dirty="0">
                <a:solidFill>
                  <a:schemeClr val="tx1"/>
                </a:solidFill>
              </a:rPr>
              <a:t>which is a mostly square-like shape.</a:t>
            </a:r>
          </a:p>
          <a:p>
            <a:r>
              <a:rPr lang="en-US" b="1" dirty="0">
                <a:solidFill>
                  <a:schemeClr val="tx1"/>
                </a:solidFill>
              </a:rPr>
              <a:t>Competition</a:t>
            </a:r>
            <a:r>
              <a:rPr lang="en-US" dirty="0">
                <a:solidFill>
                  <a:schemeClr val="tx1"/>
                </a:solidFill>
              </a:rPr>
              <a:t> from television </a:t>
            </a:r>
            <a:r>
              <a:rPr lang="en-US" b="1" dirty="0">
                <a:solidFill>
                  <a:schemeClr val="tx1"/>
                </a:solidFill>
              </a:rPr>
              <a:t>drove movie industry to develop widescreen </a:t>
            </a:r>
            <a:r>
              <a:rPr lang="en-US" dirty="0">
                <a:solidFill>
                  <a:schemeClr val="tx1"/>
                </a:solidFill>
              </a:rPr>
              <a:t>formats that offered a bigger picture, using more of the viewer's peripheral vision.</a:t>
            </a:r>
          </a:p>
          <a:p>
            <a:r>
              <a:rPr lang="en-US" dirty="0">
                <a:solidFill>
                  <a:schemeClr val="tx1"/>
                </a:solidFill>
              </a:rPr>
              <a:t>Cinerama and </a:t>
            </a:r>
            <a:r>
              <a:rPr lang="en-US" dirty="0" err="1">
                <a:solidFill>
                  <a:schemeClr val="tx1"/>
                </a:solidFill>
              </a:rPr>
              <a:t>Cinescope</a:t>
            </a:r>
            <a:r>
              <a:rPr lang="en-US" dirty="0">
                <a:solidFill>
                  <a:schemeClr val="tx1"/>
                </a:solidFill>
              </a:rPr>
              <a:t> were two popular widescreen formats in the 1950s. These gave way to Panavision, and the standard aspect ratios of </a:t>
            </a:r>
            <a:r>
              <a:rPr lang="en-US" b="1" dirty="0">
                <a:solidFill>
                  <a:schemeClr val="tx1"/>
                </a:solidFill>
              </a:rPr>
              <a:t>1.85:1</a:t>
            </a:r>
            <a:r>
              <a:rPr lang="en-US" dirty="0">
                <a:solidFill>
                  <a:schemeClr val="tx1"/>
                </a:solidFill>
              </a:rPr>
              <a:t> and </a:t>
            </a:r>
            <a:r>
              <a:rPr lang="en-US" b="1" dirty="0">
                <a:solidFill>
                  <a:schemeClr val="tx1"/>
                </a:solidFill>
              </a:rPr>
              <a:t>2.35:1</a:t>
            </a:r>
            <a:r>
              <a:rPr lang="en-US" dirty="0">
                <a:solidFill>
                  <a:schemeClr val="tx1"/>
                </a:solidFill>
              </a:rPr>
              <a:t>.</a:t>
            </a:r>
            <a:endParaRPr lang="en-US" dirty="0"/>
          </a:p>
        </p:txBody>
      </p:sp>
    </p:spTree>
    <p:extLst>
      <p:ext uri="{BB962C8B-B14F-4D97-AF65-F5344CB8AC3E}">
        <p14:creationId xmlns:p14="http://schemas.microsoft.com/office/powerpoint/2010/main" val="21585322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In Summary</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solidFill>
                  <a:schemeClr val="tx1"/>
                </a:solidFill>
              </a:rPr>
              <a:t>Widescreen formats had to be formatted for TV screens when films began to be shown there.</a:t>
            </a:r>
          </a:p>
          <a:p>
            <a:r>
              <a:rPr lang="en-US" dirty="0">
                <a:solidFill>
                  <a:schemeClr val="tx1"/>
                </a:solidFill>
              </a:rPr>
              <a:t>The industry came up with the technique of </a:t>
            </a:r>
            <a:r>
              <a:rPr lang="en-US" b="1" dirty="0">
                <a:solidFill>
                  <a:schemeClr val="tx1"/>
                </a:solidFill>
              </a:rPr>
              <a:t>Pan &amp; Scan</a:t>
            </a:r>
            <a:r>
              <a:rPr lang="en-US" dirty="0">
                <a:solidFill>
                  <a:schemeClr val="tx1"/>
                </a:solidFill>
              </a:rPr>
              <a:t>, which resizes the picture by finding the center of interest and cutting out around it.</a:t>
            </a:r>
          </a:p>
          <a:p>
            <a:r>
              <a:rPr lang="en-US" dirty="0">
                <a:solidFill>
                  <a:schemeClr val="tx1"/>
                </a:solidFill>
              </a:rPr>
              <a:t>The </a:t>
            </a:r>
            <a:r>
              <a:rPr lang="en-US" b="1" dirty="0">
                <a:solidFill>
                  <a:schemeClr val="tx1"/>
                </a:solidFill>
              </a:rPr>
              <a:t>letterbox</a:t>
            </a:r>
            <a:r>
              <a:rPr lang="en-US" dirty="0">
                <a:solidFill>
                  <a:schemeClr val="tx1"/>
                </a:solidFill>
              </a:rPr>
              <a:t> technique offered an alternative that adapted the size of the original image to fit the screen without losing any part of the image.</a:t>
            </a:r>
          </a:p>
        </p:txBody>
      </p:sp>
    </p:spTree>
    <p:extLst>
      <p:ext uri="{BB962C8B-B14F-4D97-AF65-F5344CB8AC3E}">
        <p14:creationId xmlns:p14="http://schemas.microsoft.com/office/powerpoint/2010/main" val="1313659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In Summary</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t>Before determining anything else in the storyboard, a storyboard artist must establish the shape of the panel.</a:t>
            </a:r>
          </a:p>
          <a:p>
            <a:r>
              <a:rPr lang="en-US" dirty="0"/>
              <a:t> Many choose the aspect ratio to be used in the film.</a:t>
            </a:r>
          </a:p>
          <a:p>
            <a:r>
              <a:rPr lang="en-US" dirty="0"/>
              <a:t>This refers to the relation between the width </a:t>
            </a:r>
            <a:r>
              <a:rPr lang="en-US"/>
              <a:t>and height.</a:t>
            </a:r>
            <a:endParaRPr lang="en-US" dirty="0"/>
          </a:p>
        </p:txBody>
      </p:sp>
    </p:spTree>
    <p:extLst>
      <p:ext uri="{BB962C8B-B14F-4D97-AF65-F5344CB8AC3E}">
        <p14:creationId xmlns:p14="http://schemas.microsoft.com/office/powerpoint/2010/main" val="225081978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Custom 1">
      <a:dk1>
        <a:sysClr val="windowText" lastClr="000000"/>
      </a:dk1>
      <a:lt1>
        <a:sysClr val="window" lastClr="FFFFFF"/>
      </a:lt1>
      <a:dk2>
        <a:srgbClr val="212121"/>
      </a:dk2>
      <a:lt2>
        <a:srgbClr val="DADADA"/>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Custom 1">
      <a:majorFont>
        <a:latin typeface="Century Gothic"/>
        <a:ea typeface=""/>
        <a:cs typeface=""/>
      </a:majorFont>
      <a:minorFont>
        <a:latin typeface="Century Gothic"/>
        <a:ea typeface=""/>
        <a:cs typeface=""/>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2716</TotalTime>
  <Words>5479</Words>
  <Application>Microsoft Macintosh PowerPoint</Application>
  <PresentationFormat>Widescreen</PresentationFormat>
  <Paragraphs>382</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Century Gothic</vt:lpstr>
      <vt:lpstr>Helvetica</vt:lpstr>
      <vt:lpstr>Times New Roman</vt:lpstr>
      <vt:lpstr>Organic</vt:lpstr>
      <vt:lpstr>Aspect Ratios</vt:lpstr>
      <vt:lpstr>Storyboarding and Aspect Ratios</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Early History of the Storyboard </vt:lpstr>
      <vt:lpstr>What are Aspect Ratios</vt:lpstr>
      <vt:lpstr>What are Aspect Ratios</vt:lpstr>
      <vt:lpstr>History of Aspect Ratios</vt:lpstr>
      <vt:lpstr>History of Aspect Ratios</vt:lpstr>
      <vt:lpstr>History of  Aspect Ratios</vt:lpstr>
      <vt:lpstr>History of  Aspect Ratios</vt:lpstr>
      <vt:lpstr>PowerPoint Presentation</vt:lpstr>
      <vt:lpstr>PowerPoint Presentation</vt:lpstr>
      <vt:lpstr>PowerPoint Presentation</vt:lpstr>
      <vt:lpstr>PowerPoint Presentation</vt:lpstr>
      <vt:lpstr>PowerPoint Presentation</vt:lpstr>
      <vt:lpstr>Common Aspect Ratio Formats</vt:lpstr>
      <vt:lpstr>Common Aspect Ratio Formats</vt:lpstr>
      <vt:lpstr>Common Aspect Ratio Formats</vt:lpstr>
      <vt:lpstr>Common Aspect Ratio Formats</vt:lpstr>
      <vt:lpstr>Pan &amp; Scan</vt:lpstr>
      <vt:lpstr>Pan &amp; Scan</vt:lpstr>
      <vt:lpstr>Pan &amp; Scan</vt:lpstr>
      <vt:lpstr>Letterboxing</vt:lpstr>
      <vt:lpstr>Letterboxing</vt:lpstr>
      <vt:lpstr>Calculating Aspect Ratios for Storyboards</vt:lpstr>
      <vt:lpstr>Calculating Aspect Ratios for Storyboards</vt:lpstr>
      <vt:lpstr>In Summary</vt:lpstr>
      <vt:lpstr>In Summary</vt:lpstr>
      <vt:lpstr>In Summary</vt:lpstr>
      <vt:lpstr>In Summary</vt:lpstr>
      <vt:lpstr>In Summary</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Game Design</dc:title>
  <dc:creator>Daniel</dc:creator>
  <cp:lastModifiedBy>Microsoft Office User</cp:lastModifiedBy>
  <cp:revision>199</cp:revision>
  <dcterms:created xsi:type="dcterms:W3CDTF">2016-01-10T17:17:42Z</dcterms:created>
  <dcterms:modified xsi:type="dcterms:W3CDTF">2020-01-31T17:08:24Z</dcterms:modified>
</cp:coreProperties>
</file>