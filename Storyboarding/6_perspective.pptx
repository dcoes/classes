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8" r:id="rId31"/>
    <p:sldId id="289" r:id="rId32"/>
    <p:sldId id="285" r:id="rId33"/>
    <p:sldId id="290" r:id="rId34"/>
    <p:sldId id="286" r:id="rId35"/>
    <p:sldId id="287" r:id="rId36"/>
    <p:sldId id="291" r:id="rId37"/>
    <p:sldId id="292"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t>Sdg sdf adsf awer q4j  </a:t>
            </a:r>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a:t>
            </a:fld>
            <a:endParaRPr lang="en-US"/>
          </a:p>
        </p:txBody>
      </p:sp>
    </p:spTree>
    <p:extLst>
      <p:ext uri="{BB962C8B-B14F-4D97-AF65-F5344CB8AC3E}">
        <p14:creationId xmlns:p14="http://schemas.microsoft.com/office/powerpoint/2010/main" val="2770150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see the world in three dimensions, but </a:t>
            </a:r>
            <a:r>
              <a:rPr lang="en-US" sz="1200" b="1" kern="1200" dirty="0">
                <a:solidFill>
                  <a:schemeClr val="tx1"/>
                </a:solidFill>
                <a:effectLst/>
                <a:latin typeface="+mn-lt"/>
                <a:ea typeface="+mn-ea"/>
                <a:cs typeface="+mn-cs"/>
              </a:rPr>
              <a:t>when that world is recorded on to film or video</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depth becomes illusion</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concept of perspective is based on the way the human eye sees the world.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Our eyes are constantly in motion, scanning objects and the environment.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View the world from different positions that alter the way objects appear.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If we look out the window from the 6th floor of an apartment complex, for instance, the environment looks much different than if we were on the ground looking up.</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2</a:t>
            </a:fld>
            <a:endParaRPr lang="en-US"/>
          </a:p>
        </p:txBody>
      </p:sp>
    </p:spTree>
    <p:extLst>
      <p:ext uri="{BB962C8B-B14F-4D97-AF65-F5344CB8AC3E}">
        <p14:creationId xmlns:p14="http://schemas.microsoft.com/office/powerpoint/2010/main" val="4197857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latinLnBrk="1"/>
            <a:r>
              <a:rPr lang="en-US" sz="1200" kern="1200" dirty="0">
                <a:solidFill>
                  <a:schemeClr val="tx1"/>
                </a:solidFill>
                <a:effectLst/>
                <a:latin typeface="+mn-lt"/>
                <a:ea typeface="+mn-ea"/>
                <a:cs typeface="+mn-cs"/>
              </a:rPr>
              <a:t>So what happens when you want to convey a feeling of depth, but the material you are working with is essentially flat, and two dimensional? </a:t>
            </a:r>
          </a:p>
          <a:p>
            <a:pPr algn="l" latinLnBrk="1"/>
            <a:r>
              <a:rPr lang="en-US" sz="1200" kern="1200" dirty="0">
                <a:solidFill>
                  <a:schemeClr val="tx1"/>
                </a:solidFill>
                <a:effectLst/>
                <a:latin typeface="+mn-lt"/>
                <a:ea typeface="+mn-ea"/>
                <a:cs typeface="+mn-cs"/>
              </a:rPr>
              <a:t>As a storyboard artist, you need to have a firm grasp on the laws of visual perspective to make objects appear to have Dimension and distance. </a:t>
            </a:r>
          </a:p>
          <a:p>
            <a:pPr algn="l" latinLnBrk="1"/>
            <a:r>
              <a:rPr lang="en-US" sz="1200" kern="1200" dirty="0">
                <a:solidFill>
                  <a:schemeClr val="tx1"/>
                </a:solidFill>
                <a:effectLst/>
                <a:latin typeface="+mn-lt"/>
                <a:ea typeface="+mn-ea"/>
                <a:cs typeface="+mn-cs"/>
              </a:rPr>
              <a:t>Understanding perspective allows you to consider different viewpoints of a shot. </a:t>
            </a:r>
          </a:p>
          <a:p>
            <a:pPr algn="l"/>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a:t>
            </a:fld>
            <a:endParaRPr lang="en-US"/>
          </a:p>
        </p:txBody>
      </p:sp>
    </p:spTree>
    <p:extLst>
      <p:ext uri="{BB962C8B-B14F-4D97-AF65-F5344CB8AC3E}">
        <p14:creationId xmlns:p14="http://schemas.microsoft.com/office/powerpoint/2010/main" val="1385339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most regarded system of representation </a:t>
            </a:r>
            <a:r>
              <a:rPr lang="en-US" sz="1200" b="1" kern="1200" dirty="0">
                <a:solidFill>
                  <a:schemeClr val="tx1"/>
                </a:solidFill>
                <a:effectLst/>
                <a:latin typeface="+mn-lt"/>
                <a:ea typeface="+mn-ea"/>
                <a:cs typeface="+mn-cs"/>
              </a:rPr>
              <a:t>is linear perspective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Critical to linear perspective is </a:t>
            </a:r>
            <a:r>
              <a:rPr lang="en-US" sz="1200" b="1" kern="1200" dirty="0">
                <a:solidFill>
                  <a:schemeClr val="tx1"/>
                </a:solidFill>
                <a:effectLst/>
                <a:latin typeface="+mn-lt"/>
                <a:ea typeface="+mn-ea"/>
                <a:cs typeface="+mn-cs"/>
              </a:rPr>
              <a:t>lens choice</a:t>
            </a:r>
            <a:r>
              <a:rPr lang="en-US" sz="1200" kern="1200" dirty="0">
                <a:solidFill>
                  <a:schemeClr val="tx1"/>
                </a:solidFill>
                <a:effectLst/>
                <a:latin typeface="+mn-lt"/>
                <a:ea typeface="+mn-ea"/>
                <a:cs typeface="+mn-cs"/>
              </a:rPr>
              <a:t>, and the </a:t>
            </a:r>
            <a:r>
              <a:rPr lang="en-US" sz="1200" b="1" kern="1200" dirty="0">
                <a:solidFill>
                  <a:schemeClr val="tx1"/>
                </a:solidFill>
                <a:effectLst/>
                <a:latin typeface="+mn-lt"/>
                <a:ea typeface="+mn-ea"/>
                <a:cs typeface="+mn-cs"/>
              </a:rPr>
              <a:t>distance between the camera and the subject.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Perspective will </a:t>
            </a:r>
            <a:r>
              <a:rPr lang="en-US" sz="1200" b="1" kern="1200" dirty="0">
                <a:solidFill>
                  <a:schemeClr val="tx1"/>
                </a:solidFill>
                <a:effectLst/>
                <a:latin typeface="+mn-lt"/>
                <a:ea typeface="+mn-ea"/>
                <a:cs typeface="+mn-cs"/>
              </a:rPr>
              <a:t>change anytime the lens or camera position is rearranged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Other important cues include overlapping texture, spacing, size, and foreshortening. </a:t>
            </a:r>
          </a:p>
          <a:p>
            <a:r>
              <a:rPr lang="en-US" sz="1200" kern="1200" dirty="0">
                <a:solidFill>
                  <a:schemeClr val="tx1"/>
                </a:solidFill>
                <a:effectLst/>
                <a:latin typeface="+mn-lt"/>
                <a:ea typeface="+mn-ea"/>
                <a:cs typeface="+mn-cs"/>
              </a:rPr>
              <a:t>A</a:t>
            </a:r>
            <a:r>
              <a:rPr lang="en-US" sz="1200" kern="1200" baseline="0" dirty="0">
                <a:solidFill>
                  <a:schemeClr val="tx1"/>
                </a:solidFill>
                <a:effectLst/>
                <a:latin typeface="+mn-lt"/>
                <a:ea typeface="+mn-ea"/>
                <a:cs typeface="+mn-cs"/>
              </a:rPr>
              <a:t> basic understanding of perspective is vital to creating dynamic and understandable storyboards.</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4</a:t>
            </a:fld>
            <a:endParaRPr lang="en-US"/>
          </a:p>
        </p:txBody>
      </p:sp>
    </p:spTree>
    <p:extLst>
      <p:ext uri="{BB962C8B-B14F-4D97-AF65-F5344CB8AC3E}">
        <p14:creationId xmlns:p14="http://schemas.microsoft.com/office/powerpoint/2010/main" val="233211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picture plane is similar to an actual window. </a:t>
            </a:r>
          </a:p>
          <a:p>
            <a:r>
              <a:rPr lang="en-US" sz="1200" kern="1200" dirty="0">
                <a:solidFill>
                  <a:schemeClr val="tx1"/>
                </a:solidFill>
                <a:effectLst/>
                <a:latin typeface="+mn-lt"/>
                <a:ea typeface="+mn-ea"/>
                <a:cs typeface="+mn-cs"/>
              </a:rPr>
              <a:t>As we look out of a window, we can draw exactly what we see on the surface. </a:t>
            </a:r>
          </a:p>
          <a:p>
            <a:r>
              <a:rPr lang="en-US" sz="1200" kern="1200" dirty="0">
                <a:solidFill>
                  <a:schemeClr val="tx1"/>
                </a:solidFill>
                <a:effectLst/>
                <a:latin typeface="+mn-lt"/>
                <a:ea typeface="+mn-ea"/>
                <a:cs typeface="+mn-cs"/>
              </a:rPr>
              <a:t>In order to view an object, you must direct the gaze in the direction of the object in question, which is referred to as the line of sight or eye line. </a:t>
            </a:r>
          </a:p>
          <a:p>
            <a:r>
              <a:rPr lang="en-US" sz="1200" kern="1200" dirty="0">
                <a:solidFill>
                  <a:schemeClr val="tx1"/>
                </a:solidFill>
                <a:effectLst/>
                <a:latin typeface="+mn-lt"/>
                <a:ea typeface="+mn-ea"/>
                <a:cs typeface="+mn-cs"/>
              </a:rPr>
              <a:t>If your eye line shifts, the window needs to shift as well, otherwise the scene outside will move out of alignment. </a:t>
            </a:r>
          </a:p>
          <a:p>
            <a:r>
              <a:rPr lang="en-US" sz="1200" kern="1200" dirty="0">
                <a:solidFill>
                  <a:schemeClr val="tx1"/>
                </a:solidFill>
                <a:effectLst/>
                <a:latin typeface="+mn-lt"/>
                <a:ea typeface="+mn-ea"/>
                <a:cs typeface="+mn-cs"/>
              </a:rPr>
              <a:t>That is Because the imaginary picture plane follows or every move. It moves wherever or eyes move.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instance, if we shift or line of sight up or down, the picture plane also goes up or down. </a:t>
            </a:r>
          </a:p>
          <a:p>
            <a:r>
              <a:rPr lang="en-US" sz="1200" kern="1200" dirty="0">
                <a:solidFill>
                  <a:schemeClr val="tx1"/>
                </a:solidFill>
                <a:effectLst/>
                <a:latin typeface="+mn-lt"/>
                <a:ea typeface="+mn-ea"/>
                <a:cs typeface="+mn-cs"/>
              </a:rPr>
              <a:t>If we look left or right, so will the picture plane. </a:t>
            </a:r>
          </a:p>
          <a:p>
            <a:r>
              <a:rPr lang="en-US" sz="1200" kern="1200" dirty="0">
                <a:solidFill>
                  <a:schemeClr val="tx1"/>
                </a:solidFill>
                <a:effectLst/>
                <a:latin typeface="+mn-lt"/>
                <a:ea typeface="+mn-ea"/>
                <a:cs typeface="+mn-cs"/>
              </a:rPr>
              <a:t>As you plan your storyboards, think of your drawing paper as the picture plane through which you view locations in objects from different Vantage points.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5</a:t>
            </a:fld>
            <a:endParaRPr lang="en-US"/>
          </a:p>
        </p:txBody>
      </p:sp>
    </p:spTree>
    <p:extLst>
      <p:ext uri="{BB962C8B-B14F-4D97-AF65-F5344CB8AC3E}">
        <p14:creationId xmlns:p14="http://schemas.microsoft.com/office/powerpoint/2010/main" val="878962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Standing at the foot of this shoreline shown</a:t>
            </a:r>
            <a:r>
              <a:rPr lang="en-US" sz="1200" kern="1200" baseline="0" dirty="0">
                <a:solidFill>
                  <a:schemeClr val="tx1"/>
                </a:solidFill>
                <a:effectLst/>
                <a:latin typeface="+mn-lt"/>
                <a:ea typeface="+mn-ea"/>
                <a:cs typeface="+mn-cs"/>
              </a:rPr>
              <a:t> here,</a:t>
            </a:r>
            <a:r>
              <a:rPr lang="en-US" sz="1200" kern="1200" dirty="0">
                <a:solidFill>
                  <a:schemeClr val="tx1"/>
                </a:solidFill>
                <a:effectLst/>
                <a:latin typeface="+mn-lt"/>
                <a:ea typeface="+mn-ea"/>
                <a:cs typeface="+mn-cs"/>
              </a:rPr>
              <a:t> looking out toward the ocean, it appears that the ocean meets the sky. </a:t>
            </a:r>
          </a:p>
          <a:p>
            <a:r>
              <a:rPr lang="en-US" sz="1200" kern="1200" dirty="0">
                <a:solidFill>
                  <a:schemeClr val="tx1"/>
                </a:solidFill>
                <a:effectLst/>
                <a:latin typeface="+mn-lt"/>
                <a:ea typeface="+mn-ea"/>
                <a:cs typeface="+mn-cs"/>
              </a:rPr>
              <a:t>This is called The </a:t>
            </a:r>
            <a:r>
              <a:rPr lang="en-US" sz="1200" b="1" kern="1200" dirty="0">
                <a:solidFill>
                  <a:schemeClr val="tx1"/>
                </a:solidFill>
                <a:effectLst/>
                <a:latin typeface="+mn-lt"/>
                <a:ea typeface="+mn-ea"/>
                <a:cs typeface="+mn-cs"/>
              </a:rPr>
              <a:t>Horizon</a:t>
            </a:r>
            <a:r>
              <a:rPr lang="en-US" sz="1200" kern="1200" dirty="0">
                <a:solidFill>
                  <a:schemeClr val="tx1"/>
                </a:solidFill>
                <a:effectLst/>
                <a:latin typeface="+mn-lt"/>
                <a:ea typeface="+mn-ea"/>
                <a:cs typeface="+mn-cs"/>
              </a:rPr>
              <a:t>, which is the same as the </a:t>
            </a:r>
            <a:r>
              <a:rPr lang="en-US" sz="1200" b="1" kern="1200" dirty="0">
                <a:solidFill>
                  <a:schemeClr val="tx1"/>
                </a:solidFill>
                <a:effectLst/>
                <a:latin typeface="+mn-lt"/>
                <a:ea typeface="+mn-ea"/>
                <a:cs typeface="+mn-cs"/>
              </a:rPr>
              <a:t>horizon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line</a:t>
            </a:r>
            <a:r>
              <a:rPr lang="en-US" sz="1200" kern="1200" dirty="0">
                <a:solidFill>
                  <a:schemeClr val="tx1"/>
                </a:solidFill>
                <a:effectLst/>
                <a:latin typeface="+mn-lt"/>
                <a:ea typeface="+mn-ea"/>
                <a:cs typeface="+mn-cs"/>
              </a:rPr>
              <a:t>, an imaginary line that is </a:t>
            </a:r>
            <a:r>
              <a:rPr lang="en-US" sz="1200" i="1" kern="1200" dirty="0">
                <a:solidFill>
                  <a:schemeClr val="tx1"/>
                </a:solidFill>
                <a:effectLst/>
                <a:latin typeface="+mn-lt"/>
                <a:ea typeface="+mn-ea"/>
                <a:cs typeface="+mn-cs"/>
              </a:rPr>
              <a:t>always at or eye level. </a:t>
            </a:r>
          </a:p>
          <a:p>
            <a:r>
              <a:rPr lang="en-US" sz="1200" kern="1200" dirty="0">
                <a:solidFill>
                  <a:schemeClr val="tx1"/>
                </a:solidFill>
                <a:effectLst/>
                <a:latin typeface="+mn-lt"/>
                <a:ea typeface="+mn-ea"/>
                <a:cs typeface="+mn-cs"/>
              </a:rPr>
              <a:t>An object relationship with a horizon line shows whether it is a low-angle, high-angle, or normal view.</a:t>
            </a:r>
          </a:p>
        </p:txBody>
      </p:sp>
      <p:sp>
        <p:nvSpPr>
          <p:cNvPr id="4" name="Slide Number Placeholder 3"/>
          <p:cNvSpPr>
            <a:spLocks noGrp="1"/>
          </p:cNvSpPr>
          <p:nvPr>
            <p:ph type="sldNum" sz="quarter" idx="10"/>
          </p:nvPr>
        </p:nvSpPr>
        <p:spPr/>
        <p:txBody>
          <a:bodyPr/>
          <a:lstStyle/>
          <a:p>
            <a:fld id="{3C7FDB04-D1AC-46DB-9592-CA12D78D404F}" type="slidenum">
              <a:rPr lang="en-US" smtClean="0"/>
              <a:t>6</a:t>
            </a:fld>
            <a:endParaRPr lang="en-US"/>
          </a:p>
        </p:txBody>
      </p:sp>
    </p:spTree>
    <p:extLst>
      <p:ext uri="{BB962C8B-B14F-4D97-AF65-F5344CB8AC3E}">
        <p14:creationId xmlns:p14="http://schemas.microsoft.com/office/powerpoint/2010/main" val="314419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vanishing point is a point on the horizon line where the parallel lines of an object proceed to the Horizon. </a:t>
            </a:r>
          </a:p>
          <a:p>
            <a:r>
              <a:rPr lang="en-US" sz="1200" kern="1200" dirty="0">
                <a:solidFill>
                  <a:schemeClr val="tx1"/>
                </a:solidFill>
                <a:effectLst/>
                <a:latin typeface="+mn-lt"/>
                <a:ea typeface="+mn-ea"/>
                <a:cs typeface="+mn-cs"/>
              </a:rPr>
              <a:t>Objects that are parallel to one another have the same vanishing point. </a:t>
            </a:r>
          </a:p>
          <a:p>
            <a:r>
              <a:rPr lang="en-US" sz="1200" kern="1200" dirty="0">
                <a:solidFill>
                  <a:schemeClr val="tx1"/>
                </a:solidFill>
                <a:effectLst/>
                <a:latin typeface="+mn-lt"/>
                <a:ea typeface="+mn-ea"/>
                <a:cs typeface="+mn-cs"/>
              </a:rPr>
              <a:t>Objects that are different angles have their own vanishing point.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simplest method for understanding the relationship between the Horizon and the vanishing point is to imagine yourself</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standing between two train tracks. </a:t>
            </a:r>
          </a:p>
          <a:p>
            <a:r>
              <a:rPr lang="en-US" sz="1200" kern="1200" dirty="0">
                <a:solidFill>
                  <a:schemeClr val="tx1"/>
                </a:solidFill>
                <a:effectLst/>
                <a:latin typeface="+mn-lt"/>
                <a:ea typeface="+mn-ea"/>
                <a:cs typeface="+mn-cs"/>
              </a:rPr>
              <a:t>When you look toward the Horizon, it appears that the parallel tracks actually converge at a point in the distance.</a:t>
            </a:r>
          </a:p>
        </p:txBody>
      </p:sp>
      <p:sp>
        <p:nvSpPr>
          <p:cNvPr id="4" name="Slide Number Placeholder 3"/>
          <p:cNvSpPr>
            <a:spLocks noGrp="1"/>
          </p:cNvSpPr>
          <p:nvPr>
            <p:ph type="sldNum" sz="quarter" idx="10"/>
          </p:nvPr>
        </p:nvSpPr>
        <p:spPr/>
        <p:txBody>
          <a:bodyPr/>
          <a:lstStyle/>
          <a:p>
            <a:fld id="{3C7FDB04-D1AC-46DB-9592-CA12D78D404F}" type="slidenum">
              <a:rPr lang="en-US" smtClean="0"/>
              <a:t>7</a:t>
            </a:fld>
            <a:endParaRPr lang="en-US"/>
          </a:p>
        </p:txBody>
      </p:sp>
    </p:spTree>
    <p:extLst>
      <p:ext uri="{BB962C8B-B14F-4D97-AF65-F5344CB8AC3E}">
        <p14:creationId xmlns:p14="http://schemas.microsoft.com/office/powerpoint/2010/main" val="116613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One-point perspective is the most common system used to render three-dimensional objects and environments on two-dimensional surfaces. </a:t>
            </a:r>
          </a:p>
          <a:p>
            <a:r>
              <a:rPr lang="en-US" sz="1200" kern="1200" dirty="0">
                <a:solidFill>
                  <a:schemeClr val="tx1"/>
                </a:solidFill>
                <a:effectLst/>
                <a:latin typeface="+mn-lt"/>
                <a:ea typeface="+mn-ea"/>
                <a:cs typeface="+mn-cs"/>
              </a:rPr>
              <a:t>In one point perspective, there is only one vanishing point.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the picture in this slide, we are looking straight down the middle of this passage way. All the lines lead us to that vanishing point. </a:t>
            </a:r>
          </a:p>
          <a:p>
            <a:r>
              <a:rPr lang="en-US" sz="1200" kern="1200" dirty="0">
                <a:solidFill>
                  <a:schemeClr val="tx1"/>
                </a:solidFill>
                <a:effectLst/>
                <a:latin typeface="+mn-lt"/>
                <a:ea typeface="+mn-ea"/>
                <a:cs typeface="+mn-cs"/>
              </a:rPr>
              <a:t>There are generally three types of lines used in one point perspective: vertical lines, horizontal lines, and orthogonal lines.</a:t>
            </a:r>
          </a:p>
          <a:p>
            <a:r>
              <a:rPr lang="en-US" sz="1200" kern="1200" dirty="0">
                <a:solidFill>
                  <a:schemeClr val="tx1"/>
                </a:solidFill>
                <a:effectLst/>
                <a:latin typeface="+mn-lt"/>
                <a:ea typeface="+mn-ea"/>
                <a:cs typeface="+mn-cs"/>
              </a:rPr>
              <a:t>All the curves you see here can also be projected onto this system. Even the crossed wire on the top of the structure gives us a good idea of how this all fits into this system.</a:t>
            </a:r>
          </a:p>
          <a:p>
            <a:r>
              <a:rPr lang="en-US" sz="1200" kern="1200" dirty="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8</a:t>
            </a:fld>
            <a:endParaRPr lang="en-US"/>
          </a:p>
        </p:txBody>
      </p:sp>
    </p:spTree>
    <p:extLst>
      <p:ext uri="{BB962C8B-B14F-4D97-AF65-F5344CB8AC3E}">
        <p14:creationId xmlns:p14="http://schemas.microsoft.com/office/powerpoint/2010/main" val="1090773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Vertical lines are perpendicular to the horizon line and the bottom of your panel.</a:t>
            </a:r>
          </a:p>
          <a:p>
            <a:r>
              <a:rPr lang="en-US" sz="1200" kern="1200" dirty="0">
                <a:solidFill>
                  <a:schemeClr val="tx1"/>
                </a:solidFill>
                <a:effectLst/>
                <a:latin typeface="+mn-lt"/>
                <a:ea typeface="+mn-ea"/>
                <a:cs typeface="+mn-cs"/>
              </a:rPr>
              <a:t>Horizontal lines go from </a:t>
            </a:r>
            <a:r>
              <a:rPr lang="en-US" sz="1200" b="1" kern="1200" dirty="0">
                <a:solidFill>
                  <a:schemeClr val="tx1"/>
                </a:solidFill>
                <a:effectLst/>
                <a:latin typeface="+mn-lt"/>
                <a:ea typeface="+mn-ea"/>
                <a:cs typeface="+mn-cs"/>
              </a:rPr>
              <a:t>left to right and are parallel to the bottom edge </a:t>
            </a:r>
            <a:r>
              <a:rPr lang="en-US" sz="1200" kern="1200" dirty="0">
                <a:solidFill>
                  <a:schemeClr val="tx1"/>
                </a:solidFill>
                <a:effectLst/>
                <a:latin typeface="+mn-lt"/>
                <a:ea typeface="+mn-ea"/>
                <a:cs typeface="+mn-cs"/>
              </a:rPr>
              <a:t>of the panel.</a:t>
            </a:r>
          </a:p>
          <a:p>
            <a:r>
              <a:rPr lang="en-US" sz="1200" kern="1200" dirty="0">
                <a:solidFill>
                  <a:schemeClr val="tx1"/>
                </a:solidFill>
                <a:effectLst/>
                <a:latin typeface="+mn-lt"/>
                <a:ea typeface="+mn-ea"/>
                <a:cs typeface="+mn-cs"/>
              </a:rPr>
              <a:t>Orthogonal lines are parallel lines that </a:t>
            </a:r>
            <a:r>
              <a:rPr lang="en-US" sz="1200" b="1" kern="1200" dirty="0">
                <a:solidFill>
                  <a:schemeClr val="tx1"/>
                </a:solidFill>
                <a:effectLst/>
                <a:latin typeface="+mn-lt"/>
                <a:ea typeface="+mn-ea"/>
                <a:cs typeface="+mn-cs"/>
              </a:rPr>
              <a:t>recede to the vanishing point</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this example here, the orthogonal lines, would be the beams connecting the pillars that go all the way back to the vanishing point. </a:t>
            </a:r>
          </a:p>
          <a:p>
            <a:r>
              <a:rPr lang="en-US" sz="1200" kern="1200" dirty="0">
                <a:solidFill>
                  <a:schemeClr val="tx1"/>
                </a:solidFill>
                <a:effectLst/>
                <a:latin typeface="+mn-lt"/>
                <a:ea typeface="+mn-ea"/>
                <a:cs typeface="+mn-cs"/>
              </a:rPr>
              <a:t>Objects that contain parallel lines may be drawn in one point perspective, such as room interiors, tables and chairs.</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9</a:t>
            </a:fld>
            <a:endParaRPr lang="en-US"/>
          </a:p>
        </p:txBody>
      </p:sp>
    </p:spTree>
    <p:extLst>
      <p:ext uri="{BB962C8B-B14F-4D97-AF65-F5344CB8AC3E}">
        <p14:creationId xmlns:p14="http://schemas.microsoft.com/office/powerpoint/2010/main" val="3375625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Applying two point perspective to your storyboard will help you to draw environments and objects from different angles. </a:t>
            </a:r>
          </a:p>
          <a:p>
            <a:r>
              <a:rPr lang="en-US" sz="1200" kern="1200" dirty="0">
                <a:solidFill>
                  <a:schemeClr val="tx1"/>
                </a:solidFill>
                <a:effectLst/>
                <a:latin typeface="+mn-lt"/>
                <a:ea typeface="+mn-ea"/>
                <a:cs typeface="+mn-cs"/>
              </a:rPr>
              <a:t>Shots drawn in 2 point perspective open up the image so the viewer does not have to look at a wall from straight on or down a passageway to a single point.</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3C7FDB04-D1AC-46DB-9592-CA12D78D404F}" type="slidenum">
              <a:rPr lang="en-US" smtClean="0"/>
              <a:t>10</a:t>
            </a:fld>
            <a:endParaRPr lang="en-US"/>
          </a:p>
        </p:txBody>
      </p:sp>
    </p:spTree>
    <p:extLst>
      <p:ext uri="{BB962C8B-B14F-4D97-AF65-F5344CB8AC3E}">
        <p14:creationId xmlns:p14="http://schemas.microsoft.com/office/powerpoint/2010/main" val="3296438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three sets of lines in 2 point perspective drawings: </a:t>
            </a:r>
          </a:p>
          <a:p>
            <a:r>
              <a:rPr lang="en-US" sz="1200" kern="1200" dirty="0">
                <a:solidFill>
                  <a:schemeClr val="tx1"/>
                </a:solidFill>
                <a:effectLst/>
                <a:latin typeface="+mn-lt"/>
                <a:ea typeface="+mn-ea"/>
                <a:cs typeface="+mn-cs"/>
              </a:rPr>
              <a:t>a set of lines that Converge on the left of a vanishing point, </a:t>
            </a:r>
          </a:p>
          <a:p>
            <a:r>
              <a:rPr lang="en-US" sz="1200" kern="1200" dirty="0">
                <a:solidFill>
                  <a:schemeClr val="tx1"/>
                </a:solidFill>
                <a:effectLst/>
                <a:latin typeface="+mn-lt"/>
                <a:ea typeface="+mn-ea"/>
                <a:cs typeface="+mn-cs"/>
              </a:rPr>
              <a:t>a set of lines that converge on the right at a vanishing point, </a:t>
            </a:r>
          </a:p>
          <a:p>
            <a:r>
              <a:rPr lang="en-US" sz="1200" kern="1200" dirty="0">
                <a:solidFill>
                  <a:schemeClr val="tx1"/>
                </a:solidFill>
                <a:effectLst/>
                <a:latin typeface="+mn-lt"/>
                <a:ea typeface="+mn-ea"/>
                <a:cs typeface="+mn-cs"/>
              </a:rPr>
              <a:t>and vertical lines.</a:t>
            </a:r>
          </a:p>
        </p:txBody>
      </p:sp>
      <p:sp>
        <p:nvSpPr>
          <p:cNvPr id="4" name="Slide Number Placeholder 3"/>
          <p:cNvSpPr>
            <a:spLocks noGrp="1"/>
          </p:cNvSpPr>
          <p:nvPr>
            <p:ph type="sldNum" sz="quarter" idx="10"/>
          </p:nvPr>
        </p:nvSpPr>
        <p:spPr/>
        <p:txBody>
          <a:bodyPr/>
          <a:lstStyle/>
          <a:p>
            <a:fld id="{3C7FDB04-D1AC-46DB-9592-CA12D78D404F}" type="slidenum">
              <a:rPr lang="en-US" smtClean="0"/>
              <a:t>11</a:t>
            </a:fld>
            <a:endParaRPr lang="en-US"/>
          </a:p>
        </p:txBody>
      </p:sp>
    </p:spTree>
    <p:extLst>
      <p:ext uri="{BB962C8B-B14F-4D97-AF65-F5344CB8AC3E}">
        <p14:creationId xmlns:p14="http://schemas.microsoft.com/office/powerpoint/2010/main" val="337823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These lines form a square Corner.</a:t>
            </a:r>
          </a:p>
          <a:p>
            <a:r>
              <a:rPr lang="en-US" sz="1200" kern="1200" dirty="0">
                <a:solidFill>
                  <a:schemeClr val="tx1"/>
                </a:solidFill>
                <a:effectLst/>
                <a:latin typeface="+mn-lt"/>
                <a:ea typeface="+mn-ea"/>
                <a:cs typeface="+mn-cs"/>
              </a:rPr>
              <a:t>If the locations of the vanishing points change, the angle of the object may change, which causes a change in the object's appearance.</a:t>
            </a:r>
          </a:p>
        </p:txBody>
      </p:sp>
      <p:sp>
        <p:nvSpPr>
          <p:cNvPr id="4" name="Slide Number Placeholder 3"/>
          <p:cNvSpPr>
            <a:spLocks noGrp="1"/>
          </p:cNvSpPr>
          <p:nvPr>
            <p:ph type="sldNum" sz="quarter" idx="10"/>
          </p:nvPr>
        </p:nvSpPr>
        <p:spPr/>
        <p:txBody>
          <a:bodyPr/>
          <a:lstStyle/>
          <a:p>
            <a:fld id="{3C7FDB04-D1AC-46DB-9592-CA12D78D404F}" type="slidenum">
              <a:rPr lang="en-US" smtClean="0"/>
              <a:t>12</a:t>
            </a:fld>
            <a:endParaRPr lang="en-US"/>
          </a:p>
        </p:txBody>
      </p:sp>
    </p:spTree>
    <p:extLst>
      <p:ext uri="{BB962C8B-B14F-4D97-AF65-F5344CB8AC3E}">
        <p14:creationId xmlns:p14="http://schemas.microsoft.com/office/powerpoint/2010/main" val="1985644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Three-point perspective drawings typically involve viewers looking up or down at a scene.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Many times, when drawing on paper, it is quite natural to relate to, as many artists tend to draw their own lines (regardless of paper orientation).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All lines in 3 point perspective drawing to recede to one of three vanishing points.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13</a:t>
            </a:fld>
            <a:endParaRPr lang="en-US"/>
          </a:p>
        </p:txBody>
      </p:sp>
    </p:spTree>
    <p:extLst>
      <p:ext uri="{BB962C8B-B14F-4D97-AF65-F5344CB8AC3E}">
        <p14:creationId xmlns:p14="http://schemas.microsoft.com/office/powerpoint/2010/main" val="21446254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Two of these vanishing point rest somewhere on the horizon line, while the third is set either well below, or above, the eye line.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vanishing point that is above the horizon line gives the impression of a low-angle view.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observing a building from this low angle, it is necessary to tilt the picture plane upward.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When the vanishing point is below the horizon line, it creates the illusion of a bird's eye view.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You words tend to feel farther away from what they are looking at if it's a bird's eye view. </a:t>
            </a:r>
          </a:p>
        </p:txBody>
      </p:sp>
      <p:sp>
        <p:nvSpPr>
          <p:cNvPr id="4" name="Slide Number Placeholder 3"/>
          <p:cNvSpPr>
            <a:spLocks noGrp="1"/>
          </p:cNvSpPr>
          <p:nvPr>
            <p:ph type="sldNum" sz="quarter" idx="10"/>
          </p:nvPr>
        </p:nvSpPr>
        <p:spPr/>
        <p:txBody>
          <a:bodyPr/>
          <a:lstStyle/>
          <a:p>
            <a:fld id="{3C7FDB04-D1AC-46DB-9592-CA12D78D404F}" type="slidenum">
              <a:rPr lang="en-US" smtClean="0"/>
              <a:t>14</a:t>
            </a:fld>
            <a:endParaRPr lang="en-US"/>
          </a:p>
        </p:txBody>
      </p:sp>
    </p:spTree>
    <p:extLst>
      <p:ext uri="{BB962C8B-B14F-4D97-AF65-F5344CB8AC3E}">
        <p14:creationId xmlns:p14="http://schemas.microsoft.com/office/powerpoint/2010/main" val="569618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Observing objects in the distance is often difficult because of particles in the air such as dust and moisture.</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Objects that are further away tend to be a little hazy urine sometimes cast of bluish tint to achieve this effect in storyboard panels, color saturation is decreased and background objects are blurred.</a:t>
            </a:r>
          </a:p>
          <a:p>
            <a:r>
              <a:rPr lang="en-US" sz="1200" kern="1200" dirty="0">
                <a:solidFill>
                  <a:schemeClr val="tx1"/>
                </a:solidFill>
                <a:effectLst/>
                <a:latin typeface="+mn-lt"/>
                <a:ea typeface="+mn-ea"/>
                <a:cs typeface="+mn-cs"/>
              </a:rPr>
              <a:t>This gives the </a:t>
            </a:r>
            <a:r>
              <a:rPr lang="en-US" sz="1200" b="1" kern="1200" dirty="0">
                <a:solidFill>
                  <a:schemeClr val="tx1"/>
                </a:solidFill>
                <a:effectLst/>
                <a:latin typeface="+mn-lt"/>
                <a:ea typeface="+mn-ea"/>
                <a:cs typeface="+mn-cs"/>
              </a:rPr>
              <a:t>impression of depth </a:t>
            </a:r>
            <a:r>
              <a:rPr lang="en-US" sz="1200" kern="1200" dirty="0">
                <a:solidFill>
                  <a:schemeClr val="tx1"/>
                </a:solidFill>
                <a:effectLst/>
                <a:latin typeface="+mn-lt"/>
                <a:ea typeface="+mn-ea"/>
                <a:cs typeface="+mn-cs"/>
              </a:rPr>
              <a:t>when contrasted with objects in the foreground.</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15</a:t>
            </a:fld>
            <a:endParaRPr lang="en-US"/>
          </a:p>
        </p:txBody>
      </p:sp>
    </p:spTree>
    <p:extLst>
      <p:ext uri="{BB962C8B-B14F-4D97-AF65-F5344CB8AC3E}">
        <p14:creationId xmlns:p14="http://schemas.microsoft.com/office/powerpoint/2010/main" val="22873535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Lord of the Rings: the Twin Towers is full of shots of atmospheric perspective as Frodo and Sam cross the dead marshes on their Journey. </a:t>
            </a:r>
          </a:p>
          <a:p>
            <a:r>
              <a:rPr lang="en-US" sz="1200" kern="1200" dirty="0">
                <a:solidFill>
                  <a:schemeClr val="tx1"/>
                </a:solidFill>
                <a:effectLst/>
                <a:latin typeface="+mn-lt"/>
                <a:ea typeface="+mn-ea"/>
                <a:cs typeface="+mn-cs"/>
              </a:rPr>
              <a:t>According to the Director of Photography Andrew </a:t>
            </a:r>
            <a:r>
              <a:rPr lang="en-US" sz="1200" kern="1200" dirty="0" err="1">
                <a:solidFill>
                  <a:schemeClr val="tx1"/>
                </a:solidFill>
                <a:effectLst/>
                <a:latin typeface="+mn-lt"/>
                <a:ea typeface="+mn-ea"/>
                <a:cs typeface="+mn-cs"/>
              </a:rPr>
              <a:t>Lesney</a:t>
            </a:r>
            <a:r>
              <a:rPr lang="en-US" sz="1200" kern="1200" dirty="0">
                <a:solidFill>
                  <a:schemeClr val="tx1"/>
                </a:solidFill>
                <a:effectLst/>
                <a:latin typeface="+mn-lt"/>
                <a:ea typeface="+mn-ea"/>
                <a:cs typeface="+mn-cs"/>
              </a:rPr>
              <a:t>, anyone who walks through the dead marshes is prone to fall under influence of the trapped souls, which Frodo does briefly. He therefore depicted the marshes as a misty, unnatural environment, with sunlight weakened by the atmosphere.</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16</a:t>
            </a:fld>
            <a:endParaRPr lang="en-US"/>
          </a:p>
        </p:txBody>
      </p:sp>
    </p:spTree>
    <p:extLst>
      <p:ext uri="{BB962C8B-B14F-4D97-AF65-F5344CB8AC3E}">
        <p14:creationId xmlns:p14="http://schemas.microsoft.com/office/powerpoint/2010/main" val="1487023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Foreshortening is the process of applying perspective to objects and figures. </a:t>
            </a:r>
          </a:p>
          <a:p>
            <a:r>
              <a:rPr lang="en-US" sz="1200" kern="1200" dirty="0">
                <a:solidFill>
                  <a:schemeClr val="tx1"/>
                </a:solidFill>
                <a:effectLst/>
                <a:latin typeface="+mn-lt"/>
                <a:ea typeface="+mn-ea"/>
                <a:cs typeface="+mn-cs"/>
              </a:rPr>
              <a:t>When you foreshorten an object, you make one part appear closer to you than other parts. </a:t>
            </a:r>
          </a:p>
          <a:p>
            <a:r>
              <a:rPr lang="en-US" sz="1200" kern="1200" dirty="0">
                <a:solidFill>
                  <a:schemeClr val="tx1"/>
                </a:solidFill>
                <a:effectLst/>
                <a:latin typeface="+mn-lt"/>
                <a:ea typeface="+mn-ea"/>
                <a:cs typeface="+mn-cs"/>
              </a:rPr>
              <a:t>Let's say you have a long Pipeline on its side. </a:t>
            </a:r>
          </a:p>
          <a:p>
            <a:r>
              <a:rPr lang="en-US" sz="1200" kern="1200" dirty="0">
                <a:solidFill>
                  <a:schemeClr val="tx1"/>
                </a:solidFill>
                <a:effectLst/>
                <a:latin typeface="+mn-lt"/>
                <a:ea typeface="+mn-ea"/>
                <a:cs typeface="+mn-cs"/>
              </a:rPr>
              <a:t>As the pipe turns towards you, we see less of its side until ultimately the only part visible is the circle on the top of the pipe. </a:t>
            </a:r>
          </a:p>
          <a:p>
            <a:r>
              <a:rPr lang="en-US" sz="1200" kern="1200" dirty="0">
                <a:solidFill>
                  <a:schemeClr val="tx1"/>
                </a:solidFill>
                <a:effectLst/>
                <a:latin typeface="+mn-lt"/>
                <a:ea typeface="+mn-ea"/>
                <a:cs typeface="+mn-cs"/>
              </a:rPr>
              <a:t>This is often done</a:t>
            </a:r>
            <a:r>
              <a:rPr lang="en-US" sz="1200" kern="1200" baseline="0" dirty="0">
                <a:solidFill>
                  <a:schemeClr val="tx1"/>
                </a:solidFill>
                <a:effectLst/>
                <a:latin typeface="+mn-lt"/>
                <a:ea typeface="+mn-ea"/>
                <a:cs typeface="+mn-cs"/>
              </a:rPr>
              <a:t> to create a sort of dramatic effect to the shot.</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17</a:t>
            </a:fld>
            <a:endParaRPr lang="en-US"/>
          </a:p>
        </p:txBody>
      </p:sp>
    </p:spTree>
    <p:extLst>
      <p:ext uri="{BB962C8B-B14F-4D97-AF65-F5344CB8AC3E}">
        <p14:creationId xmlns:p14="http://schemas.microsoft.com/office/powerpoint/2010/main" val="5345956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example, if you are drawing a bird's eye view of a building, you will see less of its sides than if you drew a low angle shot. </a:t>
            </a:r>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18</a:t>
            </a:fld>
            <a:endParaRPr lang="en-US"/>
          </a:p>
        </p:txBody>
      </p:sp>
    </p:spTree>
    <p:extLst>
      <p:ext uri="{BB962C8B-B14F-4D97-AF65-F5344CB8AC3E}">
        <p14:creationId xmlns:p14="http://schemas.microsoft.com/office/powerpoint/2010/main" val="3119855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Foreshortening tricks the eye into giving the viewer at the illusion of depth. </a:t>
            </a:r>
          </a:p>
          <a:p>
            <a:r>
              <a:rPr lang="en-US" sz="1200" kern="1200" dirty="0">
                <a:solidFill>
                  <a:schemeClr val="tx1"/>
                </a:solidFill>
                <a:effectLst/>
                <a:latin typeface="+mn-lt"/>
                <a:ea typeface="+mn-ea"/>
                <a:cs typeface="+mn-cs"/>
              </a:rPr>
              <a:t>Simple objects such as books, rulers, ladders and so forth are relatively easy to draw as foreshortened. </a:t>
            </a:r>
          </a:p>
          <a:p>
            <a:r>
              <a:rPr lang="en-US" sz="1200" kern="1200" dirty="0">
                <a:solidFill>
                  <a:schemeClr val="tx1"/>
                </a:solidFill>
                <a:effectLst/>
                <a:latin typeface="+mn-lt"/>
                <a:ea typeface="+mn-ea"/>
                <a:cs typeface="+mn-cs"/>
              </a:rPr>
              <a:t>However more complex shapes, such as the human figure and animals, are more difficult to reconstruct on paper. </a:t>
            </a:r>
          </a:p>
          <a:p>
            <a:r>
              <a:rPr lang="en-US" sz="1200" kern="1200" dirty="0">
                <a:solidFill>
                  <a:schemeClr val="tx1"/>
                </a:solidFill>
                <a:effectLst/>
                <a:latin typeface="+mn-lt"/>
                <a:ea typeface="+mn-ea"/>
                <a:cs typeface="+mn-cs"/>
              </a:rPr>
              <a:t>When drawing objects, you must train your eye to see three dimensional objects in 2D. </a:t>
            </a:r>
          </a:p>
        </p:txBody>
      </p:sp>
      <p:sp>
        <p:nvSpPr>
          <p:cNvPr id="4" name="Slide Number Placeholder 3"/>
          <p:cNvSpPr>
            <a:spLocks noGrp="1"/>
          </p:cNvSpPr>
          <p:nvPr>
            <p:ph type="sldNum" sz="quarter" idx="10"/>
          </p:nvPr>
        </p:nvSpPr>
        <p:spPr/>
        <p:txBody>
          <a:bodyPr/>
          <a:lstStyle/>
          <a:p>
            <a:fld id="{3C7FDB04-D1AC-46DB-9592-CA12D78D404F}" type="slidenum">
              <a:rPr lang="en-US" smtClean="0"/>
              <a:t>19</a:t>
            </a:fld>
            <a:endParaRPr lang="en-US"/>
          </a:p>
        </p:txBody>
      </p:sp>
    </p:spTree>
    <p:extLst>
      <p:ext uri="{BB962C8B-B14F-4D97-AF65-F5344CB8AC3E}">
        <p14:creationId xmlns:p14="http://schemas.microsoft.com/office/powerpoint/2010/main" val="5586296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Overlapping objects creates the illusion of space. </a:t>
            </a:r>
          </a:p>
          <a:p>
            <a:r>
              <a:rPr lang="en-US" sz="1200" kern="1200" dirty="0">
                <a:solidFill>
                  <a:schemeClr val="tx1"/>
                </a:solidFill>
                <a:effectLst/>
                <a:latin typeface="+mn-lt"/>
                <a:ea typeface="+mn-ea"/>
                <a:cs typeface="+mn-cs"/>
              </a:rPr>
              <a:t>When one object is placed over a second object, the first object appears closer than the second one. </a:t>
            </a:r>
          </a:p>
          <a:p>
            <a:r>
              <a:rPr lang="en-US" sz="1200" kern="1200" dirty="0">
                <a:solidFill>
                  <a:schemeClr val="tx1"/>
                </a:solidFill>
                <a:effectLst/>
                <a:latin typeface="+mn-lt"/>
                <a:ea typeface="+mn-ea"/>
                <a:cs typeface="+mn-cs"/>
              </a:rPr>
              <a:t>This rule applies across any distance, and contributes to the illusion of depth. </a:t>
            </a:r>
          </a:p>
          <a:p>
            <a:r>
              <a:rPr lang="en-US" sz="1200" kern="1200" dirty="0">
                <a:solidFill>
                  <a:schemeClr val="tx1"/>
                </a:solidFill>
                <a:effectLst/>
                <a:latin typeface="+mn-lt"/>
                <a:ea typeface="+mn-ea"/>
                <a:cs typeface="+mn-cs"/>
              </a:rPr>
              <a:t>For example, the sun appear smaller when it sets behind the mountains. </a:t>
            </a:r>
          </a:p>
          <a:p>
            <a:r>
              <a:rPr lang="en-US" sz="1200" kern="1200" dirty="0">
                <a:solidFill>
                  <a:schemeClr val="tx1"/>
                </a:solidFill>
                <a:effectLst/>
                <a:latin typeface="+mn-lt"/>
                <a:ea typeface="+mn-ea"/>
                <a:cs typeface="+mn-cs"/>
              </a:rPr>
              <a:t>When blocking a shot, you should </a:t>
            </a:r>
            <a:r>
              <a:rPr lang="en-US" sz="1200" b="1" kern="1200" dirty="0">
                <a:solidFill>
                  <a:schemeClr val="tx1"/>
                </a:solidFill>
                <a:effectLst/>
                <a:latin typeface="+mn-lt"/>
                <a:ea typeface="+mn-ea"/>
                <a:cs typeface="+mn-cs"/>
              </a:rPr>
              <a:t>overlap characters and objects to create depth. </a:t>
            </a:r>
          </a:p>
        </p:txBody>
      </p:sp>
      <p:sp>
        <p:nvSpPr>
          <p:cNvPr id="4" name="Slide Number Placeholder 3"/>
          <p:cNvSpPr>
            <a:spLocks noGrp="1"/>
          </p:cNvSpPr>
          <p:nvPr>
            <p:ph type="sldNum" sz="quarter" idx="10"/>
          </p:nvPr>
        </p:nvSpPr>
        <p:spPr/>
        <p:txBody>
          <a:bodyPr/>
          <a:lstStyle/>
          <a:p>
            <a:fld id="{3C7FDB04-D1AC-46DB-9592-CA12D78D404F}" type="slidenum">
              <a:rPr lang="en-US" smtClean="0"/>
              <a:t>20</a:t>
            </a:fld>
            <a:endParaRPr lang="en-US"/>
          </a:p>
        </p:txBody>
      </p:sp>
    </p:spTree>
    <p:extLst>
      <p:ext uri="{BB962C8B-B14F-4D97-AF65-F5344CB8AC3E}">
        <p14:creationId xmlns:p14="http://schemas.microsoft.com/office/powerpoint/2010/main" val="846917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Most surfaces, such as walls, buildings, Fields, And Roads, have texture.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closer the object is, the more detail we can see.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the surface gets farther away from us, the texture gets finer and appears smoother.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21</a:t>
            </a:fld>
            <a:endParaRPr lang="en-US"/>
          </a:p>
        </p:txBody>
      </p:sp>
    </p:spTree>
    <p:extLst>
      <p:ext uri="{BB962C8B-B14F-4D97-AF65-F5344CB8AC3E}">
        <p14:creationId xmlns:p14="http://schemas.microsoft.com/office/powerpoint/2010/main" val="23469455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Automobiles, tables, plates, lamps, and many other objects are made up of circles. To create three-dimensional objects, rules of perspective must apply. </a:t>
            </a:r>
          </a:p>
          <a:p>
            <a:r>
              <a:rPr lang="en-US" sz="1200" kern="1200" dirty="0">
                <a:solidFill>
                  <a:schemeClr val="tx1"/>
                </a:solidFill>
                <a:effectLst/>
                <a:latin typeface="+mn-lt"/>
                <a:ea typeface="+mn-ea"/>
                <a:cs typeface="+mn-cs"/>
              </a:rPr>
              <a:t>Circles or ellipses that are near the horizon line are seeing straight on and drawn as straight lines while ellipses farther from the horizon are drawn bigger.</a:t>
            </a:r>
          </a:p>
        </p:txBody>
      </p:sp>
      <p:sp>
        <p:nvSpPr>
          <p:cNvPr id="4" name="Slide Number Placeholder 3"/>
          <p:cNvSpPr>
            <a:spLocks noGrp="1"/>
          </p:cNvSpPr>
          <p:nvPr>
            <p:ph type="sldNum" sz="quarter" idx="10"/>
          </p:nvPr>
        </p:nvSpPr>
        <p:spPr/>
        <p:txBody>
          <a:bodyPr/>
          <a:lstStyle/>
          <a:p>
            <a:fld id="{3C7FDB04-D1AC-46DB-9592-CA12D78D404F}" type="slidenum">
              <a:rPr lang="en-US" smtClean="0"/>
              <a:t>22</a:t>
            </a:fld>
            <a:endParaRPr lang="en-US"/>
          </a:p>
        </p:txBody>
      </p:sp>
    </p:spTree>
    <p:extLst>
      <p:ext uri="{BB962C8B-B14F-4D97-AF65-F5344CB8AC3E}">
        <p14:creationId xmlns:p14="http://schemas.microsoft.com/office/powerpoint/2010/main" val="2287047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best method to draw a circle in perspective is to draw it inside a square, in perspective. </a:t>
            </a:r>
          </a:p>
          <a:p>
            <a:r>
              <a:rPr lang="en-US" sz="1200" kern="1200" dirty="0">
                <a:solidFill>
                  <a:schemeClr val="tx1"/>
                </a:solidFill>
                <a:effectLst/>
                <a:latin typeface="+mn-lt"/>
                <a:ea typeface="+mn-ea"/>
                <a:cs typeface="+mn-cs"/>
              </a:rPr>
              <a:t>The circle is intersected with to access lines, which creates four quadrants. </a:t>
            </a:r>
          </a:p>
          <a:p>
            <a:r>
              <a:rPr lang="en-US" sz="1200" kern="1200" dirty="0">
                <a:solidFill>
                  <a:schemeClr val="tx1"/>
                </a:solidFill>
                <a:effectLst/>
                <a:latin typeface="+mn-lt"/>
                <a:ea typeface="+mn-ea"/>
                <a:cs typeface="+mn-cs"/>
              </a:rPr>
              <a:t>The point where the two lines cross within the circle creates at. </a:t>
            </a:r>
          </a:p>
          <a:p>
            <a:r>
              <a:rPr lang="en-US" sz="1200" kern="1200" dirty="0">
                <a:solidFill>
                  <a:schemeClr val="tx1"/>
                </a:solidFill>
                <a:effectLst/>
                <a:latin typeface="+mn-lt"/>
                <a:ea typeface="+mn-ea"/>
                <a:cs typeface="+mn-cs"/>
              </a:rPr>
              <a:t>Whether you are drawing a perfectly round circle or an elongated Circle,  the relationship of the two lines stays the same. </a:t>
            </a:r>
          </a:p>
          <a:p>
            <a:r>
              <a:rPr lang="en-US" sz="1200" kern="1200" dirty="0">
                <a:solidFill>
                  <a:schemeClr val="tx1"/>
                </a:solidFill>
                <a:effectLst/>
                <a:latin typeface="+mn-lt"/>
                <a:ea typeface="+mn-ea"/>
                <a:cs typeface="+mn-cs"/>
              </a:rPr>
              <a:t>The diagonal lines assist in finding the position of each Arc of the circle. </a:t>
            </a:r>
          </a:p>
        </p:txBody>
      </p:sp>
      <p:sp>
        <p:nvSpPr>
          <p:cNvPr id="4" name="Slide Number Placeholder 3"/>
          <p:cNvSpPr>
            <a:spLocks noGrp="1"/>
          </p:cNvSpPr>
          <p:nvPr>
            <p:ph type="sldNum" sz="quarter" idx="10"/>
          </p:nvPr>
        </p:nvSpPr>
        <p:spPr/>
        <p:txBody>
          <a:bodyPr/>
          <a:lstStyle/>
          <a:p>
            <a:fld id="{3C7FDB04-D1AC-46DB-9592-CA12D78D404F}" type="slidenum">
              <a:rPr lang="en-US" smtClean="0"/>
              <a:t>23</a:t>
            </a:fld>
            <a:endParaRPr lang="en-US"/>
          </a:p>
        </p:txBody>
      </p:sp>
    </p:spTree>
    <p:extLst>
      <p:ext uri="{BB962C8B-B14F-4D97-AF65-F5344CB8AC3E}">
        <p14:creationId xmlns:p14="http://schemas.microsoft.com/office/powerpoint/2010/main" val="22278243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flying an airplane everything on the ground looks miniature. </a:t>
            </a:r>
          </a:p>
          <a:p>
            <a:r>
              <a:rPr lang="en-US" sz="1200" kern="1200" dirty="0">
                <a:solidFill>
                  <a:schemeClr val="tx1"/>
                </a:solidFill>
                <a:effectLst/>
                <a:latin typeface="+mn-lt"/>
                <a:ea typeface="+mn-ea"/>
                <a:cs typeface="+mn-cs"/>
              </a:rPr>
              <a:t>The illusion of small houses, swimming pools, and cars speckle the ground. If we put our hand to the window, we can cover whole neighborhoods with our Palm. </a:t>
            </a:r>
          </a:p>
          <a:p>
            <a:r>
              <a:rPr lang="en-US" sz="1200" kern="1200" dirty="0">
                <a:solidFill>
                  <a:schemeClr val="tx1"/>
                </a:solidFill>
                <a:effectLst/>
                <a:latin typeface="+mn-lt"/>
                <a:ea typeface="+mn-ea"/>
                <a:cs typeface="+mn-cs"/>
              </a:rPr>
              <a:t>Obviously we know that house is on the ground or much bigger than our hand but the further away objects are from where went Viewpoint, the smaller they appear. </a:t>
            </a:r>
          </a:p>
          <a:p>
            <a:r>
              <a:rPr lang="en-US" sz="1200" kern="1200" dirty="0">
                <a:solidFill>
                  <a:schemeClr val="tx1"/>
                </a:solidFill>
                <a:effectLst/>
                <a:latin typeface="+mn-lt"/>
                <a:ea typeface="+mn-ea"/>
                <a:cs typeface="+mn-cs"/>
              </a:rPr>
              <a:t>Size relationship is made up of familiar objects. </a:t>
            </a:r>
          </a:p>
          <a:p>
            <a:r>
              <a:rPr lang="en-US" sz="1200" kern="1200" dirty="0">
                <a:solidFill>
                  <a:schemeClr val="tx1"/>
                </a:solidFill>
                <a:effectLst/>
                <a:latin typeface="+mn-lt"/>
                <a:ea typeface="+mn-ea"/>
                <a:cs typeface="+mn-cs"/>
              </a:rPr>
              <a:t>When subjects of familiar size are included, they helped establish the scale of a picture or drawing.</a:t>
            </a:r>
          </a:p>
          <a:p>
            <a:r>
              <a:rPr lang="en-US" sz="1200" kern="1200" dirty="0">
                <a:solidFill>
                  <a:schemeClr val="tx1"/>
                </a:solidFill>
                <a:effectLst/>
                <a:latin typeface="+mn-lt"/>
                <a:ea typeface="+mn-ea"/>
                <a:cs typeface="+mn-cs"/>
              </a:rPr>
              <a:t>Scale helps the viewer determine the actual size or relative size of the object in the picture. </a:t>
            </a:r>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24</a:t>
            </a:fld>
            <a:endParaRPr lang="en-US"/>
          </a:p>
        </p:txBody>
      </p:sp>
    </p:spTree>
    <p:extLst>
      <p:ext uri="{BB962C8B-B14F-4D97-AF65-F5344CB8AC3E}">
        <p14:creationId xmlns:p14="http://schemas.microsoft.com/office/powerpoint/2010/main" val="7905917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Relative motion is a considerable depth cue to consider for movies, television, and animation. </a:t>
            </a:r>
          </a:p>
          <a:p>
            <a:r>
              <a:rPr lang="en-US" sz="1200" kern="1200" dirty="0">
                <a:solidFill>
                  <a:schemeClr val="tx1"/>
                </a:solidFill>
                <a:effectLst/>
                <a:latin typeface="+mn-lt"/>
                <a:ea typeface="+mn-ea"/>
                <a:cs typeface="+mn-cs"/>
              </a:rPr>
              <a:t>The camera captures the relative motion of objects, which contributes to the overall depth of a scene. </a:t>
            </a:r>
          </a:p>
          <a:p>
            <a:r>
              <a:rPr lang="en-US" sz="1200" kern="1200" dirty="0">
                <a:solidFill>
                  <a:schemeClr val="tx1"/>
                </a:solidFill>
                <a:effectLst/>
                <a:latin typeface="+mn-lt"/>
                <a:ea typeface="+mn-ea"/>
                <a:cs typeface="+mn-cs"/>
              </a:rPr>
              <a:t>When we move, images located at different distances seem to move at different speeds. </a:t>
            </a:r>
          </a:p>
          <a:p>
            <a:r>
              <a:rPr lang="en-US" sz="1200" kern="1200" dirty="0">
                <a:solidFill>
                  <a:schemeClr val="tx1"/>
                </a:solidFill>
                <a:effectLst/>
                <a:latin typeface="+mn-lt"/>
                <a:ea typeface="+mn-ea"/>
                <a:cs typeface="+mn-cs"/>
              </a:rPr>
              <a:t>Close objects seem to move quicker than objects that are farther away, such as distant mountain ranges. </a:t>
            </a:r>
          </a:p>
          <a:p>
            <a:r>
              <a:rPr lang="en-US" sz="1200" kern="1200" dirty="0">
                <a:solidFill>
                  <a:schemeClr val="tx1"/>
                </a:solidFill>
                <a:effectLst/>
                <a:latin typeface="+mn-lt"/>
                <a:ea typeface="+mn-ea"/>
                <a:cs typeface="+mn-cs"/>
              </a:rPr>
              <a:t>Also, objects that are closer appear to move in the opposite direction to our own movement, whereas object farther away appear to move in the same direction.</a:t>
            </a:r>
          </a:p>
          <a:p>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instance, if your focus is on a character in The foreground and the background is out of focus, this is considered shallow depth of field.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such situations our eyes tend to </a:t>
            </a:r>
            <a:r>
              <a:rPr lang="en-US" sz="1200" b="1" kern="1200" dirty="0">
                <a:solidFill>
                  <a:schemeClr val="tx1"/>
                </a:solidFill>
                <a:effectLst/>
                <a:latin typeface="+mn-lt"/>
                <a:ea typeface="+mn-ea"/>
                <a:cs typeface="+mn-cs"/>
              </a:rPr>
              <a:t>naturally go to the object or individual that is in focus. </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25</a:t>
            </a:fld>
            <a:endParaRPr lang="en-US"/>
          </a:p>
        </p:txBody>
      </p:sp>
    </p:spTree>
    <p:extLst>
      <p:ext uri="{BB962C8B-B14F-4D97-AF65-F5344CB8AC3E}">
        <p14:creationId xmlns:p14="http://schemas.microsoft.com/office/powerpoint/2010/main" val="2954028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Depth of field, which refers to how much of the frame is in Focus, both in front and behind an object, is another effect used to create death in your images. </a:t>
            </a:r>
          </a:p>
          <a:p>
            <a:r>
              <a:rPr lang="en-US" sz="1200" kern="1200" dirty="0">
                <a:solidFill>
                  <a:schemeClr val="tx1"/>
                </a:solidFill>
                <a:effectLst/>
                <a:latin typeface="+mn-lt"/>
                <a:ea typeface="+mn-ea"/>
                <a:cs typeface="+mn-cs"/>
              </a:rPr>
              <a:t>If you were to view a long road that is a line telephone poles, for example, the polls in the distance look much smaller than those close to you. </a:t>
            </a:r>
          </a:p>
          <a:p>
            <a:r>
              <a:rPr lang="en-US" sz="1200" kern="1200" dirty="0">
                <a:solidFill>
                  <a:schemeClr val="tx1"/>
                </a:solidFill>
                <a:effectLst/>
                <a:latin typeface="+mn-lt"/>
                <a:ea typeface="+mn-ea"/>
                <a:cs typeface="+mn-cs"/>
              </a:rPr>
              <a:t>If you focus your attention on the telephone poles that are close to you, the ones in the distance will appear out of focus. </a:t>
            </a:r>
          </a:p>
          <a:p>
            <a:r>
              <a:rPr lang="en-US" sz="1200" kern="1200" dirty="0">
                <a:solidFill>
                  <a:schemeClr val="tx1"/>
                </a:solidFill>
                <a:effectLst/>
                <a:latin typeface="+mn-lt"/>
                <a:ea typeface="+mn-ea"/>
                <a:cs typeface="+mn-cs"/>
              </a:rPr>
              <a:t>This effect is often used in film and animations to direct the audience's attention to certain Details within the shot.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For instance, if your focus is on a character in The foreground and the background is out of focus, this is considered shallow depth of field. In such situations arise tend to naturally go to the object or individual that is in focus.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26</a:t>
            </a:fld>
            <a:endParaRPr lang="en-US"/>
          </a:p>
        </p:txBody>
      </p:sp>
    </p:spTree>
    <p:extLst>
      <p:ext uri="{BB962C8B-B14F-4D97-AF65-F5344CB8AC3E}">
        <p14:creationId xmlns:p14="http://schemas.microsoft.com/office/powerpoint/2010/main" val="8843321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both the foreground and the background are in focus  this is considered wide depth of field. </a:t>
            </a:r>
          </a:p>
          <a:p>
            <a:r>
              <a:rPr lang="en-US" sz="1200" kern="1200" dirty="0">
                <a:solidFill>
                  <a:schemeClr val="tx1"/>
                </a:solidFill>
                <a:effectLst/>
                <a:latin typeface="+mn-lt"/>
                <a:ea typeface="+mn-ea"/>
                <a:cs typeface="+mn-cs"/>
              </a:rPr>
              <a:t>Orson Welles and cinematographer Greg Toland popularized A technique called the deep-focus cinematography in the classic film Citizen Kane. </a:t>
            </a:r>
          </a:p>
          <a:p>
            <a:r>
              <a:rPr lang="en-US" sz="1200" kern="1200" dirty="0">
                <a:solidFill>
                  <a:schemeClr val="tx1"/>
                </a:solidFill>
                <a:effectLst/>
                <a:latin typeface="+mn-lt"/>
                <a:ea typeface="+mn-ea"/>
                <a:cs typeface="+mn-cs"/>
              </a:rPr>
              <a:t>Deep focus refers to a strategy that keeps the foreground, middle-ground, and background in Focus, given each plane equal importance.</a:t>
            </a:r>
          </a:p>
          <a:p>
            <a:r>
              <a:rPr lang="en-US" sz="1200" kern="1200" dirty="0">
                <a:solidFill>
                  <a:schemeClr val="tx1"/>
                </a:solidFill>
                <a:effectLst/>
                <a:latin typeface="+mn-lt"/>
                <a:ea typeface="+mn-ea"/>
                <a:cs typeface="+mn-cs"/>
              </a:rPr>
              <a:t>Depth is also created through lens type, and the amount that a lens is opened to let in light, also known as a preacher. </a:t>
            </a:r>
          </a:p>
          <a:p>
            <a:r>
              <a:rPr lang="en-US" sz="1200" kern="1200" dirty="0">
                <a:solidFill>
                  <a:schemeClr val="tx1"/>
                </a:solidFill>
                <a:effectLst/>
                <a:latin typeface="+mn-lt"/>
                <a:ea typeface="+mn-ea"/>
                <a:cs typeface="+mn-cs"/>
              </a:rPr>
              <a:t>If the aperture for a lens is small, less light is let in, which results in Greater depth of field. A wider average her let's in more light, which results in a shallow depth of field.</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3C7FDB04-D1AC-46DB-9592-CA12D78D404F}" type="slidenum">
              <a:rPr lang="en-US" smtClean="0"/>
              <a:t>27</a:t>
            </a:fld>
            <a:endParaRPr lang="en-US"/>
          </a:p>
        </p:txBody>
      </p:sp>
    </p:spTree>
    <p:extLst>
      <p:ext uri="{BB962C8B-B14F-4D97-AF65-F5344CB8AC3E}">
        <p14:creationId xmlns:p14="http://schemas.microsoft.com/office/powerpoint/2010/main" val="17935774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both the foreground and the background are in focus  this is considered wide depth of field. </a:t>
            </a:r>
          </a:p>
          <a:p>
            <a:r>
              <a:rPr lang="en-US" sz="1200" kern="1200" dirty="0">
                <a:solidFill>
                  <a:schemeClr val="tx1"/>
                </a:solidFill>
                <a:effectLst/>
                <a:latin typeface="+mn-lt"/>
                <a:ea typeface="+mn-ea"/>
                <a:cs typeface="+mn-cs"/>
              </a:rPr>
              <a:t>Orson Welles and cinematographer Greg Toland popularized A technique called the deep-focus cinematography in the classic film Citizen Kane. </a:t>
            </a:r>
          </a:p>
          <a:p>
            <a:r>
              <a:rPr lang="en-US" sz="1200" kern="1200" dirty="0">
                <a:solidFill>
                  <a:schemeClr val="tx1"/>
                </a:solidFill>
                <a:effectLst/>
                <a:latin typeface="+mn-lt"/>
                <a:ea typeface="+mn-ea"/>
                <a:cs typeface="+mn-cs"/>
              </a:rPr>
              <a:t>Deep focus refers to a strategy that keeps the foreground, middle-ground, and background in Focus, given each plane equal importance.</a:t>
            </a:r>
          </a:p>
          <a:p>
            <a:r>
              <a:rPr lang="en-US" sz="1200" kern="1200" dirty="0">
                <a:solidFill>
                  <a:schemeClr val="tx1"/>
                </a:solidFill>
                <a:effectLst/>
                <a:latin typeface="+mn-lt"/>
                <a:ea typeface="+mn-ea"/>
                <a:cs typeface="+mn-cs"/>
              </a:rPr>
              <a:t>Depth is also created through lens type, and the amount that a lens is opened to let in light, also known as a preacher. </a:t>
            </a:r>
          </a:p>
          <a:p>
            <a:r>
              <a:rPr lang="en-US" sz="1200" kern="1200" dirty="0">
                <a:solidFill>
                  <a:schemeClr val="tx1"/>
                </a:solidFill>
                <a:effectLst/>
                <a:latin typeface="+mn-lt"/>
                <a:ea typeface="+mn-ea"/>
                <a:cs typeface="+mn-cs"/>
              </a:rPr>
              <a:t>If the aperture for a lens is small, less light is let in, which results in Greater depth of field. A wider aperture lets in more light, which results in a shallow depth of field.</a:t>
            </a:r>
          </a:p>
          <a:p>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10"/>
          </p:nvPr>
        </p:nvSpPr>
        <p:spPr/>
        <p:txBody>
          <a:bodyPr/>
          <a:lstStyle/>
          <a:p>
            <a:fld id="{3C7FDB04-D1AC-46DB-9592-CA12D78D404F}" type="slidenum">
              <a:rPr lang="en-US" smtClean="0"/>
              <a:t>28</a:t>
            </a:fld>
            <a:endParaRPr lang="en-US"/>
          </a:p>
        </p:txBody>
      </p:sp>
    </p:spTree>
    <p:extLst>
      <p:ext uri="{BB962C8B-B14F-4D97-AF65-F5344CB8AC3E}">
        <p14:creationId xmlns:p14="http://schemas.microsoft.com/office/powerpoint/2010/main" val="38590546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Camera lenses play an indispensable role in determining depth of field within an image. </a:t>
            </a:r>
          </a:p>
          <a:p>
            <a:r>
              <a:rPr lang="en-US" sz="1200" kern="1200" dirty="0">
                <a:solidFill>
                  <a:schemeClr val="tx1"/>
                </a:solidFill>
                <a:effectLst/>
                <a:latin typeface="+mn-lt"/>
                <a:ea typeface="+mn-ea"/>
                <a:cs typeface="+mn-cs"/>
              </a:rPr>
              <a:t>Three main lenses are the wide-angle, normal, and telephoto lens. </a:t>
            </a:r>
          </a:p>
          <a:p>
            <a:r>
              <a:rPr lang="en-US" sz="1200" kern="1200" dirty="0">
                <a:solidFill>
                  <a:schemeClr val="tx1"/>
                </a:solidFill>
                <a:effectLst/>
                <a:latin typeface="+mn-lt"/>
                <a:ea typeface="+mn-ea"/>
                <a:cs typeface="+mn-cs"/>
              </a:rPr>
              <a:t>Each of these lenses tells a story quite differently. </a:t>
            </a:r>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29</a:t>
            </a:fld>
            <a:endParaRPr lang="en-US"/>
          </a:p>
        </p:txBody>
      </p:sp>
    </p:spTree>
    <p:extLst>
      <p:ext uri="{BB962C8B-B14F-4D97-AF65-F5344CB8AC3E}">
        <p14:creationId xmlns:p14="http://schemas.microsoft.com/office/powerpoint/2010/main" val="42379314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his book making movies, Sydney Lumet Uses an example from the film murder on the Orient Express to illustrate the power of the lens. </a:t>
            </a:r>
          </a:p>
          <a:p>
            <a:r>
              <a:rPr lang="en-US" sz="1200" kern="1200" dirty="0">
                <a:solidFill>
                  <a:schemeClr val="tx1"/>
                </a:solidFill>
                <a:effectLst/>
                <a:latin typeface="+mn-lt"/>
                <a:ea typeface="+mn-ea"/>
                <a:cs typeface="+mn-cs"/>
              </a:rPr>
              <a:t>In the film, The Director uses various lenses to tell the story. </a:t>
            </a:r>
          </a:p>
          <a:p>
            <a:r>
              <a:rPr lang="en-US" sz="1200" kern="1200" dirty="0">
                <a:solidFill>
                  <a:schemeClr val="tx1"/>
                </a:solidFill>
                <a:effectLst/>
                <a:latin typeface="+mn-lt"/>
                <a:ea typeface="+mn-ea"/>
                <a:cs typeface="+mn-cs"/>
              </a:rPr>
              <a:t>During the body of the picture, various scenes take place, which were we told at the end of the movie by </a:t>
            </a:r>
            <a:r>
              <a:rPr lang="en-US" sz="1200" kern="1200" dirty="0" err="1">
                <a:solidFill>
                  <a:schemeClr val="tx1"/>
                </a:solidFill>
                <a:effectLst/>
                <a:latin typeface="+mn-lt"/>
                <a:ea typeface="+mn-ea"/>
                <a:cs typeface="+mn-cs"/>
              </a:rPr>
              <a:t>Hercule</a:t>
            </a:r>
            <a:r>
              <a:rPr lang="en-US" sz="1200" kern="1200" dirty="0">
                <a:solidFill>
                  <a:schemeClr val="tx1"/>
                </a:solidFill>
                <a:effectLst/>
                <a:latin typeface="+mn-lt"/>
                <a:ea typeface="+mn-ea"/>
                <a:cs typeface="+mn-cs"/>
              </a:rPr>
              <a:t> Poirot, the genius detective.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While he described the incidents, the scenes shown earlier where were repeated flashbacks. </a:t>
            </a:r>
          </a:p>
          <a:p>
            <a:r>
              <a:rPr lang="en-US" sz="1200" kern="1200" dirty="0">
                <a:solidFill>
                  <a:schemeClr val="tx1"/>
                </a:solidFill>
                <a:effectLst/>
                <a:latin typeface="+mn-lt"/>
                <a:ea typeface="+mn-ea"/>
                <a:cs typeface="+mn-cs"/>
              </a:rPr>
              <a:t>The first time the scenes were shot, the director used in normal lens. </a:t>
            </a:r>
          </a:p>
          <a:p>
            <a:r>
              <a:rPr lang="en-US" sz="1200" kern="1200" dirty="0">
                <a:solidFill>
                  <a:schemeClr val="tx1"/>
                </a:solidFill>
                <a:effectLst/>
                <a:latin typeface="+mn-lt"/>
                <a:ea typeface="+mn-ea"/>
                <a:cs typeface="+mn-cs"/>
              </a:rPr>
              <a:t>When the same scenes were shown in flashback, the director use of very wide angle lens which made the scenes look much more dramatic.</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30</a:t>
            </a:fld>
            <a:endParaRPr lang="en-US"/>
          </a:p>
        </p:txBody>
      </p:sp>
    </p:spTree>
    <p:extLst>
      <p:ext uri="{BB962C8B-B14F-4D97-AF65-F5344CB8AC3E}">
        <p14:creationId xmlns:p14="http://schemas.microsoft.com/office/powerpoint/2010/main" val="29884768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Every camera usually comes with a normal lens which mirrors the perspective of the human eye. </a:t>
            </a:r>
          </a:p>
          <a:p>
            <a:r>
              <a:rPr lang="en-US" sz="1200" kern="1200" dirty="0">
                <a:solidFill>
                  <a:schemeClr val="tx1"/>
                </a:solidFill>
                <a:effectLst/>
                <a:latin typeface="+mn-lt"/>
                <a:ea typeface="+mn-ea"/>
                <a:cs typeface="+mn-cs"/>
              </a:rPr>
              <a:t>For instance, viewing an object using a normal lens is similar to viewing an object without a camera.</a:t>
            </a:r>
          </a:p>
          <a:p>
            <a:r>
              <a:rPr lang="en-US" sz="1200" kern="1200" dirty="0">
                <a:solidFill>
                  <a:schemeClr val="tx1"/>
                </a:solidFill>
                <a:effectLst/>
                <a:latin typeface="+mn-lt"/>
                <a:ea typeface="+mn-ea"/>
                <a:cs typeface="+mn-cs"/>
              </a:rPr>
              <a:t>Figures rendered with normal lens  Will appear to be of a normal size and perspective relative to each other. </a:t>
            </a:r>
          </a:p>
        </p:txBody>
      </p:sp>
      <p:sp>
        <p:nvSpPr>
          <p:cNvPr id="4" name="Slide Number Placeholder 3"/>
          <p:cNvSpPr>
            <a:spLocks noGrp="1"/>
          </p:cNvSpPr>
          <p:nvPr>
            <p:ph type="sldNum" sz="quarter" idx="10"/>
          </p:nvPr>
        </p:nvSpPr>
        <p:spPr/>
        <p:txBody>
          <a:bodyPr/>
          <a:lstStyle/>
          <a:p>
            <a:fld id="{3C7FDB04-D1AC-46DB-9592-CA12D78D404F}" type="slidenum">
              <a:rPr lang="en-US" smtClean="0"/>
              <a:t>31</a:t>
            </a:fld>
            <a:endParaRPr lang="en-US"/>
          </a:p>
        </p:txBody>
      </p:sp>
    </p:spTree>
    <p:extLst>
      <p:ext uri="{BB962C8B-B14F-4D97-AF65-F5344CB8AC3E}">
        <p14:creationId xmlns:p14="http://schemas.microsoft.com/office/powerpoint/2010/main" val="24425168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wide-angle lens includes a much larger area than the normal lens, exaggerating the space between near and far shots. </a:t>
            </a:r>
          </a:p>
          <a:p>
            <a:r>
              <a:rPr lang="en-US" sz="1200" kern="1200" dirty="0">
                <a:solidFill>
                  <a:schemeClr val="tx1"/>
                </a:solidFill>
                <a:effectLst/>
                <a:latin typeface="+mn-lt"/>
                <a:ea typeface="+mn-ea"/>
                <a:cs typeface="+mn-cs"/>
              </a:rPr>
              <a:t>This creates a feeling of vastness within an image. Wide-angle lenses have a short focal length, which exaggerated the distance in front of the camera.</a:t>
            </a:r>
          </a:p>
          <a:p>
            <a:r>
              <a:rPr lang="en-US" sz="1200" kern="1200" dirty="0">
                <a:solidFill>
                  <a:schemeClr val="tx1"/>
                </a:solidFill>
                <a:effectLst/>
                <a:latin typeface="+mn-lt"/>
                <a:ea typeface="+mn-ea"/>
                <a:cs typeface="+mn-cs"/>
              </a:rPr>
              <a:t>Films that have used wide-angle lenses are those that reline panoramic shots such as Dances with Wolves and Message in a Bottle, which opens with a panoramic shot of a boat adrift in the ocean.</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Wide-angle lenses are often used for establishing shots of buildings and Landscapes. </a:t>
            </a:r>
          </a:p>
          <a:p>
            <a:r>
              <a:rPr lang="en-US" sz="1200" kern="1200" dirty="0">
                <a:solidFill>
                  <a:schemeClr val="tx1"/>
                </a:solidFill>
                <a:effectLst/>
                <a:latin typeface="+mn-lt"/>
                <a:ea typeface="+mn-ea"/>
                <a:cs typeface="+mn-cs"/>
              </a:rPr>
              <a:t>When using a wide-angle lens, object in the foreground and background will both be in Focus, enhancing the three-dimensional feeling of the frame. </a:t>
            </a:r>
          </a:p>
          <a:p>
            <a:r>
              <a:rPr lang="en-US" sz="1200" kern="1200" dirty="0">
                <a:solidFill>
                  <a:schemeClr val="tx1"/>
                </a:solidFill>
                <a:effectLst/>
                <a:latin typeface="+mn-lt"/>
                <a:ea typeface="+mn-ea"/>
                <a:cs typeface="+mn-cs"/>
              </a:rPr>
              <a:t>Quality of the wide-angle lens is that perspective is distorted. </a:t>
            </a:r>
          </a:p>
          <a:p>
            <a:r>
              <a:rPr lang="en-US" sz="1200" kern="1200" dirty="0">
                <a:solidFill>
                  <a:schemeClr val="tx1"/>
                </a:solidFill>
                <a:effectLst/>
                <a:latin typeface="+mn-lt"/>
                <a:ea typeface="+mn-ea"/>
                <a:cs typeface="+mn-cs"/>
              </a:rPr>
              <a:t>The Wider the lens, the more distorted the image. </a:t>
            </a:r>
          </a:p>
          <a:p>
            <a:r>
              <a:rPr lang="en-US" sz="1200" kern="1200" dirty="0">
                <a:solidFill>
                  <a:schemeClr val="tx1"/>
                </a:solidFill>
                <a:effectLst/>
                <a:latin typeface="+mn-lt"/>
                <a:ea typeface="+mn-ea"/>
                <a:cs typeface="+mn-cs"/>
              </a:rPr>
              <a:t>When is subject is close to the camera, it exaggerate the size relationship.</a:t>
            </a:r>
          </a:p>
          <a:p>
            <a:r>
              <a:rPr lang="en-US" sz="1200" kern="1200" dirty="0">
                <a:solidFill>
                  <a:schemeClr val="tx1"/>
                </a:solidFill>
                <a:effectLst/>
                <a:latin typeface="+mn-lt"/>
                <a:ea typeface="+mn-ea"/>
                <a:cs typeface="+mn-cs"/>
              </a:rPr>
              <a:t>For example a wide-angle shot of an individual kicking his foot for the camera will create an illusion of an exaggerated foot in comparison to an undersized body.</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32</a:t>
            </a:fld>
            <a:endParaRPr lang="en-US"/>
          </a:p>
        </p:txBody>
      </p:sp>
    </p:spTree>
    <p:extLst>
      <p:ext uri="{BB962C8B-B14F-4D97-AF65-F5344CB8AC3E}">
        <p14:creationId xmlns:p14="http://schemas.microsoft.com/office/powerpoint/2010/main" val="21114912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Wide-angle lenses are often used for establishing shots of buildings and Landscapes. </a:t>
            </a:r>
          </a:p>
          <a:p>
            <a:r>
              <a:rPr lang="en-US" sz="1200" kern="1200" dirty="0">
                <a:solidFill>
                  <a:schemeClr val="tx1"/>
                </a:solidFill>
                <a:effectLst/>
                <a:latin typeface="+mn-lt"/>
                <a:ea typeface="+mn-ea"/>
                <a:cs typeface="+mn-cs"/>
              </a:rPr>
              <a:t>When using a wide-angle lens, object in the foreground and background will both be in Focus, enhancing the three-dimensional feeling of the frame. </a:t>
            </a:r>
          </a:p>
          <a:p>
            <a:r>
              <a:rPr lang="en-US" sz="1200" kern="1200" dirty="0">
                <a:solidFill>
                  <a:schemeClr val="tx1"/>
                </a:solidFill>
                <a:effectLst/>
                <a:latin typeface="+mn-lt"/>
                <a:ea typeface="+mn-ea"/>
                <a:cs typeface="+mn-cs"/>
              </a:rPr>
              <a:t>Quality of the wide-angle lens is that perspective is distorted. </a:t>
            </a:r>
          </a:p>
          <a:p>
            <a:r>
              <a:rPr lang="en-US" sz="1200" kern="1200" dirty="0">
                <a:solidFill>
                  <a:schemeClr val="tx1"/>
                </a:solidFill>
                <a:effectLst/>
                <a:latin typeface="+mn-lt"/>
                <a:ea typeface="+mn-ea"/>
                <a:cs typeface="+mn-cs"/>
              </a:rPr>
              <a:t>The Wider the lens, the more distorted the image. </a:t>
            </a:r>
          </a:p>
          <a:p>
            <a:r>
              <a:rPr lang="en-US" sz="1200" kern="1200" dirty="0">
                <a:solidFill>
                  <a:schemeClr val="tx1"/>
                </a:solidFill>
                <a:effectLst/>
                <a:latin typeface="+mn-lt"/>
                <a:ea typeface="+mn-ea"/>
                <a:cs typeface="+mn-cs"/>
              </a:rPr>
              <a:t>When is subject is close to the camera, it exaggerate the size relationship.</a:t>
            </a:r>
          </a:p>
          <a:p>
            <a:r>
              <a:rPr lang="en-US" sz="1200" kern="1200" dirty="0">
                <a:solidFill>
                  <a:schemeClr val="tx1"/>
                </a:solidFill>
                <a:effectLst/>
                <a:latin typeface="+mn-lt"/>
                <a:ea typeface="+mn-ea"/>
                <a:cs typeface="+mn-cs"/>
              </a:rPr>
              <a:t>For example a wide-angle shot of an individual kicking his foot for the camera will create an illusion of an exaggerated foot in comparison to an undersized body.</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33</a:t>
            </a:fld>
            <a:endParaRPr lang="en-US"/>
          </a:p>
        </p:txBody>
      </p:sp>
    </p:spTree>
    <p:extLst>
      <p:ext uri="{BB962C8B-B14F-4D97-AF65-F5344CB8AC3E}">
        <p14:creationId xmlns:p14="http://schemas.microsoft.com/office/powerpoint/2010/main" val="23086767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Telephoto lens</a:t>
            </a:r>
          </a:p>
          <a:p>
            <a:r>
              <a:rPr lang="en-US" sz="1200" kern="1200" dirty="0">
                <a:solidFill>
                  <a:schemeClr val="tx1"/>
                </a:solidFill>
                <a:effectLst/>
                <a:latin typeface="+mn-lt"/>
                <a:ea typeface="+mn-ea"/>
                <a:cs typeface="+mn-cs"/>
              </a:rPr>
              <a:t>Telephoto lenses have shallow depth of field, compressing the foreground and background. </a:t>
            </a:r>
          </a:p>
          <a:p>
            <a:r>
              <a:rPr lang="en-US" sz="1200" kern="1200" dirty="0">
                <a:solidFill>
                  <a:schemeClr val="tx1"/>
                </a:solidFill>
                <a:effectLst/>
                <a:latin typeface="+mn-lt"/>
                <a:ea typeface="+mn-ea"/>
                <a:cs typeface="+mn-cs"/>
              </a:rPr>
              <a:t>This creates the illusion of objects appearing closer together. </a:t>
            </a:r>
          </a:p>
          <a:p>
            <a:r>
              <a:rPr lang="en-US" sz="1200" kern="1200" dirty="0">
                <a:solidFill>
                  <a:schemeClr val="tx1"/>
                </a:solidFill>
                <a:effectLst/>
                <a:latin typeface="+mn-lt"/>
                <a:ea typeface="+mn-ea"/>
                <a:cs typeface="+mn-cs"/>
              </a:rPr>
              <a:t>Any unwanted distractions in an image are thrown out of focus with telephoto lens, making the background appear flat.</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34</a:t>
            </a:fld>
            <a:endParaRPr lang="en-US"/>
          </a:p>
        </p:txBody>
      </p:sp>
    </p:spTree>
    <p:extLst>
      <p:ext uri="{BB962C8B-B14F-4D97-AF65-F5344CB8AC3E}">
        <p14:creationId xmlns:p14="http://schemas.microsoft.com/office/powerpoint/2010/main" val="41900009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Impression of depth within a two-dimensional storyboard design is achieved through various techniques. </a:t>
            </a:r>
          </a:p>
          <a:p>
            <a:r>
              <a:rPr lang="en-US" sz="1200" kern="1200" dirty="0">
                <a:solidFill>
                  <a:schemeClr val="tx1"/>
                </a:solidFill>
                <a:effectLst/>
                <a:latin typeface="+mn-lt"/>
                <a:ea typeface="+mn-ea"/>
                <a:cs typeface="+mn-cs"/>
              </a:rPr>
              <a:t>To understand perspective, imagine standing in front Of an open window.</a:t>
            </a:r>
          </a:p>
          <a:p>
            <a:r>
              <a:rPr lang="en-US" sz="1200" kern="1200" dirty="0">
                <a:solidFill>
                  <a:schemeClr val="tx1"/>
                </a:solidFill>
                <a:effectLst/>
                <a:latin typeface="+mn-lt"/>
                <a:ea typeface="+mn-ea"/>
                <a:cs typeface="+mn-cs"/>
              </a:rPr>
              <a:t>Outside your window is to seeing what you were going to draw. </a:t>
            </a:r>
          </a:p>
          <a:p>
            <a:r>
              <a:rPr lang="en-US" sz="1200" kern="1200" dirty="0">
                <a:solidFill>
                  <a:schemeClr val="tx1"/>
                </a:solidFill>
                <a:effectLst/>
                <a:latin typeface="+mn-lt"/>
                <a:ea typeface="+mn-ea"/>
                <a:cs typeface="+mn-cs"/>
              </a:rPr>
              <a:t>The horizon line runs across your view, and the parallel lines of the objects outside your window up here to meet at some point in the distance, also known as the vanishing point.</a:t>
            </a:r>
          </a:p>
          <a:p>
            <a:endParaRPr lang="en-US" dirty="0"/>
          </a:p>
        </p:txBody>
      </p:sp>
      <p:sp>
        <p:nvSpPr>
          <p:cNvPr id="4" name="Slide Number Placeholder 3"/>
          <p:cNvSpPr>
            <a:spLocks noGrp="1"/>
          </p:cNvSpPr>
          <p:nvPr>
            <p:ph type="sldNum" sz="quarter" idx="10"/>
          </p:nvPr>
        </p:nvSpPr>
        <p:spPr/>
        <p:txBody>
          <a:bodyPr/>
          <a:lstStyle/>
          <a:p>
            <a:fld id="{3C7FDB04-D1AC-46DB-9592-CA12D78D404F}" type="slidenum">
              <a:rPr lang="en-US" smtClean="0"/>
              <a:t>35</a:t>
            </a:fld>
            <a:endParaRPr lang="en-US"/>
          </a:p>
        </p:txBody>
      </p:sp>
    </p:spTree>
    <p:extLst>
      <p:ext uri="{BB962C8B-B14F-4D97-AF65-F5344CB8AC3E}">
        <p14:creationId xmlns:p14="http://schemas.microsoft.com/office/powerpoint/2010/main" val="11396446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These objects are closer to the horizon line appear more distant, where is these objects closer to you appear larger. </a:t>
            </a:r>
          </a:p>
          <a:p>
            <a:r>
              <a:rPr lang="en-US" sz="1200" kern="1200" dirty="0">
                <a:solidFill>
                  <a:schemeClr val="tx1"/>
                </a:solidFill>
                <a:effectLst/>
                <a:latin typeface="+mn-lt"/>
                <a:ea typeface="+mn-ea"/>
                <a:cs typeface="+mn-cs"/>
              </a:rPr>
              <a:t>Some depth cues include overlap which is when one object is placed in front of the other, and Atmospheric perspective, which is how Haze or fog affect the appearance of objects. </a:t>
            </a:r>
          </a:p>
          <a:p>
            <a:r>
              <a:rPr lang="en-US" sz="1200" kern="1200" dirty="0">
                <a:solidFill>
                  <a:schemeClr val="tx1"/>
                </a:solidFill>
                <a:effectLst/>
                <a:latin typeface="+mn-lt"/>
                <a:ea typeface="+mn-ea"/>
                <a:cs typeface="+mn-cs"/>
              </a:rPr>
              <a:t>A bird's eye view of helicopter landing on the roof of a building is achieved by applying 3 point perspective, where is drawing one-point perspective allows the viewer to see an object only from straight on. </a:t>
            </a:r>
          </a:p>
        </p:txBody>
      </p:sp>
      <p:sp>
        <p:nvSpPr>
          <p:cNvPr id="4" name="Slide Number Placeholder 3"/>
          <p:cNvSpPr>
            <a:spLocks noGrp="1"/>
          </p:cNvSpPr>
          <p:nvPr>
            <p:ph type="sldNum" sz="quarter" idx="10"/>
          </p:nvPr>
        </p:nvSpPr>
        <p:spPr/>
        <p:txBody>
          <a:bodyPr/>
          <a:lstStyle/>
          <a:p>
            <a:fld id="{3C7FDB04-D1AC-46DB-9592-CA12D78D404F}" type="slidenum">
              <a:rPr lang="en-US" smtClean="0"/>
              <a:t>36</a:t>
            </a:fld>
            <a:endParaRPr lang="en-US"/>
          </a:p>
        </p:txBody>
      </p:sp>
    </p:spTree>
    <p:extLst>
      <p:ext uri="{BB962C8B-B14F-4D97-AF65-F5344CB8AC3E}">
        <p14:creationId xmlns:p14="http://schemas.microsoft.com/office/powerpoint/2010/main" val="31804829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Lens Choice also creates depth within an image. </a:t>
            </a:r>
          </a:p>
          <a:p>
            <a:r>
              <a:rPr lang="en-US" sz="1200" kern="1200" dirty="0">
                <a:solidFill>
                  <a:schemeClr val="tx1"/>
                </a:solidFill>
                <a:effectLst/>
                <a:latin typeface="+mn-lt"/>
                <a:ea typeface="+mn-ea"/>
                <a:cs typeface="+mn-cs"/>
              </a:rPr>
              <a:t>Shallow depth of field is when an object is in focus in the foreground, but the background is out of focus. </a:t>
            </a:r>
          </a:p>
          <a:p>
            <a:r>
              <a:rPr lang="en-US" sz="1200" kern="1200">
                <a:solidFill>
                  <a:schemeClr val="tx1"/>
                </a:solidFill>
                <a:effectLst/>
                <a:latin typeface="+mn-lt"/>
                <a:ea typeface="+mn-ea"/>
                <a:cs typeface="+mn-cs"/>
              </a:rPr>
              <a:t>For wide depth of field both the foreground and background or in focus.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C7FDB04-D1AC-46DB-9592-CA12D78D404F}" type="slidenum">
              <a:rPr lang="en-US" smtClean="0"/>
              <a:t>37</a:t>
            </a:fld>
            <a:endParaRPr lang="en-US"/>
          </a:p>
        </p:txBody>
      </p:sp>
    </p:spTree>
    <p:extLst>
      <p:ext uri="{BB962C8B-B14F-4D97-AF65-F5344CB8AC3E}">
        <p14:creationId xmlns:p14="http://schemas.microsoft.com/office/powerpoint/2010/main" val="17329236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8/5/2026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8/5/2026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3625" y="1871131"/>
            <a:ext cx="7448549" cy="1515533"/>
          </a:xfrm>
        </p:spPr>
        <p:txBody>
          <a:bodyPr/>
          <a:lstStyle/>
          <a:p>
            <a:r>
              <a:rPr lang="en-US" sz="4400" dirty="0"/>
              <a:t>Drawing in Perspective</a:t>
            </a:r>
          </a:p>
        </p:txBody>
      </p:sp>
      <p:sp>
        <p:nvSpPr>
          <p:cNvPr id="5" name="Subtitle 4">
            <a:extLst>
              <a:ext uri="{FF2B5EF4-FFF2-40B4-BE49-F238E27FC236}">
                <a16:creationId xmlns:a16="http://schemas.microsoft.com/office/drawing/2014/main" id="{70C6AD92-1E75-4AE6-A160-8290338F1B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5282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EF5C-2B72-41F0-B3B5-0B612BD04A5E}"/>
              </a:ext>
            </a:extLst>
          </p:cNvPr>
          <p:cNvSpPr>
            <a:spLocks noGrp="1"/>
          </p:cNvSpPr>
          <p:nvPr>
            <p:ph type="title"/>
          </p:nvPr>
        </p:nvSpPr>
        <p:spPr/>
        <p:txBody>
          <a:bodyPr/>
          <a:lstStyle/>
          <a:p>
            <a:r>
              <a:rPr lang="en-US" dirty="0"/>
              <a:t>Intro to Perspective</a:t>
            </a:r>
          </a:p>
        </p:txBody>
      </p:sp>
      <p:sp>
        <p:nvSpPr>
          <p:cNvPr id="3" name="Content Placeholder 2">
            <a:extLst>
              <a:ext uri="{FF2B5EF4-FFF2-40B4-BE49-F238E27FC236}">
                <a16:creationId xmlns:a16="http://schemas.microsoft.com/office/drawing/2014/main" id="{F10934EF-5B0C-415F-A3C2-FA3BC76906F6}"/>
              </a:ext>
            </a:extLst>
          </p:cNvPr>
          <p:cNvSpPr>
            <a:spLocks noGrp="1"/>
          </p:cNvSpPr>
          <p:nvPr>
            <p:ph idx="1"/>
          </p:nvPr>
        </p:nvSpPr>
        <p:spPr/>
        <p:txBody>
          <a:bodyPr>
            <a:normAutofit/>
          </a:bodyPr>
          <a:lstStyle/>
          <a:p>
            <a:r>
              <a:rPr lang="en-US" dirty="0">
                <a:solidFill>
                  <a:schemeClr val="tx1"/>
                </a:solidFill>
              </a:rPr>
              <a:t>Perspective is a thing we take for granted, in everything we see, that is part of the way we see the world.</a:t>
            </a:r>
          </a:p>
          <a:p>
            <a:r>
              <a:rPr lang="en-US" dirty="0">
                <a:solidFill>
                  <a:schemeClr val="tx1"/>
                </a:solidFill>
              </a:rPr>
              <a:t>Perspective conveys information to us about depth and distance</a:t>
            </a:r>
          </a:p>
          <a:p>
            <a:r>
              <a:rPr lang="en-US" dirty="0">
                <a:solidFill>
                  <a:schemeClr val="tx1"/>
                </a:solidFill>
              </a:rPr>
              <a:t>Perspective changes the appearance of things based on where you are looking from.</a:t>
            </a:r>
          </a:p>
          <a:p>
            <a:r>
              <a:rPr lang="en-US" dirty="0">
                <a:solidFill>
                  <a:schemeClr val="tx1"/>
                </a:solidFill>
              </a:rPr>
              <a:t>The translation of the real 3d world onto 2d media such as a screen or a drawing, reduces depth to an illusion, or a simple “interpretation”.</a:t>
            </a:r>
          </a:p>
          <a:p>
            <a:endParaRPr lang="en-US" dirty="0"/>
          </a:p>
        </p:txBody>
      </p:sp>
    </p:spTree>
    <p:extLst>
      <p:ext uri="{BB962C8B-B14F-4D97-AF65-F5344CB8AC3E}">
        <p14:creationId xmlns:p14="http://schemas.microsoft.com/office/powerpoint/2010/main" val="2472147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9544D-697C-4204-845F-935F61D5F522}"/>
              </a:ext>
            </a:extLst>
          </p:cNvPr>
          <p:cNvSpPr>
            <a:spLocks noGrp="1"/>
          </p:cNvSpPr>
          <p:nvPr>
            <p:ph type="title"/>
          </p:nvPr>
        </p:nvSpPr>
        <p:spPr/>
        <p:txBody>
          <a:bodyPr/>
          <a:lstStyle/>
          <a:p>
            <a:r>
              <a:rPr lang="en-US" dirty="0"/>
              <a:t>Intro to Perspective</a:t>
            </a:r>
          </a:p>
        </p:txBody>
      </p:sp>
      <p:sp>
        <p:nvSpPr>
          <p:cNvPr id="3" name="Content Placeholder 2">
            <a:extLst>
              <a:ext uri="{FF2B5EF4-FFF2-40B4-BE49-F238E27FC236}">
                <a16:creationId xmlns:a16="http://schemas.microsoft.com/office/drawing/2014/main" id="{AA55BF89-11CB-4B8C-BD56-32505D725057}"/>
              </a:ext>
            </a:extLst>
          </p:cNvPr>
          <p:cNvSpPr>
            <a:spLocks noGrp="1"/>
          </p:cNvSpPr>
          <p:nvPr>
            <p:ph idx="1"/>
          </p:nvPr>
        </p:nvSpPr>
        <p:spPr>
          <a:xfrm>
            <a:off x="1295401" y="2556932"/>
            <a:ext cx="4800599" cy="3318936"/>
          </a:xfrm>
        </p:spPr>
        <p:txBody>
          <a:bodyPr/>
          <a:lstStyle/>
          <a:p>
            <a:r>
              <a:rPr lang="en-US" dirty="0"/>
              <a:t>Artists, especially storyboard artists need to understand laws of visual perspective to convey dimension and distance.</a:t>
            </a:r>
          </a:p>
          <a:p>
            <a:r>
              <a:rPr lang="en-US" dirty="0"/>
              <a:t>Perspective allows artist to consider different viewpoints of a shot.</a:t>
            </a:r>
          </a:p>
        </p:txBody>
      </p:sp>
      <p:pic>
        <p:nvPicPr>
          <p:cNvPr id="5124" name="Picture 4" descr="Image result for scott robertson environment">
            <a:extLst>
              <a:ext uri="{FF2B5EF4-FFF2-40B4-BE49-F238E27FC236}">
                <a16:creationId xmlns:a16="http://schemas.microsoft.com/office/drawing/2014/main" id="{993093B2-B775-4DCC-AF27-EF81DCD0A77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450" t="3210"/>
          <a:stretch/>
        </p:blipFill>
        <p:spPr bwMode="auto">
          <a:xfrm>
            <a:off x="6096000" y="2556932"/>
            <a:ext cx="5276045" cy="331893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34545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9544D-697C-4204-845F-935F61D5F522}"/>
              </a:ext>
            </a:extLst>
          </p:cNvPr>
          <p:cNvSpPr>
            <a:spLocks noGrp="1"/>
          </p:cNvSpPr>
          <p:nvPr>
            <p:ph type="title"/>
          </p:nvPr>
        </p:nvSpPr>
        <p:spPr/>
        <p:txBody>
          <a:bodyPr/>
          <a:lstStyle/>
          <a:p>
            <a:r>
              <a:rPr lang="en-US" dirty="0"/>
              <a:t>Intro to Perspective</a:t>
            </a:r>
          </a:p>
        </p:txBody>
      </p:sp>
      <p:sp>
        <p:nvSpPr>
          <p:cNvPr id="3" name="Content Placeholder 2">
            <a:extLst>
              <a:ext uri="{FF2B5EF4-FFF2-40B4-BE49-F238E27FC236}">
                <a16:creationId xmlns:a16="http://schemas.microsoft.com/office/drawing/2014/main" id="{AA55BF89-11CB-4B8C-BD56-32505D725057}"/>
              </a:ext>
            </a:extLst>
          </p:cNvPr>
          <p:cNvSpPr>
            <a:spLocks noGrp="1"/>
          </p:cNvSpPr>
          <p:nvPr>
            <p:ph idx="1"/>
          </p:nvPr>
        </p:nvSpPr>
        <p:spPr>
          <a:xfrm>
            <a:off x="1295401" y="2556932"/>
            <a:ext cx="9601196" cy="3318936"/>
          </a:xfrm>
        </p:spPr>
        <p:txBody>
          <a:bodyPr>
            <a:normAutofit/>
          </a:bodyPr>
          <a:lstStyle/>
          <a:p>
            <a:r>
              <a:rPr lang="en-US" dirty="0">
                <a:solidFill>
                  <a:schemeClr val="tx1"/>
                </a:solidFill>
              </a:rPr>
              <a:t>Linear perspective is most regarded system of representation</a:t>
            </a:r>
          </a:p>
          <a:p>
            <a:r>
              <a:rPr lang="en-US" dirty="0">
                <a:solidFill>
                  <a:schemeClr val="tx1"/>
                </a:solidFill>
              </a:rPr>
              <a:t>Distance between camera and subject as well as the choice of lens is critical to Linear Perspective</a:t>
            </a:r>
          </a:p>
          <a:p>
            <a:r>
              <a:rPr lang="en-US" dirty="0">
                <a:solidFill>
                  <a:schemeClr val="tx1"/>
                </a:solidFill>
              </a:rPr>
              <a:t>Perspective changes any time a camera is rearranged. Essentially, when a camera is moved, you are re-framing a shot.</a:t>
            </a:r>
          </a:p>
          <a:p>
            <a:r>
              <a:rPr lang="en-US" dirty="0">
                <a:solidFill>
                  <a:schemeClr val="tx1"/>
                </a:solidFill>
              </a:rPr>
              <a:t>Other important cues include overlapping texture, spacing, size, and foreshortening. </a:t>
            </a:r>
          </a:p>
        </p:txBody>
      </p:sp>
    </p:spTree>
    <p:extLst>
      <p:ext uri="{BB962C8B-B14F-4D97-AF65-F5344CB8AC3E}">
        <p14:creationId xmlns:p14="http://schemas.microsoft.com/office/powerpoint/2010/main" val="4062286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9C4E8-DAD5-4FBC-AA55-4918F5430ACD}"/>
              </a:ext>
            </a:extLst>
          </p:cNvPr>
          <p:cNvSpPr>
            <a:spLocks noGrp="1"/>
          </p:cNvSpPr>
          <p:nvPr>
            <p:ph type="title"/>
          </p:nvPr>
        </p:nvSpPr>
        <p:spPr/>
        <p:txBody>
          <a:bodyPr/>
          <a:lstStyle/>
          <a:p>
            <a:r>
              <a:rPr lang="en-US" dirty="0"/>
              <a:t>Picture Plane</a:t>
            </a:r>
          </a:p>
        </p:txBody>
      </p:sp>
      <p:sp>
        <p:nvSpPr>
          <p:cNvPr id="3" name="Content Placeholder 2">
            <a:extLst>
              <a:ext uri="{FF2B5EF4-FFF2-40B4-BE49-F238E27FC236}">
                <a16:creationId xmlns:a16="http://schemas.microsoft.com/office/drawing/2014/main" id="{4D66659F-F451-4EBB-A9AA-86E553B75941}"/>
              </a:ext>
            </a:extLst>
          </p:cNvPr>
          <p:cNvSpPr>
            <a:spLocks noGrp="1"/>
          </p:cNvSpPr>
          <p:nvPr>
            <p:ph idx="1"/>
          </p:nvPr>
        </p:nvSpPr>
        <p:spPr>
          <a:xfrm>
            <a:off x="1295401" y="2556932"/>
            <a:ext cx="5401613" cy="3318936"/>
          </a:xfrm>
        </p:spPr>
        <p:txBody>
          <a:bodyPr/>
          <a:lstStyle/>
          <a:p>
            <a:r>
              <a:rPr lang="en-US" dirty="0"/>
              <a:t>Similar to window (canvas or monitor) in which we see the subject projected in 2d.</a:t>
            </a:r>
          </a:p>
          <a:p>
            <a:r>
              <a:rPr lang="en-US" dirty="0">
                <a:solidFill>
                  <a:schemeClr val="tx1"/>
                </a:solidFill>
              </a:rPr>
              <a:t>To view an object, viewer must direct gaze in the direction of the object (</a:t>
            </a:r>
            <a:r>
              <a:rPr lang="en-US" b="1" dirty="0">
                <a:solidFill>
                  <a:schemeClr val="tx1"/>
                </a:solidFill>
              </a:rPr>
              <a:t>line of sight</a:t>
            </a:r>
            <a:r>
              <a:rPr lang="en-US" dirty="0">
                <a:solidFill>
                  <a:schemeClr val="tx1"/>
                </a:solidFill>
              </a:rPr>
              <a:t> or </a:t>
            </a:r>
            <a:r>
              <a:rPr lang="en-US" b="1" dirty="0">
                <a:solidFill>
                  <a:schemeClr val="tx1"/>
                </a:solidFill>
              </a:rPr>
              <a:t>eye line</a:t>
            </a:r>
            <a:r>
              <a:rPr lang="en-US" dirty="0">
                <a:solidFill>
                  <a:schemeClr val="tx1"/>
                </a:solidFill>
              </a:rPr>
              <a:t>)</a:t>
            </a:r>
          </a:p>
          <a:p>
            <a:endParaRPr lang="en-US" dirty="0"/>
          </a:p>
          <a:p>
            <a:endParaRPr lang="en-US" dirty="0"/>
          </a:p>
        </p:txBody>
      </p:sp>
      <p:pic>
        <p:nvPicPr>
          <p:cNvPr id="4102" name="Picture 6" descr="https://i1.wp.com/www.realistacademy.com/wp-content/uploads/2015/11/Picture-Plane1.jpg?ssl=1">
            <a:extLst>
              <a:ext uri="{FF2B5EF4-FFF2-40B4-BE49-F238E27FC236}">
                <a16:creationId xmlns:a16="http://schemas.microsoft.com/office/drawing/2014/main" id="{4A3D76A9-4EA4-4409-BAA8-8911B3508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2602" y="2556932"/>
            <a:ext cx="4063996" cy="2285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520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9C4E8-DAD5-4FBC-AA55-4918F5430ACD}"/>
              </a:ext>
            </a:extLst>
          </p:cNvPr>
          <p:cNvSpPr>
            <a:spLocks noGrp="1"/>
          </p:cNvSpPr>
          <p:nvPr>
            <p:ph type="title"/>
          </p:nvPr>
        </p:nvSpPr>
        <p:spPr/>
        <p:txBody>
          <a:bodyPr/>
          <a:lstStyle/>
          <a:p>
            <a:r>
              <a:rPr lang="en-US" dirty="0"/>
              <a:t>Horizon Line and Vanishing Point</a:t>
            </a:r>
          </a:p>
        </p:txBody>
      </p:sp>
      <p:sp>
        <p:nvSpPr>
          <p:cNvPr id="3" name="Content Placeholder 2">
            <a:extLst>
              <a:ext uri="{FF2B5EF4-FFF2-40B4-BE49-F238E27FC236}">
                <a16:creationId xmlns:a16="http://schemas.microsoft.com/office/drawing/2014/main" id="{4D66659F-F451-4EBB-A9AA-86E553B75941}"/>
              </a:ext>
            </a:extLst>
          </p:cNvPr>
          <p:cNvSpPr>
            <a:spLocks noGrp="1"/>
          </p:cNvSpPr>
          <p:nvPr>
            <p:ph idx="1"/>
          </p:nvPr>
        </p:nvSpPr>
        <p:spPr>
          <a:xfrm>
            <a:off x="1295401" y="2556932"/>
            <a:ext cx="4800599" cy="3318936"/>
          </a:xfrm>
        </p:spPr>
        <p:txBody>
          <a:bodyPr>
            <a:normAutofit/>
          </a:bodyPr>
          <a:lstStyle/>
          <a:p>
            <a:r>
              <a:rPr lang="en-US" dirty="0"/>
              <a:t>Where the “sky” and ground-plane disappear.</a:t>
            </a:r>
          </a:p>
          <a:p>
            <a:r>
              <a:rPr lang="en-US" dirty="0"/>
              <a:t>Imaginary line that is always at eye level.</a:t>
            </a:r>
          </a:p>
          <a:p>
            <a:r>
              <a:rPr lang="en-US" dirty="0">
                <a:solidFill>
                  <a:schemeClr val="tx1"/>
                </a:solidFill>
              </a:rPr>
              <a:t>Object relationship with a horizon line shows whether it is a low-angle, high-angle, or normal view.</a:t>
            </a:r>
          </a:p>
          <a:p>
            <a:endParaRPr lang="en-US" dirty="0"/>
          </a:p>
        </p:txBody>
      </p:sp>
      <p:pic>
        <p:nvPicPr>
          <p:cNvPr id="6148" name="Picture 4" descr="Image result for shoreline horizon line drawing">
            <a:extLst>
              <a:ext uri="{FF2B5EF4-FFF2-40B4-BE49-F238E27FC236}">
                <a16:creationId xmlns:a16="http://schemas.microsoft.com/office/drawing/2014/main" id="{45142E0C-C9BE-48BB-9DD4-D775FDA247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143"/>
          <a:stretch/>
        </p:blipFill>
        <p:spPr bwMode="auto">
          <a:xfrm>
            <a:off x="6096000" y="2573030"/>
            <a:ext cx="4941548" cy="33028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45329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9C4E8-DAD5-4FBC-AA55-4918F5430ACD}"/>
              </a:ext>
            </a:extLst>
          </p:cNvPr>
          <p:cNvSpPr>
            <a:spLocks noGrp="1"/>
          </p:cNvSpPr>
          <p:nvPr>
            <p:ph type="title"/>
          </p:nvPr>
        </p:nvSpPr>
        <p:spPr/>
        <p:txBody>
          <a:bodyPr/>
          <a:lstStyle/>
          <a:p>
            <a:r>
              <a:rPr lang="en-US" dirty="0"/>
              <a:t>Horizon Line and Vanishing Point</a:t>
            </a:r>
          </a:p>
        </p:txBody>
      </p:sp>
      <p:sp>
        <p:nvSpPr>
          <p:cNvPr id="3" name="Content Placeholder 2">
            <a:extLst>
              <a:ext uri="{FF2B5EF4-FFF2-40B4-BE49-F238E27FC236}">
                <a16:creationId xmlns:a16="http://schemas.microsoft.com/office/drawing/2014/main" id="{4D66659F-F451-4EBB-A9AA-86E553B75941}"/>
              </a:ext>
            </a:extLst>
          </p:cNvPr>
          <p:cNvSpPr>
            <a:spLocks noGrp="1"/>
          </p:cNvSpPr>
          <p:nvPr>
            <p:ph idx="1"/>
          </p:nvPr>
        </p:nvSpPr>
        <p:spPr>
          <a:xfrm>
            <a:off x="1295401" y="2556932"/>
            <a:ext cx="4800599" cy="3318936"/>
          </a:xfrm>
        </p:spPr>
        <p:txBody>
          <a:bodyPr>
            <a:normAutofit/>
          </a:bodyPr>
          <a:lstStyle/>
          <a:p>
            <a:r>
              <a:rPr lang="en-US" dirty="0">
                <a:solidFill>
                  <a:schemeClr val="tx1"/>
                </a:solidFill>
              </a:rPr>
              <a:t>Vanishing point is a point on the horizon line where the parallel lines of an object proceed to the Horizon.</a:t>
            </a:r>
          </a:p>
          <a:p>
            <a:r>
              <a:rPr lang="en-US" dirty="0">
                <a:solidFill>
                  <a:schemeClr val="tx1"/>
                </a:solidFill>
              </a:rPr>
              <a:t>Objects that are different angles have their own vanishing point.</a:t>
            </a:r>
          </a:p>
          <a:p>
            <a:endParaRPr lang="en-US" dirty="0">
              <a:solidFill>
                <a:schemeClr val="tx1"/>
              </a:solidFill>
            </a:endParaRPr>
          </a:p>
          <a:p>
            <a:endParaRPr lang="en-US" dirty="0"/>
          </a:p>
        </p:txBody>
      </p:sp>
      <p:pic>
        <p:nvPicPr>
          <p:cNvPr id="6148" name="Picture 4" descr="Image result for shoreline horizon line drawing">
            <a:extLst>
              <a:ext uri="{FF2B5EF4-FFF2-40B4-BE49-F238E27FC236}">
                <a16:creationId xmlns:a16="http://schemas.microsoft.com/office/drawing/2014/main" id="{45142E0C-C9BE-48BB-9DD4-D775FDA247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143"/>
          <a:stretch/>
        </p:blipFill>
        <p:spPr bwMode="auto">
          <a:xfrm>
            <a:off x="6096000" y="2573030"/>
            <a:ext cx="4941548" cy="33028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Graphic 5" descr="Close">
            <a:extLst>
              <a:ext uri="{FF2B5EF4-FFF2-40B4-BE49-F238E27FC236}">
                <a16:creationId xmlns:a16="http://schemas.microsoft.com/office/drawing/2014/main" id="{5DF0C28B-0C99-4884-8C17-374FD033244E}"/>
              </a:ext>
            </a:extLst>
          </p:cNvP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85267" y="3628622"/>
            <a:ext cx="914400" cy="914400"/>
          </a:xfrm>
          <a:prstGeom prst="rect">
            <a:avLst/>
          </a:prstGeom>
        </p:spPr>
      </p:pic>
      <p:cxnSp>
        <p:nvCxnSpPr>
          <p:cNvPr id="8" name="Straight Connector 7">
            <a:extLst>
              <a:ext uri="{FF2B5EF4-FFF2-40B4-BE49-F238E27FC236}">
                <a16:creationId xmlns:a16="http://schemas.microsoft.com/office/drawing/2014/main" id="{DC4C77E6-6594-46FC-A92A-861B7209E415}"/>
              </a:ext>
            </a:extLst>
          </p:cNvPr>
          <p:cNvCxnSpPr/>
          <p:nvPr/>
        </p:nvCxnSpPr>
        <p:spPr>
          <a:xfrm>
            <a:off x="8332631" y="4095482"/>
            <a:ext cx="2563967" cy="1796483"/>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0597FC5-D193-4307-AF3E-4F03562E6EC9}"/>
              </a:ext>
            </a:extLst>
          </p:cNvPr>
          <p:cNvCxnSpPr>
            <a:cxnSpLocks/>
          </p:cNvCxnSpPr>
          <p:nvPr/>
        </p:nvCxnSpPr>
        <p:spPr>
          <a:xfrm flipV="1">
            <a:off x="7885267" y="4085823"/>
            <a:ext cx="457200" cy="1790044"/>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5F4B85B2-9E64-483B-869F-F0177E0588D7}"/>
              </a:ext>
            </a:extLst>
          </p:cNvPr>
          <p:cNvCxnSpPr/>
          <p:nvPr/>
        </p:nvCxnSpPr>
        <p:spPr>
          <a:xfrm flipV="1">
            <a:off x="6194738" y="4085822"/>
            <a:ext cx="2147729" cy="1561446"/>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7FCA6D62-5B57-428E-A180-5B3EB1599AF2}"/>
              </a:ext>
            </a:extLst>
          </p:cNvPr>
          <p:cNvCxnSpPr>
            <a:cxnSpLocks/>
          </p:cNvCxnSpPr>
          <p:nvPr/>
        </p:nvCxnSpPr>
        <p:spPr>
          <a:xfrm flipV="1">
            <a:off x="8332631" y="2963812"/>
            <a:ext cx="2471399" cy="112201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20537AC9-0A06-4D76-B741-958BB4D10B79}"/>
              </a:ext>
            </a:extLst>
          </p:cNvPr>
          <p:cNvCxnSpPr>
            <a:cxnSpLocks/>
          </p:cNvCxnSpPr>
          <p:nvPr/>
        </p:nvCxnSpPr>
        <p:spPr>
          <a:xfrm>
            <a:off x="6096000" y="2643687"/>
            <a:ext cx="2236631" cy="1458233"/>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32852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1376B-40B4-41C0-9240-6D227347FF03}"/>
              </a:ext>
            </a:extLst>
          </p:cNvPr>
          <p:cNvSpPr>
            <a:spLocks noGrp="1"/>
          </p:cNvSpPr>
          <p:nvPr>
            <p:ph type="title"/>
          </p:nvPr>
        </p:nvSpPr>
        <p:spPr/>
        <p:txBody>
          <a:bodyPr/>
          <a:lstStyle/>
          <a:p>
            <a:r>
              <a:rPr lang="en-US" dirty="0"/>
              <a:t>One Point Perspective</a:t>
            </a:r>
          </a:p>
        </p:txBody>
      </p:sp>
      <p:sp>
        <p:nvSpPr>
          <p:cNvPr id="3" name="Content Placeholder 2">
            <a:extLst>
              <a:ext uri="{FF2B5EF4-FFF2-40B4-BE49-F238E27FC236}">
                <a16:creationId xmlns:a16="http://schemas.microsoft.com/office/drawing/2014/main" id="{D10DDA52-389F-4C0D-994A-9B3846CD7753}"/>
              </a:ext>
            </a:extLst>
          </p:cNvPr>
          <p:cNvSpPr>
            <a:spLocks noGrp="1"/>
          </p:cNvSpPr>
          <p:nvPr>
            <p:ph idx="1"/>
          </p:nvPr>
        </p:nvSpPr>
        <p:spPr>
          <a:xfrm>
            <a:off x="1295401" y="2408349"/>
            <a:ext cx="5478886" cy="3902299"/>
          </a:xfrm>
        </p:spPr>
        <p:txBody>
          <a:bodyPr>
            <a:normAutofit/>
          </a:bodyPr>
          <a:lstStyle/>
          <a:p>
            <a:r>
              <a:rPr lang="en-US" dirty="0">
                <a:solidFill>
                  <a:schemeClr val="tx1"/>
                </a:solidFill>
              </a:rPr>
              <a:t>Most common system used to render three-dimensional objects and environments on two-dimensional surfaces. </a:t>
            </a:r>
          </a:p>
          <a:p>
            <a:r>
              <a:rPr lang="en-US" dirty="0">
                <a:solidFill>
                  <a:schemeClr val="tx1"/>
                </a:solidFill>
              </a:rPr>
              <a:t>In one point perspective, there is only </a:t>
            </a:r>
            <a:r>
              <a:rPr lang="en-US" b="1" dirty="0">
                <a:solidFill>
                  <a:schemeClr val="tx1"/>
                </a:solidFill>
              </a:rPr>
              <a:t>one </a:t>
            </a:r>
            <a:r>
              <a:rPr lang="en-US" dirty="0">
                <a:solidFill>
                  <a:schemeClr val="tx1"/>
                </a:solidFill>
              </a:rPr>
              <a:t>vanishing point. </a:t>
            </a:r>
          </a:p>
          <a:p>
            <a:r>
              <a:rPr lang="en-US" dirty="0">
                <a:solidFill>
                  <a:schemeClr val="tx1"/>
                </a:solidFill>
              </a:rPr>
              <a:t>There are three types of lines used in one point perspective: </a:t>
            </a:r>
            <a:r>
              <a:rPr lang="en-US" b="1" dirty="0">
                <a:solidFill>
                  <a:schemeClr val="tx1"/>
                </a:solidFill>
              </a:rPr>
              <a:t>vertical</a:t>
            </a:r>
            <a:r>
              <a:rPr lang="en-US" dirty="0">
                <a:solidFill>
                  <a:schemeClr val="tx1"/>
                </a:solidFill>
              </a:rPr>
              <a:t> lines, </a:t>
            </a:r>
            <a:r>
              <a:rPr lang="en-US" b="1" dirty="0">
                <a:solidFill>
                  <a:schemeClr val="tx1"/>
                </a:solidFill>
              </a:rPr>
              <a:t>horizontal</a:t>
            </a:r>
            <a:r>
              <a:rPr lang="en-US" dirty="0">
                <a:solidFill>
                  <a:schemeClr val="tx1"/>
                </a:solidFill>
              </a:rPr>
              <a:t> lines, and </a:t>
            </a:r>
            <a:r>
              <a:rPr lang="en-US" b="1" dirty="0">
                <a:solidFill>
                  <a:schemeClr val="tx1"/>
                </a:solidFill>
              </a:rPr>
              <a:t>orthogonal</a:t>
            </a:r>
            <a:r>
              <a:rPr lang="en-US" dirty="0">
                <a:solidFill>
                  <a:schemeClr val="tx1"/>
                </a:solidFill>
              </a:rPr>
              <a:t> lines.</a:t>
            </a:r>
          </a:p>
          <a:p>
            <a:endParaRPr lang="en-US" dirty="0">
              <a:solidFill>
                <a:schemeClr val="tx1"/>
              </a:solidFill>
            </a:endParaRPr>
          </a:p>
          <a:p>
            <a:endParaRPr lang="en-US" dirty="0"/>
          </a:p>
        </p:txBody>
      </p:sp>
      <p:pic>
        <p:nvPicPr>
          <p:cNvPr id="8194" name="Picture 2" descr="Image result for one point perspective">
            <a:extLst>
              <a:ext uri="{FF2B5EF4-FFF2-40B4-BE49-F238E27FC236}">
                <a16:creationId xmlns:a16="http://schemas.microsoft.com/office/drawing/2014/main" id="{6DED10CC-07C3-4E1C-8963-89CCD4D7849A}"/>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950657" y="2537138"/>
            <a:ext cx="4421388" cy="31744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957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1376B-40B4-41C0-9240-6D227347FF03}"/>
              </a:ext>
            </a:extLst>
          </p:cNvPr>
          <p:cNvSpPr>
            <a:spLocks noGrp="1"/>
          </p:cNvSpPr>
          <p:nvPr>
            <p:ph type="title"/>
          </p:nvPr>
        </p:nvSpPr>
        <p:spPr/>
        <p:txBody>
          <a:bodyPr/>
          <a:lstStyle/>
          <a:p>
            <a:r>
              <a:rPr lang="en-US" dirty="0"/>
              <a:t>One Point Perspective</a:t>
            </a:r>
          </a:p>
        </p:txBody>
      </p:sp>
      <p:sp>
        <p:nvSpPr>
          <p:cNvPr id="3" name="Content Placeholder 2">
            <a:extLst>
              <a:ext uri="{FF2B5EF4-FFF2-40B4-BE49-F238E27FC236}">
                <a16:creationId xmlns:a16="http://schemas.microsoft.com/office/drawing/2014/main" id="{D10DDA52-389F-4C0D-994A-9B3846CD7753}"/>
              </a:ext>
            </a:extLst>
          </p:cNvPr>
          <p:cNvSpPr>
            <a:spLocks noGrp="1"/>
          </p:cNvSpPr>
          <p:nvPr>
            <p:ph idx="1"/>
          </p:nvPr>
        </p:nvSpPr>
        <p:spPr>
          <a:xfrm>
            <a:off x="1295401" y="2537138"/>
            <a:ext cx="5478886" cy="3580328"/>
          </a:xfrm>
        </p:spPr>
        <p:txBody>
          <a:bodyPr>
            <a:normAutofit/>
          </a:bodyPr>
          <a:lstStyle/>
          <a:p>
            <a:r>
              <a:rPr lang="en-US" b="1" dirty="0">
                <a:solidFill>
                  <a:schemeClr val="tx1"/>
                </a:solidFill>
              </a:rPr>
              <a:t>Vertical Lines</a:t>
            </a:r>
            <a:r>
              <a:rPr lang="en-US" dirty="0">
                <a:solidFill>
                  <a:schemeClr val="tx1"/>
                </a:solidFill>
              </a:rPr>
              <a:t> are </a:t>
            </a:r>
            <a:r>
              <a:rPr lang="en-US" i="1" dirty="0">
                <a:solidFill>
                  <a:schemeClr val="tx1"/>
                </a:solidFill>
              </a:rPr>
              <a:t>perpendicular </a:t>
            </a:r>
            <a:r>
              <a:rPr lang="en-US" dirty="0">
                <a:solidFill>
                  <a:schemeClr val="tx1"/>
                </a:solidFill>
              </a:rPr>
              <a:t>to the horizon line and the bottom of your panel.</a:t>
            </a:r>
          </a:p>
          <a:p>
            <a:r>
              <a:rPr lang="en-US" dirty="0">
                <a:solidFill>
                  <a:schemeClr val="tx1"/>
                </a:solidFill>
              </a:rPr>
              <a:t>Horizontal lines go from left to right and are </a:t>
            </a:r>
            <a:r>
              <a:rPr lang="en-US" i="1" dirty="0">
                <a:solidFill>
                  <a:schemeClr val="tx1"/>
                </a:solidFill>
              </a:rPr>
              <a:t>parallel </a:t>
            </a:r>
            <a:r>
              <a:rPr lang="en-US" dirty="0">
                <a:solidFill>
                  <a:schemeClr val="tx1"/>
                </a:solidFill>
              </a:rPr>
              <a:t>to the bottom edge of the panel.</a:t>
            </a:r>
          </a:p>
          <a:p>
            <a:r>
              <a:rPr lang="en-US" dirty="0">
                <a:solidFill>
                  <a:schemeClr val="tx1"/>
                </a:solidFill>
              </a:rPr>
              <a:t>Orthogonal lines are parallel lines that recede to the vanishing point. </a:t>
            </a:r>
          </a:p>
          <a:p>
            <a:endParaRPr lang="en-US" dirty="0">
              <a:solidFill>
                <a:schemeClr val="tx1"/>
              </a:solidFill>
            </a:endParaRPr>
          </a:p>
          <a:p>
            <a:endParaRPr lang="en-US" dirty="0"/>
          </a:p>
        </p:txBody>
      </p:sp>
      <p:pic>
        <p:nvPicPr>
          <p:cNvPr id="8194" name="Picture 2" descr="Image result for one point perspective">
            <a:extLst>
              <a:ext uri="{FF2B5EF4-FFF2-40B4-BE49-F238E27FC236}">
                <a16:creationId xmlns:a16="http://schemas.microsoft.com/office/drawing/2014/main" id="{6DED10CC-07C3-4E1C-8963-89CCD4D7849A}"/>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6950657" y="2537138"/>
            <a:ext cx="4421388" cy="31744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61301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1376B-40B4-41C0-9240-6D227347FF03}"/>
              </a:ext>
            </a:extLst>
          </p:cNvPr>
          <p:cNvSpPr>
            <a:spLocks noGrp="1"/>
          </p:cNvSpPr>
          <p:nvPr>
            <p:ph type="title"/>
          </p:nvPr>
        </p:nvSpPr>
        <p:spPr/>
        <p:txBody>
          <a:bodyPr/>
          <a:lstStyle/>
          <a:p>
            <a:r>
              <a:rPr lang="en-US" dirty="0"/>
              <a:t>Two Point Perspective</a:t>
            </a:r>
          </a:p>
        </p:txBody>
      </p:sp>
      <p:sp>
        <p:nvSpPr>
          <p:cNvPr id="3" name="Content Placeholder 2">
            <a:extLst>
              <a:ext uri="{FF2B5EF4-FFF2-40B4-BE49-F238E27FC236}">
                <a16:creationId xmlns:a16="http://schemas.microsoft.com/office/drawing/2014/main" id="{D10DDA52-389F-4C0D-994A-9B3846CD7753}"/>
              </a:ext>
            </a:extLst>
          </p:cNvPr>
          <p:cNvSpPr>
            <a:spLocks noGrp="1"/>
          </p:cNvSpPr>
          <p:nvPr>
            <p:ph idx="1"/>
          </p:nvPr>
        </p:nvSpPr>
        <p:spPr>
          <a:xfrm>
            <a:off x="6095999" y="2485622"/>
            <a:ext cx="5314681" cy="3580328"/>
          </a:xfrm>
        </p:spPr>
        <p:txBody>
          <a:bodyPr>
            <a:normAutofit/>
          </a:bodyPr>
          <a:lstStyle/>
          <a:p>
            <a:r>
              <a:rPr lang="en-US" dirty="0">
                <a:solidFill>
                  <a:schemeClr val="tx1"/>
                </a:solidFill>
              </a:rPr>
              <a:t>Two point perspective helps draw objects from </a:t>
            </a:r>
            <a:r>
              <a:rPr lang="en-US" b="1" dirty="0">
                <a:solidFill>
                  <a:schemeClr val="tx1"/>
                </a:solidFill>
              </a:rPr>
              <a:t>different angles</a:t>
            </a:r>
            <a:r>
              <a:rPr lang="en-US" dirty="0">
                <a:solidFill>
                  <a:schemeClr val="tx1"/>
                </a:solidFill>
              </a:rPr>
              <a:t>.</a:t>
            </a:r>
          </a:p>
          <a:p>
            <a:r>
              <a:rPr lang="en-US" dirty="0">
                <a:solidFill>
                  <a:schemeClr val="tx1"/>
                </a:solidFill>
              </a:rPr>
              <a:t>Opens up the image so the viewer does not have to look at a wall from straight on or down a passageway to a single point.</a:t>
            </a:r>
          </a:p>
          <a:p>
            <a:endParaRPr lang="en-US" dirty="0"/>
          </a:p>
        </p:txBody>
      </p:sp>
      <p:pic>
        <p:nvPicPr>
          <p:cNvPr id="10242" name="Picture 2" descr="Image result for two point perspective drawing">
            <a:extLst>
              <a:ext uri="{FF2B5EF4-FFF2-40B4-BE49-F238E27FC236}">
                <a16:creationId xmlns:a16="http://schemas.microsoft.com/office/drawing/2014/main" id="{8A3821BC-8590-4EBE-861F-3431F28D4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259" y="2485622"/>
            <a:ext cx="5191741" cy="32059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24870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1376B-40B4-41C0-9240-6D227347FF03}"/>
              </a:ext>
            </a:extLst>
          </p:cNvPr>
          <p:cNvSpPr>
            <a:spLocks noGrp="1"/>
          </p:cNvSpPr>
          <p:nvPr>
            <p:ph type="title"/>
          </p:nvPr>
        </p:nvSpPr>
        <p:spPr/>
        <p:txBody>
          <a:bodyPr/>
          <a:lstStyle/>
          <a:p>
            <a:r>
              <a:rPr lang="en-US" dirty="0"/>
              <a:t>Two Point Perspective</a:t>
            </a:r>
          </a:p>
        </p:txBody>
      </p:sp>
      <p:sp>
        <p:nvSpPr>
          <p:cNvPr id="3" name="Content Placeholder 2">
            <a:extLst>
              <a:ext uri="{FF2B5EF4-FFF2-40B4-BE49-F238E27FC236}">
                <a16:creationId xmlns:a16="http://schemas.microsoft.com/office/drawing/2014/main" id="{D10DDA52-389F-4C0D-994A-9B3846CD7753}"/>
              </a:ext>
            </a:extLst>
          </p:cNvPr>
          <p:cNvSpPr>
            <a:spLocks noGrp="1"/>
          </p:cNvSpPr>
          <p:nvPr>
            <p:ph idx="1"/>
          </p:nvPr>
        </p:nvSpPr>
        <p:spPr>
          <a:xfrm>
            <a:off x="6095999" y="2485622"/>
            <a:ext cx="5314681" cy="3580328"/>
          </a:xfrm>
        </p:spPr>
        <p:txBody>
          <a:bodyPr>
            <a:normAutofit/>
          </a:bodyPr>
          <a:lstStyle/>
          <a:p>
            <a:r>
              <a:rPr lang="en-US" dirty="0">
                <a:solidFill>
                  <a:schemeClr val="tx1"/>
                </a:solidFill>
              </a:rPr>
              <a:t>Three sets of lines in two-point perspective:</a:t>
            </a:r>
          </a:p>
          <a:p>
            <a:r>
              <a:rPr lang="en-US" dirty="0">
                <a:solidFill>
                  <a:schemeClr val="tx1"/>
                </a:solidFill>
              </a:rPr>
              <a:t>Lines that converge on Left of Vanishing Point.</a:t>
            </a:r>
          </a:p>
          <a:p>
            <a:r>
              <a:rPr lang="en-US" dirty="0">
                <a:solidFill>
                  <a:schemeClr val="tx1"/>
                </a:solidFill>
              </a:rPr>
              <a:t>Lines that converge on Right of Vanishing Point.</a:t>
            </a:r>
          </a:p>
          <a:p>
            <a:r>
              <a:rPr lang="en-US" dirty="0">
                <a:solidFill>
                  <a:schemeClr val="tx1"/>
                </a:solidFill>
              </a:rPr>
              <a:t>Vertical Lines</a:t>
            </a:r>
          </a:p>
          <a:p>
            <a:endParaRPr lang="en-US" dirty="0"/>
          </a:p>
        </p:txBody>
      </p:sp>
      <p:pic>
        <p:nvPicPr>
          <p:cNvPr id="10242" name="Picture 2" descr="Image result for two point perspective drawing">
            <a:extLst>
              <a:ext uri="{FF2B5EF4-FFF2-40B4-BE49-F238E27FC236}">
                <a16:creationId xmlns:a16="http://schemas.microsoft.com/office/drawing/2014/main" id="{8A3821BC-8590-4EBE-861F-3431F28D4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259" y="2485622"/>
            <a:ext cx="5191741" cy="32059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17063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1376B-40B4-41C0-9240-6D227347FF03}"/>
              </a:ext>
            </a:extLst>
          </p:cNvPr>
          <p:cNvSpPr>
            <a:spLocks noGrp="1"/>
          </p:cNvSpPr>
          <p:nvPr>
            <p:ph type="title"/>
          </p:nvPr>
        </p:nvSpPr>
        <p:spPr/>
        <p:txBody>
          <a:bodyPr/>
          <a:lstStyle/>
          <a:p>
            <a:r>
              <a:rPr lang="en-US" dirty="0"/>
              <a:t>Two Point Perspective</a:t>
            </a:r>
          </a:p>
        </p:txBody>
      </p:sp>
      <p:sp>
        <p:nvSpPr>
          <p:cNvPr id="3" name="Content Placeholder 2">
            <a:extLst>
              <a:ext uri="{FF2B5EF4-FFF2-40B4-BE49-F238E27FC236}">
                <a16:creationId xmlns:a16="http://schemas.microsoft.com/office/drawing/2014/main" id="{D10DDA52-389F-4C0D-994A-9B3846CD7753}"/>
              </a:ext>
            </a:extLst>
          </p:cNvPr>
          <p:cNvSpPr>
            <a:spLocks noGrp="1"/>
          </p:cNvSpPr>
          <p:nvPr>
            <p:ph idx="1"/>
          </p:nvPr>
        </p:nvSpPr>
        <p:spPr>
          <a:xfrm>
            <a:off x="6095999" y="2485622"/>
            <a:ext cx="5314681" cy="3580328"/>
          </a:xfrm>
        </p:spPr>
        <p:txBody>
          <a:bodyPr>
            <a:normAutofit/>
          </a:bodyPr>
          <a:lstStyle/>
          <a:p>
            <a:r>
              <a:rPr lang="en-US" dirty="0">
                <a:solidFill>
                  <a:schemeClr val="tx1"/>
                </a:solidFill>
              </a:rPr>
              <a:t>Lines form a square corner.</a:t>
            </a:r>
          </a:p>
          <a:p>
            <a:r>
              <a:rPr lang="en-US" dirty="0">
                <a:solidFill>
                  <a:schemeClr val="tx1"/>
                </a:solidFill>
              </a:rPr>
              <a:t>If the locations of the vanishing point change, the angle of the object may change, which causes change in the object’s appearance.</a:t>
            </a:r>
          </a:p>
          <a:p>
            <a:endParaRPr lang="en-US" dirty="0"/>
          </a:p>
        </p:txBody>
      </p:sp>
      <p:pic>
        <p:nvPicPr>
          <p:cNvPr id="10242" name="Picture 2" descr="Image result for two point perspective drawing">
            <a:extLst>
              <a:ext uri="{FF2B5EF4-FFF2-40B4-BE49-F238E27FC236}">
                <a16:creationId xmlns:a16="http://schemas.microsoft.com/office/drawing/2014/main" id="{8A3821BC-8590-4EBE-861F-3431F28D4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259" y="2485622"/>
            <a:ext cx="5191741" cy="32059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50870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0C7F3-539E-4A7B-9784-3DD5D1E23A30}"/>
              </a:ext>
            </a:extLst>
          </p:cNvPr>
          <p:cNvSpPr>
            <a:spLocks noGrp="1"/>
          </p:cNvSpPr>
          <p:nvPr>
            <p:ph type="title"/>
          </p:nvPr>
        </p:nvSpPr>
        <p:spPr/>
        <p:txBody>
          <a:bodyPr/>
          <a:lstStyle/>
          <a:p>
            <a:r>
              <a:rPr lang="en-US" dirty="0"/>
              <a:t>Three Point perspective</a:t>
            </a:r>
          </a:p>
        </p:txBody>
      </p:sp>
      <p:sp>
        <p:nvSpPr>
          <p:cNvPr id="3" name="Content Placeholder 2">
            <a:extLst>
              <a:ext uri="{FF2B5EF4-FFF2-40B4-BE49-F238E27FC236}">
                <a16:creationId xmlns:a16="http://schemas.microsoft.com/office/drawing/2014/main" id="{BB6F5A4E-CBEC-489A-8FF8-711A00DE5B60}"/>
              </a:ext>
            </a:extLst>
          </p:cNvPr>
          <p:cNvSpPr>
            <a:spLocks noGrp="1"/>
          </p:cNvSpPr>
          <p:nvPr>
            <p:ph idx="1"/>
          </p:nvPr>
        </p:nvSpPr>
        <p:spPr>
          <a:xfrm>
            <a:off x="1295400" y="2556932"/>
            <a:ext cx="6667499" cy="3318936"/>
          </a:xfrm>
        </p:spPr>
        <p:txBody>
          <a:bodyPr>
            <a:normAutofit/>
          </a:bodyPr>
          <a:lstStyle/>
          <a:p>
            <a:r>
              <a:rPr lang="en-US" dirty="0">
                <a:solidFill>
                  <a:schemeClr val="tx1"/>
                </a:solidFill>
              </a:rPr>
              <a:t>Great for dramatic perspective</a:t>
            </a:r>
          </a:p>
          <a:p>
            <a:r>
              <a:rPr lang="en-US" dirty="0">
                <a:solidFill>
                  <a:schemeClr val="tx1"/>
                </a:solidFill>
              </a:rPr>
              <a:t>Typically involve viewers looking up or down at a scene.</a:t>
            </a:r>
          </a:p>
          <a:p>
            <a:r>
              <a:rPr lang="en-US" dirty="0">
                <a:solidFill>
                  <a:schemeClr val="tx1"/>
                </a:solidFill>
              </a:rPr>
              <a:t>All lines recede to one of the three vanishing points.</a:t>
            </a:r>
          </a:p>
          <a:p>
            <a:r>
              <a:rPr lang="en-US" dirty="0">
                <a:solidFill>
                  <a:schemeClr val="tx1"/>
                </a:solidFill>
              </a:rPr>
              <a:t>Usually, two vanishing point are located on horizon line, while another is above or below. </a:t>
            </a:r>
            <a:endParaRPr lang="en-US" dirty="0"/>
          </a:p>
        </p:txBody>
      </p:sp>
      <p:pic>
        <p:nvPicPr>
          <p:cNvPr id="12292" name="Picture 4" descr="Image result for 3 point perspective building photo">
            <a:extLst>
              <a:ext uri="{FF2B5EF4-FFF2-40B4-BE49-F238E27FC236}">
                <a16:creationId xmlns:a16="http://schemas.microsoft.com/office/drawing/2014/main" id="{DF04C0C7-07AF-45AB-A245-803FA83E2E45}"/>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177847" y="2569631"/>
            <a:ext cx="2540953" cy="3387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3186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0C7F3-539E-4A7B-9784-3DD5D1E23A30}"/>
              </a:ext>
            </a:extLst>
          </p:cNvPr>
          <p:cNvSpPr>
            <a:spLocks noGrp="1"/>
          </p:cNvSpPr>
          <p:nvPr>
            <p:ph type="title"/>
          </p:nvPr>
        </p:nvSpPr>
        <p:spPr/>
        <p:txBody>
          <a:bodyPr/>
          <a:lstStyle/>
          <a:p>
            <a:r>
              <a:rPr lang="en-US" dirty="0"/>
              <a:t>Three Point perspective</a:t>
            </a:r>
          </a:p>
        </p:txBody>
      </p:sp>
      <p:sp>
        <p:nvSpPr>
          <p:cNvPr id="3" name="Content Placeholder 2">
            <a:extLst>
              <a:ext uri="{FF2B5EF4-FFF2-40B4-BE49-F238E27FC236}">
                <a16:creationId xmlns:a16="http://schemas.microsoft.com/office/drawing/2014/main" id="{BB6F5A4E-CBEC-489A-8FF8-711A00DE5B60}"/>
              </a:ext>
            </a:extLst>
          </p:cNvPr>
          <p:cNvSpPr>
            <a:spLocks noGrp="1"/>
          </p:cNvSpPr>
          <p:nvPr>
            <p:ph idx="1"/>
          </p:nvPr>
        </p:nvSpPr>
        <p:spPr>
          <a:xfrm>
            <a:off x="1295400" y="2556932"/>
            <a:ext cx="6743699" cy="3318936"/>
          </a:xfrm>
        </p:spPr>
        <p:txBody>
          <a:bodyPr>
            <a:normAutofit/>
          </a:bodyPr>
          <a:lstStyle/>
          <a:p>
            <a:r>
              <a:rPr lang="en-US" dirty="0">
                <a:solidFill>
                  <a:schemeClr val="tx1"/>
                </a:solidFill>
              </a:rPr>
              <a:t>Great for dramatic perspective</a:t>
            </a:r>
          </a:p>
          <a:p>
            <a:r>
              <a:rPr lang="en-US" dirty="0">
                <a:solidFill>
                  <a:schemeClr val="tx1"/>
                </a:solidFill>
              </a:rPr>
              <a:t>Typically involve viewers looking up or down at a scene.</a:t>
            </a:r>
          </a:p>
          <a:p>
            <a:r>
              <a:rPr lang="en-US" dirty="0">
                <a:solidFill>
                  <a:schemeClr val="tx1"/>
                </a:solidFill>
              </a:rPr>
              <a:t>All lines recede to one of the three vanishing points.</a:t>
            </a:r>
          </a:p>
          <a:p>
            <a:r>
              <a:rPr lang="en-US" dirty="0">
                <a:solidFill>
                  <a:schemeClr val="tx1"/>
                </a:solidFill>
              </a:rPr>
              <a:t>Usually, two vanishing point are located on horizon line, while another is above or below. </a:t>
            </a:r>
            <a:endParaRPr lang="en-US" dirty="0"/>
          </a:p>
        </p:txBody>
      </p:sp>
      <p:pic>
        <p:nvPicPr>
          <p:cNvPr id="32" name="Picture 4" descr="Image result for 3 point perspective building photo">
            <a:extLst>
              <a:ext uri="{FF2B5EF4-FFF2-40B4-BE49-F238E27FC236}">
                <a16:creationId xmlns:a16="http://schemas.microsoft.com/office/drawing/2014/main" id="{E24792F0-6403-42DD-900E-98514C5C6036}"/>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8177847" y="2569631"/>
            <a:ext cx="2540953" cy="3387937"/>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Straight Connector 32">
            <a:extLst>
              <a:ext uri="{FF2B5EF4-FFF2-40B4-BE49-F238E27FC236}">
                <a16:creationId xmlns:a16="http://schemas.microsoft.com/office/drawing/2014/main" id="{805E77A7-D536-4FD8-B6F5-B68D7C5E7350}"/>
              </a:ext>
            </a:extLst>
          </p:cNvPr>
          <p:cNvCxnSpPr>
            <a:cxnSpLocks/>
          </p:cNvCxnSpPr>
          <p:nvPr/>
        </p:nvCxnSpPr>
        <p:spPr>
          <a:xfrm flipV="1">
            <a:off x="9118600" y="127000"/>
            <a:ext cx="254000" cy="6464300"/>
          </a:xfrm>
          <a:prstGeom prst="line">
            <a:avLst/>
          </a:prstGeom>
          <a:ln w="38100">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21D57CE-E088-4C38-B018-17433F4AA19A}"/>
              </a:ext>
            </a:extLst>
          </p:cNvPr>
          <p:cNvCxnSpPr>
            <a:cxnSpLocks/>
          </p:cNvCxnSpPr>
          <p:nvPr/>
        </p:nvCxnSpPr>
        <p:spPr>
          <a:xfrm flipH="1" flipV="1">
            <a:off x="9372600" y="127000"/>
            <a:ext cx="762000" cy="6350000"/>
          </a:xfrm>
          <a:prstGeom prst="line">
            <a:avLst/>
          </a:prstGeom>
          <a:ln w="38100">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10A1E78-B207-4DDD-B1B9-B29725E52027}"/>
              </a:ext>
            </a:extLst>
          </p:cNvPr>
          <p:cNvCxnSpPr>
            <a:cxnSpLocks/>
          </p:cNvCxnSpPr>
          <p:nvPr/>
        </p:nvCxnSpPr>
        <p:spPr>
          <a:xfrm flipV="1">
            <a:off x="7734300" y="4965700"/>
            <a:ext cx="1485900" cy="1511300"/>
          </a:xfrm>
          <a:prstGeom prst="line">
            <a:avLst/>
          </a:prstGeom>
          <a:ln w="38100">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832643C-D652-49AD-BDA9-1CA9D0529B79}"/>
              </a:ext>
            </a:extLst>
          </p:cNvPr>
          <p:cNvCxnSpPr>
            <a:cxnSpLocks/>
          </p:cNvCxnSpPr>
          <p:nvPr/>
        </p:nvCxnSpPr>
        <p:spPr>
          <a:xfrm flipV="1">
            <a:off x="7729695" y="5331620"/>
            <a:ext cx="1435736" cy="1145380"/>
          </a:xfrm>
          <a:prstGeom prst="line">
            <a:avLst/>
          </a:prstGeom>
          <a:ln w="38100">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ADECC59-FCE3-42CE-8F1C-24ED6A7C7268}"/>
              </a:ext>
            </a:extLst>
          </p:cNvPr>
          <p:cNvCxnSpPr>
            <a:cxnSpLocks/>
          </p:cNvCxnSpPr>
          <p:nvPr/>
        </p:nvCxnSpPr>
        <p:spPr>
          <a:xfrm flipH="1" flipV="1">
            <a:off x="9165431" y="5035550"/>
            <a:ext cx="2817019" cy="840318"/>
          </a:xfrm>
          <a:prstGeom prst="line">
            <a:avLst/>
          </a:prstGeom>
          <a:ln w="38100">
            <a:solidFill>
              <a:schemeClr val="bg1"/>
            </a:solidFill>
            <a:prstDash val="lg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878205E-A1E3-4CDA-A71B-4A1C06AE1DD9}"/>
              </a:ext>
            </a:extLst>
          </p:cNvPr>
          <p:cNvCxnSpPr>
            <a:cxnSpLocks/>
          </p:cNvCxnSpPr>
          <p:nvPr/>
        </p:nvCxnSpPr>
        <p:spPr>
          <a:xfrm flipH="1" flipV="1">
            <a:off x="9118600" y="5331622"/>
            <a:ext cx="3073400" cy="839520"/>
          </a:xfrm>
          <a:prstGeom prst="line">
            <a:avLst/>
          </a:prstGeom>
          <a:ln w="38100">
            <a:solidFill>
              <a:schemeClr val="bg1"/>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5962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1376B-40B4-41C0-9240-6D227347FF03}"/>
              </a:ext>
            </a:extLst>
          </p:cNvPr>
          <p:cNvSpPr>
            <a:spLocks noGrp="1"/>
          </p:cNvSpPr>
          <p:nvPr>
            <p:ph type="title"/>
          </p:nvPr>
        </p:nvSpPr>
        <p:spPr>
          <a:xfrm>
            <a:off x="1295402" y="982132"/>
            <a:ext cx="9601196" cy="1303867"/>
          </a:xfrm>
        </p:spPr>
        <p:txBody>
          <a:bodyPr/>
          <a:lstStyle/>
          <a:p>
            <a:r>
              <a:rPr lang="en-US" dirty="0"/>
              <a:t>Atmospheric Perspective</a:t>
            </a:r>
          </a:p>
        </p:txBody>
      </p:sp>
      <p:sp>
        <p:nvSpPr>
          <p:cNvPr id="3" name="Content Placeholder 2">
            <a:extLst>
              <a:ext uri="{FF2B5EF4-FFF2-40B4-BE49-F238E27FC236}">
                <a16:creationId xmlns:a16="http://schemas.microsoft.com/office/drawing/2014/main" id="{D10DDA52-389F-4C0D-994A-9B3846CD7753}"/>
              </a:ext>
            </a:extLst>
          </p:cNvPr>
          <p:cNvSpPr>
            <a:spLocks noGrp="1"/>
          </p:cNvSpPr>
          <p:nvPr>
            <p:ph idx="1"/>
          </p:nvPr>
        </p:nvSpPr>
        <p:spPr>
          <a:xfrm>
            <a:off x="6229255" y="2485622"/>
            <a:ext cx="5181425" cy="2034862"/>
          </a:xfrm>
        </p:spPr>
        <p:txBody>
          <a:bodyPr>
            <a:normAutofit fontScale="92500" lnSpcReduction="10000"/>
          </a:bodyPr>
          <a:lstStyle/>
          <a:p>
            <a:r>
              <a:rPr lang="en-US" dirty="0">
                <a:solidFill>
                  <a:schemeClr val="tx1"/>
                </a:solidFill>
              </a:rPr>
              <a:t>Objects close to viewer have more </a:t>
            </a:r>
            <a:r>
              <a:rPr lang="en-US" b="1" dirty="0">
                <a:solidFill>
                  <a:schemeClr val="tx1"/>
                </a:solidFill>
              </a:rPr>
              <a:t>contrast</a:t>
            </a:r>
            <a:r>
              <a:rPr lang="en-US" dirty="0">
                <a:solidFill>
                  <a:schemeClr val="tx1"/>
                </a:solidFill>
              </a:rPr>
              <a:t>.</a:t>
            </a:r>
          </a:p>
          <a:p>
            <a:r>
              <a:rPr lang="en-US" dirty="0">
                <a:solidFill>
                  <a:schemeClr val="tx1"/>
                </a:solidFill>
              </a:rPr>
              <a:t>Objects further away recede into the background.</a:t>
            </a:r>
          </a:p>
          <a:p>
            <a:r>
              <a:rPr lang="pt-BR" dirty="0">
                <a:solidFill>
                  <a:schemeClr val="tx1"/>
                </a:solidFill>
              </a:rPr>
              <a:t>Gives the </a:t>
            </a:r>
            <a:r>
              <a:rPr lang="pt-BR" b="1" dirty="0">
                <a:solidFill>
                  <a:schemeClr val="tx1"/>
                </a:solidFill>
              </a:rPr>
              <a:t>impression of depth</a:t>
            </a:r>
            <a:endParaRPr lang="en-US" b="1" dirty="0"/>
          </a:p>
        </p:txBody>
      </p:sp>
      <p:pic>
        <p:nvPicPr>
          <p:cNvPr id="16386" name="Picture 2" descr="ÐÐ¾Ð²Ð¾ÑÑÐ¸">
            <a:extLst>
              <a:ext uri="{FF2B5EF4-FFF2-40B4-BE49-F238E27FC236}">
                <a16:creationId xmlns:a16="http://schemas.microsoft.com/office/drawing/2014/main" id="{9E84A00D-0207-4A86-8140-5503CD16CE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4930" b="51361"/>
          <a:stretch/>
        </p:blipFill>
        <p:spPr bwMode="auto">
          <a:xfrm>
            <a:off x="914575" y="2537140"/>
            <a:ext cx="4301370" cy="1689245"/>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Image result for grand canyon">
            <a:extLst>
              <a:ext uri="{FF2B5EF4-FFF2-40B4-BE49-F238E27FC236}">
                <a16:creationId xmlns:a16="http://schemas.microsoft.com/office/drawing/2014/main" id="{9D4DAE34-CFC2-4CD2-A196-986F9E4C6D0D}"/>
              </a:ext>
            </a:extLst>
          </p:cNvPr>
          <p:cNvPicPr>
            <a:picLocks noChangeAspect="1" noChangeArrowheads="1"/>
          </p:cNvPicPr>
          <p:nvPr/>
        </p:nvPicPr>
        <p:blipFill rotWithShape="1">
          <a:blip r:embed="rId4" cstate="hqprint">
            <a:extLst>
              <a:ext uri="{28A0092B-C50C-407E-A947-70E740481C1C}">
                <a14:useLocalDpi xmlns:a14="http://schemas.microsoft.com/office/drawing/2010/main" val="0"/>
              </a:ext>
            </a:extLst>
          </a:blip>
          <a:srcRect t="15979" b="25978"/>
          <a:stretch/>
        </p:blipFill>
        <p:spPr bwMode="auto">
          <a:xfrm>
            <a:off x="914575" y="4226385"/>
            <a:ext cx="4301370" cy="1872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2284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1376B-40B4-41C0-9240-6D227347FF03}"/>
              </a:ext>
            </a:extLst>
          </p:cNvPr>
          <p:cNvSpPr>
            <a:spLocks noGrp="1"/>
          </p:cNvSpPr>
          <p:nvPr>
            <p:ph type="title"/>
          </p:nvPr>
        </p:nvSpPr>
        <p:spPr>
          <a:xfrm>
            <a:off x="1295402" y="982132"/>
            <a:ext cx="9601196" cy="1303867"/>
          </a:xfrm>
        </p:spPr>
        <p:txBody>
          <a:bodyPr/>
          <a:lstStyle/>
          <a:p>
            <a:r>
              <a:rPr lang="en-US" dirty="0"/>
              <a:t>Atmospheric Perspective</a:t>
            </a:r>
          </a:p>
        </p:txBody>
      </p:sp>
      <p:pic>
        <p:nvPicPr>
          <p:cNvPr id="17410" name="Picture 2" descr="Image result for dead marshes lord of the rings">
            <a:extLst>
              <a:ext uri="{FF2B5EF4-FFF2-40B4-BE49-F238E27FC236}">
                <a16:creationId xmlns:a16="http://schemas.microsoft.com/office/drawing/2014/main" id="{0868B52D-8C21-45EA-86A6-6EDA9C8945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720" y="2482664"/>
            <a:ext cx="8762560" cy="3710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578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F7D6-BE27-43BB-B6F9-33CD52CDE55C}"/>
              </a:ext>
            </a:extLst>
          </p:cNvPr>
          <p:cNvSpPr>
            <a:spLocks noGrp="1"/>
          </p:cNvSpPr>
          <p:nvPr>
            <p:ph type="title"/>
          </p:nvPr>
        </p:nvSpPr>
        <p:spPr/>
        <p:txBody>
          <a:bodyPr/>
          <a:lstStyle/>
          <a:p>
            <a:r>
              <a:rPr lang="pt-BR" dirty="0"/>
              <a:t>Foreshortening</a:t>
            </a:r>
            <a:endParaRPr lang="en-US" dirty="0"/>
          </a:p>
        </p:txBody>
      </p:sp>
      <p:sp>
        <p:nvSpPr>
          <p:cNvPr id="3" name="Content Placeholder 2">
            <a:extLst>
              <a:ext uri="{FF2B5EF4-FFF2-40B4-BE49-F238E27FC236}">
                <a16:creationId xmlns:a16="http://schemas.microsoft.com/office/drawing/2014/main" id="{2C54E48A-1E58-45FD-B47E-8CEEF5681B97}"/>
              </a:ext>
            </a:extLst>
          </p:cNvPr>
          <p:cNvSpPr>
            <a:spLocks noGrp="1"/>
          </p:cNvSpPr>
          <p:nvPr>
            <p:ph idx="1"/>
          </p:nvPr>
        </p:nvSpPr>
        <p:spPr>
          <a:xfrm>
            <a:off x="1295401" y="2743200"/>
            <a:ext cx="4119562" cy="3132668"/>
          </a:xfrm>
        </p:spPr>
        <p:txBody>
          <a:bodyPr/>
          <a:lstStyle/>
          <a:p>
            <a:r>
              <a:rPr lang="en-US" dirty="0">
                <a:solidFill>
                  <a:schemeClr val="tx1"/>
                </a:solidFill>
              </a:rPr>
              <a:t>The process of applying perspective to objects and figures.</a:t>
            </a:r>
          </a:p>
          <a:p>
            <a:r>
              <a:rPr lang="en-US" dirty="0">
                <a:solidFill>
                  <a:schemeClr val="tx1"/>
                </a:solidFill>
              </a:rPr>
              <a:t>Foreshortening an object </a:t>
            </a:r>
            <a:r>
              <a:rPr lang="en-US" b="1" dirty="0">
                <a:solidFill>
                  <a:schemeClr val="tx1"/>
                </a:solidFill>
              </a:rPr>
              <a:t>makes one part appear closer </a:t>
            </a:r>
            <a:r>
              <a:rPr lang="en-US" dirty="0">
                <a:solidFill>
                  <a:schemeClr val="tx1"/>
                </a:solidFill>
              </a:rPr>
              <a:t>to viewer than other parts.</a:t>
            </a:r>
          </a:p>
          <a:p>
            <a:endParaRPr lang="en-US" dirty="0"/>
          </a:p>
        </p:txBody>
      </p:sp>
      <p:pic>
        <p:nvPicPr>
          <p:cNvPr id="1026" name="Picture 2" descr="Image result for pipeline">
            <a:extLst>
              <a:ext uri="{FF2B5EF4-FFF2-40B4-BE49-F238E27FC236}">
                <a16:creationId xmlns:a16="http://schemas.microsoft.com/office/drawing/2014/main" id="{ADE59D91-8A82-4488-9BAD-4456481A15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3699" y="2743200"/>
            <a:ext cx="4152899" cy="276859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22528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F7D6-BE27-43BB-B6F9-33CD52CDE55C}"/>
              </a:ext>
            </a:extLst>
          </p:cNvPr>
          <p:cNvSpPr>
            <a:spLocks noGrp="1"/>
          </p:cNvSpPr>
          <p:nvPr>
            <p:ph type="title"/>
          </p:nvPr>
        </p:nvSpPr>
        <p:spPr/>
        <p:txBody>
          <a:bodyPr/>
          <a:lstStyle/>
          <a:p>
            <a:r>
              <a:rPr lang="pt-BR" dirty="0"/>
              <a:t>Foreshortening</a:t>
            </a:r>
            <a:endParaRPr lang="en-US" dirty="0"/>
          </a:p>
        </p:txBody>
      </p:sp>
      <p:sp>
        <p:nvSpPr>
          <p:cNvPr id="3" name="Content Placeholder 2">
            <a:extLst>
              <a:ext uri="{FF2B5EF4-FFF2-40B4-BE49-F238E27FC236}">
                <a16:creationId xmlns:a16="http://schemas.microsoft.com/office/drawing/2014/main" id="{2C54E48A-1E58-45FD-B47E-8CEEF5681B97}"/>
              </a:ext>
            </a:extLst>
          </p:cNvPr>
          <p:cNvSpPr>
            <a:spLocks noGrp="1"/>
          </p:cNvSpPr>
          <p:nvPr>
            <p:ph idx="1"/>
          </p:nvPr>
        </p:nvSpPr>
        <p:spPr>
          <a:xfrm>
            <a:off x="1023938" y="2743199"/>
            <a:ext cx="4783136" cy="3457575"/>
          </a:xfrm>
        </p:spPr>
        <p:txBody>
          <a:bodyPr>
            <a:normAutofit/>
          </a:bodyPr>
          <a:lstStyle/>
          <a:p>
            <a:r>
              <a:rPr lang="en-US" dirty="0">
                <a:solidFill>
                  <a:schemeClr val="tx1"/>
                </a:solidFill>
              </a:rPr>
              <a:t>This view shows less of the sides of the building than if you were to view it from the side.</a:t>
            </a:r>
          </a:p>
          <a:p>
            <a:r>
              <a:rPr lang="en-US" dirty="0">
                <a:solidFill>
                  <a:schemeClr val="tx1"/>
                </a:solidFill>
              </a:rPr>
              <a:t>The parts closer to the camera seem exaggerated.</a:t>
            </a:r>
          </a:p>
          <a:p>
            <a:endParaRPr lang="en-US" dirty="0">
              <a:solidFill>
                <a:schemeClr val="tx1"/>
              </a:solidFill>
            </a:endParaRPr>
          </a:p>
          <a:p>
            <a:endParaRPr lang="en-US" dirty="0"/>
          </a:p>
        </p:txBody>
      </p:sp>
      <p:pic>
        <p:nvPicPr>
          <p:cNvPr id="2050" name="Picture 2" descr="Image result for birds eye view buildings">
            <a:extLst>
              <a:ext uri="{FF2B5EF4-FFF2-40B4-BE49-F238E27FC236}">
                <a16:creationId xmlns:a16="http://schemas.microsoft.com/office/drawing/2014/main" id="{122527A6-09A3-4BBC-949D-B98BBE871D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8537" y="2900362"/>
            <a:ext cx="5130800" cy="28860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54299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F7D6-BE27-43BB-B6F9-33CD52CDE55C}"/>
              </a:ext>
            </a:extLst>
          </p:cNvPr>
          <p:cNvSpPr>
            <a:spLocks noGrp="1"/>
          </p:cNvSpPr>
          <p:nvPr>
            <p:ph type="title"/>
          </p:nvPr>
        </p:nvSpPr>
        <p:spPr/>
        <p:txBody>
          <a:bodyPr/>
          <a:lstStyle/>
          <a:p>
            <a:r>
              <a:rPr lang="pt-BR" dirty="0"/>
              <a:t>Foreshortening</a:t>
            </a:r>
            <a:endParaRPr lang="en-US" dirty="0"/>
          </a:p>
        </p:txBody>
      </p:sp>
      <p:sp>
        <p:nvSpPr>
          <p:cNvPr id="3" name="Content Placeholder 2">
            <a:extLst>
              <a:ext uri="{FF2B5EF4-FFF2-40B4-BE49-F238E27FC236}">
                <a16:creationId xmlns:a16="http://schemas.microsoft.com/office/drawing/2014/main" id="{2C54E48A-1E58-45FD-B47E-8CEEF5681B97}"/>
              </a:ext>
            </a:extLst>
          </p:cNvPr>
          <p:cNvSpPr>
            <a:spLocks noGrp="1"/>
          </p:cNvSpPr>
          <p:nvPr>
            <p:ph idx="1"/>
          </p:nvPr>
        </p:nvSpPr>
        <p:spPr>
          <a:xfrm>
            <a:off x="1295401" y="2743200"/>
            <a:ext cx="4119562" cy="3132668"/>
          </a:xfrm>
        </p:spPr>
        <p:txBody>
          <a:bodyPr/>
          <a:lstStyle/>
          <a:p>
            <a:r>
              <a:rPr lang="en-US" dirty="0">
                <a:solidFill>
                  <a:schemeClr val="tx1"/>
                </a:solidFill>
              </a:rPr>
              <a:t>Foreshortening </a:t>
            </a:r>
            <a:r>
              <a:rPr lang="en-US" b="1" dirty="0">
                <a:solidFill>
                  <a:schemeClr val="tx1"/>
                </a:solidFill>
              </a:rPr>
              <a:t>tricks the eye into giving the viewer at the illusion of depth</a:t>
            </a:r>
          </a:p>
          <a:p>
            <a:pPr marL="0" indent="0">
              <a:buNone/>
            </a:pPr>
            <a:endParaRPr lang="en-US" dirty="0">
              <a:solidFill>
                <a:schemeClr val="tx1"/>
              </a:solidFill>
            </a:endParaRPr>
          </a:p>
          <a:p>
            <a:endParaRPr lang="en-US" dirty="0"/>
          </a:p>
        </p:txBody>
      </p:sp>
      <p:pic>
        <p:nvPicPr>
          <p:cNvPr id="2050" name="Picture 2" descr="Image result for birds eye view buildings">
            <a:extLst>
              <a:ext uri="{FF2B5EF4-FFF2-40B4-BE49-F238E27FC236}">
                <a16:creationId xmlns:a16="http://schemas.microsoft.com/office/drawing/2014/main" id="{122527A6-09A3-4BBC-949D-B98BBE871D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8537" y="2743200"/>
            <a:ext cx="4698999" cy="26431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54802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F7D6-BE27-43BB-B6F9-33CD52CDE55C}"/>
              </a:ext>
            </a:extLst>
          </p:cNvPr>
          <p:cNvSpPr>
            <a:spLocks noGrp="1"/>
          </p:cNvSpPr>
          <p:nvPr>
            <p:ph type="title"/>
          </p:nvPr>
        </p:nvSpPr>
        <p:spPr/>
        <p:txBody>
          <a:bodyPr>
            <a:normAutofit/>
          </a:bodyPr>
          <a:lstStyle/>
          <a:p>
            <a:r>
              <a:rPr lang="pt-BR" dirty="0"/>
              <a:t>Overlap</a:t>
            </a:r>
            <a:endParaRPr lang="en-US" dirty="0"/>
          </a:p>
        </p:txBody>
      </p:sp>
      <p:sp>
        <p:nvSpPr>
          <p:cNvPr id="3" name="Content Placeholder 2">
            <a:extLst>
              <a:ext uri="{FF2B5EF4-FFF2-40B4-BE49-F238E27FC236}">
                <a16:creationId xmlns:a16="http://schemas.microsoft.com/office/drawing/2014/main" id="{2C54E48A-1E58-45FD-B47E-8CEEF5681B97}"/>
              </a:ext>
            </a:extLst>
          </p:cNvPr>
          <p:cNvSpPr>
            <a:spLocks noGrp="1"/>
          </p:cNvSpPr>
          <p:nvPr>
            <p:ph idx="1"/>
          </p:nvPr>
        </p:nvSpPr>
        <p:spPr>
          <a:xfrm>
            <a:off x="6424612" y="2600324"/>
            <a:ext cx="4676774" cy="3571875"/>
          </a:xfrm>
        </p:spPr>
        <p:txBody>
          <a:bodyPr>
            <a:normAutofit/>
          </a:bodyPr>
          <a:lstStyle/>
          <a:p>
            <a:pPr algn="r"/>
            <a:r>
              <a:rPr lang="en-US" dirty="0">
                <a:solidFill>
                  <a:schemeClr val="tx1"/>
                </a:solidFill>
              </a:rPr>
              <a:t>Overlapping objects creates the illusion of space.</a:t>
            </a:r>
          </a:p>
          <a:p>
            <a:pPr algn="r"/>
            <a:r>
              <a:rPr lang="en-US" dirty="0">
                <a:solidFill>
                  <a:schemeClr val="tx1"/>
                </a:solidFill>
              </a:rPr>
              <a:t>When one object is placed over a second object, the first object appears closer than the second one.</a:t>
            </a:r>
          </a:p>
          <a:p>
            <a:pPr algn="r"/>
            <a:r>
              <a:rPr lang="en-US" dirty="0">
                <a:solidFill>
                  <a:schemeClr val="tx1"/>
                </a:solidFill>
              </a:rPr>
              <a:t>This rule applies across any distance, and contributes to the illusion of depth.</a:t>
            </a:r>
          </a:p>
          <a:p>
            <a:pPr algn="r"/>
            <a:endParaRPr lang="en-US" dirty="0"/>
          </a:p>
        </p:txBody>
      </p:sp>
      <p:pic>
        <p:nvPicPr>
          <p:cNvPr id="3074" name="Picture 2" descr="Image result for sunset behind mountains">
            <a:extLst>
              <a:ext uri="{FF2B5EF4-FFF2-40B4-BE49-F238E27FC236}">
                <a16:creationId xmlns:a16="http://schemas.microsoft.com/office/drawing/2014/main" id="{51E6F0AB-54D0-4B52-ADBE-487525FDFA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611"/>
          <a:stretch/>
        </p:blipFill>
        <p:spPr bwMode="auto">
          <a:xfrm>
            <a:off x="1033463" y="2600324"/>
            <a:ext cx="5191125" cy="34432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24124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F7D6-BE27-43BB-B6F9-33CD52CDE55C}"/>
              </a:ext>
            </a:extLst>
          </p:cNvPr>
          <p:cNvSpPr>
            <a:spLocks noGrp="1"/>
          </p:cNvSpPr>
          <p:nvPr>
            <p:ph type="title"/>
          </p:nvPr>
        </p:nvSpPr>
        <p:spPr/>
        <p:txBody>
          <a:bodyPr/>
          <a:lstStyle/>
          <a:p>
            <a:r>
              <a:rPr lang="pt-BR" dirty="0"/>
              <a:t>Texture Gradient</a:t>
            </a:r>
            <a:endParaRPr lang="en-US" dirty="0"/>
          </a:p>
        </p:txBody>
      </p:sp>
      <p:sp>
        <p:nvSpPr>
          <p:cNvPr id="3" name="Content Placeholder 2">
            <a:extLst>
              <a:ext uri="{FF2B5EF4-FFF2-40B4-BE49-F238E27FC236}">
                <a16:creationId xmlns:a16="http://schemas.microsoft.com/office/drawing/2014/main" id="{2C54E48A-1E58-45FD-B47E-8CEEF5681B97}"/>
              </a:ext>
            </a:extLst>
          </p:cNvPr>
          <p:cNvSpPr>
            <a:spLocks noGrp="1"/>
          </p:cNvSpPr>
          <p:nvPr>
            <p:ph idx="1"/>
          </p:nvPr>
        </p:nvSpPr>
        <p:spPr>
          <a:xfrm>
            <a:off x="1295401" y="2743200"/>
            <a:ext cx="4119562" cy="3132668"/>
          </a:xfrm>
        </p:spPr>
        <p:txBody>
          <a:bodyPr>
            <a:normAutofit lnSpcReduction="10000"/>
          </a:bodyPr>
          <a:lstStyle/>
          <a:p>
            <a:r>
              <a:rPr lang="en-US" dirty="0">
                <a:solidFill>
                  <a:schemeClr val="tx1"/>
                </a:solidFill>
              </a:rPr>
              <a:t>Most surfaces have some sort of texture on them.</a:t>
            </a:r>
          </a:p>
          <a:p>
            <a:r>
              <a:rPr lang="en-US" dirty="0">
                <a:solidFill>
                  <a:schemeClr val="tx1"/>
                </a:solidFill>
              </a:rPr>
              <a:t>The closer you are to the object, the more of this texture you can see.</a:t>
            </a:r>
          </a:p>
          <a:p>
            <a:r>
              <a:rPr lang="en-US" dirty="0">
                <a:solidFill>
                  <a:schemeClr val="tx1"/>
                </a:solidFill>
              </a:rPr>
              <a:t>From further away, texture gets finer and appears smoother.</a:t>
            </a:r>
          </a:p>
          <a:p>
            <a:pPr marL="0" indent="0">
              <a:buNone/>
            </a:pPr>
            <a:endParaRPr lang="en-US" dirty="0">
              <a:solidFill>
                <a:schemeClr val="tx1"/>
              </a:solidFill>
            </a:endParaRPr>
          </a:p>
          <a:p>
            <a:endParaRPr lang="en-US" dirty="0"/>
          </a:p>
        </p:txBody>
      </p:sp>
      <p:pic>
        <p:nvPicPr>
          <p:cNvPr id="5124" name="Picture 4" descr="Image result for texture gradient">
            <a:extLst>
              <a:ext uri="{FF2B5EF4-FFF2-40B4-BE49-F238E27FC236}">
                <a16:creationId xmlns:a16="http://schemas.microsoft.com/office/drawing/2014/main" id="{93DAFC5B-DFFC-4F41-B07B-9187604146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8224" y="2600325"/>
            <a:ext cx="5823188" cy="32755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958125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1376B-40B4-41C0-9240-6D227347FF03}"/>
              </a:ext>
            </a:extLst>
          </p:cNvPr>
          <p:cNvSpPr>
            <a:spLocks noGrp="1"/>
          </p:cNvSpPr>
          <p:nvPr>
            <p:ph type="title"/>
          </p:nvPr>
        </p:nvSpPr>
        <p:spPr>
          <a:xfrm>
            <a:off x="1295402" y="982132"/>
            <a:ext cx="9601196" cy="1303867"/>
          </a:xfrm>
        </p:spPr>
        <p:txBody>
          <a:bodyPr/>
          <a:lstStyle/>
          <a:p>
            <a:r>
              <a:rPr lang="en-US" dirty="0">
                <a:solidFill>
                  <a:schemeClr val="tx1"/>
                </a:solidFill>
              </a:rPr>
              <a:t>Circles in Perspective</a:t>
            </a:r>
          </a:p>
        </p:txBody>
      </p:sp>
      <p:sp>
        <p:nvSpPr>
          <p:cNvPr id="3" name="Content Placeholder 2">
            <a:extLst>
              <a:ext uri="{FF2B5EF4-FFF2-40B4-BE49-F238E27FC236}">
                <a16:creationId xmlns:a16="http://schemas.microsoft.com/office/drawing/2014/main" id="{D10DDA52-389F-4C0D-994A-9B3846CD7753}"/>
              </a:ext>
            </a:extLst>
          </p:cNvPr>
          <p:cNvSpPr>
            <a:spLocks noGrp="1"/>
          </p:cNvSpPr>
          <p:nvPr>
            <p:ph idx="1"/>
          </p:nvPr>
        </p:nvSpPr>
        <p:spPr>
          <a:xfrm>
            <a:off x="6229255" y="2485621"/>
            <a:ext cx="5181425" cy="3329391"/>
          </a:xfrm>
        </p:spPr>
        <p:txBody>
          <a:bodyPr>
            <a:normAutofit/>
          </a:bodyPr>
          <a:lstStyle/>
          <a:p>
            <a:r>
              <a:rPr lang="en-US" dirty="0">
                <a:solidFill>
                  <a:schemeClr val="tx1"/>
                </a:solidFill>
              </a:rPr>
              <a:t>Just like anything else, circles also follow the rules of perspective.</a:t>
            </a:r>
          </a:p>
          <a:p>
            <a:r>
              <a:rPr lang="en-US" dirty="0">
                <a:solidFill>
                  <a:schemeClr val="tx1"/>
                </a:solidFill>
              </a:rPr>
              <a:t>Circles or ellipses that are near the horizon line are seeing straight on and drawn as straight lines while ellipses farther from the horizon are drawn bigger.</a:t>
            </a:r>
          </a:p>
        </p:txBody>
      </p:sp>
      <p:pic>
        <p:nvPicPr>
          <p:cNvPr id="6146" name="Picture 2" descr="Image result for circles in perspective">
            <a:extLst>
              <a:ext uri="{FF2B5EF4-FFF2-40B4-BE49-F238E27FC236}">
                <a16:creationId xmlns:a16="http://schemas.microsoft.com/office/drawing/2014/main" id="{1878EB4E-0B49-4B37-B2B9-701B4AA150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613292"/>
            <a:ext cx="3276602" cy="3074048"/>
          </a:xfrm>
          <a:prstGeom prst="rect">
            <a:avLst/>
          </a:prstGeom>
          <a:blipFill dpi="0" rotWithShape="1">
            <a:blip r:embed="rId4"/>
            <a:srcRect/>
            <a:tile tx="0" ty="0" sx="100000" sy="100000" flip="none" algn="tl"/>
          </a:blipFill>
        </p:spPr>
      </p:pic>
    </p:spTree>
    <p:extLst>
      <p:ext uri="{BB962C8B-B14F-4D97-AF65-F5344CB8AC3E}">
        <p14:creationId xmlns:p14="http://schemas.microsoft.com/office/powerpoint/2010/main" val="1242644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1376B-40B4-41C0-9240-6D227347FF03}"/>
              </a:ext>
            </a:extLst>
          </p:cNvPr>
          <p:cNvSpPr>
            <a:spLocks noGrp="1"/>
          </p:cNvSpPr>
          <p:nvPr>
            <p:ph type="title"/>
          </p:nvPr>
        </p:nvSpPr>
        <p:spPr>
          <a:xfrm>
            <a:off x="1295402" y="982132"/>
            <a:ext cx="9601196" cy="1303867"/>
          </a:xfrm>
        </p:spPr>
        <p:txBody>
          <a:bodyPr/>
          <a:lstStyle/>
          <a:p>
            <a:r>
              <a:rPr lang="en-US" dirty="0">
                <a:solidFill>
                  <a:schemeClr val="tx1"/>
                </a:solidFill>
              </a:rPr>
              <a:t>Circles in Perspective</a:t>
            </a:r>
          </a:p>
        </p:txBody>
      </p:sp>
      <p:sp>
        <p:nvSpPr>
          <p:cNvPr id="3" name="Content Placeholder 2">
            <a:extLst>
              <a:ext uri="{FF2B5EF4-FFF2-40B4-BE49-F238E27FC236}">
                <a16:creationId xmlns:a16="http://schemas.microsoft.com/office/drawing/2014/main" id="{D10DDA52-389F-4C0D-994A-9B3846CD7753}"/>
              </a:ext>
            </a:extLst>
          </p:cNvPr>
          <p:cNvSpPr>
            <a:spLocks noGrp="1"/>
          </p:cNvSpPr>
          <p:nvPr>
            <p:ph idx="1"/>
          </p:nvPr>
        </p:nvSpPr>
        <p:spPr>
          <a:xfrm>
            <a:off x="6229255" y="2485621"/>
            <a:ext cx="5181425" cy="3329391"/>
          </a:xfrm>
        </p:spPr>
        <p:txBody>
          <a:bodyPr>
            <a:normAutofit/>
          </a:bodyPr>
          <a:lstStyle/>
          <a:p>
            <a:r>
              <a:rPr lang="en-US" dirty="0">
                <a:solidFill>
                  <a:schemeClr val="tx1"/>
                </a:solidFill>
              </a:rPr>
              <a:t>The best method to draw a circle in perspective is to draw it inside a square, in perspective.</a:t>
            </a:r>
          </a:p>
          <a:p>
            <a:r>
              <a:rPr lang="en-US" dirty="0">
                <a:solidFill>
                  <a:schemeClr val="tx1"/>
                </a:solidFill>
              </a:rPr>
              <a:t>The sides of the circle should touch the sides of the square.</a:t>
            </a:r>
          </a:p>
          <a:p>
            <a:r>
              <a:rPr lang="en-US" dirty="0">
                <a:solidFill>
                  <a:schemeClr val="tx1"/>
                </a:solidFill>
              </a:rPr>
              <a:t>By using this system you can project any sort of curve or arc across different perspectives.</a:t>
            </a:r>
          </a:p>
        </p:txBody>
      </p:sp>
      <p:pic>
        <p:nvPicPr>
          <p:cNvPr id="7170" name="Picture 2" descr="Image result for scott robertson airplane">
            <a:extLst>
              <a:ext uri="{FF2B5EF4-FFF2-40B4-BE49-F238E27FC236}">
                <a16:creationId xmlns:a16="http://schemas.microsoft.com/office/drawing/2014/main" id="{437BD7E2-2685-4B8C-8826-2F6FF8CB91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20" r="3264" b="4375"/>
          <a:stretch/>
        </p:blipFill>
        <p:spPr bwMode="auto">
          <a:xfrm>
            <a:off x="1295402" y="2531129"/>
            <a:ext cx="4786313" cy="3283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29507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5BD0E-9901-45BD-BE6B-C9C67EDD1DC9}"/>
              </a:ext>
            </a:extLst>
          </p:cNvPr>
          <p:cNvSpPr>
            <a:spLocks noGrp="1"/>
          </p:cNvSpPr>
          <p:nvPr>
            <p:ph type="title"/>
          </p:nvPr>
        </p:nvSpPr>
        <p:spPr/>
        <p:txBody>
          <a:bodyPr/>
          <a:lstStyle/>
          <a:p>
            <a:r>
              <a:rPr lang="en-US" dirty="0"/>
              <a:t>Size Perspective</a:t>
            </a:r>
          </a:p>
        </p:txBody>
      </p:sp>
      <p:sp>
        <p:nvSpPr>
          <p:cNvPr id="3" name="Content Placeholder 2">
            <a:extLst>
              <a:ext uri="{FF2B5EF4-FFF2-40B4-BE49-F238E27FC236}">
                <a16:creationId xmlns:a16="http://schemas.microsoft.com/office/drawing/2014/main" id="{92BF1B6E-B9A0-407E-9E49-E27FA5D8FDBC}"/>
              </a:ext>
            </a:extLst>
          </p:cNvPr>
          <p:cNvSpPr>
            <a:spLocks noGrp="1"/>
          </p:cNvSpPr>
          <p:nvPr>
            <p:ph idx="1"/>
          </p:nvPr>
        </p:nvSpPr>
        <p:spPr>
          <a:xfrm>
            <a:off x="1295401" y="2556932"/>
            <a:ext cx="7091361" cy="3318936"/>
          </a:xfrm>
        </p:spPr>
        <p:txBody>
          <a:bodyPr/>
          <a:lstStyle/>
          <a:p>
            <a:r>
              <a:rPr lang="en-US" dirty="0"/>
              <a:t>Perspective basically establishes that </a:t>
            </a:r>
            <a:r>
              <a:rPr lang="en-US" b="1" dirty="0"/>
              <a:t>objects closer to the viewer are bigger</a:t>
            </a:r>
            <a:r>
              <a:rPr lang="en-US" dirty="0"/>
              <a:t>, and </a:t>
            </a:r>
            <a:r>
              <a:rPr lang="en-US" b="1" dirty="0"/>
              <a:t>objects further away are smaller.</a:t>
            </a:r>
          </a:p>
          <a:p>
            <a:r>
              <a:rPr lang="en-US" dirty="0">
                <a:solidFill>
                  <a:schemeClr val="tx1"/>
                </a:solidFill>
              </a:rPr>
              <a:t>Scale helps the viewer determine the actual size or relative size of the object in the picture. </a:t>
            </a:r>
            <a:endParaRPr lang="en-US" dirty="0"/>
          </a:p>
          <a:p>
            <a:endParaRPr lang="en-US" dirty="0"/>
          </a:p>
        </p:txBody>
      </p:sp>
      <p:pic>
        <p:nvPicPr>
          <p:cNvPr id="8194" name="Picture 2" descr="Image result for scale optical illusion">
            <a:extLst>
              <a:ext uri="{FF2B5EF4-FFF2-40B4-BE49-F238E27FC236}">
                <a16:creationId xmlns:a16="http://schemas.microsoft.com/office/drawing/2014/main" id="{C64352BF-BC2F-4192-BB3E-25D53F41EF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1098" y="2556932"/>
            <a:ext cx="2095500" cy="31432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345798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6657F-84A3-4985-AF4F-DFD1DF173A22}"/>
              </a:ext>
            </a:extLst>
          </p:cNvPr>
          <p:cNvSpPr>
            <a:spLocks noGrp="1"/>
          </p:cNvSpPr>
          <p:nvPr>
            <p:ph type="title"/>
          </p:nvPr>
        </p:nvSpPr>
        <p:spPr/>
        <p:txBody>
          <a:bodyPr/>
          <a:lstStyle/>
          <a:p>
            <a:r>
              <a:rPr lang="en-US" dirty="0"/>
              <a:t>Relative Motion</a:t>
            </a:r>
          </a:p>
        </p:txBody>
      </p:sp>
      <p:sp>
        <p:nvSpPr>
          <p:cNvPr id="3" name="Content Placeholder 2">
            <a:extLst>
              <a:ext uri="{FF2B5EF4-FFF2-40B4-BE49-F238E27FC236}">
                <a16:creationId xmlns:a16="http://schemas.microsoft.com/office/drawing/2014/main" id="{30932560-3A9A-48F1-9D4B-F728D29FC0CB}"/>
              </a:ext>
            </a:extLst>
          </p:cNvPr>
          <p:cNvSpPr>
            <a:spLocks noGrp="1"/>
          </p:cNvSpPr>
          <p:nvPr>
            <p:ph idx="1"/>
          </p:nvPr>
        </p:nvSpPr>
        <p:spPr>
          <a:xfrm>
            <a:off x="1295400" y="2556931"/>
            <a:ext cx="9963149" cy="3643843"/>
          </a:xfrm>
        </p:spPr>
        <p:txBody>
          <a:bodyPr>
            <a:normAutofit/>
          </a:bodyPr>
          <a:lstStyle/>
          <a:p>
            <a:r>
              <a:rPr lang="en-US" dirty="0">
                <a:solidFill>
                  <a:schemeClr val="tx1"/>
                </a:solidFill>
              </a:rPr>
              <a:t>The camera captures the relative motion of objects, which contributes to the overall depth of a scene.</a:t>
            </a:r>
          </a:p>
          <a:p>
            <a:r>
              <a:rPr lang="en-US" dirty="0">
                <a:solidFill>
                  <a:schemeClr val="tx1"/>
                </a:solidFill>
              </a:rPr>
              <a:t>When we move, images located at different distances seem to move at different speeds.</a:t>
            </a:r>
          </a:p>
          <a:p>
            <a:r>
              <a:rPr lang="en-US" dirty="0">
                <a:solidFill>
                  <a:schemeClr val="tx1"/>
                </a:solidFill>
              </a:rPr>
              <a:t>Close objects seem to move quicker than objects that are farther away, such as distant mountain ranges.</a:t>
            </a:r>
          </a:p>
          <a:p>
            <a:r>
              <a:rPr lang="en-US" dirty="0">
                <a:solidFill>
                  <a:schemeClr val="tx1"/>
                </a:solidFill>
              </a:rPr>
              <a:t>Objects that are closer appear to move in the opposite direction to our own movement, whereas object farther away appear to move in the same direction.</a:t>
            </a:r>
          </a:p>
          <a:p>
            <a:endParaRPr lang="en-US" dirty="0">
              <a:solidFill>
                <a:schemeClr val="tx1"/>
              </a:solidFill>
            </a:endParaRPr>
          </a:p>
          <a:p>
            <a:endParaRPr lang="en-US" dirty="0">
              <a:solidFill>
                <a:schemeClr val="tx1"/>
              </a:solidFill>
            </a:endParaRPr>
          </a:p>
          <a:p>
            <a:endParaRPr lang="en-US" dirty="0"/>
          </a:p>
        </p:txBody>
      </p:sp>
    </p:spTree>
    <p:extLst>
      <p:ext uri="{BB962C8B-B14F-4D97-AF65-F5344CB8AC3E}">
        <p14:creationId xmlns:p14="http://schemas.microsoft.com/office/powerpoint/2010/main" val="365655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DD0C2-F0F8-4326-9E71-D56C18BA1037}"/>
              </a:ext>
            </a:extLst>
          </p:cNvPr>
          <p:cNvSpPr>
            <a:spLocks noGrp="1"/>
          </p:cNvSpPr>
          <p:nvPr>
            <p:ph type="title"/>
          </p:nvPr>
        </p:nvSpPr>
        <p:spPr/>
        <p:txBody>
          <a:bodyPr/>
          <a:lstStyle/>
          <a:p>
            <a:r>
              <a:rPr lang="en-US" dirty="0"/>
              <a:t>Depth of Field</a:t>
            </a:r>
          </a:p>
        </p:txBody>
      </p:sp>
      <p:pic>
        <p:nvPicPr>
          <p:cNvPr id="9218" name="Picture 2" descr="Image result for depth of field">
            <a:extLst>
              <a:ext uri="{FF2B5EF4-FFF2-40B4-BE49-F238E27FC236}">
                <a16:creationId xmlns:a16="http://schemas.microsoft.com/office/drawing/2014/main" id="{AF4AF78A-8A9E-409F-99E9-0907AE5A9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2" y="2556402"/>
            <a:ext cx="5395912" cy="359727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202188F2-1493-476A-BC91-8183F15733A7}"/>
              </a:ext>
            </a:extLst>
          </p:cNvPr>
          <p:cNvSpPr>
            <a:spLocks noGrp="1"/>
          </p:cNvSpPr>
          <p:nvPr>
            <p:ph idx="1"/>
          </p:nvPr>
        </p:nvSpPr>
        <p:spPr>
          <a:xfrm>
            <a:off x="6829425" y="2556931"/>
            <a:ext cx="4429124" cy="3643843"/>
          </a:xfrm>
        </p:spPr>
        <p:txBody>
          <a:bodyPr>
            <a:normAutofit/>
          </a:bodyPr>
          <a:lstStyle/>
          <a:p>
            <a:r>
              <a:rPr lang="en-US" dirty="0"/>
              <a:t>Depth of field is created when the camera focuses on something.</a:t>
            </a:r>
          </a:p>
          <a:p>
            <a:r>
              <a:rPr lang="en-US" dirty="0"/>
              <a:t>Different camera lenses have different ways to deal with depth of field.</a:t>
            </a:r>
          </a:p>
        </p:txBody>
      </p:sp>
    </p:spTree>
    <p:extLst>
      <p:ext uri="{BB962C8B-B14F-4D97-AF65-F5344CB8AC3E}">
        <p14:creationId xmlns:p14="http://schemas.microsoft.com/office/powerpoint/2010/main" val="3687999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DD0C2-F0F8-4326-9E71-D56C18BA1037}"/>
              </a:ext>
            </a:extLst>
          </p:cNvPr>
          <p:cNvSpPr>
            <a:spLocks noGrp="1"/>
          </p:cNvSpPr>
          <p:nvPr>
            <p:ph type="title"/>
          </p:nvPr>
        </p:nvSpPr>
        <p:spPr/>
        <p:txBody>
          <a:bodyPr/>
          <a:lstStyle/>
          <a:p>
            <a:r>
              <a:rPr lang="en-US" dirty="0"/>
              <a:t>Depth of Field</a:t>
            </a:r>
          </a:p>
        </p:txBody>
      </p:sp>
      <p:pic>
        <p:nvPicPr>
          <p:cNvPr id="9218" name="Picture 2" descr="Image result for depth of field">
            <a:extLst>
              <a:ext uri="{FF2B5EF4-FFF2-40B4-BE49-F238E27FC236}">
                <a16:creationId xmlns:a16="http://schemas.microsoft.com/office/drawing/2014/main" id="{AF4AF78A-8A9E-409F-99E9-0907AE5A9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2" y="2556402"/>
            <a:ext cx="5395912" cy="359727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4469E8AC-6BE4-4017-8343-FCA420467896}"/>
              </a:ext>
            </a:extLst>
          </p:cNvPr>
          <p:cNvSpPr>
            <a:spLocks noGrp="1"/>
          </p:cNvSpPr>
          <p:nvPr>
            <p:ph idx="1"/>
          </p:nvPr>
        </p:nvSpPr>
        <p:spPr>
          <a:xfrm>
            <a:off x="6900863" y="2556931"/>
            <a:ext cx="4357686" cy="3643843"/>
          </a:xfrm>
        </p:spPr>
        <p:txBody>
          <a:bodyPr>
            <a:normAutofit/>
          </a:bodyPr>
          <a:lstStyle/>
          <a:p>
            <a:r>
              <a:rPr lang="en-US" dirty="0">
                <a:solidFill>
                  <a:schemeClr val="tx1"/>
                </a:solidFill>
              </a:rPr>
              <a:t>If both the foreground and the background are in focus  this is considered wide depth of field.</a:t>
            </a:r>
          </a:p>
          <a:p>
            <a:r>
              <a:rPr lang="en-US" b="1" dirty="0">
                <a:solidFill>
                  <a:schemeClr val="tx1"/>
                </a:solidFill>
              </a:rPr>
              <a:t>Deep focus </a:t>
            </a:r>
            <a:r>
              <a:rPr lang="en-US" dirty="0">
                <a:solidFill>
                  <a:schemeClr val="tx1"/>
                </a:solidFill>
              </a:rPr>
              <a:t>refers to a strategy that keeps the </a:t>
            </a:r>
            <a:r>
              <a:rPr lang="en-US" b="1" dirty="0">
                <a:solidFill>
                  <a:schemeClr val="tx1"/>
                </a:solidFill>
              </a:rPr>
              <a:t>foreground, middle-ground, and background in focus</a:t>
            </a:r>
            <a:r>
              <a:rPr lang="en-US" dirty="0">
                <a:solidFill>
                  <a:schemeClr val="tx1"/>
                </a:solidFill>
              </a:rPr>
              <a:t>, given each plane equal importance. </a:t>
            </a:r>
          </a:p>
          <a:p>
            <a:endParaRPr lang="en-US" dirty="0"/>
          </a:p>
        </p:txBody>
      </p:sp>
    </p:spTree>
    <p:extLst>
      <p:ext uri="{BB962C8B-B14F-4D97-AF65-F5344CB8AC3E}">
        <p14:creationId xmlns:p14="http://schemas.microsoft.com/office/powerpoint/2010/main" val="1264167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DD0C2-F0F8-4326-9E71-D56C18BA1037}"/>
              </a:ext>
            </a:extLst>
          </p:cNvPr>
          <p:cNvSpPr>
            <a:spLocks noGrp="1"/>
          </p:cNvSpPr>
          <p:nvPr>
            <p:ph type="title"/>
          </p:nvPr>
        </p:nvSpPr>
        <p:spPr/>
        <p:txBody>
          <a:bodyPr/>
          <a:lstStyle/>
          <a:p>
            <a:r>
              <a:rPr lang="en-US" dirty="0"/>
              <a:t>Depth of Field</a:t>
            </a:r>
          </a:p>
        </p:txBody>
      </p:sp>
      <p:pic>
        <p:nvPicPr>
          <p:cNvPr id="9218" name="Picture 2" descr="Image result for depth of field">
            <a:extLst>
              <a:ext uri="{FF2B5EF4-FFF2-40B4-BE49-F238E27FC236}">
                <a16:creationId xmlns:a16="http://schemas.microsoft.com/office/drawing/2014/main" id="{AF4AF78A-8A9E-409F-99E9-0907AE5A9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2" y="2556402"/>
            <a:ext cx="5395912" cy="359727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4469E8AC-6BE4-4017-8343-FCA420467896}"/>
              </a:ext>
            </a:extLst>
          </p:cNvPr>
          <p:cNvSpPr>
            <a:spLocks noGrp="1"/>
          </p:cNvSpPr>
          <p:nvPr>
            <p:ph idx="1"/>
          </p:nvPr>
        </p:nvSpPr>
        <p:spPr>
          <a:xfrm>
            <a:off x="6900863" y="2556931"/>
            <a:ext cx="4357686" cy="3643843"/>
          </a:xfrm>
        </p:spPr>
        <p:txBody>
          <a:bodyPr>
            <a:normAutofit fontScale="92500" lnSpcReduction="10000"/>
          </a:bodyPr>
          <a:lstStyle/>
          <a:p>
            <a:r>
              <a:rPr lang="en-US" dirty="0">
                <a:solidFill>
                  <a:schemeClr val="tx1"/>
                </a:solidFill>
              </a:rPr>
              <a:t>Depth is also created through lens type, and the amount that a lens is opened to let in light, also known as a preacher. </a:t>
            </a:r>
          </a:p>
          <a:p>
            <a:r>
              <a:rPr lang="en-US" dirty="0">
                <a:solidFill>
                  <a:schemeClr val="tx1"/>
                </a:solidFill>
              </a:rPr>
              <a:t>If the aperture for a lens is </a:t>
            </a:r>
            <a:r>
              <a:rPr lang="en-US" b="1" dirty="0">
                <a:solidFill>
                  <a:schemeClr val="tx1"/>
                </a:solidFill>
              </a:rPr>
              <a:t>small</a:t>
            </a:r>
            <a:r>
              <a:rPr lang="en-US" dirty="0">
                <a:solidFill>
                  <a:schemeClr val="tx1"/>
                </a:solidFill>
              </a:rPr>
              <a:t>, less light is let in, which results in </a:t>
            </a:r>
            <a:r>
              <a:rPr lang="en-US" b="1" dirty="0">
                <a:solidFill>
                  <a:schemeClr val="tx1"/>
                </a:solidFill>
              </a:rPr>
              <a:t>greater depth of field.</a:t>
            </a:r>
            <a:r>
              <a:rPr lang="en-US" dirty="0">
                <a:solidFill>
                  <a:schemeClr val="tx1"/>
                </a:solidFill>
              </a:rPr>
              <a:t> </a:t>
            </a:r>
          </a:p>
          <a:p>
            <a:r>
              <a:rPr lang="en-US" dirty="0">
                <a:solidFill>
                  <a:schemeClr val="tx1"/>
                </a:solidFill>
              </a:rPr>
              <a:t>A </a:t>
            </a:r>
            <a:r>
              <a:rPr lang="en-US" b="1" dirty="0">
                <a:solidFill>
                  <a:schemeClr val="tx1"/>
                </a:solidFill>
              </a:rPr>
              <a:t>wider</a:t>
            </a:r>
            <a:r>
              <a:rPr lang="en-US" dirty="0">
                <a:solidFill>
                  <a:schemeClr val="tx1"/>
                </a:solidFill>
              </a:rPr>
              <a:t> aperture lets in more light, which results in a </a:t>
            </a:r>
            <a:r>
              <a:rPr lang="en-US" b="1" dirty="0">
                <a:solidFill>
                  <a:schemeClr val="tx1"/>
                </a:solidFill>
              </a:rPr>
              <a:t>shallow depth of field</a:t>
            </a:r>
            <a:r>
              <a:rPr lang="en-US" dirty="0">
                <a:solidFill>
                  <a:schemeClr val="tx1"/>
                </a:solidFill>
              </a:rPr>
              <a:t>. </a:t>
            </a:r>
            <a:endParaRPr lang="en-US" dirty="0"/>
          </a:p>
        </p:txBody>
      </p:sp>
    </p:spTree>
    <p:extLst>
      <p:ext uri="{BB962C8B-B14F-4D97-AF65-F5344CB8AC3E}">
        <p14:creationId xmlns:p14="http://schemas.microsoft.com/office/powerpoint/2010/main" val="28192831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BC2C4-7A2B-46A9-9162-63AAE527E1D1}"/>
              </a:ext>
            </a:extLst>
          </p:cNvPr>
          <p:cNvSpPr>
            <a:spLocks noGrp="1"/>
          </p:cNvSpPr>
          <p:nvPr>
            <p:ph type="title"/>
          </p:nvPr>
        </p:nvSpPr>
        <p:spPr/>
        <p:txBody>
          <a:bodyPr/>
          <a:lstStyle/>
          <a:p>
            <a:r>
              <a:rPr lang="en-US" dirty="0"/>
              <a:t>Lenses</a:t>
            </a:r>
          </a:p>
        </p:txBody>
      </p:sp>
      <p:sp>
        <p:nvSpPr>
          <p:cNvPr id="3" name="Content Placeholder 2">
            <a:extLst>
              <a:ext uri="{FF2B5EF4-FFF2-40B4-BE49-F238E27FC236}">
                <a16:creationId xmlns:a16="http://schemas.microsoft.com/office/drawing/2014/main" id="{81008BD6-BEE5-43BB-A5EF-52A28E2085BE}"/>
              </a:ext>
            </a:extLst>
          </p:cNvPr>
          <p:cNvSpPr>
            <a:spLocks noGrp="1"/>
          </p:cNvSpPr>
          <p:nvPr>
            <p:ph idx="1"/>
          </p:nvPr>
        </p:nvSpPr>
        <p:spPr>
          <a:xfrm>
            <a:off x="1295401" y="2556932"/>
            <a:ext cx="9973613" cy="1409761"/>
          </a:xfrm>
        </p:spPr>
        <p:txBody>
          <a:bodyPr>
            <a:normAutofit lnSpcReduction="10000"/>
          </a:bodyPr>
          <a:lstStyle/>
          <a:p>
            <a:pPr marL="0" indent="0" algn="ctr">
              <a:buNone/>
            </a:pPr>
            <a:r>
              <a:rPr lang="en-US" dirty="0">
                <a:solidFill>
                  <a:schemeClr val="tx1"/>
                </a:solidFill>
              </a:rPr>
              <a:t>Lenses have huge influence in determining depth of field.</a:t>
            </a:r>
          </a:p>
          <a:p>
            <a:pPr marL="0" indent="0" algn="ctr">
              <a:buNone/>
            </a:pPr>
            <a:br>
              <a:rPr lang="en-US" dirty="0">
                <a:solidFill>
                  <a:schemeClr val="tx1"/>
                </a:solidFill>
              </a:rPr>
            </a:br>
            <a:r>
              <a:rPr lang="en-US" dirty="0">
                <a:solidFill>
                  <a:schemeClr val="tx1"/>
                </a:solidFill>
              </a:rPr>
              <a:t>Three main lenses are:</a:t>
            </a:r>
          </a:p>
          <a:p>
            <a:pPr marL="0" indent="0">
              <a:buNone/>
            </a:pPr>
            <a:endParaRPr lang="en-US" dirty="0"/>
          </a:p>
        </p:txBody>
      </p:sp>
      <p:pic>
        <p:nvPicPr>
          <p:cNvPr id="2050" name="Picture 2" descr="Three differrent pictures taken with different focal lengths by Robert Berdan Â©">
            <a:extLst>
              <a:ext uri="{FF2B5EF4-FFF2-40B4-BE49-F238E27FC236}">
                <a16:creationId xmlns:a16="http://schemas.microsoft.com/office/drawing/2014/main" id="{1A7D6950-B97C-4016-A5EC-643A7B7DF4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3376" y="3966693"/>
            <a:ext cx="7105248" cy="2295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8163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BC2C4-7A2B-46A9-9162-63AAE527E1D1}"/>
              </a:ext>
            </a:extLst>
          </p:cNvPr>
          <p:cNvSpPr>
            <a:spLocks noGrp="1"/>
          </p:cNvSpPr>
          <p:nvPr>
            <p:ph type="title"/>
          </p:nvPr>
        </p:nvSpPr>
        <p:spPr/>
        <p:txBody>
          <a:bodyPr/>
          <a:lstStyle/>
          <a:p>
            <a:r>
              <a:rPr lang="en-US" dirty="0"/>
              <a:t>Lenses</a:t>
            </a:r>
          </a:p>
        </p:txBody>
      </p:sp>
      <p:pic>
        <p:nvPicPr>
          <p:cNvPr id="1026" name="Picture 2" descr="https://anotherfilmblog.files.wordpress.com/2010/07/orient2.jpg?w=426&amp;h=238">
            <a:extLst>
              <a:ext uri="{FF2B5EF4-FFF2-40B4-BE49-F238E27FC236}">
                <a16:creationId xmlns:a16="http://schemas.microsoft.com/office/drawing/2014/main" id="{03390817-95B4-402D-901B-7B466C9A2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7774" y="2690008"/>
            <a:ext cx="4057650" cy="227647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61E05A5F-B35C-4EFC-86E1-3C4514223275}"/>
              </a:ext>
            </a:extLst>
          </p:cNvPr>
          <p:cNvSpPr>
            <a:spLocks noGrp="1"/>
          </p:cNvSpPr>
          <p:nvPr>
            <p:ph idx="1"/>
          </p:nvPr>
        </p:nvSpPr>
        <p:spPr>
          <a:xfrm>
            <a:off x="1295401" y="2556932"/>
            <a:ext cx="4564486" cy="3318936"/>
          </a:xfrm>
        </p:spPr>
        <p:txBody>
          <a:bodyPr/>
          <a:lstStyle/>
          <a:p>
            <a:r>
              <a:rPr lang="en-US" dirty="0"/>
              <a:t>Different lenses can have different effects, and can be used to tell a story in different perspective</a:t>
            </a:r>
          </a:p>
          <a:p>
            <a:r>
              <a:rPr lang="en-US" dirty="0"/>
              <a:t>Such as the flashbacks in Murder on the Orient Express (1974), which used wide angle lenses to make them feel more dramatic.</a:t>
            </a:r>
          </a:p>
        </p:txBody>
      </p:sp>
    </p:spTree>
    <p:extLst>
      <p:ext uri="{BB962C8B-B14F-4D97-AF65-F5344CB8AC3E}">
        <p14:creationId xmlns:p14="http://schemas.microsoft.com/office/powerpoint/2010/main" val="2339370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BC2C4-7A2B-46A9-9162-63AAE527E1D1}"/>
              </a:ext>
            </a:extLst>
          </p:cNvPr>
          <p:cNvSpPr>
            <a:spLocks noGrp="1"/>
          </p:cNvSpPr>
          <p:nvPr>
            <p:ph type="title"/>
          </p:nvPr>
        </p:nvSpPr>
        <p:spPr/>
        <p:txBody>
          <a:bodyPr/>
          <a:lstStyle/>
          <a:p>
            <a:r>
              <a:rPr lang="en-US" dirty="0"/>
              <a:t>Normal Lenses</a:t>
            </a:r>
          </a:p>
        </p:txBody>
      </p:sp>
      <p:sp>
        <p:nvSpPr>
          <p:cNvPr id="5" name="Content Placeholder 4">
            <a:extLst>
              <a:ext uri="{FF2B5EF4-FFF2-40B4-BE49-F238E27FC236}">
                <a16:creationId xmlns:a16="http://schemas.microsoft.com/office/drawing/2014/main" id="{61E05A5F-B35C-4EFC-86E1-3C4514223275}"/>
              </a:ext>
            </a:extLst>
          </p:cNvPr>
          <p:cNvSpPr>
            <a:spLocks noGrp="1"/>
          </p:cNvSpPr>
          <p:nvPr>
            <p:ph idx="1"/>
          </p:nvPr>
        </p:nvSpPr>
        <p:spPr>
          <a:xfrm>
            <a:off x="1178420" y="2556932"/>
            <a:ext cx="6226932" cy="3318936"/>
          </a:xfrm>
        </p:spPr>
        <p:txBody>
          <a:bodyPr>
            <a:normAutofit/>
          </a:bodyPr>
          <a:lstStyle/>
          <a:p>
            <a:r>
              <a:rPr lang="en-US" dirty="0">
                <a:solidFill>
                  <a:schemeClr val="tx1"/>
                </a:solidFill>
              </a:rPr>
              <a:t>Most cameras have a normal lens which </a:t>
            </a:r>
            <a:r>
              <a:rPr lang="en-US" b="1" dirty="0">
                <a:solidFill>
                  <a:schemeClr val="tx1"/>
                </a:solidFill>
              </a:rPr>
              <a:t>mimics the human eye’s perspective.</a:t>
            </a:r>
          </a:p>
          <a:p>
            <a:r>
              <a:rPr lang="en-US" dirty="0">
                <a:solidFill>
                  <a:schemeClr val="tx1"/>
                </a:solidFill>
              </a:rPr>
              <a:t>Viewing an object using a normal lens is similar to viewing an object without a camera.</a:t>
            </a:r>
          </a:p>
          <a:p>
            <a:r>
              <a:rPr lang="en-US" dirty="0">
                <a:solidFill>
                  <a:schemeClr val="tx1"/>
                </a:solidFill>
              </a:rPr>
              <a:t>Figures rendered with normal lens will appear to be normal sized and perspective relative to each other. </a:t>
            </a:r>
          </a:p>
        </p:txBody>
      </p:sp>
      <p:pic>
        <p:nvPicPr>
          <p:cNvPr id="3074" name="Picture 2" descr="Image result for 55mm lens perspective">
            <a:extLst>
              <a:ext uri="{FF2B5EF4-FFF2-40B4-BE49-F238E27FC236}">
                <a16:creationId xmlns:a16="http://schemas.microsoft.com/office/drawing/2014/main" id="{43A13160-D302-4239-A3AA-674325E543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8144" y="2717442"/>
            <a:ext cx="3529536" cy="2753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59289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4D3BA-6E67-4132-B692-ECBFF9798908}"/>
              </a:ext>
            </a:extLst>
          </p:cNvPr>
          <p:cNvSpPr>
            <a:spLocks noGrp="1"/>
          </p:cNvSpPr>
          <p:nvPr>
            <p:ph type="title"/>
          </p:nvPr>
        </p:nvSpPr>
        <p:spPr/>
        <p:txBody>
          <a:bodyPr/>
          <a:lstStyle/>
          <a:p>
            <a:r>
              <a:rPr lang="en-US" dirty="0"/>
              <a:t>Wide Angle Lens</a:t>
            </a:r>
          </a:p>
        </p:txBody>
      </p:sp>
      <p:sp>
        <p:nvSpPr>
          <p:cNvPr id="3" name="Content Placeholder 2">
            <a:extLst>
              <a:ext uri="{FF2B5EF4-FFF2-40B4-BE49-F238E27FC236}">
                <a16:creationId xmlns:a16="http://schemas.microsoft.com/office/drawing/2014/main" id="{E7F841F4-3BBB-42F4-AE17-5A69F6F6AA1E}"/>
              </a:ext>
            </a:extLst>
          </p:cNvPr>
          <p:cNvSpPr>
            <a:spLocks noGrp="1"/>
          </p:cNvSpPr>
          <p:nvPr>
            <p:ph idx="1"/>
          </p:nvPr>
        </p:nvSpPr>
        <p:spPr>
          <a:xfrm>
            <a:off x="1295401" y="2556932"/>
            <a:ext cx="4899337" cy="3318936"/>
          </a:xfrm>
        </p:spPr>
        <p:txBody>
          <a:bodyPr/>
          <a:lstStyle/>
          <a:p>
            <a:r>
              <a:rPr lang="en-US" dirty="0">
                <a:solidFill>
                  <a:schemeClr val="tx1"/>
                </a:solidFill>
              </a:rPr>
              <a:t>A wide-angle lens </a:t>
            </a:r>
            <a:r>
              <a:rPr lang="en-US" b="1" dirty="0">
                <a:solidFill>
                  <a:schemeClr val="tx1"/>
                </a:solidFill>
              </a:rPr>
              <a:t>includes a much larger area</a:t>
            </a:r>
            <a:r>
              <a:rPr lang="en-US" dirty="0">
                <a:solidFill>
                  <a:schemeClr val="tx1"/>
                </a:solidFill>
              </a:rPr>
              <a:t> than the normal lens.</a:t>
            </a:r>
          </a:p>
          <a:p>
            <a:r>
              <a:rPr lang="en-US" b="1" dirty="0">
                <a:solidFill>
                  <a:schemeClr val="tx1"/>
                </a:solidFill>
              </a:rPr>
              <a:t>Exaggerates</a:t>
            </a:r>
            <a:r>
              <a:rPr lang="en-US" dirty="0">
                <a:solidFill>
                  <a:schemeClr val="tx1"/>
                </a:solidFill>
              </a:rPr>
              <a:t> the space between near and far shots.</a:t>
            </a:r>
            <a:endParaRPr lang="en-US" dirty="0"/>
          </a:p>
        </p:txBody>
      </p:sp>
      <p:pic>
        <p:nvPicPr>
          <p:cNvPr id="4098" name="Picture 2" descr="Image result for wide angle lens landscape">
            <a:extLst>
              <a:ext uri="{FF2B5EF4-FFF2-40B4-BE49-F238E27FC236}">
                <a16:creationId xmlns:a16="http://schemas.microsoft.com/office/drawing/2014/main" id="{584EA714-9FDF-4535-82A8-E4A1F30B42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580" y="2530698"/>
            <a:ext cx="4800602" cy="3200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924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4D3BA-6E67-4132-B692-ECBFF9798908}"/>
              </a:ext>
            </a:extLst>
          </p:cNvPr>
          <p:cNvSpPr>
            <a:spLocks noGrp="1"/>
          </p:cNvSpPr>
          <p:nvPr>
            <p:ph type="title"/>
          </p:nvPr>
        </p:nvSpPr>
        <p:spPr/>
        <p:txBody>
          <a:bodyPr/>
          <a:lstStyle/>
          <a:p>
            <a:r>
              <a:rPr lang="en-US" dirty="0"/>
              <a:t>Wide Angle Lens</a:t>
            </a:r>
          </a:p>
        </p:txBody>
      </p:sp>
      <p:sp>
        <p:nvSpPr>
          <p:cNvPr id="3" name="Content Placeholder 2">
            <a:extLst>
              <a:ext uri="{FF2B5EF4-FFF2-40B4-BE49-F238E27FC236}">
                <a16:creationId xmlns:a16="http://schemas.microsoft.com/office/drawing/2014/main" id="{E7F841F4-3BBB-42F4-AE17-5A69F6F6AA1E}"/>
              </a:ext>
            </a:extLst>
          </p:cNvPr>
          <p:cNvSpPr>
            <a:spLocks noGrp="1"/>
          </p:cNvSpPr>
          <p:nvPr>
            <p:ph idx="1"/>
          </p:nvPr>
        </p:nvSpPr>
        <p:spPr>
          <a:xfrm>
            <a:off x="1295401" y="2556932"/>
            <a:ext cx="4899337" cy="3318936"/>
          </a:xfrm>
        </p:spPr>
        <p:txBody>
          <a:bodyPr/>
          <a:lstStyle/>
          <a:p>
            <a:r>
              <a:rPr lang="en-US" dirty="0">
                <a:solidFill>
                  <a:schemeClr val="tx1"/>
                </a:solidFill>
              </a:rPr>
              <a:t>Often used for establishing shots.</a:t>
            </a:r>
          </a:p>
          <a:p>
            <a:r>
              <a:rPr lang="en-US" dirty="0">
                <a:solidFill>
                  <a:schemeClr val="tx1"/>
                </a:solidFill>
              </a:rPr>
              <a:t>Objects in foreground and background tend to both be in focus, enhancing the 3D feel of the frame.</a:t>
            </a:r>
          </a:p>
          <a:p>
            <a:r>
              <a:rPr lang="en-US" dirty="0">
                <a:solidFill>
                  <a:schemeClr val="tx1"/>
                </a:solidFill>
              </a:rPr>
              <a:t>The </a:t>
            </a:r>
            <a:r>
              <a:rPr lang="en-US" b="1" dirty="0">
                <a:solidFill>
                  <a:schemeClr val="tx1"/>
                </a:solidFill>
              </a:rPr>
              <a:t>wider the lens, the more distorted the image.</a:t>
            </a:r>
          </a:p>
          <a:p>
            <a:pPr marL="0" indent="0">
              <a:buNone/>
            </a:pPr>
            <a:endParaRPr lang="en-US" dirty="0"/>
          </a:p>
        </p:txBody>
      </p:sp>
      <p:pic>
        <p:nvPicPr>
          <p:cNvPr id="4098" name="Picture 2" descr="Image result for wide angle lens landscape">
            <a:extLst>
              <a:ext uri="{FF2B5EF4-FFF2-40B4-BE49-F238E27FC236}">
                <a16:creationId xmlns:a16="http://schemas.microsoft.com/office/drawing/2014/main" id="{584EA714-9FDF-4535-82A8-E4A1F30B42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580" y="2530698"/>
            <a:ext cx="4800602" cy="3200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56394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D8E0C-CE91-477E-A87A-704A8ACBFF89}"/>
              </a:ext>
            </a:extLst>
          </p:cNvPr>
          <p:cNvSpPr>
            <a:spLocks noGrp="1"/>
          </p:cNvSpPr>
          <p:nvPr>
            <p:ph type="title"/>
          </p:nvPr>
        </p:nvSpPr>
        <p:spPr/>
        <p:txBody>
          <a:bodyPr/>
          <a:lstStyle/>
          <a:p>
            <a:r>
              <a:rPr lang="en-US" dirty="0"/>
              <a:t>Telephoto Lens</a:t>
            </a:r>
          </a:p>
        </p:txBody>
      </p:sp>
      <p:sp>
        <p:nvSpPr>
          <p:cNvPr id="3" name="Content Placeholder 2">
            <a:extLst>
              <a:ext uri="{FF2B5EF4-FFF2-40B4-BE49-F238E27FC236}">
                <a16:creationId xmlns:a16="http://schemas.microsoft.com/office/drawing/2014/main" id="{9F2B690E-8751-409C-BB73-0357CA5DAE6F}"/>
              </a:ext>
            </a:extLst>
          </p:cNvPr>
          <p:cNvSpPr>
            <a:spLocks noGrp="1"/>
          </p:cNvSpPr>
          <p:nvPr>
            <p:ph idx="1"/>
          </p:nvPr>
        </p:nvSpPr>
        <p:spPr>
          <a:xfrm>
            <a:off x="6096000" y="2556932"/>
            <a:ext cx="4800596" cy="3318936"/>
          </a:xfrm>
        </p:spPr>
        <p:txBody>
          <a:bodyPr/>
          <a:lstStyle/>
          <a:p>
            <a:r>
              <a:rPr lang="en-US" dirty="0">
                <a:solidFill>
                  <a:schemeClr val="tx1"/>
                </a:solidFill>
              </a:rPr>
              <a:t>Telephoto lenses have shallow depth of field</a:t>
            </a:r>
          </a:p>
          <a:p>
            <a:pPr algn="r"/>
            <a:r>
              <a:rPr lang="en-US" dirty="0">
                <a:solidFill>
                  <a:schemeClr val="tx1"/>
                </a:solidFill>
              </a:rPr>
              <a:t>Compressing the foreground and background.</a:t>
            </a:r>
          </a:p>
          <a:p>
            <a:pPr algn="r"/>
            <a:r>
              <a:rPr lang="en-US" dirty="0">
                <a:solidFill>
                  <a:schemeClr val="tx1"/>
                </a:solidFill>
              </a:rPr>
              <a:t>This </a:t>
            </a:r>
            <a:r>
              <a:rPr lang="en-US" b="1" dirty="0">
                <a:solidFill>
                  <a:schemeClr val="tx1"/>
                </a:solidFill>
              </a:rPr>
              <a:t>creates the illusion of objects appearing closer together</a:t>
            </a:r>
            <a:r>
              <a:rPr lang="en-US" dirty="0">
                <a:solidFill>
                  <a:schemeClr val="tx1"/>
                </a:solidFill>
              </a:rPr>
              <a:t>. </a:t>
            </a:r>
            <a:endParaRPr lang="en-US" dirty="0"/>
          </a:p>
        </p:txBody>
      </p:sp>
      <p:pic>
        <p:nvPicPr>
          <p:cNvPr id="5122" name="Picture 2" descr="File:Photographer with telephoto lens on football game.jpg">
            <a:extLst>
              <a:ext uri="{FF2B5EF4-FFF2-40B4-BE49-F238E27FC236}">
                <a16:creationId xmlns:a16="http://schemas.microsoft.com/office/drawing/2014/main" id="{3FA5955D-6770-4376-B698-05E0EC26C4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022" y="2618272"/>
            <a:ext cx="4694350" cy="3127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8191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A2734-7E87-4FB2-A954-901D4C94B014}"/>
              </a:ext>
            </a:extLst>
          </p:cNvPr>
          <p:cNvSpPr>
            <a:spLocks noGrp="1"/>
          </p:cNvSpPr>
          <p:nvPr>
            <p:ph type="title"/>
          </p:nvPr>
        </p:nvSpPr>
        <p:spPr/>
        <p:txBody>
          <a:bodyPr/>
          <a:lstStyle/>
          <a:p>
            <a:r>
              <a:rPr lang="en-US" dirty="0"/>
              <a:t>In Conclusion</a:t>
            </a:r>
          </a:p>
        </p:txBody>
      </p:sp>
      <p:sp>
        <p:nvSpPr>
          <p:cNvPr id="3" name="Content Placeholder 2">
            <a:extLst>
              <a:ext uri="{FF2B5EF4-FFF2-40B4-BE49-F238E27FC236}">
                <a16:creationId xmlns:a16="http://schemas.microsoft.com/office/drawing/2014/main" id="{235E8B78-057B-4A65-959F-B1C86414CCA1}"/>
              </a:ext>
            </a:extLst>
          </p:cNvPr>
          <p:cNvSpPr>
            <a:spLocks noGrp="1"/>
          </p:cNvSpPr>
          <p:nvPr>
            <p:ph idx="1"/>
          </p:nvPr>
        </p:nvSpPr>
        <p:spPr/>
        <p:txBody>
          <a:bodyPr/>
          <a:lstStyle/>
          <a:p>
            <a:r>
              <a:rPr lang="en-US" dirty="0"/>
              <a:t>Perspective </a:t>
            </a:r>
          </a:p>
          <a:p>
            <a:r>
              <a:rPr lang="en-US" dirty="0"/>
              <a:t>Atmospheric perspective</a:t>
            </a:r>
          </a:p>
          <a:p>
            <a:r>
              <a:rPr lang="en-US" dirty="0"/>
              <a:t>1, 2 and 3 point perspective</a:t>
            </a:r>
          </a:p>
          <a:p>
            <a:r>
              <a:rPr lang="en-US" dirty="0"/>
              <a:t>Lens choice</a:t>
            </a:r>
          </a:p>
          <a:p>
            <a:r>
              <a:rPr lang="en-US" dirty="0"/>
              <a:t>Depth of Field</a:t>
            </a:r>
          </a:p>
          <a:p>
            <a:endParaRPr lang="en-US" dirty="0"/>
          </a:p>
        </p:txBody>
      </p:sp>
    </p:spTree>
    <p:extLst>
      <p:ext uri="{BB962C8B-B14F-4D97-AF65-F5344CB8AC3E}">
        <p14:creationId xmlns:p14="http://schemas.microsoft.com/office/powerpoint/2010/main" val="9407948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A2734-7E87-4FB2-A954-901D4C94B014}"/>
              </a:ext>
            </a:extLst>
          </p:cNvPr>
          <p:cNvSpPr>
            <a:spLocks noGrp="1"/>
          </p:cNvSpPr>
          <p:nvPr>
            <p:ph type="title"/>
          </p:nvPr>
        </p:nvSpPr>
        <p:spPr/>
        <p:txBody>
          <a:bodyPr/>
          <a:lstStyle/>
          <a:p>
            <a:r>
              <a:rPr lang="en-US" dirty="0"/>
              <a:t>In Conclusion</a:t>
            </a:r>
          </a:p>
        </p:txBody>
      </p:sp>
      <p:sp>
        <p:nvSpPr>
          <p:cNvPr id="3" name="Content Placeholder 2">
            <a:extLst>
              <a:ext uri="{FF2B5EF4-FFF2-40B4-BE49-F238E27FC236}">
                <a16:creationId xmlns:a16="http://schemas.microsoft.com/office/drawing/2014/main" id="{235E8B78-057B-4A65-959F-B1C86414CCA1}"/>
              </a:ext>
            </a:extLst>
          </p:cNvPr>
          <p:cNvSpPr>
            <a:spLocks noGrp="1"/>
          </p:cNvSpPr>
          <p:nvPr>
            <p:ph idx="1"/>
          </p:nvPr>
        </p:nvSpPr>
        <p:spPr/>
        <p:txBody>
          <a:bodyPr/>
          <a:lstStyle/>
          <a:p>
            <a:r>
              <a:rPr lang="en-US" dirty="0"/>
              <a:t>Perspective </a:t>
            </a:r>
          </a:p>
          <a:p>
            <a:r>
              <a:rPr lang="en-US" dirty="0"/>
              <a:t>Atmospheric perspective</a:t>
            </a:r>
          </a:p>
          <a:p>
            <a:r>
              <a:rPr lang="en-US" dirty="0"/>
              <a:t>1, 2 and 3 point perspective</a:t>
            </a:r>
          </a:p>
          <a:p>
            <a:r>
              <a:rPr lang="en-US" dirty="0"/>
              <a:t>Lens choice</a:t>
            </a:r>
          </a:p>
          <a:p>
            <a:r>
              <a:rPr lang="en-US" dirty="0"/>
              <a:t>Depth of Field</a:t>
            </a:r>
          </a:p>
          <a:p>
            <a:endParaRPr lang="en-US" dirty="0"/>
          </a:p>
        </p:txBody>
      </p:sp>
    </p:spTree>
    <p:extLst>
      <p:ext uri="{BB962C8B-B14F-4D97-AF65-F5344CB8AC3E}">
        <p14:creationId xmlns:p14="http://schemas.microsoft.com/office/powerpoint/2010/main" val="27513858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A2734-7E87-4FB2-A954-901D4C94B014}"/>
              </a:ext>
            </a:extLst>
          </p:cNvPr>
          <p:cNvSpPr>
            <a:spLocks noGrp="1"/>
          </p:cNvSpPr>
          <p:nvPr>
            <p:ph type="title"/>
          </p:nvPr>
        </p:nvSpPr>
        <p:spPr/>
        <p:txBody>
          <a:bodyPr/>
          <a:lstStyle/>
          <a:p>
            <a:r>
              <a:rPr lang="en-US" dirty="0"/>
              <a:t>In Conclusion</a:t>
            </a:r>
          </a:p>
        </p:txBody>
      </p:sp>
      <p:sp>
        <p:nvSpPr>
          <p:cNvPr id="3" name="Content Placeholder 2">
            <a:extLst>
              <a:ext uri="{FF2B5EF4-FFF2-40B4-BE49-F238E27FC236}">
                <a16:creationId xmlns:a16="http://schemas.microsoft.com/office/drawing/2014/main" id="{235E8B78-057B-4A65-959F-B1C86414CCA1}"/>
              </a:ext>
            </a:extLst>
          </p:cNvPr>
          <p:cNvSpPr>
            <a:spLocks noGrp="1"/>
          </p:cNvSpPr>
          <p:nvPr>
            <p:ph idx="1"/>
          </p:nvPr>
        </p:nvSpPr>
        <p:spPr/>
        <p:txBody>
          <a:bodyPr/>
          <a:lstStyle/>
          <a:p>
            <a:r>
              <a:rPr lang="en-US" dirty="0"/>
              <a:t>Perspective </a:t>
            </a:r>
          </a:p>
          <a:p>
            <a:r>
              <a:rPr lang="en-US" dirty="0"/>
              <a:t>Atmospheric perspective</a:t>
            </a:r>
          </a:p>
          <a:p>
            <a:r>
              <a:rPr lang="en-US" dirty="0"/>
              <a:t>1, 2 and 3 point perspective</a:t>
            </a:r>
          </a:p>
          <a:p>
            <a:r>
              <a:rPr lang="en-US" dirty="0"/>
              <a:t>Lens choice</a:t>
            </a:r>
          </a:p>
          <a:p>
            <a:r>
              <a:rPr lang="en-US" dirty="0"/>
              <a:t>Depth of Field</a:t>
            </a:r>
          </a:p>
          <a:p>
            <a:endParaRPr lang="en-US" dirty="0"/>
          </a:p>
        </p:txBody>
      </p:sp>
    </p:spTree>
    <p:extLst>
      <p:ext uri="{BB962C8B-B14F-4D97-AF65-F5344CB8AC3E}">
        <p14:creationId xmlns:p14="http://schemas.microsoft.com/office/powerpoint/2010/main" val="162901602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6715</TotalTime>
  <Words>4589</Words>
  <Application>Microsoft Office PowerPoint</Application>
  <PresentationFormat>Widescreen</PresentationFormat>
  <Paragraphs>345</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Garamond</vt:lpstr>
      <vt:lpstr>Game Design Theme</vt:lpstr>
      <vt:lpstr>Drawing in Perspective</vt:lpstr>
      <vt:lpstr>Intro to Perspective</vt:lpstr>
      <vt:lpstr>Intro to Perspective</vt:lpstr>
      <vt:lpstr>Intro to Perspective</vt:lpstr>
      <vt:lpstr>Picture Plane</vt:lpstr>
      <vt:lpstr>Horizon Line and Vanishing Point</vt:lpstr>
      <vt:lpstr>Horizon Line and Vanishing Point</vt:lpstr>
      <vt:lpstr>One Point Perspective</vt:lpstr>
      <vt:lpstr>One Point Perspective</vt:lpstr>
      <vt:lpstr>Two Point Perspective</vt:lpstr>
      <vt:lpstr>Two Point Perspective</vt:lpstr>
      <vt:lpstr>Two Point Perspective</vt:lpstr>
      <vt:lpstr>Three Point perspective</vt:lpstr>
      <vt:lpstr>Three Point perspective</vt:lpstr>
      <vt:lpstr>Atmospheric Perspective</vt:lpstr>
      <vt:lpstr>Atmospheric Perspective</vt:lpstr>
      <vt:lpstr>Foreshortening</vt:lpstr>
      <vt:lpstr>Foreshortening</vt:lpstr>
      <vt:lpstr>Foreshortening</vt:lpstr>
      <vt:lpstr>Overlap</vt:lpstr>
      <vt:lpstr>Texture Gradient</vt:lpstr>
      <vt:lpstr>Circles in Perspective</vt:lpstr>
      <vt:lpstr>Circles in Perspective</vt:lpstr>
      <vt:lpstr>Size Perspective</vt:lpstr>
      <vt:lpstr>Relative Motion</vt:lpstr>
      <vt:lpstr>Depth of Field</vt:lpstr>
      <vt:lpstr>Depth of Field</vt:lpstr>
      <vt:lpstr>Depth of Field</vt:lpstr>
      <vt:lpstr>Lenses</vt:lpstr>
      <vt:lpstr>Lenses</vt:lpstr>
      <vt:lpstr>Normal Lenses</vt:lpstr>
      <vt:lpstr>Wide Angle Lens</vt:lpstr>
      <vt:lpstr>Wide Angle Lens</vt:lpstr>
      <vt:lpstr>Telephoto Lens</vt:lpstr>
      <vt:lpstr>In Conclusion</vt:lpstr>
      <vt:lpstr>In Conclusion</vt:lpstr>
      <vt:lpstr>In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User</dc:creator>
  <cp:lastModifiedBy>Daniel Coes</cp:lastModifiedBy>
  <cp:revision>207</cp:revision>
  <dcterms:created xsi:type="dcterms:W3CDTF">2016-05-07T19:16:27Z</dcterms:created>
  <dcterms:modified xsi:type="dcterms:W3CDTF">2026-08-05T06:20:46Z</dcterms:modified>
</cp:coreProperties>
</file>