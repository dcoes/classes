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Lst>
  <p:sldSz cy="6858000" cx="12192000"/>
  <p:notesSz cx="6858000" cy="9144000"/>
  <p:embeddedFontLst>
    <p:embeddedFont>
      <p:font typeface="Century Gothic"/>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0" roundtripDataSignature="AMtx7miwbqCflbJKlJ/r99iLK5OyvTZ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font" Target="fonts/CenturyGothic-bold.fntdata"/><Relationship Id="rId32" Type="http://schemas.openxmlformats.org/officeDocument/2006/relationships/slide" Target="slides/slide28.xml"/><Relationship Id="rId76" Type="http://schemas.openxmlformats.org/officeDocument/2006/relationships/font" Target="fonts/CenturyGothic-regular.fntdata"/><Relationship Id="rId35" Type="http://schemas.openxmlformats.org/officeDocument/2006/relationships/slide" Target="slides/slide31.xml"/><Relationship Id="rId79" Type="http://schemas.openxmlformats.org/officeDocument/2006/relationships/font" Target="fonts/CenturyGothic-boldItalic.fntdata"/><Relationship Id="rId34" Type="http://schemas.openxmlformats.org/officeDocument/2006/relationships/slide" Target="slides/slide30.xml"/><Relationship Id="rId78" Type="http://schemas.openxmlformats.org/officeDocument/2006/relationships/font" Target="fonts/CenturyGothic-italic.fntdata"/><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149" name="Google Shape;14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are constantly confronted with visual media in our daily lives:</a:t>
            </a:r>
            <a:endParaRPr/>
          </a:p>
          <a:p>
            <a:pPr indent="0" lvl="0" marL="0" rtl="0" algn="l">
              <a:spcBef>
                <a:spcPts val="0"/>
              </a:spcBef>
              <a:spcAft>
                <a:spcPts val="0"/>
              </a:spcAft>
              <a:buNone/>
            </a:pPr>
            <a:r>
              <a:rPr lang="en-US"/>
              <a:t>TV</a:t>
            </a:r>
            <a:endParaRPr/>
          </a:p>
          <a:p>
            <a:pPr indent="0" lvl="0" marL="0" rtl="0" algn="l">
              <a:spcBef>
                <a:spcPts val="0"/>
              </a:spcBef>
              <a:spcAft>
                <a:spcPts val="0"/>
              </a:spcAft>
              <a:buNone/>
            </a:pPr>
            <a:r>
              <a:rPr lang="en-US"/>
              <a:t>Internet</a:t>
            </a:r>
            <a:endParaRPr/>
          </a:p>
          <a:p>
            <a:pPr indent="0" lvl="0" marL="0" rtl="0" algn="l">
              <a:spcBef>
                <a:spcPts val="0"/>
              </a:spcBef>
              <a:spcAft>
                <a:spcPts val="0"/>
              </a:spcAft>
              <a:buNone/>
            </a:pPr>
            <a:r>
              <a:rPr lang="en-US"/>
              <a:t>Movies</a:t>
            </a:r>
            <a:endParaRPr/>
          </a:p>
          <a:p>
            <a:pPr indent="0" lvl="0" marL="0" rtl="0" algn="l">
              <a:spcBef>
                <a:spcPts val="0"/>
              </a:spcBef>
              <a:spcAft>
                <a:spcPts val="0"/>
              </a:spcAft>
              <a:buNone/>
            </a:pPr>
            <a:r>
              <a:rPr lang="en-US"/>
              <a:t>Games</a:t>
            </a:r>
            <a:endParaRPr/>
          </a:p>
          <a:p>
            <a:pPr indent="0" lvl="0" marL="0" rtl="0" algn="l">
              <a:spcBef>
                <a:spcPts val="0"/>
              </a:spcBef>
              <a:spcAft>
                <a:spcPts val="0"/>
              </a:spcAft>
              <a:buNone/>
            </a:pPr>
            <a:r>
              <a:t/>
            </a:r>
            <a:endParaRPr/>
          </a:p>
        </p:txBody>
      </p:sp>
      <p:sp>
        <p:nvSpPr>
          <p:cNvPr id="156" name="Google Shape;1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are constantly confronted with visual media in our daily lives:</a:t>
            </a:r>
            <a:endParaRPr/>
          </a:p>
          <a:p>
            <a:pPr indent="0" lvl="0" marL="0" rtl="0" algn="l">
              <a:spcBef>
                <a:spcPts val="0"/>
              </a:spcBef>
              <a:spcAft>
                <a:spcPts val="0"/>
              </a:spcAft>
              <a:buNone/>
            </a:pPr>
            <a:r>
              <a:rPr lang="en-US"/>
              <a:t>TV</a:t>
            </a:r>
            <a:endParaRPr/>
          </a:p>
          <a:p>
            <a:pPr indent="0" lvl="0" marL="0" rtl="0" algn="l">
              <a:spcBef>
                <a:spcPts val="0"/>
              </a:spcBef>
              <a:spcAft>
                <a:spcPts val="0"/>
              </a:spcAft>
              <a:buNone/>
            </a:pPr>
            <a:r>
              <a:rPr lang="en-US"/>
              <a:t>Internet</a:t>
            </a:r>
            <a:endParaRPr/>
          </a:p>
          <a:p>
            <a:pPr indent="0" lvl="0" marL="0" rtl="0" algn="l">
              <a:spcBef>
                <a:spcPts val="0"/>
              </a:spcBef>
              <a:spcAft>
                <a:spcPts val="0"/>
              </a:spcAft>
              <a:buNone/>
            </a:pPr>
            <a:r>
              <a:rPr lang="en-US"/>
              <a:t>Movies</a:t>
            </a:r>
            <a:endParaRPr/>
          </a:p>
          <a:p>
            <a:pPr indent="0" lvl="0" marL="0" rtl="0" algn="l">
              <a:spcBef>
                <a:spcPts val="0"/>
              </a:spcBef>
              <a:spcAft>
                <a:spcPts val="0"/>
              </a:spcAft>
              <a:buNone/>
            </a:pPr>
            <a:r>
              <a:rPr lang="en-US"/>
              <a:t>Games</a:t>
            </a:r>
            <a:endParaRPr/>
          </a:p>
          <a:p>
            <a:pPr indent="0" lvl="0" marL="0" rtl="0" algn="l">
              <a:spcBef>
                <a:spcPts val="0"/>
              </a:spcBef>
              <a:spcAft>
                <a:spcPts val="0"/>
              </a:spcAft>
              <a:buNone/>
            </a:pPr>
            <a:r>
              <a:t/>
            </a:r>
            <a:endParaRPr/>
          </a:p>
        </p:txBody>
      </p:sp>
      <p:sp>
        <p:nvSpPr>
          <p:cNvPr id="165" name="Google Shape;1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message can be to buy a product or to evoke an emotion from your</a:t>
            </a:r>
            <a:endParaRPr/>
          </a:p>
          <a:p>
            <a:pPr indent="0" lvl="0" marL="0" rtl="0" algn="l">
              <a:spcBef>
                <a:spcPts val="0"/>
              </a:spcBef>
              <a:spcAft>
                <a:spcPts val="0"/>
              </a:spcAft>
              <a:buNone/>
            </a:pPr>
            <a:r>
              <a:rPr lang="en-US"/>
              <a:t>audience.</a:t>
            </a:r>
            <a:endParaRPr/>
          </a:p>
        </p:txBody>
      </p:sp>
      <p:sp>
        <p:nvSpPr>
          <p:cNvPr id="175" name="Google Shape;1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storyboard can be thought of as a visual representation of the script or story.</a:t>
            </a:r>
            <a:endParaRPr/>
          </a:p>
        </p:txBody>
      </p:sp>
      <p:sp>
        <p:nvSpPr>
          <p:cNvPr id="184" name="Google Shape;1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storyboard is a method of organizing </a:t>
            </a:r>
            <a:r>
              <a:rPr b="1" lang="en-US"/>
              <a:t>visual</a:t>
            </a:r>
            <a:r>
              <a:rPr lang="en-US"/>
              <a:t> ideas graphically for motion pictures, animation, or even video games.</a:t>
            </a:r>
            <a:endParaRPr/>
          </a:p>
        </p:txBody>
      </p:sp>
      <p:sp>
        <p:nvSpPr>
          <p:cNvPr id="193" name="Google Shape;19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Consists of a number of panels that show the </a:t>
            </a:r>
            <a:r>
              <a:rPr b="1" lang="en-US"/>
              <a:t>visual action of a sequence in a logical narrative</a:t>
            </a:r>
            <a:r>
              <a:rPr lang="en-US"/>
              <a:t>.</a:t>
            </a:r>
            <a:endParaRPr/>
          </a:p>
          <a:p>
            <a:pPr indent="0" lvl="0" marL="0" rtl="0" algn="l">
              <a:spcBef>
                <a:spcPts val="0"/>
              </a:spcBef>
              <a:spcAft>
                <a:spcPts val="0"/>
              </a:spcAft>
              <a:buClr>
                <a:schemeClr val="dk1"/>
              </a:buClr>
              <a:buSzPts val="1200"/>
              <a:buFont typeface="Calibri"/>
              <a:buNone/>
            </a:pPr>
            <a:r>
              <a:t/>
            </a:r>
            <a:endParaRPr/>
          </a:p>
        </p:txBody>
      </p:sp>
      <p:sp>
        <p:nvSpPr>
          <p:cNvPr id="202" name="Google Shape;2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Stories entertain, but storyboards are production tools to assist in selling an idea to a client, a production team, or to a director.</a:t>
            </a:r>
            <a:endParaRPr/>
          </a:p>
        </p:txBody>
      </p:sp>
      <p:sp>
        <p:nvSpPr>
          <p:cNvPr id="211" name="Google Shape;21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While storyboarding the visual flow of the narrative is a relatively New Concept, visual storyboarding is not. In fact, telling visual stories has been around for thousands of years. Early Rock paintings were used as a form of communication before speech was even developed. It has been believed that visual paintings told stories about Friends, animal attacks, how they hunted and so forth.</a:t>
            </a:r>
            <a:endParaRPr/>
          </a:p>
          <a:p>
            <a:pPr indent="0" lvl="0" marL="0" rtl="0" algn="l">
              <a:spcBef>
                <a:spcPts val="0"/>
              </a:spcBef>
              <a:spcAft>
                <a:spcPts val="0"/>
              </a:spcAft>
              <a:buNone/>
            </a:pPr>
            <a:r>
              <a:t/>
            </a:r>
            <a:endParaRPr/>
          </a:p>
        </p:txBody>
      </p:sp>
      <p:sp>
        <p:nvSpPr>
          <p:cNvPr id="220" name="Google Shape;22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Over the last century, visual storytelling has taken to new heights with the emergence of Photography television film and computers.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Graphic illustrations such as photographs comics, and magazines communicate their message without motion. </a:t>
            </a:r>
            <a:endParaRPr/>
          </a:p>
        </p:txBody>
      </p:sp>
      <p:sp>
        <p:nvSpPr>
          <p:cNvPr id="228" name="Google Shape;2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picture of a pool shark leaning against a pool table raises several questions. Who is the man? Where is he playing pool? Who is he playing against? Is he playing for money?</a:t>
            </a:r>
            <a:endParaRPr/>
          </a:p>
        </p:txBody>
      </p:sp>
      <p:sp>
        <p:nvSpPr>
          <p:cNvPr id="236" name="Google Shape;23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image conveys the intended message through staging the character and props, establishing the background, and portraying the action.</a:t>
            </a:r>
            <a:endParaRPr/>
          </a:p>
        </p:txBody>
      </p:sp>
      <p:sp>
        <p:nvSpPr>
          <p:cNvPr id="245" name="Google Shape;24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Movies and animation are </a:t>
            </a:r>
            <a:r>
              <a:rPr b="1" lang="en-US" sz="1200">
                <a:solidFill>
                  <a:schemeClr val="dk1"/>
                </a:solidFill>
                <a:latin typeface="Calibri"/>
                <a:ea typeface="Calibri"/>
                <a:cs typeface="Calibri"/>
                <a:sym typeface="Calibri"/>
              </a:rPr>
              <a:t>linear</a:t>
            </a:r>
            <a:r>
              <a:rPr lang="en-US" sz="1200">
                <a:solidFill>
                  <a:schemeClr val="dk1"/>
                </a:solidFill>
                <a:latin typeface="Calibri"/>
                <a:ea typeface="Calibri"/>
                <a:cs typeface="Calibri"/>
                <a:sym typeface="Calibri"/>
              </a:rPr>
              <a:t> forms of visual storytelling where the audience listens and watches passively</a:t>
            </a:r>
            <a:endParaRPr/>
          </a:p>
        </p:txBody>
      </p:sp>
      <p:sp>
        <p:nvSpPr>
          <p:cNvPr id="253" name="Google Shape;2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Games and multimedia applications on the other hand are </a:t>
            </a:r>
            <a:r>
              <a:rPr b="1" lang="en-US" sz="1200">
                <a:solidFill>
                  <a:schemeClr val="dk1"/>
                </a:solidFill>
                <a:latin typeface="Calibri"/>
                <a:ea typeface="Calibri"/>
                <a:cs typeface="Calibri"/>
                <a:sym typeface="Calibri"/>
              </a:rPr>
              <a:t>INTERACTIVE</a:t>
            </a:r>
            <a:r>
              <a:rPr lang="en-US" sz="1200">
                <a:solidFill>
                  <a:schemeClr val="dk1"/>
                </a:solidFill>
                <a:latin typeface="Calibri"/>
                <a:ea typeface="Calibri"/>
                <a:cs typeface="Calibri"/>
                <a:sym typeface="Calibri"/>
              </a:rPr>
              <a:t> programs where the user both actively views and manipulates the program. A user of a game doesn't just sit back with a bucket of popcorn and watch the story unfold, but </a:t>
            </a:r>
            <a:r>
              <a:rPr b="1" lang="en-US" sz="1200">
                <a:solidFill>
                  <a:schemeClr val="dk1"/>
                </a:solidFill>
                <a:latin typeface="Calibri"/>
                <a:ea typeface="Calibri"/>
                <a:cs typeface="Calibri"/>
                <a:sym typeface="Calibri"/>
              </a:rPr>
              <a:t>interact</a:t>
            </a:r>
            <a:r>
              <a:rPr lang="en-US" sz="1200">
                <a:solidFill>
                  <a:schemeClr val="dk1"/>
                </a:solidFill>
                <a:latin typeface="Calibri"/>
                <a:ea typeface="Calibri"/>
                <a:cs typeface="Calibri"/>
                <a:sym typeface="Calibri"/>
              </a:rPr>
              <a:t> with the message whether it's plotting murder, looking for Clues, Dodge and a hailstorm of punches from an opponent.</a:t>
            </a:r>
            <a:endParaRPr/>
          </a:p>
        </p:txBody>
      </p:sp>
      <p:sp>
        <p:nvSpPr>
          <p:cNvPr id="261" name="Google Shape;26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Although the needs and the methods of Storytelling may have changed over time, the storytellers purpose has pretty much stayed the same</a:t>
            </a:r>
            <a:endParaRPr/>
          </a:p>
        </p:txBody>
      </p:sp>
      <p:sp>
        <p:nvSpPr>
          <p:cNvPr id="269" name="Google Shape;26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 </a:t>
            </a:r>
            <a:r>
              <a:rPr b="1" lang="en-US" sz="1200">
                <a:solidFill>
                  <a:schemeClr val="dk1"/>
                </a:solidFill>
                <a:latin typeface="Calibri"/>
                <a:ea typeface="Calibri"/>
                <a:cs typeface="Calibri"/>
                <a:sym typeface="Calibri"/>
              </a:rPr>
              <a:t>communicate</a:t>
            </a:r>
            <a:r>
              <a:rPr lang="en-US" sz="1200">
                <a:solidFill>
                  <a:schemeClr val="dk1"/>
                </a:solidFill>
                <a:latin typeface="Calibri"/>
                <a:ea typeface="Calibri"/>
                <a:cs typeface="Calibri"/>
                <a:sym typeface="Calibri"/>
              </a:rPr>
              <a:t> a </a:t>
            </a:r>
            <a:r>
              <a:rPr b="1" lang="en-US" sz="1200">
                <a:solidFill>
                  <a:schemeClr val="dk1"/>
                </a:solidFill>
                <a:latin typeface="Calibri"/>
                <a:ea typeface="Calibri"/>
                <a:cs typeface="Calibri"/>
                <a:sym typeface="Calibri"/>
              </a:rPr>
              <a:t>message</a:t>
            </a:r>
            <a:r>
              <a:rPr lang="en-US" sz="1200">
                <a:solidFill>
                  <a:schemeClr val="dk1"/>
                </a:solidFill>
                <a:latin typeface="Calibri"/>
                <a:ea typeface="Calibri"/>
                <a:cs typeface="Calibri"/>
                <a:sym typeface="Calibri"/>
              </a:rPr>
              <a:t> to an </a:t>
            </a:r>
            <a:r>
              <a:rPr b="1" lang="en-US" sz="1200">
                <a:solidFill>
                  <a:schemeClr val="dk1"/>
                </a:solidFill>
                <a:latin typeface="Calibri"/>
                <a:ea typeface="Calibri"/>
                <a:cs typeface="Calibri"/>
                <a:sym typeface="Calibri"/>
              </a:rPr>
              <a:t>audience</a:t>
            </a:r>
            <a:r>
              <a:rPr lang="en-US" sz="1200">
                <a:solidFill>
                  <a:schemeClr val="dk1"/>
                </a:solidFill>
                <a:latin typeface="Calibri"/>
                <a:ea typeface="Calibri"/>
                <a:cs typeface="Calibri"/>
                <a:sym typeface="Calibri"/>
              </a:rPr>
              <a:t>. A storyteller's Effectiveness is based on drawing an audience into the story and capturing their attention. This is often accomplished by the message that the story and the visuals deliver.</a:t>
            </a:r>
            <a:endParaRPr/>
          </a:p>
        </p:txBody>
      </p:sp>
      <p:sp>
        <p:nvSpPr>
          <p:cNvPr id="276" name="Google Shape;27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Show, don't tell. This is a common phrase. It also happens to be the basis of writing visual content.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t>
            </a:r>
            <a:r>
              <a:rPr b="1" lang="en-US" sz="1200">
                <a:solidFill>
                  <a:schemeClr val="dk1"/>
                </a:solidFill>
                <a:latin typeface="Calibri"/>
                <a:ea typeface="Calibri"/>
                <a:cs typeface="Calibri"/>
                <a:sym typeface="Calibri"/>
              </a:rPr>
              <a:t>tell</a:t>
            </a:r>
            <a:r>
              <a:rPr lang="en-US" sz="1200">
                <a:solidFill>
                  <a:schemeClr val="dk1"/>
                </a:solidFill>
                <a:latin typeface="Calibri"/>
                <a:ea typeface="Calibri"/>
                <a:cs typeface="Calibri"/>
                <a:sym typeface="Calibri"/>
              </a:rPr>
              <a:t> a story, you try to entice the audience into imagining its content.</a:t>
            </a:r>
            <a:endParaRPr/>
          </a:p>
        </p:txBody>
      </p:sp>
      <p:sp>
        <p:nvSpPr>
          <p:cNvPr id="283" name="Google Shape;2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However, if you're going to </a:t>
            </a:r>
            <a:r>
              <a:rPr b="1" lang="en-US" sz="1200">
                <a:solidFill>
                  <a:schemeClr val="dk1"/>
                </a:solidFill>
                <a:latin typeface="Calibri"/>
                <a:ea typeface="Calibri"/>
                <a:cs typeface="Calibri"/>
                <a:sym typeface="Calibri"/>
              </a:rPr>
              <a:t>show</a:t>
            </a:r>
            <a:r>
              <a:rPr lang="en-US" sz="1200">
                <a:solidFill>
                  <a:schemeClr val="dk1"/>
                </a:solidFill>
                <a:latin typeface="Calibri"/>
                <a:ea typeface="Calibri"/>
                <a:cs typeface="Calibri"/>
                <a:sym typeface="Calibri"/>
              </a:rPr>
              <a:t> the audience, you must rely Less on telling and more on showing.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1" name="Google Shape;29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Think of it this way, when you show a story, you are molding the message into visual imagery. Let's look at an example of telling vs. showing. </a:t>
            </a:r>
            <a:endParaRPr/>
          </a:p>
        </p:txBody>
      </p:sp>
      <p:sp>
        <p:nvSpPr>
          <p:cNvPr id="299" name="Google Shape;2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Now that's more like it. The audience is </a:t>
            </a:r>
            <a:r>
              <a:rPr b="1" lang="en-US" sz="1200">
                <a:solidFill>
                  <a:schemeClr val="dk1"/>
                </a:solidFill>
                <a:latin typeface="Calibri"/>
                <a:ea typeface="Calibri"/>
                <a:cs typeface="Calibri"/>
                <a:sym typeface="Calibri"/>
              </a:rPr>
              <a:t>able to see </a:t>
            </a:r>
            <a:r>
              <a:rPr lang="en-US" sz="1200">
                <a:solidFill>
                  <a:schemeClr val="dk1"/>
                </a:solidFill>
                <a:latin typeface="Calibri"/>
                <a:ea typeface="Calibri"/>
                <a:cs typeface="Calibri"/>
                <a:sym typeface="Calibri"/>
              </a:rPr>
              <a:t>Jack kick the dirt up as he pulls a cigarette from behind his ear. </a:t>
            </a:r>
            <a:endParaRPr/>
          </a:p>
          <a:p>
            <a:pPr indent="0" lvl="0" marL="0" rtl="0" algn="l">
              <a:spcBef>
                <a:spcPts val="0"/>
              </a:spcBef>
              <a:spcAft>
                <a:spcPts val="0"/>
              </a:spcAft>
              <a:buNone/>
            </a:pPr>
            <a:r>
              <a:t/>
            </a:r>
            <a:endParaRPr/>
          </a:p>
        </p:txBody>
      </p:sp>
      <p:sp>
        <p:nvSpPr>
          <p:cNvPr id="313" name="Google Shape;31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Most stories start out as an idea without structure.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For instance, think about your dreams.</a:t>
            </a:r>
            <a:endParaRPr/>
          </a:p>
        </p:txBody>
      </p:sp>
      <p:sp>
        <p:nvSpPr>
          <p:cNvPr id="329" name="Google Shape;32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Most stories start out as an idea without structure.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For instance, think about your dreams. Usually they are nothing more than fragments of images strong together. This is how ideas usually germinated. </a:t>
            </a:r>
            <a:endParaRPr/>
          </a:p>
        </p:txBody>
      </p:sp>
      <p:sp>
        <p:nvSpPr>
          <p:cNvPr id="337" name="Google Shape;33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They often begin as abstract images that take form over time, as </a:t>
            </a:r>
            <a:r>
              <a:rPr b="1" lang="en-US" sz="1200">
                <a:solidFill>
                  <a:schemeClr val="dk1"/>
                </a:solidFill>
                <a:latin typeface="Calibri"/>
                <a:ea typeface="Calibri"/>
                <a:cs typeface="Calibri"/>
                <a:sym typeface="Calibri"/>
              </a:rPr>
              <a:t>structure</a:t>
            </a:r>
            <a:r>
              <a:rPr lang="en-US" sz="1200">
                <a:solidFill>
                  <a:schemeClr val="dk1"/>
                </a:solidFill>
                <a:latin typeface="Calibri"/>
                <a:ea typeface="Calibri"/>
                <a:cs typeface="Calibri"/>
                <a:sym typeface="Calibri"/>
              </a:rPr>
              <a:t> and order our later added to the mix. </a:t>
            </a:r>
            <a:endParaRPr/>
          </a:p>
        </p:txBody>
      </p:sp>
      <p:sp>
        <p:nvSpPr>
          <p:cNvPr id="345" name="Google Shape;34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There are three images Bridge, boat and by cyclist.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Alone they are no more than words without meaning or interest to an audience. </a:t>
            </a:r>
            <a:endParaRPr/>
          </a:p>
        </p:txBody>
      </p:sp>
      <p:sp>
        <p:nvSpPr>
          <p:cNvPr id="353" name="Google Shape;35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But what if you gave those words meaning through </a:t>
            </a:r>
            <a:r>
              <a:rPr b="1" lang="en-US" sz="1200">
                <a:solidFill>
                  <a:schemeClr val="dk1"/>
                </a:solidFill>
                <a:latin typeface="Calibri"/>
                <a:ea typeface="Calibri"/>
                <a:cs typeface="Calibri"/>
                <a:sym typeface="Calibri"/>
              </a:rPr>
              <a:t>structure</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Stories need to be </a:t>
            </a:r>
            <a:r>
              <a:rPr b="1" lang="en-US" sz="1200">
                <a:solidFill>
                  <a:schemeClr val="dk1"/>
                </a:solidFill>
                <a:latin typeface="Calibri"/>
                <a:ea typeface="Calibri"/>
                <a:cs typeface="Calibri"/>
                <a:sym typeface="Calibri"/>
              </a:rPr>
              <a:t>about </a:t>
            </a:r>
            <a:r>
              <a:rPr b="0" lang="en-US" sz="1200">
                <a:solidFill>
                  <a:schemeClr val="dk1"/>
                </a:solidFill>
                <a:latin typeface="Calibri"/>
                <a:ea typeface="Calibri"/>
                <a:cs typeface="Calibri"/>
                <a:sym typeface="Calibri"/>
              </a:rPr>
              <a:t>something</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Therefore we could take or bicyclist and put him in a situation where he had to get across the bridge to deliver a package within the hour. </a:t>
            </a:r>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360" name="Google Shape;36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We are now beginning to structure or story </a:t>
            </a:r>
            <a:r>
              <a:rPr b="1" lang="en-US" sz="1200">
                <a:solidFill>
                  <a:schemeClr val="dk1"/>
                </a:solidFill>
                <a:latin typeface="Calibri"/>
                <a:ea typeface="Calibri"/>
                <a:cs typeface="Calibri"/>
                <a:sym typeface="Calibri"/>
              </a:rPr>
              <a:t>within an action or goal on the part of the bicyclist</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But wait. </a:t>
            </a:r>
            <a:r>
              <a:rPr b="1" lang="en-US" sz="1200">
                <a:solidFill>
                  <a:schemeClr val="dk1"/>
                </a:solidFill>
                <a:latin typeface="Calibri"/>
                <a:ea typeface="Calibri"/>
                <a:cs typeface="Calibri"/>
                <a:sym typeface="Calibri"/>
              </a:rPr>
              <a:t>All good stories need conflict</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if the bridge goes up to let a boat pass, making it difficult for the bicyclist, to reach his goal in time? </a:t>
            </a:r>
            <a:endParaRPr/>
          </a:p>
        </p:txBody>
      </p:sp>
      <p:sp>
        <p:nvSpPr>
          <p:cNvPr id="368" name="Google Shape;36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Using a time element, or ticking clock, raises the stakes for or bicyclist, as in Figure 1-3.</a:t>
            </a:r>
            <a:endParaRPr/>
          </a:p>
        </p:txBody>
      </p:sp>
      <p:sp>
        <p:nvSpPr>
          <p:cNvPr id="376" name="Google Shape;37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author must have these questions </a:t>
            </a:r>
            <a:r>
              <a:rPr b="1" lang="en-US" sz="1200">
                <a:solidFill>
                  <a:schemeClr val="dk1"/>
                </a:solidFill>
                <a:latin typeface="Calibri"/>
                <a:ea typeface="Calibri"/>
                <a:cs typeface="Calibri"/>
                <a:sym typeface="Calibri"/>
              </a:rPr>
              <a:t>answered by the end of the story </a:t>
            </a:r>
            <a:r>
              <a:rPr lang="en-US" sz="1200">
                <a:solidFill>
                  <a:schemeClr val="dk1"/>
                </a:solidFill>
                <a:latin typeface="Calibri"/>
                <a:ea typeface="Calibri"/>
                <a:cs typeface="Calibri"/>
                <a:sym typeface="Calibri"/>
              </a:rPr>
              <a:t>if the audience is to walk away satisfied. </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Once the problem is solved </a:t>
            </a:r>
            <a:r>
              <a:rPr lang="en-US" sz="1200">
                <a:solidFill>
                  <a:schemeClr val="dk1"/>
                </a:solidFill>
                <a:latin typeface="Calibri"/>
                <a:ea typeface="Calibri"/>
                <a:cs typeface="Calibri"/>
                <a:sym typeface="Calibri"/>
              </a:rPr>
              <a:t>and the package is delivered in time (or not</a:t>
            </a:r>
            <a:r>
              <a:rPr b="0" lang="en-US" sz="1200">
                <a:solidFill>
                  <a:schemeClr val="dk1"/>
                </a:solidFill>
                <a:latin typeface="Calibri"/>
                <a:ea typeface="Calibri"/>
                <a:cs typeface="Calibri"/>
                <a:sym typeface="Calibri"/>
              </a:rPr>
              <a:t>)</a:t>
            </a:r>
            <a:r>
              <a:rPr b="1" lang="en-US" sz="1200">
                <a:solidFill>
                  <a:schemeClr val="dk1"/>
                </a:solidFill>
                <a:latin typeface="Calibri"/>
                <a:ea typeface="Calibri"/>
                <a:cs typeface="Calibri"/>
                <a:sym typeface="Calibri"/>
              </a:rPr>
              <a:t> the story is resolved</a:t>
            </a: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5" name="Google Shape;38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Dramatic structure is usually defined as the beginning, middle, and end, or if it is a screenplay, act 1, act 2, and act 3. No matter what you call it, the purpose is the same, which is to structure the flow of a story to give it meaning.</a:t>
            </a:r>
            <a:endParaRPr/>
          </a:p>
          <a:p>
            <a:pPr indent="0" lvl="0" marL="0" rtl="0" algn="l">
              <a:spcBef>
                <a:spcPts val="0"/>
              </a:spcBef>
              <a:spcAft>
                <a:spcPts val="0"/>
              </a:spcAft>
              <a:buNone/>
            </a:pPr>
            <a:r>
              <a:t/>
            </a:r>
            <a:endParaRPr/>
          </a:p>
        </p:txBody>
      </p:sp>
      <p:sp>
        <p:nvSpPr>
          <p:cNvPr id="394" name="Google Shape;39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Joseph Campbell, an American mythological researcher, wrote a famous book entitled The Hero with a Thousand Faces. In his lifelong research Campbell discovered many common patterns running through hero myths and stories from around the world. </a:t>
            </a:r>
            <a:endParaRPr/>
          </a:p>
        </p:txBody>
      </p:sp>
      <p:sp>
        <p:nvSpPr>
          <p:cNvPr id="401" name="Google Shape;40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Years of research lead Campbell to discover </a:t>
            </a:r>
            <a:r>
              <a:rPr b="1" lang="en-US" sz="1200">
                <a:solidFill>
                  <a:schemeClr val="dk1"/>
                </a:solidFill>
                <a:latin typeface="Calibri"/>
                <a:ea typeface="Calibri"/>
                <a:cs typeface="Calibri"/>
                <a:sym typeface="Calibri"/>
              </a:rPr>
              <a:t>several basic stages that almost every hero-quest goes through</a:t>
            </a:r>
            <a:r>
              <a:rPr lang="en-US" sz="1200">
                <a:solidFill>
                  <a:schemeClr val="dk1"/>
                </a:solidFill>
                <a:latin typeface="Calibri"/>
                <a:ea typeface="Calibri"/>
                <a:cs typeface="Calibri"/>
                <a:sym typeface="Calibri"/>
              </a:rPr>
              <a:t> (no matter what culture the myth is a part of). He calls this common structure “the </a:t>
            </a:r>
            <a:r>
              <a:rPr b="1" i="1" lang="en-US" sz="1200">
                <a:solidFill>
                  <a:schemeClr val="dk1"/>
                </a:solidFill>
                <a:latin typeface="Calibri"/>
                <a:ea typeface="Calibri"/>
                <a:cs typeface="Calibri"/>
                <a:sym typeface="Calibri"/>
              </a:rPr>
              <a:t>monomyth</a:t>
            </a:r>
            <a:r>
              <a:rPr lang="en-US" sz="1200">
                <a:solidFill>
                  <a:schemeClr val="dk1"/>
                </a:solidFill>
                <a:latin typeface="Calibri"/>
                <a:ea typeface="Calibri"/>
                <a:cs typeface="Calibri"/>
                <a:sym typeface="Calibri"/>
              </a:rPr>
              <a:t>.”</a:t>
            </a:r>
            <a:endParaRPr/>
          </a:p>
        </p:txBody>
      </p:sp>
      <p:sp>
        <p:nvSpPr>
          <p:cNvPr id="407" name="Google Shape;40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Understanding how stories are put together, which includes the hero's journey, is an integral part 2 creating storyboards. Let's take a brief look at each phase of the visual storytelling process from beginning, to middle, to end.</a:t>
            </a:r>
            <a:endParaRPr/>
          </a:p>
        </p:txBody>
      </p:sp>
      <p:sp>
        <p:nvSpPr>
          <p:cNvPr id="413" name="Google Shape;41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9" name="Google Shape;41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Heroes to not have to be necessarily endowed with special powers or abilities. Heroes are those people who are considered to have risen above their ordinary surroundings, or overcome an obstacle that others have not. This is what makes them special, and their stories worthy of attention.</a:t>
            </a:r>
            <a:endParaRPr sz="1200">
              <a:solidFill>
                <a:schemeClr val="dk1"/>
              </a:solidFill>
              <a:latin typeface="Calibri"/>
              <a:ea typeface="Calibri"/>
              <a:cs typeface="Calibri"/>
              <a:sym typeface="Calibri"/>
            </a:endParaRPr>
          </a:p>
        </p:txBody>
      </p:sp>
      <p:sp>
        <p:nvSpPr>
          <p:cNvPr id="425" name="Google Shape;42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BEGINNING: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beginning, or act one, in film, television, and animation, is where the Storyteller sets up the characters, location, and conflict of the story. </a:t>
            </a:r>
            <a:endParaRPr/>
          </a:p>
        </p:txBody>
      </p:sp>
      <p:sp>
        <p:nvSpPr>
          <p:cNvPr id="432" name="Google Shape;432;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Several questions that need to be answered include: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Who are the characters?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Where are they?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does the story take place (the future, past, or present)?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are the characters there?</a:t>
            </a:r>
            <a:endParaRPr/>
          </a:p>
        </p:txBody>
      </p:sp>
      <p:sp>
        <p:nvSpPr>
          <p:cNvPr id="438" name="Google Shape;43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Dynamic stories may begin with a hook that grabs the audience's attention,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Such as a murder or kidnapping.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Action sequences make great </a:t>
            </a:r>
            <a:r>
              <a:rPr b="1" lang="en-US" sz="1200">
                <a:solidFill>
                  <a:schemeClr val="dk1"/>
                </a:solidFill>
                <a:latin typeface="Calibri"/>
                <a:ea typeface="Calibri"/>
                <a:cs typeface="Calibri"/>
                <a:sym typeface="Calibri"/>
              </a:rPr>
              <a:t>hooks</a:t>
            </a:r>
            <a:r>
              <a:rPr lang="en-US" sz="1200">
                <a:solidFill>
                  <a:schemeClr val="dk1"/>
                </a:solidFill>
                <a:latin typeface="Calibri"/>
                <a:ea typeface="Calibri"/>
                <a:cs typeface="Calibri"/>
                <a:sym typeface="Calibri"/>
              </a:rPr>
              <a:t>, although they are not the only types of scenes that keep the audience watching. </a:t>
            </a:r>
            <a:endParaRPr/>
          </a:p>
        </p:txBody>
      </p:sp>
      <p:sp>
        <p:nvSpPr>
          <p:cNvPr id="445" name="Google Shape;4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For example, the hook in a story maybe a couple breaking up or it may be as simple as a character receiving an eviction notice.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 the example here on this slide, from one of the transformers movies, shows a scene simply to contextualize the main story in the movie.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We never see these characters again, but the scene serves to set the stage for what is to come.</a:t>
            </a:r>
            <a:endParaRPr/>
          </a:p>
        </p:txBody>
      </p:sp>
      <p:sp>
        <p:nvSpPr>
          <p:cNvPr id="453" name="Google Shape;45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hook should leave the audience asking questions. For instance why did the woman get evicted from her apartment? Who kidnapped the girl? What caused the couple to split apart, if the audience is hooked they won't undoubtably want to know what happens next and keep watching.</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1" name="Google Shape;46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concept of an “Interest curve” that I’ve borrowed here from Game Design is also very useful when it comes to storytelling.</a:t>
            </a:r>
            <a:endParaRPr sz="1200">
              <a:solidFill>
                <a:schemeClr val="dk1"/>
              </a:solidFill>
              <a:latin typeface="Calibri"/>
              <a:ea typeface="Calibri"/>
              <a:cs typeface="Calibri"/>
              <a:sym typeface="Calibri"/>
            </a:endParaRPr>
          </a:p>
        </p:txBody>
      </p:sp>
      <p:sp>
        <p:nvSpPr>
          <p:cNvPr id="469" name="Google Shape;46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beginning also defines the heroes goal.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It is to save the kidnapped Princess, get a job, save the world, or defeat the towns evil mayor?</a:t>
            </a:r>
            <a:endParaRPr/>
          </a:p>
        </p:txBody>
      </p:sp>
      <p:sp>
        <p:nvSpPr>
          <p:cNvPr id="478" name="Google Shape;47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It also serves to introduce the character and his/her world to the audience.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Heroes exist in a world is considered ordinary or uneventful by those who live there. Often the heroes are considered odd by those in the ordinary world and possess some ability or characteristic that makes them feel out-of-place.</a:t>
            </a:r>
            <a:endParaRPr/>
          </a:p>
        </p:txBody>
      </p:sp>
      <p:sp>
        <p:nvSpPr>
          <p:cNvPr id="486" name="Google Shape;486;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Here are some examples of this first stage:</a:t>
            </a:r>
            <a:endParaRPr/>
          </a:p>
        </p:txBody>
      </p:sp>
      <p:sp>
        <p:nvSpPr>
          <p:cNvPr id="495" name="Google Shape;49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For heroes to begin their journeys, they must be called away from the ordinary world. Fantastic quests don’t happen in everyday life. Heroes must be removed from their typical environment. Most heroes show a reluctance to leave their home, their friends, and their life to journey on a quest. But in the end they accept their destiny.</a:t>
            </a:r>
            <a:endParaRPr/>
          </a:p>
        </p:txBody>
      </p:sp>
      <p:sp>
        <p:nvSpPr>
          <p:cNvPr id="502" name="Google Shape;50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new world the hero is forced into is much different than the old one. Campbell describes this new world as a “fateful region of both treasure and danger…a distant land, a forest, a kingdom underground, beneath the waves, or above the sky, a secret island, lofty mountaintop, or profound dream state…a place of strangely fluid and polymorphous beings, unimaginable torments, superhuman deeds, and impossible delight”.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10" name="Google Shape;51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This description may seem pretty vague, but think of all the various fantasy realms characters have entered throughout the years: Middle-Earth, Oz, Narnia, Wonderland. It could even be outer space, a haunted house, or the Matrix. Regardless of the details, the new world is sure to be filled with adventure.</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Here are some examples of this stage.</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18" name="Google Shape;518;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During the Call to Adventure heroes are given a task or quest which only they can complete. They are faced with a choice: accept the quest or deny it. Their choice might seem like a no-brainer. If they don’t accept the quest, there won’t be much of a story—or will there? </a:t>
            </a:r>
            <a:endParaRPr/>
          </a:p>
        </p:txBody>
      </p:sp>
      <p:sp>
        <p:nvSpPr>
          <p:cNvPr id="527" name="Google Shape;527;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Here are some examples of heroes refusing the quest:</a:t>
            </a:r>
            <a:endParaRPr sz="1200">
              <a:solidFill>
                <a:schemeClr val="dk1"/>
              </a:solidFill>
              <a:latin typeface="Calibri"/>
              <a:ea typeface="Calibri"/>
              <a:cs typeface="Calibri"/>
              <a:sym typeface="Calibri"/>
            </a:endParaRPr>
          </a:p>
        </p:txBody>
      </p:sp>
      <p:sp>
        <p:nvSpPr>
          <p:cNvPr id="536" name="Google Shape;53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As they embark on their journey, the heroes enter a world they have never experienced before. Very often it is filled with supernatural creatures, breathtaking sights, and the constant threat of death. Unlike the heroes’ home, this outside world has its own rules, and they quickly learns to respect these rules as their endurance, strength, and mettle are tested time and time again. After all, it is not the end of the journey which teaches, but the journey itself. </a:t>
            </a:r>
            <a:endParaRPr/>
          </a:p>
          <a:p>
            <a:pPr indent="0" lvl="0" marL="0" rtl="0" algn="l">
              <a:spcBef>
                <a:spcPts val="0"/>
              </a:spcBef>
              <a:spcAft>
                <a:spcPts val="0"/>
              </a:spcAft>
              <a:buNone/>
            </a:pPr>
            <a:r>
              <a:t/>
            </a:r>
            <a:endParaRPr/>
          </a:p>
        </p:txBody>
      </p:sp>
      <p:sp>
        <p:nvSpPr>
          <p:cNvPr id="565" name="Google Shape;56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heroes progress through a series of tests, a set of obstacles that make them stronger, preparing them for their final showdown. At long last they reach the Supreme Ordeal, the obstacle they have journeyed so far to overcome. All the heroes’ training and toil comes into play now. The journey has hardened them, and it’s time for them to show their prowess. Once this obstacle is overcome, the tension will be relieved. The worst is passed, and the quest, while not officially over, has succeeded.</a:t>
            </a:r>
            <a:endParaRPr/>
          </a:p>
          <a:p>
            <a:pPr indent="0" lvl="0" marL="0" rtl="0" algn="l">
              <a:spcBef>
                <a:spcPts val="0"/>
              </a:spcBef>
              <a:spcAft>
                <a:spcPts val="0"/>
              </a:spcAft>
              <a:buNone/>
            </a:pPr>
            <a:r>
              <a:t/>
            </a:r>
            <a:endParaRPr/>
          </a:p>
        </p:txBody>
      </p:sp>
      <p:sp>
        <p:nvSpPr>
          <p:cNvPr id="573" name="Google Shape;573;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Typically, there is a reward given to heroes for passing the Supreme Ordeal. It could be a kingdom. It could be the hand of a beautiful princess. It could be the Holy Grail. Whatever it is, it is a reward for the heroes’ endurance and strength.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After the heroes complete the Supreme Ordeal and have the reward firmly in hand, all that is left is for them to return home. Just because the majority of the adventure has passed doesn’t mean that the return journey will be smooth sailing</a:t>
            </a:r>
            <a:r>
              <a:rPr b="1" lang="en-US" sz="1200">
                <a:solidFill>
                  <a:schemeClr val="dk1"/>
                </a:solidFill>
                <a:latin typeface="Calibri"/>
                <a:ea typeface="Calibri"/>
                <a:cs typeface="Calibri"/>
                <a:sym typeface="Calibri"/>
              </a:rPr>
              <a:t>. There are still lesser homebound obstacles </a:t>
            </a:r>
            <a:r>
              <a:rPr lang="en-US" sz="1200">
                <a:solidFill>
                  <a:schemeClr val="dk1"/>
                </a:solidFill>
                <a:latin typeface="Calibri"/>
                <a:ea typeface="Calibri"/>
                <a:cs typeface="Calibri"/>
                <a:sym typeface="Calibri"/>
              </a:rPr>
              <a:t>to overcome.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587" name="Google Shape;587;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Success on the heroes’ quest is life-changing, for them and often for many others. By achieving victory, they have changed or preserved their original world. Often they return with “the exilir,” an object or personal ability that allows them to save their world. The heroes have also grown in spirit and strength. They have proved themselves worthy for marriage, kingship, or queenship. Their mastery of the outside world qualifies them to be giants in their own.</a:t>
            </a:r>
            <a:endParaRPr/>
          </a:p>
          <a:p>
            <a:pPr indent="0" lvl="0" marL="0" rtl="0" algn="l">
              <a:spcBef>
                <a:spcPts val="0"/>
              </a:spcBef>
              <a:spcAft>
                <a:spcPts val="0"/>
              </a:spcAft>
              <a:buNone/>
            </a:pPr>
            <a:r>
              <a:t/>
            </a:r>
            <a:endParaRPr/>
          </a:p>
        </p:txBody>
      </p:sp>
      <p:sp>
        <p:nvSpPr>
          <p:cNvPr id="595" name="Google Shape;595;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Formatting a screenplay helps with the rhythm of a story through the choice of camera positions, narration, dialogue, and the juxtaposition of lenses. The format guides the producer or director with visualizing the writers Concepts and ideas. The script is also formatted because it is much easier for the director of the production you have it broken down into numbered scenes, schedules, and prop lists.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most situations, the script will be formatted in either a standard screenplay format or as a two-column script.</a:t>
            </a:r>
            <a:endParaRPr/>
          </a:p>
          <a:p>
            <a:pPr indent="0" lvl="0" marL="0" rtl="0" algn="l">
              <a:spcBef>
                <a:spcPts val="0"/>
              </a:spcBef>
              <a:spcAft>
                <a:spcPts val="0"/>
              </a:spcAft>
              <a:buNone/>
            </a:pPr>
            <a:r>
              <a:t/>
            </a:r>
            <a:endParaRPr b="1"/>
          </a:p>
        </p:txBody>
      </p:sp>
      <p:sp>
        <p:nvSpPr>
          <p:cNvPr id="610" name="Google Shape;61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Screenplays are not intended for audiences to read as they would a novel. Rather, they are used as a Production Tool for the director and crew members in the development of a film, Game, or animation. The screenplay has become the Hollywood standard, which includes several elements as the slug line, see description, and dialogue.</a:t>
            </a:r>
            <a:endParaRPr/>
          </a:p>
        </p:txBody>
      </p:sp>
      <p:sp>
        <p:nvSpPr>
          <p:cNvPr id="617" name="Google Shape;617;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Each new scene needs slug lines - scene headings that describe the location of a scene, the time of the scene, and whether it takes place inside (interior setting) or outside  (exterior setting).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25" name="Google Shape;625;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33" name="Google Shape;633;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0" name="Google Shape;640;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For example, images of a mother absently touching frayed toys in a child's room is much richer than explaining verbally that the child no longer lives at home.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7" name="Google Shape;647;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For example, images of a mother absently touching frayed toys in a child's room is much richer than explaining verbally that the child no longer lives at home.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55" name="Google Shape;655;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An important rule is to show rather than say it.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However, that does not mean that there is no reason for dialogue.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 the contrary. You should use dialogue when you want to express it characters emotions, explore the interactions between characters and the environment, and to move the story forward.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63" name="Google Shape;663;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two-column script is frequently used for corporate videos, documentaries, multimedia, and news. The script is broken into two columns - for video and audio. The left column contains video information, with audio on the ride. Every Visual and audio element is specified in the appropriate column. </a:t>
            </a:r>
            <a:endParaRPr/>
          </a:p>
        </p:txBody>
      </p:sp>
      <p:sp>
        <p:nvSpPr>
          <p:cNvPr id="670" name="Google Shape;670;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For example, information about camera Framing and movement is usually described in the video column, and information about dialog and music in the audio column.</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Many video and news people used to column script format because the visuals are easily synchronized to the audio.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78" name="Google Shape;678;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Storyboards are a series of sketches that are used as a planning tool to visually show how the action of a story unfolds. The closest visual reflection to the storyboard is the comic strip minus the dialogue blooms. But we're as comic strips entertained, the storyboard is a tool that facilitates production.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main purpose of the storyboard is to clearly convey The Narrative flow of a story by defining the challenges and problems of a project. Therefore, understanding the elements of the storytelling process is of utmost importance for the storyboard artist to do his or her job.</a:t>
            </a:r>
            <a:endParaRPr/>
          </a:p>
        </p:txBody>
      </p:sp>
      <p:sp>
        <p:nvSpPr>
          <p:cNvPr id="686" name="Google Shape;686;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Advertising campaigns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Advertising agencies use presentation storyboards to sell campaign strategies to clients or for use in focus groups. Storyboards that reflect campaign ideas are highly detailed and include key frames 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Video Games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Video games take a lot of pre-planning, including brainstorming the game Concepts and user interaction. Once the storylines are developed, the game designer creates the storyboards for each scene of the game, including the Cinematic, or full motion video sequences, that introduce a story and act as the users reward for excelling in gameplay.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Television series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Usually when working in television, the director will storyboard only complex sequences. Some television shows that you storyboards include CSI, The West Wing, ER, Babylon 5, and Witchblade.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p:txBody>
      </p:sp>
      <p:sp>
        <p:nvSpPr>
          <p:cNvPr id="693" name="Google Shape;693;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mt="21000"/>
          </a:blip>
          <a:tile algn="tl" flip="none" tx="0" sx="100000" ty="0" sy="100000"/>
        </a:blipFill>
      </p:bgPr>
    </p:bg>
    <p:spTree>
      <p:nvGrpSpPr>
        <p:cNvPr id="16" name="Shape 16"/>
        <p:cNvGrpSpPr/>
        <p:nvPr/>
      </p:nvGrpSpPr>
      <p:grpSpPr>
        <a:xfrm>
          <a:off x="0" y="0"/>
          <a:ext cx="0" cy="0"/>
          <a:chOff x="0" y="0"/>
          <a:chExt cx="0" cy="0"/>
        </a:xfrm>
      </p:grpSpPr>
      <p:pic>
        <p:nvPicPr>
          <p:cNvPr descr="HD-PanelTitle-GrommetsCombined.png" id="17" name="Google Shape;17;p73"/>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8" name="Google Shape;18;p73"/>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3"/>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0" name="Google Shape;20;p73"/>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3"/>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3"/>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3" name="Google Shape;23;p73"/>
          <p:cNvCxnSpPr/>
          <p:nvPr/>
        </p:nvCxnSpPr>
        <p:spPr>
          <a:xfrm>
            <a:off x="2692399" y="3522131"/>
            <a:ext cx="681566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bg>
      <p:bgPr>
        <a:blipFill rotWithShape="1">
          <a:blip r:embed="rId2">
            <a:alphaModFix amt="20000"/>
          </a:blip>
          <a:tile algn="tl" flip="none" tx="0" sx="100000" ty="0" sy="100000"/>
        </a:blipFill>
      </p:bgPr>
    </p:bg>
    <p:spTree>
      <p:nvGrpSpPr>
        <p:cNvPr id="24" name="Shape 24"/>
        <p:cNvGrpSpPr/>
        <p:nvPr/>
      </p:nvGrpSpPr>
      <p:grpSpPr>
        <a:xfrm>
          <a:off x="0" y="0"/>
          <a:ext cx="0" cy="0"/>
          <a:chOff x="0" y="0"/>
          <a:chExt cx="0" cy="0"/>
        </a:xfrm>
      </p:grpSpPr>
      <p:sp>
        <p:nvSpPr>
          <p:cNvPr id="25" name="Google Shape;25;p74"/>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4"/>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27" name="Google Shape;27;p7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7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7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rotWithShape="1">
          <a:blip r:embed="rId2">
            <a:alphaModFix amt="20000"/>
          </a:blip>
          <a:tile algn="tl" flip="none" tx="0" sx="100000" ty="0" sy="100000"/>
        </a:blipFill>
      </p:bgPr>
    </p:bg>
    <p:spTree>
      <p:nvGrpSpPr>
        <p:cNvPr id="30" name="Shape 30"/>
        <p:cNvGrpSpPr/>
        <p:nvPr/>
      </p:nvGrpSpPr>
      <p:grpSpPr>
        <a:xfrm>
          <a:off x="0" y="0"/>
          <a:ext cx="0" cy="0"/>
          <a:chOff x="0" y="0"/>
          <a:chExt cx="0" cy="0"/>
        </a:xfrm>
      </p:grpSpPr>
      <p:cxnSp>
        <p:nvCxnSpPr>
          <p:cNvPr id="31" name="Google Shape;31;p75"/>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
        <p:nvSpPr>
          <p:cNvPr id="32" name="Google Shape;32;p7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4" name="Google Shape;34;p7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rotWithShape="1">
          <a:blip r:embed="rId2">
            <a:alphaModFix amt="20000"/>
          </a:blip>
          <a:tile algn="tl" flip="none" tx="0" sx="100000" ty="0" sy="100000"/>
        </a:blipFill>
      </p:bgPr>
    </p:bg>
    <p:spTree>
      <p:nvGrpSpPr>
        <p:cNvPr id="37" name="Shape 37"/>
        <p:cNvGrpSpPr/>
        <p:nvPr/>
      </p:nvGrpSpPr>
      <p:grpSpPr>
        <a:xfrm>
          <a:off x="0" y="0"/>
          <a:ext cx="0" cy="0"/>
          <a:chOff x="0" y="0"/>
          <a:chExt cx="0" cy="0"/>
        </a:xfrm>
      </p:grpSpPr>
      <p:sp>
        <p:nvSpPr>
          <p:cNvPr id="38" name="Google Shape;38;p76"/>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6"/>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40" name="Google Shape;40;p76"/>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41" name="Google Shape;41;p7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blipFill rotWithShape="1">
          <a:blip r:embed="rId2">
            <a:alphaModFix amt="21000"/>
          </a:blip>
          <a:tile algn="tl" flip="none" tx="0" sx="100000" ty="0" sy="100000"/>
        </a:blipFill>
      </p:bgPr>
    </p:bg>
    <p:spTree>
      <p:nvGrpSpPr>
        <p:cNvPr id="44" name="Shape 44"/>
        <p:cNvGrpSpPr/>
        <p:nvPr/>
      </p:nvGrpSpPr>
      <p:grpSpPr>
        <a:xfrm>
          <a:off x="0" y="0"/>
          <a:ext cx="0" cy="0"/>
          <a:chOff x="0" y="0"/>
          <a:chExt cx="0" cy="0"/>
        </a:xfrm>
      </p:grpSpPr>
      <p:sp>
        <p:nvSpPr>
          <p:cNvPr id="45" name="Google Shape;45;p77"/>
          <p:cNvSpPr txBox="1"/>
          <p:nvPr>
            <p:ph type="ctrTitle"/>
          </p:nvPr>
        </p:nvSpPr>
        <p:spPr>
          <a:xfrm>
            <a:off x="2692398" y="626532"/>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7"/>
          <p:cNvSpPr/>
          <p:nvPr>
            <p:ph idx="2" type="pic"/>
          </p:nvPr>
        </p:nvSpPr>
        <p:spPr>
          <a:xfrm>
            <a:off x="2692397" y="2254250"/>
            <a:ext cx="6815669" cy="4184650"/>
          </a:xfrm>
          <a:prstGeom prst="rect">
            <a:avLst/>
          </a:prstGeom>
          <a:noFill/>
          <a:ln>
            <a:noFill/>
          </a:ln>
          <a:effectLst>
            <a:outerShdw blurRad="50800" rotWithShape="0" algn="ctr" dir="5400000" dist="50800">
              <a:schemeClr val="dk1"/>
            </a:outerShdw>
          </a:effectLst>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rotWithShape="1">
          <a:blip r:embed="rId2">
            <a:alphaModFix amt="20000"/>
          </a:blip>
          <a:tile algn="tl" flip="none" tx="0" sx="100000" ty="0" sy="100000"/>
        </a:blipFill>
      </p:bgPr>
    </p:bg>
    <p:spTree>
      <p:nvGrpSpPr>
        <p:cNvPr id="47" name="Shape 47"/>
        <p:cNvGrpSpPr/>
        <p:nvPr/>
      </p:nvGrpSpPr>
      <p:grpSpPr>
        <a:xfrm>
          <a:off x="0" y="0"/>
          <a:ext cx="0" cy="0"/>
          <a:chOff x="0" y="0"/>
          <a:chExt cx="0" cy="0"/>
        </a:xfrm>
      </p:grpSpPr>
      <p:sp>
        <p:nvSpPr>
          <p:cNvPr id="48" name="Google Shape;48;p78"/>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Century Gothic"/>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8"/>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50" name="Google Shape;50;p7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3" name="Google Shape;53;p78"/>
          <p:cNvCxnSpPr/>
          <p:nvPr/>
        </p:nvCxnSpPr>
        <p:spPr>
          <a:xfrm>
            <a:off x="2012723" y="3710585"/>
            <a:ext cx="8163380"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blipFill rotWithShape="1">
          <a:blip r:embed="rId2">
            <a:alphaModFix amt="20000"/>
          </a:blip>
          <a:tile algn="tl" flip="none" tx="0" sx="100000" ty="0" sy="100000"/>
        </a:blipFill>
      </p:bgPr>
    </p:bg>
    <p:spTree>
      <p:nvGrpSpPr>
        <p:cNvPr id="54" name="Shape 54"/>
        <p:cNvGrpSpPr/>
        <p:nvPr/>
      </p:nvGrpSpPr>
      <p:grpSpPr>
        <a:xfrm>
          <a:off x="0" y="0"/>
          <a:ext cx="0" cy="0"/>
          <a:chOff x="0" y="0"/>
          <a:chExt cx="0" cy="0"/>
        </a:xfrm>
      </p:grpSpPr>
      <p:cxnSp>
        <p:nvCxnSpPr>
          <p:cNvPr id="55" name="Google Shape;55;p79"/>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
        <p:nvSpPr>
          <p:cNvPr id="56" name="Google Shape;56;p7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9"/>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8" name="Google Shape;58;p79"/>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9" name="Google Shape;59;p7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rotWithShape="1">
          <a:blip r:embed="rId2">
            <a:alphaModFix amt="20000"/>
          </a:blip>
          <a:tile algn="tl" flip="none" tx="0" sx="100000" ty="0" sy="100000"/>
        </a:blipFill>
      </p:bgPr>
    </p:bg>
    <p:spTree>
      <p:nvGrpSpPr>
        <p:cNvPr id="62" name="Shape 62"/>
        <p:cNvGrpSpPr/>
        <p:nvPr/>
      </p:nvGrpSpPr>
      <p:grpSpPr>
        <a:xfrm>
          <a:off x="0" y="0"/>
          <a:ext cx="0" cy="0"/>
          <a:chOff x="0" y="0"/>
          <a:chExt cx="0" cy="0"/>
        </a:xfrm>
      </p:grpSpPr>
      <p:sp>
        <p:nvSpPr>
          <p:cNvPr id="63" name="Google Shape;63;p8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0"/>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65" name="Google Shape;65;p80"/>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6" name="Google Shape;66;p80"/>
          <p:cNvSpPr txBox="1"/>
          <p:nvPr>
            <p:ph idx="3" type="body"/>
          </p:nvPr>
        </p:nvSpPr>
        <p:spPr>
          <a:xfrm>
            <a:off x="6180671"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67" name="Google Shape;67;p80"/>
          <p:cNvSpPr txBox="1"/>
          <p:nvPr>
            <p:ph idx="4" type="body"/>
          </p:nvPr>
        </p:nvSpPr>
        <p:spPr>
          <a:xfrm>
            <a:off x="6180671"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8" name="Google Shape;68;p8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1" name="Google Shape;71;p80"/>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rotWithShape="1">
          <a:blip r:embed="rId2">
            <a:alphaModFix amt="20000"/>
          </a:blip>
          <a:tile algn="tl" flip="none" tx="0" sx="100000" ty="0" sy="100000"/>
        </a:blipFill>
      </p:bgPr>
    </p:bg>
    <p:spTree>
      <p:nvGrpSpPr>
        <p:cNvPr id="72" name="Shape 72"/>
        <p:cNvGrpSpPr/>
        <p:nvPr/>
      </p:nvGrpSpPr>
      <p:grpSpPr>
        <a:xfrm>
          <a:off x="0" y="0"/>
          <a:ext cx="0" cy="0"/>
          <a:chOff x="0" y="0"/>
          <a:chExt cx="0" cy="0"/>
        </a:xfrm>
      </p:grpSpPr>
      <p:sp>
        <p:nvSpPr>
          <p:cNvPr id="73" name="Google Shape;73;p8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8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8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7" name="Google Shape;77;p81"/>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mt="20000"/>
          </a:blip>
          <a:stretch>
            <a:fillRect/>
          </a:stretch>
        </a:blipFill>
      </p:bgPr>
    </p:bg>
    <p:spTree>
      <p:nvGrpSpPr>
        <p:cNvPr id="78" name="Shape 78"/>
        <p:cNvGrpSpPr/>
        <p:nvPr/>
      </p:nvGrpSpPr>
      <p:grpSpPr>
        <a:xfrm>
          <a:off x="0" y="0"/>
          <a:ext cx="0" cy="0"/>
          <a:chOff x="0" y="0"/>
          <a:chExt cx="0" cy="0"/>
        </a:xfrm>
      </p:grpSpPr>
      <p:sp>
        <p:nvSpPr>
          <p:cNvPr id="79" name="Google Shape;79;p8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8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8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rotWithShape="1">
          <a:blip r:embed="rId2">
            <a:alphaModFix amt="20000"/>
          </a:blip>
          <a:tile algn="tl" flip="none" tx="0" sx="100000" ty="0" sy="100000"/>
        </a:blipFill>
      </p:bgPr>
    </p:bg>
    <p:spTree>
      <p:nvGrpSpPr>
        <p:cNvPr id="82" name="Shape 82"/>
        <p:cNvGrpSpPr/>
        <p:nvPr/>
      </p:nvGrpSpPr>
      <p:grpSpPr>
        <a:xfrm>
          <a:off x="0" y="0"/>
          <a:ext cx="0" cy="0"/>
          <a:chOff x="0" y="0"/>
          <a:chExt cx="0" cy="0"/>
        </a:xfrm>
      </p:grpSpPr>
      <p:sp>
        <p:nvSpPr>
          <p:cNvPr id="83" name="Google Shape;83;p83"/>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3"/>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85" name="Google Shape;85;p83"/>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6" name="Google Shape;86;p8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8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9" name="Google Shape;89;p83"/>
          <p:cNvCxnSpPr/>
          <p:nvPr/>
        </p:nvCxnSpPr>
        <p:spPr>
          <a:xfrm>
            <a:off x="1396169" y="2912533"/>
            <a:ext cx="35144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bg>
      <p:bgPr>
        <a:blipFill rotWithShape="1">
          <a:blip r:embed="rId2">
            <a:alphaModFix amt="20000"/>
          </a:blip>
          <a:tile algn="tl" flip="none" tx="0" sx="100000" ty="0" sy="100000"/>
        </a:blipFill>
      </p:bgPr>
    </p:bg>
    <p:spTree>
      <p:nvGrpSpPr>
        <p:cNvPr id="90" name="Shape 90"/>
        <p:cNvGrpSpPr/>
        <p:nvPr/>
      </p:nvGrpSpPr>
      <p:grpSpPr>
        <a:xfrm>
          <a:off x="0" y="0"/>
          <a:ext cx="0" cy="0"/>
          <a:chOff x="0" y="0"/>
          <a:chExt cx="0" cy="0"/>
        </a:xfrm>
      </p:grpSpPr>
      <p:sp>
        <p:nvSpPr>
          <p:cNvPr id="91" name="Google Shape;91;p84"/>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84"/>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93" name="Google Shape;93;p84"/>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94" name="Google Shape;94;p8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8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bg>
      <p:bgPr>
        <a:blipFill>
          <a:blip r:embed="rId2">
            <a:alphaModFix amt="20000"/>
          </a:blip>
          <a:stretch>
            <a:fillRect/>
          </a:stretch>
        </a:blipFill>
      </p:bgPr>
    </p:bg>
    <p:spTree>
      <p:nvGrpSpPr>
        <p:cNvPr id="97" name="Shape 97"/>
        <p:cNvGrpSpPr/>
        <p:nvPr/>
      </p:nvGrpSpPr>
      <p:grpSpPr>
        <a:xfrm>
          <a:off x="0" y="0"/>
          <a:ext cx="0" cy="0"/>
          <a:chOff x="0" y="0"/>
          <a:chExt cx="0" cy="0"/>
        </a:xfrm>
      </p:grpSpPr>
      <p:sp>
        <p:nvSpPr>
          <p:cNvPr id="98" name="Google Shape;98;p85"/>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5"/>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0" name="Google Shape;100;p8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8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8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03" name="Google Shape;103;p85"/>
          <p:cNvCxnSpPr/>
          <p:nvPr/>
        </p:nvCxnSpPr>
        <p:spPr>
          <a:xfrm>
            <a:off x="1396169" y="4140199"/>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bg>
      <p:bgPr>
        <a:blipFill rotWithShape="1">
          <a:blip r:embed="rId2">
            <a:alphaModFix amt="20000"/>
          </a:blip>
          <a:tile algn="tl" flip="none" tx="0" sx="100000" ty="0" sy="100000"/>
        </a:blipFill>
      </p:bgPr>
    </p:bg>
    <p:spTree>
      <p:nvGrpSpPr>
        <p:cNvPr id="104" name="Shape 104"/>
        <p:cNvGrpSpPr/>
        <p:nvPr/>
      </p:nvGrpSpPr>
      <p:grpSpPr>
        <a:xfrm>
          <a:off x="0" y="0"/>
          <a:ext cx="0" cy="0"/>
          <a:chOff x="0" y="0"/>
          <a:chExt cx="0" cy="0"/>
        </a:xfrm>
      </p:grpSpPr>
      <p:sp>
        <p:nvSpPr>
          <p:cNvPr id="105" name="Google Shape;105;p86"/>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entury Gothic"/>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86"/>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Century Gothic"/>
              <a:buNone/>
              <a:defRPr sz="2000"/>
            </a:lvl1pPr>
            <a:lvl2pPr indent="-228600" lvl="1" marL="914400" algn="l">
              <a:spcBef>
                <a:spcPts val="600"/>
              </a:spcBef>
              <a:spcAft>
                <a:spcPts val="0"/>
              </a:spcAft>
              <a:buSzPts val="2300"/>
              <a:buFont typeface="Century Gothic"/>
              <a:buNone/>
              <a:defRPr/>
            </a:lvl2pPr>
            <a:lvl3pPr indent="-228600" lvl="2" marL="1371600" algn="l">
              <a:spcBef>
                <a:spcPts val="600"/>
              </a:spcBef>
              <a:spcAft>
                <a:spcPts val="0"/>
              </a:spcAft>
              <a:buSzPts val="2070"/>
              <a:buFont typeface="Century Gothic"/>
              <a:buNone/>
              <a:defRPr/>
            </a:lvl3pPr>
            <a:lvl4pPr indent="-228600" lvl="3" marL="1828800" algn="l">
              <a:spcBef>
                <a:spcPts val="600"/>
              </a:spcBef>
              <a:spcAft>
                <a:spcPts val="0"/>
              </a:spcAft>
              <a:buSzPts val="1840"/>
              <a:buFont typeface="Century Gothic"/>
              <a:buNone/>
              <a:defRPr/>
            </a:lvl4pPr>
            <a:lvl5pPr indent="-228600" lvl="4" marL="2286000" algn="l">
              <a:spcBef>
                <a:spcPts val="600"/>
              </a:spcBef>
              <a:spcAft>
                <a:spcPts val="0"/>
              </a:spcAft>
              <a:buSzPts val="1610"/>
              <a:buFont typeface="Century Gothic"/>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7" name="Google Shape;107;p86"/>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8" name="Google Shape;108;p8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8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8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8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sp>
        <p:nvSpPr>
          <p:cNvPr id="112" name="Google Shape;112;p86"/>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cxnSp>
        <p:nvCxnSpPr>
          <p:cNvPr id="113" name="Google Shape;113;p86"/>
          <p:cNvCxnSpPr/>
          <p:nvPr/>
        </p:nvCxnSpPr>
        <p:spPr>
          <a:xfrm>
            <a:off x="1396169" y="4140199"/>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bg>
      <p:bgPr>
        <a:blipFill rotWithShape="1">
          <a:blip r:embed="rId2">
            <a:alphaModFix amt="20000"/>
          </a:blip>
          <a:tile algn="tl" flip="none" tx="0" sx="100000" ty="0" sy="100000"/>
        </a:blipFill>
      </p:bgPr>
    </p:bg>
    <p:spTree>
      <p:nvGrpSpPr>
        <p:cNvPr id="114" name="Shape 114"/>
        <p:cNvGrpSpPr/>
        <p:nvPr/>
      </p:nvGrpSpPr>
      <p:grpSpPr>
        <a:xfrm>
          <a:off x="0" y="0"/>
          <a:ext cx="0" cy="0"/>
          <a:chOff x="0" y="0"/>
          <a:chExt cx="0" cy="0"/>
        </a:xfrm>
      </p:grpSpPr>
      <p:sp>
        <p:nvSpPr>
          <p:cNvPr id="115" name="Google Shape;115;p87"/>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entury Gothic"/>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87"/>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7" name="Google Shape;117;p87"/>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8" name="Google Shape;118;p8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8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8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87"/>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sp>
        <p:nvSpPr>
          <p:cNvPr id="122" name="Google Shape;122;p87"/>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cxnSp>
        <p:nvCxnSpPr>
          <p:cNvPr id="123" name="Google Shape;123;p87"/>
          <p:cNvCxnSpPr/>
          <p:nvPr/>
        </p:nvCxnSpPr>
        <p:spPr>
          <a:xfrm>
            <a:off x="1396169" y="3429000"/>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bg>
      <p:bgPr>
        <a:blipFill rotWithShape="1">
          <a:blip r:embed="rId2">
            <a:alphaModFix amt="20000"/>
          </a:blip>
          <a:tile algn="tl" flip="none" tx="0" sx="100000" ty="0" sy="100000"/>
        </a:blipFill>
      </p:bgPr>
    </p:bg>
    <p:spTree>
      <p:nvGrpSpPr>
        <p:cNvPr id="124" name="Shape 124"/>
        <p:cNvGrpSpPr/>
        <p:nvPr/>
      </p:nvGrpSpPr>
      <p:grpSpPr>
        <a:xfrm>
          <a:off x="0" y="0"/>
          <a:ext cx="0" cy="0"/>
          <a:chOff x="0" y="0"/>
          <a:chExt cx="0" cy="0"/>
        </a:xfrm>
      </p:grpSpPr>
      <p:sp>
        <p:nvSpPr>
          <p:cNvPr id="125" name="Google Shape;125;p88"/>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Century Gothic"/>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88"/>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7" name="Google Shape;127;p88"/>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8" name="Google Shape;128;p8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8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8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1" name="Google Shape;131;p88"/>
          <p:cNvCxnSpPr/>
          <p:nvPr/>
        </p:nvCxnSpPr>
        <p:spPr>
          <a:xfrm>
            <a:off x="1396169" y="3429000"/>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blipFill rotWithShape="1">
          <a:blip r:embed="rId2">
            <a:alphaModFix amt="20000"/>
          </a:blip>
          <a:tile algn="tl" flip="none" tx="0" sx="100000" ty="0" sy="100000"/>
        </a:blipFill>
      </p:bgPr>
    </p:bg>
    <p:spTree>
      <p:nvGrpSpPr>
        <p:cNvPr id="132" name="Shape 132"/>
        <p:cNvGrpSpPr/>
        <p:nvPr/>
      </p:nvGrpSpPr>
      <p:grpSpPr>
        <a:xfrm>
          <a:off x="0" y="0"/>
          <a:ext cx="0" cy="0"/>
          <a:chOff x="0" y="0"/>
          <a:chExt cx="0" cy="0"/>
        </a:xfrm>
      </p:grpSpPr>
      <p:sp>
        <p:nvSpPr>
          <p:cNvPr id="133" name="Google Shape;133;p8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89"/>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5" name="Google Shape;135;p8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8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8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8" name="Google Shape;138;p89"/>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rotWithShape="1">
          <a:blip r:embed="rId2">
            <a:alphaModFix amt="20000"/>
          </a:blip>
          <a:tile algn="tl" flip="none" tx="0" sx="100000" ty="0" sy="100000"/>
        </a:blipFill>
      </p:bgPr>
    </p:bg>
    <p:spTree>
      <p:nvGrpSpPr>
        <p:cNvPr id="139" name="Shape 139"/>
        <p:cNvGrpSpPr/>
        <p:nvPr/>
      </p:nvGrpSpPr>
      <p:grpSpPr>
        <a:xfrm>
          <a:off x="0" y="0"/>
          <a:ext cx="0" cy="0"/>
          <a:chOff x="0" y="0"/>
          <a:chExt cx="0" cy="0"/>
        </a:xfrm>
      </p:grpSpPr>
      <p:sp>
        <p:nvSpPr>
          <p:cNvPr id="140" name="Google Shape;140;p90"/>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90"/>
          <p:cNvSpPr txBox="1"/>
          <p:nvPr>
            <p:ph idx="1" type="body"/>
          </p:nvPr>
        </p:nvSpPr>
        <p:spPr>
          <a:xfrm rot="5400000">
            <a:off x="2565043" y="-287513"/>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2" name="Google Shape;142;p9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9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9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5" name="Google Shape;145;p90"/>
          <p:cNvCxnSpPr/>
          <p:nvPr/>
        </p:nvCxnSpPr>
        <p:spPr>
          <a:xfrm>
            <a:off x="8863890" y="990600"/>
            <a:ext cx="0" cy="487680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11" Type="http://schemas.openxmlformats.org/officeDocument/2006/relationships/slideLayout" Target="../slideLayouts/slideLayout9.xml"/><Relationship Id="rId10" Type="http://schemas.openxmlformats.org/officeDocument/2006/relationships/slideLayout" Target="../slideLayouts/slideLayout8.xml"/><Relationship Id="rId21" Type="http://schemas.openxmlformats.org/officeDocument/2006/relationships/theme" Target="../theme/theme1.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mt="20000"/>
          </a:blip>
          <a:tile algn="tl" flip="none" tx="0" sx="100000" ty="0" sy="100000"/>
        </a:blipFill>
      </p:bgPr>
    </p:bg>
    <p:spTree>
      <p:nvGrpSpPr>
        <p:cNvPr id="9" name="Shape 9"/>
        <p:cNvGrpSpPr/>
        <p:nvPr/>
      </p:nvGrpSpPr>
      <p:grpSpPr>
        <a:xfrm>
          <a:off x="0" y="0"/>
          <a:ext cx="0" cy="0"/>
          <a:chOff x="0" y="0"/>
          <a:chExt cx="0" cy="0"/>
        </a:xfrm>
      </p:grpSpPr>
      <p:pic>
        <p:nvPicPr>
          <p:cNvPr descr="HD-PanelContent-GrommetsCombined.png" id="10" name="Google Shape;10;p7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 name="Google Shape;11;p7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Century Gothic"/>
              <a:buNone/>
              <a:defRPr b="0" i="0" sz="44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7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Century Gothic"/>
                <a:ea typeface="Century Gothic"/>
                <a:cs typeface="Century Gothic"/>
                <a:sym typeface="Century Gothic"/>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Century Gothic"/>
                <a:ea typeface="Century Gothic"/>
                <a:cs typeface="Century Gothic"/>
                <a:sym typeface="Century Gothic"/>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Century Gothic"/>
                <a:ea typeface="Century Gothic"/>
                <a:cs typeface="Century Gothic"/>
                <a:sym typeface="Century Gothic"/>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Century Gothic"/>
                <a:ea typeface="Century Gothic"/>
                <a:cs typeface="Century Gothic"/>
                <a:sym typeface="Century Gothic"/>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9pPr>
          </a:lstStyle>
          <a:p/>
        </p:txBody>
      </p:sp>
      <p:sp>
        <p:nvSpPr>
          <p:cNvPr id="13" name="Google Shape;13;p7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7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7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entury Gothic"/>
                <a:ea typeface="Century Gothic"/>
                <a:cs typeface="Century Gothic"/>
                <a:sym typeface="Century Gothic"/>
              </a:defRPr>
            </a:lvl1pPr>
            <a:lvl2pPr indent="0" lvl="1" marL="0" marR="0" rtl="0" algn="r">
              <a:spcBef>
                <a:spcPts val="0"/>
              </a:spcBef>
              <a:buNone/>
              <a:defRPr b="0" i="0" sz="1000" u="none" cap="none" strike="noStrike">
                <a:solidFill>
                  <a:schemeClr val="dk1"/>
                </a:solidFill>
                <a:latin typeface="Century Gothic"/>
                <a:ea typeface="Century Gothic"/>
                <a:cs typeface="Century Gothic"/>
                <a:sym typeface="Century Gothic"/>
              </a:defRPr>
            </a:lvl2pPr>
            <a:lvl3pPr indent="0" lvl="2" marL="0" marR="0" rtl="0" algn="r">
              <a:spcBef>
                <a:spcPts val="0"/>
              </a:spcBef>
              <a:buNone/>
              <a:defRPr b="0" i="0" sz="1000" u="none" cap="none" strike="noStrike">
                <a:solidFill>
                  <a:schemeClr val="dk1"/>
                </a:solidFill>
                <a:latin typeface="Century Gothic"/>
                <a:ea typeface="Century Gothic"/>
                <a:cs typeface="Century Gothic"/>
                <a:sym typeface="Century Gothic"/>
              </a:defRPr>
            </a:lvl3pPr>
            <a:lvl4pPr indent="0" lvl="3" marL="0" marR="0" rtl="0" algn="r">
              <a:spcBef>
                <a:spcPts val="0"/>
              </a:spcBef>
              <a:buNone/>
              <a:defRPr b="0" i="0" sz="1000" u="none" cap="none" strike="noStrike">
                <a:solidFill>
                  <a:schemeClr val="dk1"/>
                </a:solidFill>
                <a:latin typeface="Century Gothic"/>
                <a:ea typeface="Century Gothic"/>
                <a:cs typeface="Century Gothic"/>
                <a:sym typeface="Century Gothic"/>
              </a:defRPr>
            </a:lvl4pPr>
            <a:lvl5pPr indent="0" lvl="4" marL="0" marR="0" rtl="0" algn="r">
              <a:spcBef>
                <a:spcPts val="0"/>
              </a:spcBef>
              <a:buNone/>
              <a:defRPr b="0" i="0" sz="1000" u="none" cap="none" strike="noStrike">
                <a:solidFill>
                  <a:schemeClr val="dk1"/>
                </a:solidFill>
                <a:latin typeface="Century Gothic"/>
                <a:ea typeface="Century Gothic"/>
                <a:cs typeface="Century Gothic"/>
                <a:sym typeface="Century Gothic"/>
              </a:defRPr>
            </a:lvl5pPr>
            <a:lvl6pPr indent="0" lvl="5" marL="0" marR="0" rtl="0" algn="r">
              <a:spcBef>
                <a:spcPts val="0"/>
              </a:spcBef>
              <a:buNone/>
              <a:defRPr b="0" i="0" sz="1000" u="none" cap="none" strike="noStrike">
                <a:solidFill>
                  <a:schemeClr val="dk1"/>
                </a:solidFill>
                <a:latin typeface="Century Gothic"/>
                <a:ea typeface="Century Gothic"/>
                <a:cs typeface="Century Gothic"/>
                <a:sym typeface="Century Gothic"/>
              </a:defRPr>
            </a:lvl6pPr>
            <a:lvl7pPr indent="0" lvl="6" marL="0" marR="0" rtl="0" algn="r">
              <a:spcBef>
                <a:spcPts val="0"/>
              </a:spcBef>
              <a:buNone/>
              <a:defRPr b="0" i="0" sz="1000" u="none" cap="none" strike="noStrike">
                <a:solidFill>
                  <a:schemeClr val="dk1"/>
                </a:solidFill>
                <a:latin typeface="Century Gothic"/>
                <a:ea typeface="Century Gothic"/>
                <a:cs typeface="Century Gothic"/>
                <a:sym typeface="Century Gothic"/>
              </a:defRPr>
            </a:lvl7pPr>
            <a:lvl8pPr indent="0" lvl="7" marL="0" marR="0" rtl="0" algn="r">
              <a:spcBef>
                <a:spcPts val="0"/>
              </a:spcBef>
              <a:buNone/>
              <a:defRPr b="0" i="0" sz="1000" u="none" cap="none" strike="noStrike">
                <a:solidFill>
                  <a:schemeClr val="dk1"/>
                </a:solidFill>
                <a:latin typeface="Century Gothic"/>
                <a:ea typeface="Century Gothic"/>
                <a:cs typeface="Century Gothic"/>
                <a:sym typeface="Century Gothic"/>
              </a:defRPr>
            </a:lvl8pPr>
            <a:lvl9pPr indent="0" lvl="8" marL="0" marR="0" rtl="0" algn="r">
              <a:spcBef>
                <a:spcPts val="0"/>
              </a:spcBef>
              <a:buNone/>
              <a:defRPr b="0" i="0" sz="10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jpg"/><Relationship Id="rId4" Type="http://schemas.openxmlformats.org/officeDocument/2006/relationships/image" Target="../media/image1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jpg"/><Relationship Id="rId4" Type="http://schemas.openxmlformats.org/officeDocument/2006/relationships/image" Target="../media/image1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0.jp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1.jpg"/><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8.jpg"/><Relationship Id="rId4" Type="http://schemas.openxmlformats.org/officeDocument/2006/relationships/image" Target="../media/image3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9.jp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jpg"/><Relationship Id="rId4" Type="http://schemas.openxmlformats.org/officeDocument/2006/relationships/image" Target="../media/image2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0.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0.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262626"/>
              </a:buClr>
              <a:buSzPts val="5400"/>
              <a:buFont typeface="Century Gothic"/>
              <a:buNone/>
            </a:pPr>
            <a:r>
              <a:rPr lang="en-US"/>
              <a:t>Intro Storyboarding</a:t>
            </a:r>
            <a:endParaRPr/>
          </a:p>
        </p:txBody>
      </p:sp>
      <p:sp>
        <p:nvSpPr>
          <p:cNvPr id="152" name="Google Shape;152;p1"/>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415"/>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
          <p:cNvSpPr txBox="1"/>
          <p:nvPr/>
        </p:nvSpPr>
        <p:spPr>
          <a:xfrm>
            <a:off x="457200" y="625811"/>
            <a:ext cx="112204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b="0" i="0" lang="en-US" sz="4400" u="none" cap="none" strike="noStrike">
                <a:solidFill>
                  <a:srgbClr val="262626"/>
                </a:solidFill>
                <a:latin typeface="Century Gothic"/>
                <a:ea typeface="Century Gothic"/>
                <a:cs typeface="Century Gothic"/>
                <a:sym typeface="Century Gothic"/>
              </a:rPr>
              <a:t>Visual Storytelling</a:t>
            </a:r>
            <a:endParaRPr/>
          </a:p>
        </p:txBody>
      </p:sp>
      <p:pic>
        <p:nvPicPr>
          <p:cNvPr descr="Image result for watching television" id="159" name="Google Shape;159;p2"/>
          <p:cNvPicPr preferRelativeResize="0"/>
          <p:nvPr/>
        </p:nvPicPr>
        <p:blipFill rotWithShape="1">
          <a:blip r:embed="rId3">
            <a:alphaModFix/>
          </a:blip>
          <a:srcRect b="0" l="10587" r="14969" t="0"/>
          <a:stretch/>
        </p:blipFill>
        <p:spPr>
          <a:xfrm>
            <a:off x="857251" y="2247097"/>
            <a:ext cx="3505200" cy="3131353"/>
          </a:xfrm>
          <a:prstGeom prst="rect">
            <a:avLst/>
          </a:prstGeom>
          <a:noFill/>
          <a:ln>
            <a:noFill/>
          </a:ln>
        </p:spPr>
      </p:pic>
      <p:pic>
        <p:nvPicPr>
          <p:cNvPr descr="Image result for playing video games" id="160" name="Google Shape;160;p2"/>
          <p:cNvPicPr preferRelativeResize="0"/>
          <p:nvPr/>
        </p:nvPicPr>
        <p:blipFill rotWithShape="1">
          <a:blip r:embed="rId4">
            <a:alphaModFix/>
          </a:blip>
          <a:srcRect b="0" l="19822" r="25082" t="19947"/>
          <a:stretch/>
        </p:blipFill>
        <p:spPr>
          <a:xfrm>
            <a:off x="4656844" y="2247098"/>
            <a:ext cx="3591806" cy="3131352"/>
          </a:xfrm>
          <a:prstGeom prst="rect">
            <a:avLst/>
          </a:prstGeom>
          <a:noFill/>
          <a:ln>
            <a:noFill/>
          </a:ln>
        </p:spPr>
      </p:pic>
      <p:sp>
        <p:nvSpPr>
          <p:cNvPr id="161" name="Google Shape;161;p2"/>
          <p:cNvSpPr/>
          <p:nvPr/>
        </p:nvSpPr>
        <p:spPr>
          <a:xfrm>
            <a:off x="723900" y="1517452"/>
            <a:ext cx="1068704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Century Gothic"/>
                <a:ea typeface="Century Gothic"/>
                <a:cs typeface="Century Gothic"/>
                <a:sym typeface="Century Gothic"/>
              </a:rPr>
              <a:t>We are constantly confronted with visual media: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
          <p:cNvSpPr txBox="1"/>
          <p:nvPr/>
        </p:nvSpPr>
        <p:spPr>
          <a:xfrm>
            <a:off x="457200" y="625811"/>
            <a:ext cx="112204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Visual Storytelling</a:t>
            </a:r>
            <a:endParaRPr/>
          </a:p>
          <a:p>
            <a:pPr indent="0" lvl="0" marL="0" marR="0" rtl="0" algn="ctr">
              <a:spcBef>
                <a:spcPts val="0"/>
              </a:spcBef>
              <a:spcAft>
                <a:spcPts val="0"/>
              </a:spcAft>
              <a:buClr>
                <a:srgbClr val="262626"/>
              </a:buClr>
              <a:buSzPts val="4400"/>
              <a:buFont typeface="Century Gothic"/>
              <a:buNone/>
            </a:pPr>
            <a:r>
              <a:t/>
            </a:r>
            <a:endParaRPr sz="4400" cap="none">
              <a:solidFill>
                <a:srgbClr val="262626"/>
              </a:solidFill>
              <a:latin typeface="Century Gothic"/>
              <a:ea typeface="Century Gothic"/>
              <a:cs typeface="Century Gothic"/>
              <a:sym typeface="Century Gothic"/>
            </a:endParaRPr>
          </a:p>
        </p:txBody>
      </p:sp>
      <p:pic>
        <p:nvPicPr>
          <p:cNvPr descr="Image result for watching television" id="168" name="Google Shape;168;p3"/>
          <p:cNvPicPr preferRelativeResize="0"/>
          <p:nvPr/>
        </p:nvPicPr>
        <p:blipFill rotWithShape="1">
          <a:blip r:embed="rId3">
            <a:alphaModFix/>
          </a:blip>
          <a:srcRect b="0" l="10587" r="14969" t="0"/>
          <a:stretch/>
        </p:blipFill>
        <p:spPr>
          <a:xfrm>
            <a:off x="857251" y="2247097"/>
            <a:ext cx="3505200" cy="3131353"/>
          </a:xfrm>
          <a:prstGeom prst="rect">
            <a:avLst/>
          </a:prstGeom>
          <a:noFill/>
          <a:ln>
            <a:noFill/>
          </a:ln>
        </p:spPr>
      </p:pic>
      <p:pic>
        <p:nvPicPr>
          <p:cNvPr descr="Image result for playing video games" id="169" name="Google Shape;169;p3"/>
          <p:cNvPicPr preferRelativeResize="0"/>
          <p:nvPr/>
        </p:nvPicPr>
        <p:blipFill rotWithShape="1">
          <a:blip r:embed="rId4">
            <a:alphaModFix/>
          </a:blip>
          <a:srcRect b="0" l="19822" r="25082" t="19947"/>
          <a:stretch/>
        </p:blipFill>
        <p:spPr>
          <a:xfrm>
            <a:off x="4656844" y="2247098"/>
            <a:ext cx="3591806" cy="3131352"/>
          </a:xfrm>
          <a:prstGeom prst="rect">
            <a:avLst/>
          </a:prstGeom>
          <a:noFill/>
          <a:ln>
            <a:noFill/>
          </a:ln>
        </p:spPr>
      </p:pic>
      <p:sp>
        <p:nvSpPr>
          <p:cNvPr id="170" name="Google Shape;170;p3"/>
          <p:cNvSpPr/>
          <p:nvPr/>
        </p:nvSpPr>
        <p:spPr>
          <a:xfrm>
            <a:off x="723900" y="1517452"/>
            <a:ext cx="1068704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We are constantly confronted with visual media:</a:t>
            </a:r>
            <a:endParaRPr/>
          </a:p>
        </p:txBody>
      </p:sp>
      <p:sp>
        <p:nvSpPr>
          <p:cNvPr id="171" name="Google Shape;171;p3"/>
          <p:cNvSpPr/>
          <p:nvPr/>
        </p:nvSpPr>
        <p:spPr>
          <a:xfrm>
            <a:off x="8543043" y="2247097"/>
            <a:ext cx="313460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Images are used to </a:t>
            </a:r>
            <a:r>
              <a:rPr b="1" lang="en-US" sz="2800">
                <a:solidFill>
                  <a:schemeClr val="dk1"/>
                </a:solidFill>
                <a:latin typeface="Century Gothic"/>
                <a:ea typeface="Century Gothic"/>
                <a:cs typeface="Century Gothic"/>
                <a:sym typeface="Century Gothic"/>
              </a:rPr>
              <a:t>tell stories</a:t>
            </a:r>
            <a:r>
              <a:rPr lang="en-US" sz="2800">
                <a:solidFill>
                  <a:schemeClr val="dk1"/>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2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Stories are used to communicate a </a:t>
            </a:r>
            <a:r>
              <a:rPr b="1" lang="en-US" sz="2800">
                <a:solidFill>
                  <a:srgbClr val="FF0000"/>
                </a:solidFill>
                <a:latin typeface="Century Gothic"/>
                <a:ea typeface="Century Gothic"/>
                <a:cs typeface="Century Gothic"/>
                <a:sym typeface="Century Gothic"/>
              </a:rPr>
              <a:t>message</a:t>
            </a:r>
            <a:r>
              <a:rPr lang="en-US" sz="2800">
                <a:solidFill>
                  <a:schemeClr val="dk1"/>
                </a:solidFill>
                <a:latin typeface="Century Gothic"/>
                <a:ea typeface="Century Gothic"/>
                <a:cs typeface="Century Gothic"/>
                <a:sym typeface="Century Gothic"/>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
          <p:cNvSpPr txBox="1"/>
          <p:nvPr/>
        </p:nvSpPr>
        <p:spPr>
          <a:xfrm>
            <a:off x="457200" y="625811"/>
            <a:ext cx="112204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Visual Storytelling</a:t>
            </a:r>
            <a:endParaRPr/>
          </a:p>
          <a:p>
            <a:pPr indent="0" lvl="0" marL="0" marR="0" rtl="0" algn="ctr">
              <a:spcBef>
                <a:spcPts val="0"/>
              </a:spcBef>
              <a:spcAft>
                <a:spcPts val="0"/>
              </a:spcAft>
              <a:buClr>
                <a:srgbClr val="262626"/>
              </a:buClr>
              <a:buSzPts val="4400"/>
              <a:buFont typeface="Century Gothic"/>
              <a:buNone/>
            </a:pPr>
            <a:r>
              <a:t/>
            </a:r>
            <a:endParaRPr sz="4400" cap="none">
              <a:solidFill>
                <a:srgbClr val="262626"/>
              </a:solidFill>
              <a:latin typeface="Century Gothic"/>
              <a:ea typeface="Century Gothic"/>
              <a:cs typeface="Century Gothic"/>
              <a:sym typeface="Century Gothic"/>
            </a:endParaRPr>
          </a:p>
        </p:txBody>
      </p:sp>
      <p:sp>
        <p:nvSpPr>
          <p:cNvPr id="178" name="Google Shape;178;p4"/>
          <p:cNvSpPr/>
          <p:nvPr/>
        </p:nvSpPr>
        <p:spPr>
          <a:xfrm>
            <a:off x="7848601" y="3301206"/>
            <a:ext cx="3829050" cy="1815882"/>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Century Gothic"/>
                <a:ea typeface="Century Gothic"/>
                <a:cs typeface="Century Gothic"/>
                <a:sym typeface="Century Gothic"/>
              </a:rPr>
              <a:t>To buy product.</a:t>
            </a:r>
            <a:endParaRPr/>
          </a:p>
          <a:p>
            <a:pPr indent="-279400" lvl="0" marL="457200" marR="0" rtl="0" algn="l">
              <a:spcBef>
                <a:spcPts val="0"/>
              </a:spcBef>
              <a:spcAft>
                <a:spcPts val="0"/>
              </a:spcAft>
              <a:buClr>
                <a:schemeClr val="dk1"/>
              </a:buClr>
              <a:buSzPts val="2800"/>
              <a:buFont typeface="Arial"/>
              <a:buNone/>
            </a:pPr>
            <a:r>
              <a:t/>
            </a:r>
            <a:endParaRPr sz="2800">
              <a:solidFill>
                <a:schemeClr val="dk1"/>
              </a:solidFill>
              <a:latin typeface="Century Gothic"/>
              <a:ea typeface="Century Gothic"/>
              <a:cs typeface="Century Gothic"/>
              <a:sym typeface="Century Gothic"/>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Century Gothic"/>
                <a:ea typeface="Century Gothic"/>
                <a:cs typeface="Century Gothic"/>
                <a:sym typeface="Century Gothic"/>
              </a:rPr>
              <a:t>Evoke an emotion from audience.</a:t>
            </a:r>
            <a:endParaRPr/>
          </a:p>
        </p:txBody>
      </p:sp>
      <p:pic>
        <p:nvPicPr>
          <p:cNvPr descr="Image result for crest commercial" id="179" name="Google Shape;179;p4"/>
          <p:cNvPicPr preferRelativeResize="0"/>
          <p:nvPr/>
        </p:nvPicPr>
        <p:blipFill rotWithShape="1">
          <a:blip r:embed="rId3">
            <a:alphaModFix/>
          </a:blip>
          <a:srcRect b="0" l="0" r="7165" t="0"/>
          <a:stretch/>
        </p:blipFill>
        <p:spPr>
          <a:xfrm>
            <a:off x="936625" y="2094331"/>
            <a:ext cx="6416675" cy="3884531"/>
          </a:xfrm>
          <a:prstGeom prst="rect">
            <a:avLst/>
          </a:prstGeom>
          <a:noFill/>
          <a:ln>
            <a:noFill/>
          </a:ln>
        </p:spPr>
      </p:pic>
      <p:sp>
        <p:nvSpPr>
          <p:cNvPr id="180" name="Google Shape;180;p4"/>
          <p:cNvSpPr/>
          <p:nvPr/>
        </p:nvSpPr>
        <p:spPr>
          <a:xfrm>
            <a:off x="8328025" y="2094331"/>
            <a:ext cx="334962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Message can be: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5"/>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187" name="Google Shape;187;p5"/>
          <p:cNvSpPr txBox="1"/>
          <p:nvPr/>
        </p:nvSpPr>
        <p:spPr>
          <a:xfrm>
            <a:off x="4419600" y="1504950"/>
            <a:ext cx="7124700" cy="2417886"/>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4140"/>
              <a:buFont typeface="Arial"/>
              <a:buChar char="•"/>
            </a:pPr>
            <a:r>
              <a:rPr b="1" lang="en-US" sz="3600" cap="none">
                <a:solidFill>
                  <a:srgbClr val="262626"/>
                </a:solidFill>
                <a:latin typeface="Century Gothic"/>
                <a:ea typeface="Century Gothic"/>
                <a:cs typeface="Century Gothic"/>
                <a:sym typeface="Century Gothic"/>
              </a:rPr>
              <a:t>The visual representation of the script.</a:t>
            </a:r>
            <a:endParaRPr b="1" sz="2400" cap="none">
              <a:solidFill>
                <a:srgbClr val="262626"/>
              </a:solidFill>
              <a:latin typeface="Century Gothic"/>
              <a:ea typeface="Century Gothic"/>
              <a:cs typeface="Century Gothic"/>
              <a:sym typeface="Century Gothic"/>
            </a:endParaRPr>
          </a:p>
        </p:txBody>
      </p:sp>
      <p:pic>
        <p:nvPicPr>
          <p:cNvPr descr="Image result for storyboarding disney" id="188" name="Google Shape;188;p5"/>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189" name="Google Shape;189;p5"/>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6"/>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196" name="Google Shape;196;p6"/>
          <p:cNvSpPr txBox="1"/>
          <p:nvPr/>
        </p:nvSpPr>
        <p:spPr>
          <a:xfrm>
            <a:off x="4419600" y="1504950"/>
            <a:ext cx="7124700" cy="2417886"/>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b="1" lang="en-US" sz="2400" cap="none">
                <a:solidFill>
                  <a:srgbClr val="262626"/>
                </a:solidFill>
                <a:latin typeface="Century Gothic"/>
                <a:ea typeface="Century Gothic"/>
                <a:cs typeface="Century Gothic"/>
                <a:sym typeface="Century Gothic"/>
              </a:rPr>
              <a:t>Graphic</a:t>
            </a:r>
            <a:r>
              <a:rPr lang="en-US" sz="2400" cap="none">
                <a:solidFill>
                  <a:srgbClr val="262626"/>
                </a:solidFill>
                <a:latin typeface="Century Gothic"/>
                <a:ea typeface="Century Gothic"/>
                <a:cs typeface="Century Gothic"/>
                <a:sym typeface="Century Gothic"/>
              </a:rPr>
              <a:t> </a:t>
            </a:r>
            <a:r>
              <a:rPr b="1" lang="en-US" sz="2400" cap="none">
                <a:solidFill>
                  <a:srgbClr val="262626"/>
                </a:solidFill>
                <a:latin typeface="Century Gothic"/>
                <a:ea typeface="Century Gothic"/>
                <a:cs typeface="Century Gothic"/>
                <a:sym typeface="Century Gothic"/>
              </a:rPr>
              <a:t>Organization</a:t>
            </a:r>
            <a:r>
              <a:rPr lang="en-US" sz="2400" cap="none">
                <a:solidFill>
                  <a:srgbClr val="262626"/>
                </a:solidFill>
                <a:latin typeface="Century Gothic"/>
                <a:ea typeface="Century Gothic"/>
                <a:cs typeface="Century Gothic"/>
                <a:sym typeface="Century Gothic"/>
              </a:rPr>
              <a:t> in the form of illustrations or images</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Displayed in sequence for the purpose of </a:t>
            </a:r>
            <a:r>
              <a:rPr b="1" lang="en-US" sz="2400" cap="none">
                <a:solidFill>
                  <a:srgbClr val="262626"/>
                </a:solidFill>
                <a:latin typeface="Century Gothic"/>
                <a:ea typeface="Century Gothic"/>
                <a:cs typeface="Century Gothic"/>
                <a:sym typeface="Century Gothic"/>
              </a:rPr>
              <a:t>pre-visualizing </a:t>
            </a:r>
            <a:r>
              <a:rPr lang="en-US" sz="2400" cap="none">
                <a:solidFill>
                  <a:srgbClr val="262626"/>
                </a:solidFill>
                <a:latin typeface="Century Gothic"/>
                <a:ea typeface="Century Gothic"/>
                <a:cs typeface="Century Gothic"/>
                <a:sym typeface="Century Gothic"/>
              </a:rPr>
              <a:t>a motion picture, animation or even an interactive piece.</a:t>
            </a:r>
            <a:endParaRPr/>
          </a:p>
        </p:txBody>
      </p:sp>
      <p:pic>
        <p:nvPicPr>
          <p:cNvPr descr="Image result for storyboarding disney" id="197" name="Google Shape;197;p6"/>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198" name="Google Shape;198;p6"/>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205" name="Google Shape;205;p7"/>
          <p:cNvSpPr txBox="1"/>
          <p:nvPr/>
        </p:nvSpPr>
        <p:spPr>
          <a:xfrm>
            <a:off x="4419600" y="1771650"/>
            <a:ext cx="7124700" cy="1695450"/>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Consists of a number of panels that show the </a:t>
            </a:r>
            <a:r>
              <a:rPr b="1" lang="en-US" sz="2400" cap="none">
                <a:solidFill>
                  <a:srgbClr val="262626"/>
                </a:solidFill>
                <a:latin typeface="Century Gothic"/>
                <a:ea typeface="Century Gothic"/>
                <a:cs typeface="Century Gothic"/>
                <a:sym typeface="Century Gothic"/>
              </a:rPr>
              <a:t>visual action of a sequence in a logical narrative</a:t>
            </a:r>
            <a:r>
              <a:rPr lang="en-US" sz="2400" cap="none">
                <a:solidFill>
                  <a:srgbClr val="262626"/>
                </a:solidFill>
                <a:latin typeface="Century Gothic"/>
                <a:ea typeface="Century Gothic"/>
                <a:cs typeface="Century Gothic"/>
                <a:sym typeface="Century Gothic"/>
              </a:rPr>
              <a:t>.</a:t>
            </a:r>
            <a:endParaRPr/>
          </a:p>
          <a:p>
            <a:pPr indent="0" lvl="0" marL="0" marR="0" rtl="0" algn="l">
              <a:spcBef>
                <a:spcPts val="1080"/>
              </a:spcBef>
              <a:spcAft>
                <a:spcPts val="0"/>
              </a:spcAft>
              <a:buClr>
                <a:schemeClr val="accent1"/>
              </a:buClr>
              <a:buSzPts val="2760"/>
              <a:buFont typeface="Arial"/>
              <a:buNone/>
            </a:pPr>
            <a:r>
              <a:t/>
            </a:r>
            <a:endParaRPr sz="2400" cap="none">
              <a:solidFill>
                <a:srgbClr val="262626"/>
              </a:solidFill>
              <a:latin typeface="Century Gothic"/>
              <a:ea typeface="Century Gothic"/>
              <a:cs typeface="Century Gothic"/>
              <a:sym typeface="Century Gothic"/>
            </a:endParaRPr>
          </a:p>
        </p:txBody>
      </p:sp>
      <p:pic>
        <p:nvPicPr>
          <p:cNvPr descr="Image result for storyboarding disney" id="206" name="Google Shape;206;p7"/>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207" name="Google Shape;207;p7"/>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8"/>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214" name="Google Shape;214;p8"/>
          <p:cNvSpPr txBox="1"/>
          <p:nvPr/>
        </p:nvSpPr>
        <p:spPr>
          <a:xfrm>
            <a:off x="4419600" y="1771650"/>
            <a:ext cx="7124700" cy="1695450"/>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Stories entertain</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Storyboards are production tools to assist in </a:t>
            </a:r>
            <a:r>
              <a:rPr b="1" lang="en-US" sz="2400" cap="none">
                <a:solidFill>
                  <a:srgbClr val="262626"/>
                </a:solidFill>
                <a:latin typeface="Century Gothic"/>
                <a:ea typeface="Century Gothic"/>
                <a:cs typeface="Century Gothic"/>
                <a:sym typeface="Century Gothic"/>
              </a:rPr>
              <a:t>selling an idea</a:t>
            </a:r>
            <a:r>
              <a:rPr lang="en-US" sz="2400" cap="none">
                <a:solidFill>
                  <a:srgbClr val="262626"/>
                </a:solidFill>
                <a:latin typeface="Century Gothic"/>
                <a:ea typeface="Century Gothic"/>
                <a:cs typeface="Century Gothic"/>
                <a:sym typeface="Century Gothic"/>
              </a:rPr>
              <a:t>.</a:t>
            </a:r>
            <a:endParaRPr/>
          </a:p>
        </p:txBody>
      </p:sp>
      <p:pic>
        <p:nvPicPr>
          <p:cNvPr descr="Image result for storyboarding disney" id="215" name="Google Shape;215;p8"/>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216" name="Google Shape;216;p8"/>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Visual Storytelling</a:t>
            </a:r>
            <a:endParaRPr/>
          </a:p>
        </p:txBody>
      </p:sp>
      <p:sp>
        <p:nvSpPr>
          <p:cNvPr id="223" name="Google Shape;223;p9"/>
          <p:cNvSpPr txBox="1"/>
          <p:nvPr>
            <p:ph idx="1" type="body"/>
          </p:nvPr>
        </p:nvSpPr>
        <p:spPr>
          <a:xfrm>
            <a:off x="6571281" y="2731919"/>
            <a:ext cx="432531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Storyboarding refers to planning stories visually</a:t>
            </a:r>
            <a:endParaRPr/>
          </a:p>
          <a:p>
            <a:pPr indent="-285750" lvl="0" marL="285750" rtl="0" algn="l">
              <a:spcBef>
                <a:spcPts val="1080"/>
              </a:spcBef>
              <a:spcAft>
                <a:spcPts val="0"/>
              </a:spcAft>
              <a:buSzPts val="2760"/>
              <a:buChar char="•"/>
            </a:pPr>
            <a:r>
              <a:rPr lang="en-US"/>
              <a:t>Usually related to cinema, which is relatively new.</a:t>
            </a:r>
            <a:endParaRPr/>
          </a:p>
          <a:p>
            <a:pPr indent="-285750" lvl="0" marL="285750" rtl="0" algn="l">
              <a:spcBef>
                <a:spcPts val="1080"/>
              </a:spcBef>
              <a:spcAft>
                <a:spcPts val="0"/>
              </a:spcAft>
              <a:buSzPts val="2760"/>
              <a:buChar char="•"/>
            </a:pPr>
            <a:r>
              <a:rPr lang="en-US"/>
              <a:t>“</a:t>
            </a:r>
            <a:r>
              <a:rPr b="1" lang="en-US"/>
              <a:t>Sequential Imaging</a:t>
            </a:r>
            <a:r>
              <a:rPr lang="en-US"/>
              <a:t>” has been around for a long, long time.</a:t>
            </a:r>
            <a:endParaRPr/>
          </a:p>
        </p:txBody>
      </p:sp>
      <p:pic>
        <p:nvPicPr>
          <p:cNvPr descr="http://owenroberts.github.io/commlab/sequential/cave.jpg" id="224" name="Google Shape;224;p9"/>
          <p:cNvPicPr preferRelativeResize="0"/>
          <p:nvPr/>
        </p:nvPicPr>
        <p:blipFill rotWithShape="1">
          <a:blip r:embed="rId3">
            <a:alphaModFix/>
          </a:blip>
          <a:srcRect b="0" l="0" r="0" t="0"/>
          <a:stretch/>
        </p:blipFill>
        <p:spPr>
          <a:xfrm>
            <a:off x="1295402" y="2731919"/>
            <a:ext cx="4974873" cy="33279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Visual Storytelling</a:t>
            </a:r>
            <a:endParaRPr/>
          </a:p>
        </p:txBody>
      </p:sp>
      <p:sp>
        <p:nvSpPr>
          <p:cNvPr id="231" name="Google Shape;231;p10"/>
          <p:cNvSpPr txBox="1"/>
          <p:nvPr>
            <p:ph idx="1" type="body"/>
          </p:nvPr>
        </p:nvSpPr>
        <p:spPr>
          <a:xfrm>
            <a:off x="7485681" y="2556932"/>
            <a:ext cx="341091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Photography</a:t>
            </a:r>
            <a:endParaRPr/>
          </a:p>
          <a:p>
            <a:pPr indent="-285750" lvl="0" marL="285750" rtl="0" algn="l">
              <a:spcBef>
                <a:spcPts val="1080"/>
              </a:spcBef>
              <a:spcAft>
                <a:spcPts val="0"/>
              </a:spcAft>
              <a:buSzPts val="2760"/>
              <a:buChar char="•"/>
            </a:pPr>
            <a:r>
              <a:rPr lang="en-US"/>
              <a:t>Television</a:t>
            </a:r>
            <a:endParaRPr/>
          </a:p>
          <a:p>
            <a:pPr indent="-285750" lvl="0" marL="285750" rtl="0" algn="l">
              <a:spcBef>
                <a:spcPts val="1080"/>
              </a:spcBef>
              <a:spcAft>
                <a:spcPts val="0"/>
              </a:spcAft>
              <a:buSzPts val="2760"/>
              <a:buChar char="•"/>
            </a:pPr>
            <a:r>
              <a:rPr lang="en-US"/>
              <a:t>Motion Pictures</a:t>
            </a:r>
            <a:endParaRPr/>
          </a:p>
          <a:p>
            <a:pPr indent="-285750" lvl="0" marL="285750" rtl="0" algn="l">
              <a:spcBef>
                <a:spcPts val="1080"/>
              </a:spcBef>
              <a:spcAft>
                <a:spcPts val="0"/>
              </a:spcAft>
              <a:buSzPts val="2760"/>
              <a:buChar char="•"/>
            </a:pPr>
            <a:r>
              <a:rPr lang="en-US"/>
              <a:t>Computers</a:t>
            </a:r>
            <a:endParaRPr/>
          </a:p>
          <a:p>
            <a:pPr indent="-285750" lvl="0" marL="285750" rtl="0" algn="l">
              <a:spcBef>
                <a:spcPts val="1080"/>
              </a:spcBef>
              <a:spcAft>
                <a:spcPts val="0"/>
              </a:spcAft>
              <a:buSzPts val="2760"/>
              <a:buChar char="•"/>
            </a:pPr>
            <a:r>
              <a:rPr lang="en-US"/>
              <a:t>Comics</a:t>
            </a:r>
            <a:endParaRPr/>
          </a:p>
          <a:p>
            <a:pPr indent="0" lvl="0" marL="0" rtl="0" algn="l">
              <a:spcBef>
                <a:spcPts val="1080"/>
              </a:spcBef>
              <a:spcAft>
                <a:spcPts val="0"/>
              </a:spcAft>
              <a:buSzPts val="2760"/>
              <a:buNone/>
            </a:pPr>
            <a:r>
              <a:t/>
            </a:r>
            <a:endParaRPr/>
          </a:p>
          <a:p>
            <a:pPr indent="-110490" lvl="0" marL="285750" rtl="0" algn="l">
              <a:spcBef>
                <a:spcPts val="1080"/>
              </a:spcBef>
              <a:spcAft>
                <a:spcPts val="0"/>
              </a:spcAft>
              <a:buSzPts val="2760"/>
              <a:buNone/>
            </a:pPr>
            <a:r>
              <a:t/>
            </a:r>
            <a:endParaRPr/>
          </a:p>
        </p:txBody>
      </p:sp>
      <p:pic>
        <p:nvPicPr>
          <p:cNvPr descr="Image result for man leaning against pool table" id="232" name="Google Shape;232;p10"/>
          <p:cNvPicPr preferRelativeResize="0"/>
          <p:nvPr/>
        </p:nvPicPr>
        <p:blipFill rotWithShape="1">
          <a:blip r:embed="rId3">
            <a:alphaModFix/>
          </a:blip>
          <a:srcRect b="0" l="0" r="0" t="0"/>
          <a:stretch/>
        </p:blipFill>
        <p:spPr>
          <a:xfrm>
            <a:off x="1295402" y="2556932"/>
            <a:ext cx="5929597" cy="33337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Visual Storytelling</a:t>
            </a:r>
            <a:endParaRPr/>
          </a:p>
        </p:txBody>
      </p:sp>
      <p:sp>
        <p:nvSpPr>
          <p:cNvPr id="239" name="Google Shape;239;p11"/>
          <p:cNvSpPr txBox="1"/>
          <p:nvPr>
            <p:ph idx="1" type="body"/>
          </p:nvPr>
        </p:nvSpPr>
        <p:spPr>
          <a:xfrm>
            <a:off x="7485681" y="3452282"/>
            <a:ext cx="3410916" cy="28723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1" lang="en-US"/>
              <a:t>Who</a:t>
            </a:r>
            <a:r>
              <a:rPr lang="en-US"/>
              <a:t> is this character?</a:t>
            </a:r>
            <a:endParaRPr/>
          </a:p>
          <a:p>
            <a:pPr indent="-285750" lvl="0" marL="285750" rtl="0" algn="l">
              <a:spcBef>
                <a:spcPts val="1080"/>
              </a:spcBef>
              <a:spcAft>
                <a:spcPts val="0"/>
              </a:spcAft>
              <a:buSzPts val="2760"/>
              <a:buChar char="•"/>
            </a:pPr>
            <a:r>
              <a:rPr b="1" lang="en-US"/>
              <a:t>Where</a:t>
            </a:r>
            <a:r>
              <a:rPr lang="en-US"/>
              <a:t> is he playing pool?</a:t>
            </a:r>
            <a:endParaRPr/>
          </a:p>
          <a:p>
            <a:pPr indent="-285750" lvl="0" marL="285750" rtl="0" algn="l">
              <a:spcBef>
                <a:spcPts val="1080"/>
              </a:spcBef>
              <a:spcAft>
                <a:spcPts val="0"/>
              </a:spcAft>
              <a:buSzPts val="2760"/>
              <a:buChar char="•"/>
            </a:pPr>
            <a:r>
              <a:rPr lang="en-US"/>
              <a:t>Who is he playing </a:t>
            </a:r>
            <a:r>
              <a:rPr b="1" lang="en-US"/>
              <a:t>against</a:t>
            </a:r>
            <a:r>
              <a:rPr lang="en-US"/>
              <a:t>?</a:t>
            </a:r>
            <a:endParaRPr/>
          </a:p>
          <a:p>
            <a:pPr indent="-110490" lvl="0" marL="285750" rtl="0" algn="l">
              <a:spcBef>
                <a:spcPts val="1080"/>
              </a:spcBef>
              <a:spcAft>
                <a:spcPts val="0"/>
              </a:spcAft>
              <a:buSzPts val="2760"/>
              <a:buNone/>
            </a:pPr>
            <a:r>
              <a:t/>
            </a:r>
            <a:endParaRPr/>
          </a:p>
        </p:txBody>
      </p:sp>
      <p:pic>
        <p:nvPicPr>
          <p:cNvPr descr="Image result for man leaning against pool table" id="240" name="Google Shape;240;p11"/>
          <p:cNvPicPr preferRelativeResize="0"/>
          <p:nvPr/>
        </p:nvPicPr>
        <p:blipFill rotWithShape="1">
          <a:blip r:embed="rId3">
            <a:alphaModFix/>
          </a:blip>
          <a:srcRect b="0" l="0" r="0" t="0"/>
          <a:stretch/>
        </p:blipFill>
        <p:spPr>
          <a:xfrm>
            <a:off x="1295402" y="2556932"/>
            <a:ext cx="5929597" cy="3333751"/>
          </a:xfrm>
          <a:prstGeom prst="rect">
            <a:avLst/>
          </a:prstGeom>
          <a:noFill/>
          <a:ln>
            <a:noFill/>
          </a:ln>
        </p:spPr>
      </p:pic>
      <p:sp>
        <p:nvSpPr>
          <p:cNvPr id="241" name="Google Shape;241;p11"/>
          <p:cNvSpPr txBox="1"/>
          <p:nvPr/>
        </p:nvSpPr>
        <p:spPr>
          <a:xfrm>
            <a:off x="7638080" y="2575981"/>
            <a:ext cx="3944319" cy="116628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2760"/>
              <a:buFont typeface="Arial"/>
              <a:buNone/>
            </a:pPr>
            <a:r>
              <a:rPr b="1" lang="en-US" sz="2400" cap="none">
                <a:solidFill>
                  <a:srgbClr val="262626"/>
                </a:solidFill>
                <a:latin typeface="Century Gothic"/>
                <a:ea typeface="Century Gothic"/>
                <a:cs typeface="Century Gothic"/>
                <a:sym typeface="Century Gothic"/>
              </a:rPr>
              <a:t>What questions can be answered?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Visual Storytelling</a:t>
            </a:r>
            <a:endParaRPr/>
          </a:p>
        </p:txBody>
      </p:sp>
      <p:sp>
        <p:nvSpPr>
          <p:cNvPr id="248" name="Google Shape;248;p12"/>
          <p:cNvSpPr txBox="1"/>
          <p:nvPr>
            <p:ph idx="1" type="body"/>
          </p:nvPr>
        </p:nvSpPr>
        <p:spPr>
          <a:xfrm>
            <a:off x="7505700" y="2743200"/>
            <a:ext cx="4057650" cy="313266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760"/>
              <a:buNone/>
            </a:pPr>
            <a:r>
              <a:rPr lang="en-US">
                <a:solidFill>
                  <a:schemeClr val="dk1"/>
                </a:solidFill>
              </a:rPr>
              <a:t>The image conveys the intended message through </a:t>
            </a:r>
            <a:r>
              <a:rPr b="1" lang="en-US">
                <a:solidFill>
                  <a:schemeClr val="dk1"/>
                </a:solidFill>
              </a:rPr>
              <a:t>staging the character and props</a:t>
            </a:r>
            <a:r>
              <a:rPr lang="en-US">
                <a:solidFill>
                  <a:schemeClr val="dk1"/>
                </a:solidFill>
              </a:rPr>
              <a:t>, establishing the </a:t>
            </a:r>
            <a:r>
              <a:rPr b="1" lang="en-US">
                <a:solidFill>
                  <a:schemeClr val="dk1"/>
                </a:solidFill>
              </a:rPr>
              <a:t>background</a:t>
            </a:r>
            <a:r>
              <a:rPr lang="en-US">
                <a:solidFill>
                  <a:schemeClr val="dk1"/>
                </a:solidFill>
              </a:rPr>
              <a:t>, and portraying the </a:t>
            </a:r>
            <a:r>
              <a:rPr b="1" lang="en-US">
                <a:solidFill>
                  <a:schemeClr val="dk1"/>
                </a:solidFill>
              </a:rPr>
              <a:t>action</a:t>
            </a:r>
            <a:r>
              <a:rPr lang="en-US">
                <a:solidFill>
                  <a:schemeClr val="dk1"/>
                </a:solidFill>
              </a:rPr>
              <a:t>.</a:t>
            </a:r>
            <a:endParaRPr/>
          </a:p>
        </p:txBody>
      </p:sp>
      <p:pic>
        <p:nvPicPr>
          <p:cNvPr descr="Image result for man leaning against pool table" id="249" name="Google Shape;249;p12"/>
          <p:cNvPicPr preferRelativeResize="0"/>
          <p:nvPr/>
        </p:nvPicPr>
        <p:blipFill rotWithShape="1">
          <a:blip r:embed="rId3">
            <a:alphaModFix/>
          </a:blip>
          <a:srcRect b="0" l="0" r="0" t="0"/>
          <a:stretch/>
        </p:blipFill>
        <p:spPr>
          <a:xfrm>
            <a:off x="1295402" y="2556932"/>
            <a:ext cx="5929597" cy="33337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Linear vs. Nonlinear Storytelling</a:t>
            </a:r>
            <a:endParaRPr/>
          </a:p>
        </p:txBody>
      </p:sp>
      <p:sp>
        <p:nvSpPr>
          <p:cNvPr id="256" name="Google Shape;256;p13"/>
          <p:cNvSpPr txBox="1"/>
          <p:nvPr>
            <p:ph idx="1" type="body"/>
          </p:nvPr>
        </p:nvSpPr>
        <p:spPr>
          <a:xfrm>
            <a:off x="7620000" y="3028950"/>
            <a:ext cx="32765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Movies</a:t>
            </a:r>
            <a:endParaRPr/>
          </a:p>
          <a:p>
            <a:pPr indent="-285750" lvl="0" marL="285750" rtl="0" algn="l">
              <a:spcBef>
                <a:spcPts val="1080"/>
              </a:spcBef>
              <a:spcAft>
                <a:spcPts val="0"/>
              </a:spcAft>
              <a:buSzPts val="2760"/>
              <a:buChar char="•"/>
            </a:pPr>
            <a:r>
              <a:rPr lang="en-US"/>
              <a:t>Animation</a:t>
            </a:r>
            <a:endParaRPr/>
          </a:p>
          <a:p>
            <a:pPr indent="-285750" lvl="0" marL="285750" rtl="0" algn="l">
              <a:spcBef>
                <a:spcPts val="1080"/>
              </a:spcBef>
              <a:spcAft>
                <a:spcPts val="0"/>
              </a:spcAft>
              <a:buSzPts val="2760"/>
              <a:buChar char="•"/>
            </a:pPr>
            <a:r>
              <a:rPr lang="en-US"/>
              <a:t>Comics</a:t>
            </a:r>
            <a:endParaRPr/>
          </a:p>
        </p:txBody>
      </p:sp>
      <p:pic>
        <p:nvPicPr>
          <p:cNvPr descr="Image result for movie audience" id="257" name="Google Shape;257;p13"/>
          <p:cNvPicPr preferRelativeResize="0"/>
          <p:nvPr/>
        </p:nvPicPr>
        <p:blipFill rotWithShape="1">
          <a:blip r:embed="rId3">
            <a:alphaModFix/>
          </a:blip>
          <a:srcRect b="0" l="0" r="0" t="0"/>
          <a:stretch/>
        </p:blipFill>
        <p:spPr>
          <a:xfrm>
            <a:off x="1295402" y="2837392"/>
            <a:ext cx="5219700" cy="3038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Linear vs. Nonlinear Storytelling</a:t>
            </a:r>
            <a:endParaRPr/>
          </a:p>
        </p:txBody>
      </p:sp>
      <p:sp>
        <p:nvSpPr>
          <p:cNvPr id="264" name="Google Shape;264;p14"/>
          <p:cNvSpPr txBox="1"/>
          <p:nvPr>
            <p:ph idx="1" type="body"/>
          </p:nvPr>
        </p:nvSpPr>
        <p:spPr>
          <a:xfrm>
            <a:off x="7981950" y="3028950"/>
            <a:ext cx="291464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Games</a:t>
            </a:r>
            <a:endParaRPr/>
          </a:p>
          <a:p>
            <a:pPr indent="-285750" lvl="0" marL="285750" rtl="0" algn="l">
              <a:spcBef>
                <a:spcPts val="1080"/>
              </a:spcBef>
              <a:spcAft>
                <a:spcPts val="0"/>
              </a:spcAft>
              <a:buSzPts val="2760"/>
              <a:buChar char="•"/>
            </a:pPr>
            <a:r>
              <a:rPr lang="en-US"/>
              <a:t>Interactive Applications</a:t>
            </a:r>
            <a:endParaRPr/>
          </a:p>
          <a:p>
            <a:pPr indent="-285750" lvl="0" marL="285750" rtl="0" algn="l">
              <a:spcBef>
                <a:spcPts val="1080"/>
              </a:spcBef>
              <a:spcAft>
                <a:spcPts val="0"/>
              </a:spcAft>
              <a:buSzPts val="2760"/>
              <a:buChar char="•"/>
            </a:pPr>
            <a:r>
              <a:rPr lang="en-US"/>
              <a:t>Some forms of theater or art</a:t>
            </a:r>
            <a:endParaRPr/>
          </a:p>
        </p:txBody>
      </p:sp>
      <p:pic>
        <p:nvPicPr>
          <p:cNvPr descr="Image result for playing video games" id="265" name="Google Shape;265;p14"/>
          <p:cNvPicPr preferRelativeResize="0"/>
          <p:nvPr/>
        </p:nvPicPr>
        <p:blipFill rotWithShape="1">
          <a:blip r:embed="rId3">
            <a:alphaModFix/>
          </a:blip>
          <a:srcRect b="0" l="0" r="0" t="0"/>
          <a:stretch/>
        </p:blipFill>
        <p:spPr>
          <a:xfrm>
            <a:off x="1200148" y="2860598"/>
            <a:ext cx="6099175" cy="29962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Storytelling through Visuals</a:t>
            </a:r>
            <a:endParaRPr/>
          </a:p>
        </p:txBody>
      </p:sp>
      <p:sp>
        <p:nvSpPr>
          <p:cNvPr id="272" name="Google Shape;272;p15"/>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760"/>
              <a:buNone/>
            </a:pPr>
            <a:r>
              <a:rPr lang="en-US">
                <a:solidFill>
                  <a:schemeClr val="dk1"/>
                </a:solidFill>
              </a:rPr>
              <a:t>Although the needs and the methods of Storytelling may have changed over time, the storytellers purpose has pretty much stayed the same</a:t>
            </a:r>
            <a:endParaRPr/>
          </a:p>
          <a:p>
            <a:pPr indent="-110490" lvl="0" marL="285750" rtl="0" algn="l">
              <a:spcBef>
                <a:spcPts val="1080"/>
              </a:spcBef>
              <a:spcAft>
                <a:spcPts val="0"/>
              </a:spcAft>
              <a:buSzPts val="276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Storytelling through Visuals</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Storyboarding and storytelling is about </a:t>
            </a:r>
            <a:r>
              <a:rPr b="1" lang="en-US"/>
              <a:t>communication</a:t>
            </a:r>
            <a:endParaRPr/>
          </a:p>
          <a:p>
            <a:pPr indent="-285750" lvl="0" marL="285750" rtl="0" algn="l">
              <a:spcBef>
                <a:spcPts val="1080"/>
              </a:spcBef>
              <a:spcAft>
                <a:spcPts val="0"/>
              </a:spcAft>
              <a:buSzPts val="2760"/>
              <a:buChar char="•"/>
            </a:pPr>
            <a:r>
              <a:rPr lang="en-US"/>
              <a:t>draws an audience into the story.</a:t>
            </a:r>
            <a:endParaRPr/>
          </a:p>
          <a:p>
            <a:pPr indent="-285750" lvl="0" marL="285750" rtl="0" algn="l">
              <a:spcBef>
                <a:spcPts val="1080"/>
              </a:spcBef>
              <a:spcAft>
                <a:spcPts val="0"/>
              </a:spcAft>
              <a:buSzPts val="2760"/>
              <a:buChar char="•"/>
            </a:pPr>
            <a:r>
              <a:rPr lang="en-US"/>
              <a:t>Visuals </a:t>
            </a:r>
            <a:r>
              <a:rPr b="1" lang="en-US"/>
              <a:t>deliver story and message</a:t>
            </a:r>
            <a:endParaRPr/>
          </a:p>
          <a:p>
            <a:pPr indent="-285750" lvl="0" marL="285750" rtl="0" algn="l">
              <a:spcBef>
                <a:spcPts val="1080"/>
              </a:spcBef>
              <a:spcAft>
                <a:spcPts val="0"/>
              </a:spcAft>
              <a:buSzPts val="2760"/>
              <a:buChar char="•"/>
            </a:pPr>
            <a:r>
              <a:rPr lang="en-US"/>
              <a:t>Also a perspective of this story and message.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Show, don’t Tell.</a:t>
            </a:r>
            <a:endParaRPr/>
          </a:p>
        </p:txBody>
      </p:sp>
      <p:sp>
        <p:nvSpPr>
          <p:cNvPr id="286" name="Google Shape;286;p17"/>
          <p:cNvSpPr txBox="1"/>
          <p:nvPr>
            <p:ph idx="1" type="body"/>
          </p:nvPr>
        </p:nvSpPr>
        <p:spPr>
          <a:xfrm>
            <a:off x="971550" y="3028950"/>
            <a:ext cx="4438650"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solidFill>
                  <a:schemeClr val="dk1"/>
                </a:solidFill>
              </a:rPr>
              <a:t>If you </a:t>
            </a:r>
            <a:r>
              <a:rPr b="1" lang="en-US">
                <a:solidFill>
                  <a:schemeClr val="dk1"/>
                </a:solidFill>
              </a:rPr>
              <a:t>tell</a:t>
            </a:r>
            <a:r>
              <a:rPr lang="en-US">
                <a:solidFill>
                  <a:schemeClr val="dk1"/>
                </a:solidFill>
              </a:rPr>
              <a:t> a story, you try to entice the audience into imagining its content.</a:t>
            </a:r>
            <a:endParaRPr/>
          </a:p>
          <a:p>
            <a:pPr indent="-110490" lvl="0" marL="285750" rtl="0" algn="l">
              <a:spcBef>
                <a:spcPts val="1080"/>
              </a:spcBef>
              <a:spcAft>
                <a:spcPts val="0"/>
              </a:spcAft>
              <a:buSzPts val="2760"/>
              <a:buNone/>
            </a:pPr>
            <a:r>
              <a:t/>
            </a:r>
            <a:endParaRPr>
              <a:solidFill>
                <a:schemeClr val="dk1"/>
              </a:solidFill>
            </a:endParaRPr>
          </a:p>
          <a:p>
            <a:pPr indent="-110490" lvl="0" marL="285750" rtl="0" algn="l">
              <a:spcBef>
                <a:spcPts val="1080"/>
              </a:spcBef>
              <a:spcAft>
                <a:spcPts val="0"/>
              </a:spcAft>
              <a:buSzPts val="2760"/>
              <a:buNone/>
            </a:pPr>
            <a:r>
              <a:t/>
            </a:r>
            <a:endParaRPr>
              <a:solidFill>
                <a:schemeClr val="dk1"/>
              </a:solidFill>
            </a:endParaRPr>
          </a:p>
        </p:txBody>
      </p:sp>
      <p:pic>
        <p:nvPicPr>
          <p:cNvPr descr="Image result for storyteller" id="287" name="Google Shape;287;p17"/>
          <p:cNvPicPr preferRelativeResize="0"/>
          <p:nvPr/>
        </p:nvPicPr>
        <p:blipFill rotWithShape="1">
          <a:blip r:embed="rId3">
            <a:alphaModFix/>
          </a:blip>
          <a:srcRect b="0" l="0" r="0" t="0"/>
          <a:stretch/>
        </p:blipFill>
        <p:spPr>
          <a:xfrm>
            <a:off x="5657846" y="2709333"/>
            <a:ext cx="5238750" cy="34861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Show, don’t Tell.</a:t>
            </a:r>
            <a:endParaRPr/>
          </a:p>
        </p:txBody>
      </p:sp>
      <p:sp>
        <p:nvSpPr>
          <p:cNvPr id="294" name="Google Shape;294;p18"/>
          <p:cNvSpPr txBox="1"/>
          <p:nvPr>
            <p:ph idx="1" type="body"/>
          </p:nvPr>
        </p:nvSpPr>
        <p:spPr>
          <a:xfrm>
            <a:off x="971550" y="3028950"/>
            <a:ext cx="4438650" cy="2846918"/>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2760"/>
              <a:buChar char="•"/>
            </a:pPr>
            <a:r>
              <a:rPr lang="en-US">
                <a:solidFill>
                  <a:schemeClr val="dk1"/>
                </a:solidFill>
              </a:rPr>
              <a:t>If you </a:t>
            </a:r>
            <a:r>
              <a:rPr b="1" lang="en-US">
                <a:solidFill>
                  <a:schemeClr val="dk1"/>
                </a:solidFill>
              </a:rPr>
              <a:t>tell</a:t>
            </a:r>
            <a:r>
              <a:rPr lang="en-US">
                <a:solidFill>
                  <a:schemeClr val="dk1"/>
                </a:solidFill>
              </a:rPr>
              <a:t> a story, you try to entice the audience into imagining its content.</a:t>
            </a:r>
            <a:endParaRPr/>
          </a:p>
          <a:p>
            <a:pPr indent="-285750" lvl="0" marL="285750" rtl="0" algn="l">
              <a:spcBef>
                <a:spcPts val="1080"/>
              </a:spcBef>
              <a:spcAft>
                <a:spcPts val="0"/>
              </a:spcAft>
              <a:buSzPts val="2760"/>
              <a:buChar char="•"/>
            </a:pPr>
            <a:r>
              <a:rPr lang="en-US">
                <a:solidFill>
                  <a:schemeClr val="dk1"/>
                </a:solidFill>
              </a:rPr>
              <a:t>If you're going to </a:t>
            </a:r>
            <a:r>
              <a:rPr b="1" lang="en-US">
                <a:solidFill>
                  <a:schemeClr val="dk1"/>
                </a:solidFill>
              </a:rPr>
              <a:t>show</a:t>
            </a:r>
            <a:r>
              <a:rPr lang="en-US">
                <a:solidFill>
                  <a:schemeClr val="dk1"/>
                </a:solidFill>
              </a:rPr>
              <a:t> the audience, you must rely less on telling and more on showing.</a:t>
            </a:r>
            <a:endParaRPr/>
          </a:p>
          <a:p>
            <a:pPr indent="-110490" lvl="0" marL="285750" rtl="0" algn="l">
              <a:spcBef>
                <a:spcPts val="1080"/>
              </a:spcBef>
              <a:spcAft>
                <a:spcPts val="0"/>
              </a:spcAft>
              <a:buSzPts val="2760"/>
              <a:buNone/>
            </a:pPr>
            <a:r>
              <a:t/>
            </a:r>
            <a:endParaRPr>
              <a:solidFill>
                <a:schemeClr val="dk1"/>
              </a:solidFill>
            </a:endParaRPr>
          </a:p>
          <a:p>
            <a:pPr indent="-110490" lvl="0" marL="285750" rtl="0" algn="l">
              <a:spcBef>
                <a:spcPts val="1080"/>
              </a:spcBef>
              <a:spcAft>
                <a:spcPts val="0"/>
              </a:spcAft>
              <a:buSzPts val="2760"/>
              <a:buNone/>
            </a:pPr>
            <a:r>
              <a:t/>
            </a:r>
            <a:endParaRPr>
              <a:solidFill>
                <a:schemeClr val="dk1"/>
              </a:solidFill>
            </a:endParaRPr>
          </a:p>
        </p:txBody>
      </p:sp>
      <p:pic>
        <p:nvPicPr>
          <p:cNvPr descr="Image result for storyteller" id="295" name="Google Shape;295;p18"/>
          <p:cNvPicPr preferRelativeResize="0"/>
          <p:nvPr/>
        </p:nvPicPr>
        <p:blipFill rotWithShape="1">
          <a:blip r:embed="rId3">
            <a:alphaModFix/>
          </a:blip>
          <a:srcRect b="0" l="0" r="0" t="0"/>
          <a:stretch/>
        </p:blipFill>
        <p:spPr>
          <a:xfrm>
            <a:off x="5657846" y="2709333"/>
            <a:ext cx="5238750" cy="34861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Show, don’t Tell.</a:t>
            </a:r>
            <a:endParaRPr/>
          </a:p>
        </p:txBody>
      </p:sp>
      <p:sp>
        <p:nvSpPr>
          <p:cNvPr id="302" name="Google Shape;302;p19"/>
          <p:cNvSpPr txBox="1"/>
          <p:nvPr>
            <p:ph idx="1" type="body"/>
          </p:nvPr>
        </p:nvSpPr>
        <p:spPr>
          <a:xfrm>
            <a:off x="723900" y="3028950"/>
            <a:ext cx="4933946" cy="3166534"/>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solidFill>
                  <a:schemeClr val="dk1"/>
                </a:solidFill>
              </a:rPr>
              <a:t>when you </a:t>
            </a:r>
            <a:r>
              <a:rPr b="1" lang="en-US">
                <a:solidFill>
                  <a:schemeClr val="dk1"/>
                </a:solidFill>
              </a:rPr>
              <a:t>show</a:t>
            </a:r>
            <a:r>
              <a:rPr lang="en-US">
                <a:solidFill>
                  <a:schemeClr val="dk1"/>
                </a:solidFill>
              </a:rPr>
              <a:t> a story, you are </a:t>
            </a:r>
            <a:r>
              <a:rPr b="1" lang="en-US">
                <a:solidFill>
                  <a:schemeClr val="dk1"/>
                </a:solidFill>
              </a:rPr>
              <a:t>molding</a:t>
            </a:r>
            <a:r>
              <a:rPr lang="en-US">
                <a:solidFill>
                  <a:schemeClr val="dk1"/>
                </a:solidFill>
              </a:rPr>
              <a:t> the message into </a:t>
            </a:r>
            <a:r>
              <a:rPr b="1" lang="en-US">
                <a:solidFill>
                  <a:schemeClr val="dk1"/>
                </a:solidFill>
              </a:rPr>
              <a:t>visual imagery</a:t>
            </a:r>
            <a:endParaRPr/>
          </a:p>
        </p:txBody>
      </p:sp>
      <p:pic>
        <p:nvPicPr>
          <p:cNvPr descr="Image result for storyteller" id="303" name="Google Shape;303;p19"/>
          <p:cNvPicPr preferRelativeResize="0"/>
          <p:nvPr/>
        </p:nvPicPr>
        <p:blipFill rotWithShape="1">
          <a:blip r:embed="rId3">
            <a:alphaModFix/>
          </a:blip>
          <a:srcRect b="0" l="0" r="0" t="0"/>
          <a:stretch/>
        </p:blipFill>
        <p:spPr>
          <a:xfrm>
            <a:off x="5657846" y="2709333"/>
            <a:ext cx="5238750" cy="34861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Telling Example:</a:t>
            </a:r>
            <a:endParaRPr/>
          </a:p>
        </p:txBody>
      </p:sp>
      <p:sp>
        <p:nvSpPr>
          <p:cNvPr id="309" name="Google Shape;309;p20"/>
          <p:cNvSpPr txBox="1"/>
          <p:nvPr>
            <p:ph idx="1" type="body"/>
          </p:nvPr>
        </p:nvSpPr>
        <p:spPr>
          <a:xfrm>
            <a:off x="1066800" y="2556932"/>
            <a:ext cx="10439400" cy="33189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760"/>
              <a:buNone/>
            </a:pPr>
            <a:r>
              <a:t/>
            </a:r>
            <a:endParaRPr/>
          </a:p>
          <a:p>
            <a:pPr indent="0" lvl="0" marL="0" rtl="0" algn="l">
              <a:spcBef>
                <a:spcPts val="1080"/>
              </a:spcBef>
              <a:spcAft>
                <a:spcPts val="0"/>
              </a:spcAft>
              <a:buSzPts val="2760"/>
              <a:buNone/>
            </a:pPr>
            <a:r>
              <a:rPr lang="en-US"/>
              <a:t>Jake, who was considered the bully of the neighborhood, stood on the corner of 10th and Main in his blue jeans, black T-shirt, and a cigarette pack rolled up in his sleeve. </a:t>
            </a:r>
            <a:endParaRPr/>
          </a:p>
          <a:p>
            <a:pPr indent="0" lvl="0" marL="0" rtl="0" algn="l">
              <a:spcBef>
                <a:spcPts val="1080"/>
              </a:spcBef>
              <a:spcAft>
                <a:spcPts val="0"/>
              </a:spcAft>
              <a:buSzPts val="2760"/>
              <a:buNone/>
            </a:pPr>
            <a:r>
              <a:rPr lang="en-US"/>
              <a:t>The rest of the kids avoided the corner where Jake stood. They were intimidated by the high school dropout who derived pleasure from flicking the burning embers of his cigarette into the hair of any kid who crossed his path.</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Showing Example:</a:t>
            </a:r>
            <a:endParaRPr/>
          </a:p>
        </p:txBody>
      </p:sp>
      <p:sp>
        <p:nvSpPr>
          <p:cNvPr id="316" name="Google Shape;316;p21"/>
          <p:cNvSpPr txBox="1"/>
          <p:nvPr>
            <p:ph idx="1" type="body"/>
          </p:nvPr>
        </p:nvSpPr>
        <p:spPr>
          <a:xfrm>
            <a:off x="1085850" y="2571750"/>
            <a:ext cx="10020300" cy="375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t/>
            </a:r>
            <a:endParaRPr/>
          </a:p>
          <a:p>
            <a:pPr indent="0" lvl="0" marL="0" rtl="0" algn="l">
              <a:spcBef>
                <a:spcPts val="1080"/>
              </a:spcBef>
              <a:spcAft>
                <a:spcPts val="0"/>
              </a:spcAft>
              <a:buSzPts val="2760"/>
              <a:buNone/>
            </a:pPr>
            <a:r>
              <a:rPr lang="en-US"/>
              <a:t>Jake, a burly teen with pock marks on his cheeks and a skull tattoo scroll across his bicep, kicks a scuffed military boot in the dirt. </a:t>
            </a:r>
            <a:endParaRPr/>
          </a:p>
          <a:p>
            <a:pPr indent="0" lvl="0" marL="0" rtl="0" algn="l">
              <a:spcBef>
                <a:spcPts val="1080"/>
              </a:spcBef>
              <a:spcAft>
                <a:spcPts val="0"/>
              </a:spcAft>
              <a:buSzPts val="2760"/>
              <a:buNone/>
            </a:pPr>
            <a:r>
              <a:rPr lang="en-US"/>
              <a:t>The dust circles his feet as he pulls a cigarette from behind his ear and slips it between his lips. His eyes dart to several schoolchildren that are standing in single file line waiting for their bus. He settles his gaze on a pint-size boy with a space rangers backpack slung over his small shoulders. Jake smirks as he takes a long drag from his cigarette and quickly steps forward toward the boy.</a:t>
            </a:r>
            <a:endParaRPr/>
          </a:p>
          <a:p>
            <a:pPr indent="0" lvl="0" marL="0" rtl="0" algn="l">
              <a:spcBef>
                <a:spcPts val="1080"/>
              </a:spcBef>
              <a:spcAft>
                <a:spcPts val="0"/>
              </a:spcAft>
              <a:buSzPts val="2760"/>
              <a:buNone/>
            </a:pPr>
            <a:r>
              <a:rPr lang="en-US"/>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Showing Example:</a:t>
            </a:r>
            <a:endParaRPr/>
          </a:p>
        </p:txBody>
      </p:sp>
      <p:sp>
        <p:nvSpPr>
          <p:cNvPr id="323" name="Google Shape;323;p22"/>
          <p:cNvSpPr txBox="1"/>
          <p:nvPr>
            <p:ph idx="1" type="body"/>
          </p:nvPr>
        </p:nvSpPr>
        <p:spPr>
          <a:xfrm>
            <a:off x="1085850" y="3079825"/>
            <a:ext cx="4878000" cy="1949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a:solidFill>
                  <a:schemeClr val="dk1"/>
                </a:solidFill>
              </a:rPr>
              <a:t>When writing visual content, you want to </a:t>
            </a:r>
            <a:r>
              <a:rPr b="1" lang="en-US">
                <a:solidFill>
                  <a:schemeClr val="dk1"/>
                </a:solidFill>
              </a:rPr>
              <a:t>show</a:t>
            </a:r>
            <a:r>
              <a:rPr lang="en-US">
                <a:solidFill>
                  <a:schemeClr val="dk1"/>
                </a:solidFill>
              </a:rPr>
              <a:t> the actions of the characters, the </a:t>
            </a:r>
            <a:r>
              <a:rPr b="1" lang="en-US">
                <a:solidFill>
                  <a:schemeClr val="dk1"/>
                </a:solidFill>
              </a:rPr>
              <a:t>Aesthetics</a:t>
            </a:r>
            <a:r>
              <a:rPr lang="en-US">
                <a:solidFill>
                  <a:schemeClr val="dk1"/>
                </a:solidFill>
              </a:rPr>
              <a:t> of locations, and </a:t>
            </a:r>
            <a:r>
              <a:rPr b="1" lang="en-US">
                <a:solidFill>
                  <a:schemeClr val="dk1"/>
                </a:solidFill>
              </a:rPr>
              <a:t>how</a:t>
            </a:r>
            <a:r>
              <a:rPr lang="en-US">
                <a:solidFill>
                  <a:schemeClr val="dk1"/>
                </a:solidFill>
              </a:rPr>
              <a:t> the characters </a:t>
            </a:r>
            <a:r>
              <a:rPr b="1" lang="en-US">
                <a:solidFill>
                  <a:schemeClr val="dk1"/>
                </a:solidFill>
              </a:rPr>
              <a:t>feel</a:t>
            </a:r>
            <a:r>
              <a:rPr lang="en-US">
                <a:solidFill>
                  <a:schemeClr val="dk1"/>
                </a:solidFill>
              </a:rPr>
              <a:t>.</a:t>
            </a:r>
            <a:endParaRPr/>
          </a:p>
        </p:txBody>
      </p:sp>
      <p:pic>
        <p:nvPicPr>
          <p:cNvPr id="324" name="Google Shape;324;p22"/>
          <p:cNvPicPr preferRelativeResize="0"/>
          <p:nvPr/>
        </p:nvPicPr>
        <p:blipFill>
          <a:blip r:embed="rId3">
            <a:alphaModFix/>
          </a:blip>
          <a:stretch>
            <a:fillRect/>
          </a:stretch>
        </p:blipFill>
        <p:spPr>
          <a:xfrm>
            <a:off x="6219350" y="3079837"/>
            <a:ext cx="4598175" cy="3064725"/>
          </a:xfrm>
          <a:prstGeom prst="rect">
            <a:avLst/>
          </a:prstGeom>
          <a:noFill/>
          <a:ln>
            <a:noFill/>
          </a:ln>
        </p:spPr>
      </p:pic>
      <p:sp>
        <p:nvSpPr>
          <p:cNvPr id="325" name="Google Shape;325;p22"/>
          <p:cNvSpPr txBox="1"/>
          <p:nvPr/>
        </p:nvSpPr>
        <p:spPr>
          <a:xfrm>
            <a:off x="1085850" y="5405675"/>
            <a:ext cx="48342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100">
                <a:latin typeface="Century Gothic"/>
                <a:ea typeface="Century Gothic"/>
                <a:cs typeface="Century Gothic"/>
                <a:sym typeface="Century Gothic"/>
              </a:rPr>
              <a:t>“Little did he Know”</a:t>
            </a:r>
            <a:r>
              <a:rPr lang="en-US" sz="1100">
                <a:latin typeface="Century Gothic"/>
                <a:ea typeface="Century Gothic"/>
                <a:cs typeface="Century Gothic"/>
                <a:sym typeface="Century Gothic"/>
              </a:rPr>
              <a:t> - A shot from “Stranger than Fiction” that plays with the idea of a </a:t>
            </a:r>
            <a:r>
              <a:rPr lang="en-US" sz="1100">
                <a:latin typeface="Century Gothic"/>
                <a:ea typeface="Century Gothic"/>
                <a:cs typeface="Century Gothic"/>
                <a:sym typeface="Century Gothic"/>
              </a:rPr>
              <a:t>character</a:t>
            </a:r>
            <a:r>
              <a:rPr lang="en-US" sz="1100">
                <a:latin typeface="Century Gothic"/>
                <a:ea typeface="Century Gothic"/>
                <a:cs typeface="Century Gothic"/>
                <a:sym typeface="Century Gothic"/>
              </a:rPr>
              <a:t> hearing events in his own life dictated by a narrator.</a:t>
            </a:r>
            <a:endParaRPr sz="1100">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Elements of a Story</a:t>
            </a:r>
            <a:endParaRPr/>
          </a:p>
        </p:txBody>
      </p:sp>
      <p:sp>
        <p:nvSpPr>
          <p:cNvPr id="332" name="Google Shape;332;p23"/>
          <p:cNvSpPr txBox="1"/>
          <p:nvPr>
            <p:ph idx="1" type="body"/>
          </p:nvPr>
        </p:nvSpPr>
        <p:spPr>
          <a:xfrm>
            <a:off x="6724650" y="2838450"/>
            <a:ext cx="4381500" cy="2819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None/>
            </a:pPr>
            <a:r>
              <a:rPr lang="en-US" sz="2800">
                <a:solidFill>
                  <a:schemeClr val="dk1"/>
                </a:solidFill>
              </a:rPr>
              <a:t>Most stories start out as an </a:t>
            </a:r>
            <a:r>
              <a:rPr b="1" lang="en-US" sz="2800">
                <a:solidFill>
                  <a:schemeClr val="dk1"/>
                </a:solidFill>
              </a:rPr>
              <a:t>idea</a:t>
            </a:r>
            <a:r>
              <a:rPr lang="en-US" sz="2800">
                <a:solidFill>
                  <a:schemeClr val="dk1"/>
                </a:solidFill>
              </a:rPr>
              <a:t> without structure </a:t>
            </a:r>
            <a:r>
              <a:rPr i="1" lang="en-US" sz="2800">
                <a:solidFill>
                  <a:schemeClr val="dk1"/>
                </a:solidFill>
              </a:rPr>
              <a:t>(for example dreams)</a:t>
            </a:r>
            <a:endParaRPr/>
          </a:p>
        </p:txBody>
      </p:sp>
      <p:pic>
        <p:nvPicPr>
          <p:cNvPr descr="Image result for dream" id="333" name="Google Shape;333;p23"/>
          <p:cNvPicPr preferRelativeResize="0"/>
          <p:nvPr/>
        </p:nvPicPr>
        <p:blipFill rotWithShape="1">
          <a:blip r:embed="rId3">
            <a:alphaModFix/>
          </a:blip>
          <a:srcRect b="0" l="0" r="0" t="0"/>
          <a:stretch/>
        </p:blipFill>
        <p:spPr>
          <a:xfrm>
            <a:off x="1619250" y="2669391"/>
            <a:ext cx="4670424" cy="327020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Elements of a Story</a:t>
            </a:r>
            <a:endParaRPr/>
          </a:p>
        </p:txBody>
      </p:sp>
      <p:sp>
        <p:nvSpPr>
          <p:cNvPr id="340" name="Google Shape;340;p24"/>
          <p:cNvSpPr txBox="1"/>
          <p:nvPr>
            <p:ph idx="1" type="body"/>
          </p:nvPr>
        </p:nvSpPr>
        <p:spPr>
          <a:xfrm>
            <a:off x="6724650" y="2838450"/>
            <a:ext cx="4381500" cy="2819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None/>
            </a:pPr>
            <a:r>
              <a:rPr lang="en-US" sz="2800">
                <a:solidFill>
                  <a:schemeClr val="dk1"/>
                </a:solidFill>
              </a:rPr>
              <a:t>Most stories start out as an </a:t>
            </a:r>
            <a:r>
              <a:rPr b="1" lang="en-US" sz="2800">
                <a:solidFill>
                  <a:schemeClr val="dk1"/>
                </a:solidFill>
              </a:rPr>
              <a:t>idea</a:t>
            </a:r>
            <a:r>
              <a:rPr lang="en-US" sz="2800">
                <a:solidFill>
                  <a:schemeClr val="dk1"/>
                </a:solidFill>
              </a:rPr>
              <a:t> without structure </a:t>
            </a:r>
            <a:r>
              <a:rPr i="1" lang="en-US" sz="2800">
                <a:solidFill>
                  <a:schemeClr val="dk1"/>
                </a:solidFill>
              </a:rPr>
              <a:t>(for example dreams)</a:t>
            </a:r>
            <a:endParaRPr/>
          </a:p>
          <a:p>
            <a:pPr indent="0" lvl="0" marL="0" rtl="0" algn="l">
              <a:spcBef>
                <a:spcPts val="0"/>
              </a:spcBef>
              <a:spcAft>
                <a:spcPts val="0"/>
              </a:spcAft>
              <a:buClr>
                <a:srgbClr val="262626"/>
              </a:buClr>
              <a:buSzPts val="2800"/>
              <a:buNone/>
            </a:pPr>
            <a:r>
              <a:t/>
            </a:r>
            <a:endParaRPr i="1" sz="2800">
              <a:solidFill>
                <a:schemeClr val="dk1"/>
              </a:solidFill>
            </a:endParaRPr>
          </a:p>
          <a:p>
            <a:pPr indent="0" lvl="0" marL="0" rtl="0" algn="l">
              <a:spcBef>
                <a:spcPts val="0"/>
              </a:spcBef>
              <a:spcAft>
                <a:spcPts val="0"/>
              </a:spcAft>
              <a:buClr>
                <a:schemeClr val="dk1"/>
              </a:buClr>
              <a:buSzPts val="2800"/>
              <a:buNone/>
            </a:pPr>
            <a:r>
              <a:rPr lang="en-US" sz="2800">
                <a:solidFill>
                  <a:schemeClr val="dk1"/>
                </a:solidFill>
              </a:rPr>
              <a:t>Fragments of Images strung together.</a:t>
            </a:r>
            <a:endParaRPr/>
          </a:p>
        </p:txBody>
      </p:sp>
      <p:pic>
        <p:nvPicPr>
          <p:cNvPr descr="Image result for dream" id="341" name="Google Shape;341;p24"/>
          <p:cNvPicPr preferRelativeResize="0"/>
          <p:nvPr/>
        </p:nvPicPr>
        <p:blipFill rotWithShape="1">
          <a:blip r:embed="rId3">
            <a:alphaModFix/>
          </a:blip>
          <a:srcRect b="0" l="0" r="0" t="0"/>
          <a:stretch/>
        </p:blipFill>
        <p:spPr>
          <a:xfrm>
            <a:off x="1619250" y="2669391"/>
            <a:ext cx="4670424" cy="327020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Elements of a Story</a:t>
            </a:r>
            <a:endParaRPr/>
          </a:p>
        </p:txBody>
      </p:sp>
      <p:sp>
        <p:nvSpPr>
          <p:cNvPr id="348" name="Google Shape;348;p25"/>
          <p:cNvSpPr txBox="1"/>
          <p:nvPr>
            <p:ph idx="1" type="body"/>
          </p:nvPr>
        </p:nvSpPr>
        <p:spPr>
          <a:xfrm>
            <a:off x="6724650" y="2838450"/>
            <a:ext cx="4381500" cy="28194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2800"/>
              <a:buChar char="•"/>
            </a:pPr>
            <a:r>
              <a:rPr i="1" lang="en-US" sz="2800">
                <a:solidFill>
                  <a:schemeClr val="dk1"/>
                </a:solidFill>
              </a:rPr>
              <a:t>Abstract</a:t>
            </a:r>
            <a:r>
              <a:rPr lang="en-US" sz="2800">
                <a:solidFill>
                  <a:schemeClr val="dk1"/>
                </a:solidFill>
              </a:rPr>
              <a:t> images that take form over time</a:t>
            </a:r>
            <a:endParaRPr/>
          </a:p>
          <a:p>
            <a:pPr indent="-107950" lvl="0" marL="285750" rtl="0" algn="l">
              <a:spcBef>
                <a:spcPts val="0"/>
              </a:spcBef>
              <a:spcAft>
                <a:spcPts val="0"/>
              </a:spcAft>
              <a:buClr>
                <a:srgbClr val="262626"/>
              </a:buClr>
              <a:buSzPts val="2800"/>
              <a:buNone/>
            </a:pPr>
            <a:r>
              <a:t/>
            </a:r>
            <a:endParaRPr sz="2800">
              <a:solidFill>
                <a:schemeClr val="dk1"/>
              </a:solidFill>
            </a:endParaRPr>
          </a:p>
          <a:p>
            <a:pPr indent="-285750" lvl="0" marL="285750" rtl="0" algn="l">
              <a:spcBef>
                <a:spcPts val="0"/>
              </a:spcBef>
              <a:spcAft>
                <a:spcPts val="0"/>
              </a:spcAft>
              <a:buClr>
                <a:schemeClr val="dk1"/>
              </a:buClr>
              <a:buSzPts val="2800"/>
              <a:buChar char="•"/>
            </a:pPr>
            <a:r>
              <a:rPr lang="en-US" sz="2800">
                <a:solidFill>
                  <a:schemeClr val="dk1"/>
                </a:solidFill>
              </a:rPr>
              <a:t>Structure and order added later.</a:t>
            </a:r>
            <a:endParaRPr/>
          </a:p>
        </p:txBody>
      </p:sp>
      <p:pic>
        <p:nvPicPr>
          <p:cNvPr descr="Image result for dream" id="349" name="Google Shape;349;p25"/>
          <p:cNvPicPr preferRelativeResize="0"/>
          <p:nvPr/>
        </p:nvPicPr>
        <p:blipFill rotWithShape="1">
          <a:blip r:embed="rId3">
            <a:alphaModFix/>
          </a:blip>
          <a:srcRect b="0" l="0" r="0" t="0"/>
          <a:stretch/>
        </p:blipFill>
        <p:spPr>
          <a:xfrm>
            <a:off x="1619250" y="2669391"/>
            <a:ext cx="4670424" cy="327020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Example</a:t>
            </a:r>
            <a:endParaRPr/>
          </a:p>
        </p:txBody>
      </p:sp>
      <p:sp>
        <p:nvSpPr>
          <p:cNvPr id="356" name="Google Shape;356;p26"/>
          <p:cNvSpPr txBox="1"/>
          <p:nvPr>
            <p:ph idx="1" type="body"/>
          </p:nvPr>
        </p:nvSpPr>
        <p:spPr>
          <a:xfrm>
            <a:off x="8362948" y="2838450"/>
            <a:ext cx="2533650" cy="2819400"/>
          </a:xfrm>
          <a:prstGeom prst="rect">
            <a:avLst/>
          </a:prstGeom>
          <a:noFill/>
          <a:ln>
            <a:noFill/>
          </a:ln>
        </p:spPr>
        <p:txBody>
          <a:bodyPr anchorCtr="0" anchor="t" bIns="45700" lIns="91425" spcFirstLastPara="1" rIns="91425" wrap="square" tIns="45700">
            <a:noAutofit/>
          </a:bodyPr>
          <a:lstStyle/>
          <a:p>
            <a:pPr indent="-285750" lvl="0" marL="285750" rtl="0" algn="ctr">
              <a:spcBef>
                <a:spcPts val="0"/>
              </a:spcBef>
              <a:spcAft>
                <a:spcPts val="0"/>
              </a:spcAft>
              <a:buClr>
                <a:schemeClr val="dk1"/>
              </a:buClr>
              <a:buSzPts val="3600"/>
              <a:buChar char="•"/>
            </a:pPr>
            <a:r>
              <a:rPr lang="en-US" sz="3600">
                <a:solidFill>
                  <a:schemeClr val="dk1"/>
                </a:solidFill>
              </a:rPr>
              <a:t>Bridge</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Boat</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Cyclist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Example</a:t>
            </a:r>
            <a:endParaRPr/>
          </a:p>
        </p:txBody>
      </p:sp>
      <p:sp>
        <p:nvSpPr>
          <p:cNvPr id="363" name="Google Shape;363;p27"/>
          <p:cNvSpPr txBox="1"/>
          <p:nvPr>
            <p:ph idx="1" type="body"/>
          </p:nvPr>
        </p:nvSpPr>
        <p:spPr>
          <a:xfrm>
            <a:off x="8020050" y="2838450"/>
            <a:ext cx="2876548" cy="2819400"/>
          </a:xfrm>
          <a:prstGeom prst="rect">
            <a:avLst/>
          </a:prstGeom>
          <a:noFill/>
          <a:ln>
            <a:noFill/>
          </a:ln>
        </p:spPr>
        <p:txBody>
          <a:bodyPr anchorCtr="0" anchor="t" bIns="45700" lIns="91425" spcFirstLastPara="1" rIns="91425" wrap="square" tIns="45700">
            <a:noAutofit/>
          </a:bodyPr>
          <a:lstStyle/>
          <a:p>
            <a:pPr indent="-285750" lvl="0" marL="285750" rtl="0" algn="ctr">
              <a:spcBef>
                <a:spcPts val="0"/>
              </a:spcBef>
              <a:spcAft>
                <a:spcPts val="0"/>
              </a:spcAft>
              <a:buClr>
                <a:schemeClr val="dk1"/>
              </a:buClr>
              <a:buSzPts val="3600"/>
              <a:buChar char="•"/>
            </a:pPr>
            <a:r>
              <a:rPr lang="en-US" sz="3600">
                <a:solidFill>
                  <a:schemeClr val="dk1"/>
                </a:solidFill>
              </a:rPr>
              <a:t>Bridge</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Boat</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Cyclist</a:t>
            </a:r>
            <a:endParaRPr/>
          </a:p>
        </p:txBody>
      </p:sp>
      <p:pic>
        <p:nvPicPr>
          <p:cNvPr descr="Image result for bicycle messenger across bridge" id="364" name="Google Shape;364;p27"/>
          <p:cNvPicPr preferRelativeResize="0"/>
          <p:nvPr/>
        </p:nvPicPr>
        <p:blipFill rotWithShape="1">
          <a:blip r:embed="rId3">
            <a:alphaModFix/>
          </a:blip>
          <a:srcRect b="0" l="0" r="0" t="0"/>
          <a:stretch/>
        </p:blipFill>
        <p:spPr>
          <a:xfrm>
            <a:off x="1295402" y="2881768"/>
            <a:ext cx="6359525" cy="27760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Example</a:t>
            </a:r>
            <a:endParaRPr/>
          </a:p>
        </p:txBody>
      </p:sp>
      <p:sp>
        <p:nvSpPr>
          <p:cNvPr id="371" name="Google Shape;371;p28"/>
          <p:cNvSpPr txBox="1"/>
          <p:nvPr>
            <p:ph idx="1" type="body"/>
          </p:nvPr>
        </p:nvSpPr>
        <p:spPr>
          <a:xfrm>
            <a:off x="8020050" y="2838450"/>
            <a:ext cx="2876548" cy="2819400"/>
          </a:xfrm>
          <a:prstGeom prst="rect">
            <a:avLst/>
          </a:prstGeom>
          <a:noFill/>
          <a:ln>
            <a:noFill/>
          </a:ln>
        </p:spPr>
        <p:txBody>
          <a:bodyPr anchorCtr="0" anchor="t" bIns="45700" lIns="91425" spcFirstLastPara="1" rIns="91425" wrap="square" tIns="45700">
            <a:noAutofit/>
          </a:bodyPr>
          <a:lstStyle/>
          <a:p>
            <a:pPr indent="-285750" lvl="0" marL="285750" rtl="0" algn="ctr">
              <a:spcBef>
                <a:spcPts val="0"/>
              </a:spcBef>
              <a:spcAft>
                <a:spcPts val="0"/>
              </a:spcAft>
              <a:buClr>
                <a:schemeClr val="dk1"/>
              </a:buClr>
              <a:buSzPts val="3600"/>
              <a:buChar char="•"/>
            </a:pPr>
            <a:r>
              <a:rPr lang="en-US" sz="3600">
                <a:solidFill>
                  <a:schemeClr val="dk1"/>
                </a:solidFill>
              </a:rPr>
              <a:t>Bridge</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Boat</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Cyclist</a:t>
            </a:r>
            <a:endParaRPr/>
          </a:p>
        </p:txBody>
      </p:sp>
      <p:pic>
        <p:nvPicPr>
          <p:cNvPr descr="Image result for bicycle messenger across bridge" id="372" name="Google Shape;372;p28"/>
          <p:cNvPicPr preferRelativeResize="0"/>
          <p:nvPr/>
        </p:nvPicPr>
        <p:blipFill rotWithShape="1">
          <a:blip r:embed="rId3">
            <a:alphaModFix/>
          </a:blip>
          <a:srcRect b="0" l="0" r="0" t="0"/>
          <a:stretch/>
        </p:blipFill>
        <p:spPr>
          <a:xfrm>
            <a:off x="1295402" y="2881768"/>
            <a:ext cx="6359525" cy="277608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Example</a:t>
            </a:r>
            <a:endParaRPr/>
          </a:p>
        </p:txBody>
      </p:sp>
      <p:sp>
        <p:nvSpPr>
          <p:cNvPr id="379" name="Google Shape;379;p29"/>
          <p:cNvSpPr txBox="1"/>
          <p:nvPr>
            <p:ph idx="1" type="body"/>
          </p:nvPr>
        </p:nvSpPr>
        <p:spPr>
          <a:xfrm>
            <a:off x="8020050" y="2838450"/>
            <a:ext cx="2876548" cy="2819400"/>
          </a:xfrm>
          <a:prstGeom prst="rect">
            <a:avLst/>
          </a:prstGeom>
          <a:noFill/>
          <a:ln>
            <a:noFill/>
          </a:ln>
        </p:spPr>
        <p:txBody>
          <a:bodyPr anchorCtr="0" anchor="t" bIns="45700" lIns="91425" spcFirstLastPara="1" rIns="91425" wrap="square" tIns="45700">
            <a:noAutofit/>
          </a:bodyPr>
          <a:lstStyle/>
          <a:p>
            <a:pPr indent="-285750" lvl="0" marL="285750" rtl="0" algn="ctr">
              <a:spcBef>
                <a:spcPts val="0"/>
              </a:spcBef>
              <a:spcAft>
                <a:spcPts val="0"/>
              </a:spcAft>
              <a:buClr>
                <a:schemeClr val="dk1"/>
              </a:buClr>
              <a:buSzPts val="3600"/>
              <a:buChar char="•"/>
            </a:pPr>
            <a:r>
              <a:rPr lang="en-US" sz="3600">
                <a:solidFill>
                  <a:schemeClr val="dk1"/>
                </a:solidFill>
              </a:rPr>
              <a:t>Bridge</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Boat</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Cyclist</a:t>
            </a:r>
            <a:endParaRPr/>
          </a:p>
        </p:txBody>
      </p:sp>
      <p:pic>
        <p:nvPicPr>
          <p:cNvPr descr="Image result for ticking clock" id="380" name="Google Shape;380;p29"/>
          <p:cNvPicPr preferRelativeResize="0"/>
          <p:nvPr/>
        </p:nvPicPr>
        <p:blipFill rotWithShape="1">
          <a:blip r:embed="rId3">
            <a:alphaModFix/>
          </a:blip>
          <a:srcRect b="-712" l="5341" r="24450" t="712"/>
          <a:stretch/>
        </p:blipFill>
        <p:spPr>
          <a:xfrm>
            <a:off x="4614369" y="3028912"/>
            <a:ext cx="3691432" cy="2628938"/>
          </a:xfrm>
          <a:prstGeom prst="rect">
            <a:avLst/>
          </a:prstGeom>
          <a:noFill/>
          <a:ln>
            <a:noFill/>
          </a:ln>
        </p:spPr>
      </p:pic>
      <p:pic>
        <p:nvPicPr>
          <p:cNvPr descr="Image result for drawbridge traffic" id="381" name="Google Shape;381;p29"/>
          <p:cNvPicPr preferRelativeResize="0"/>
          <p:nvPr/>
        </p:nvPicPr>
        <p:blipFill rotWithShape="1">
          <a:blip r:embed="rId4">
            <a:alphaModFix/>
          </a:blip>
          <a:srcRect b="0" l="16958" r="9791" t="0"/>
          <a:stretch/>
        </p:blipFill>
        <p:spPr>
          <a:xfrm>
            <a:off x="1436689" y="3028912"/>
            <a:ext cx="2906711" cy="26289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Example</a:t>
            </a:r>
            <a:endParaRPr/>
          </a:p>
        </p:txBody>
      </p:sp>
      <p:sp>
        <p:nvSpPr>
          <p:cNvPr id="388" name="Google Shape;388;p30"/>
          <p:cNvSpPr txBox="1"/>
          <p:nvPr>
            <p:ph idx="1" type="body"/>
          </p:nvPr>
        </p:nvSpPr>
        <p:spPr>
          <a:xfrm>
            <a:off x="8020050" y="2838450"/>
            <a:ext cx="2876548" cy="2819400"/>
          </a:xfrm>
          <a:prstGeom prst="rect">
            <a:avLst/>
          </a:prstGeom>
          <a:noFill/>
          <a:ln>
            <a:noFill/>
          </a:ln>
        </p:spPr>
        <p:txBody>
          <a:bodyPr anchorCtr="0" anchor="t" bIns="45700" lIns="91425" spcFirstLastPara="1" rIns="91425" wrap="square" tIns="45700">
            <a:noAutofit/>
          </a:bodyPr>
          <a:lstStyle/>
          <a:p>
            <a:pPr indent="-285750" lvl="0" marL="285750" rtl="0" algn="ctr">
              <a:spcBef>
                <a:spcPts val="0"/>
              </a:spcBef>
              <a:spcAft>
                <a:spcPts val="0"/>
              </a:spcAft>
              <a:buClr>
                <a:schemeClr val="dk1"/>
              </a:buClr>
              <a:buSzPts val="3600"/>
              <a:buChar char="•"/>
            </a:pPr>
            <a:r>
              <a:rPr lang="en-US" sz="3600">
                <a:solidFill>
                  <a:schemeClr val="dk1"/>
                </a:solidFill>
              </a:rPr>
              <a:t>Bridge</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Boat</a:t>
            </a:r>
            <a:br>
              <a:rPr lang="en-US" sz="3600">
                <a:solidFill>
                  <a:schemeClr val="dk1"/>
                </a:solidFill>
              </a:rPr>
            </a:br>
            <a:endParaRPr sz="3600">
              <a:solidFill>
                <a:schemeClr val="dk1"/>
              </a:solidFill>
            </a:endParaRPr>
          </a:p>
          <a:p>
            <a:pPr indent="-285750" lvl="0" marL="285750" rtl="0" algn="ctr">
              <a:spcBef>
                <a:spcPts val="0"/>
              </a:spcBef>
              <a:spcAft>
                <a:spcPts val="0"/>
              </a:spcAft>
              <a:buClr>
                <a:schemeClr val="dk1"/>
              </a:buClr>
              <a:buSzPts val="3600"/>
              <a:buChar char="•"/>
            </a:pPr>
            <a:r>
              <a:rPr lang="en-US" sz="3600">
                <a:solidFill>
                  <a:schemeClr val="dk1"/>
                </a:solidFill>
              </a:rPr>
              <a:t>Cyclist</a:t>
            </a:r>
            <a:endParaRPr/>
          </a:p>
        </p:txBody>
      </p:sp>
      <p:pic>
        <p:nvPicPr>
          <p:cNvPr descr="Image result for ticking clock" id="389" name="Google Shape;389;p30"/>
          <p:cNvPicPr preferRelativeResize="0"/>
          <p:nvPr/>
        </p:nvPicPr>
        <p:blipFill rotWithShape="1">
          <a:blip r:embed="rId3">
            <a:alphaModFix/>
          </a:blip>
          <a:srcRect b="-712" l="5341" r="24450" t="712"/>
          <a:stretch/>
        </p:blipFill>
        <p:spPr>
          <a:xfrm>
            <a:off x="4614369" y="3028912"/>
            <a:ext cx="3691432" cy="2628938"/>
          </a:xfrm>
          <a:prstGeom prst="rect">
            <a:avLst/>
          </a:prstGeom>
          <a:noFill/>
          <a:ln>
            <a:noFill/>
          </a:ln>
        </p:spPr>
      </p:pic>
      <p:pic>
        <p:nvPicPr>
          <p:cNvPr descr="Image result for drawbridge traffic" id="390" name="Google Shape;390;p30"/>
          <p:cNvPicPr preferRelativeResize="0"/>
          <p:nvPr/>
        </p:nvPicPr>
        <p:blipFill rotWithShape="1">
          <a:blip r:embed="rId4">
            <a:alphaModFix/>
          </a:blip>
          <a:srcRect b="0" l="16958" r="9791" t="0"/>
          <a:stretch/>
        </p:blipFill>
        <p:spPr>
          <a:xfrm>
            <a:off x="1436689" y="3028912"/>
            <a:ext cx="2906711" cy="262893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Dramatic Structure:</a:t>
            </a:r>
            <a:endParaRPr/>
          </a:p>
        </p:txBody>
      </p:sp>
      <p:sp>
        <p:nvSpPr>
          <p:cNvPr id="397" name="Google Shape;397;p3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680"/>
              <a:buNone/>
            </a:pPr>
            <a:r>
              <a:t/>
            </a:r>
            <a:endParaRPr b="1" sz="3200"/>
          </a:p>
          <a:p>
            <a:pPr indent="-285750" lvl="0" marL="285750" rtl="0" algn="l">
              <a:spcBef>
                <a:spcPts val="1240"/>
              </a:spcBef>
              <a:spcAft>
                <a:spcPts val="0"/>
              </a:spcAft>
              <a:buSzPts val="3680"/>
              <a:buChar char="•"/>
            </a:pPr>
            <a:r>
              <a:rPr lang="en-US" sz="3200"/>
              <a:t>as the </a:t>
            </a:r>
            <a:r>
              <a:rPr b="1" lang="en-US" sz="3200"/>
              <a:t>beginning</a:t>
            </a:r>
            <a:r>
              <a:rPr lang="en-US" sz="3200"/>
              <a:t>, </a:t>
            </a:r>
            <a:r>
              <a:rPr b="1" lang="en-US" sz="3200"/>
              <a:t>middle</a:t>
            </a:r>
            <a:r>
              <a:rPr lang="en-US" sz="3200"/>
              <a:t>, and </a:t>
            </a:r>
            <a:r>
              <a:rPr b="1" lang="en-US" sz="3200"/>
              <a:t>end</a:t>
            </a:r>
            <a:r>
              <a:rPr lang="en-US" sz="3200"/>
              <a:t>, </a:t>
            </a:r>
            <a:endParaRPr/>
          </a:p>
          <a:p>
            <a:pPr indent="-285750" lvl="0" marL="285750" rtl="0" algn="l">
              <a:spcBef>
                <a:spcPts val="1240"/>
              </a:spcBef>
              <a:spcAft>
                <a:spcPts val="0"/>
              </a:spcAft>
              <a:buSzPts val="3680"/>
              <a:buChar char="•"/>
            </a:pPr>
            <a:r>
              <a:rPr b="1" lang="en-US" sz="3200"/>
              <a:t>act 1</a:t>
            </a:r>
            <a:r>
              <a:rPr lang="en-US" sz="3200"/>
              <a:t>, </a:t>
            </a:r>
            <a:r>
              <a:rPr b="1" lang="en-US" sz="3200"/>
              <a:t>act 2, </a:t>
            </a:r>
            <a:r>
              <a:rPr lang="en-US" sz="3200"/>
              <a:t>and </a:t>
            </a:r>
            <a:r>
              <a:rPr b="1" lang="en-US" sz="3200"/>
              <a:t>act 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descr="Image result for joseph campbell hero's journey" id="403" name="Google Shape;403;p32"/>
          <p:cNvPicPr preferRelativeResize="0"/>
          <p:nvPr/>
        </p:nvPicPr>
        <p:blipFill rotWithShape="1">
          <a:blip r:embed="rId3">
            <a:alphaModFix/>
          </a:blip>
          <a:srcRect b="0" l="0" r="0" t="0"/>
          <a:stretch/>
        </p:blipFill>
        <p:spPr>
          <a:xfrm>
            <a:off x="2514600" y="718493"/>
            <a:ext cx="7236931" cy="543465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descr="Image result for joseph campbell hero's journey" id="409" name="Google Shape;409;p33"/>
          <p:cNvPicPr preferRelativeResize="0"/>
          <p:nvPr/>
        </p:nvPicPr>
        <p:blipFill rotWithShape="1">
          <a:blip r:embed="rId3">
            <a:alphaModFix/>
          </a:blip>
          <a:srcRect b="0" l="0" r="0" t="0"/>
          <a:stretch/>
        </p:blipFill>
        <p:spPr>
          <a:xfrm>
            <a:off x="2514600" y="718493"/>
            <a:ext cx="7236931" cy="543465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Image result for joseph campbell hero's journey" id="415" name="Google Shape;415;p34"/>
          <p:cNvPicPr preferRelativeResize="0"/>
          <p:nvPr/>
        </p:nvPicPr>
        <p:blipFill rotWithShape="1">
          <a:blip r:embed="rId3">
            <a:alphaModFix/>
          </a:blip>
          <a:srcRect b="0" l="0" r="0" t="0"/>
          <a:stretch/>
        </p:blipFill>
        <p:spPr>
          <a:xfrm>
            <a:off x="2514600" y="718493"/>
            <a:ext cx="7236931" cy="543465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5"/>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But why stories about Heroes?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6"/>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But why stories about Heroes?</a:t>
            </a:r>
            <a:endParaRPr/>
          </a:p>
        </p:txBody>
      </p:sp>
      <p:sp>
        <p:nvSpPr>
          <p:cNvPr id="428" name="Google Shape;428;p36"/>
          <p:cNvSpPr txBox="1"/>
          <p:nvPr/>
        </p:nvSpPr>
        <p:spPr>
          <a:xfrm>
            <a:off x="1447800" y="3429000"/>
            <a:ext cx="944879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Because these are the stories worth telling.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7"/>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8"/>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41" name="Google Shape;441;p38"/>
          <p:cNvSpPr txBox="1"/>
          <p:nvPr/>
        </p:nvSpPr>
        <p:spPr>
          <a:xfrm>
            <a:off x="1295402" y="3314700"/>
            <a:ext cx="9601196" cy="224676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800"/>
              <a:buFont typeface="Arial"/>
              <a:buChar char="•"/>
            </a:pPr>
            <a:r>
              <a:rPr b="1" lang="en-US" sz="2800">
                <a:solidFill>
                  <a:schemeClr val="dk1"/>
                </a:solidFill>
                <a:latin typeface="Century Gothic"/>
                <a:ea typeface="Century Gothic"/>
                <a:cs typeface="Century Gothic"/>
                <a:sym typeface="Century Gothic"/>
              </a:rPr>
              <a:t>Who</a:t>
            </a:r>
            <a:r>
              <a:rPr lang="en-US" sz="2800">
                <a:solidFill>
                  <a:schemeClr val="dk1"/>
                </a:solidFill>
                <a:latin typeface="Century Gothic"/>
                <a:ea typeface="Century Gothic"/>
                <a:cs typeface="Century Gothic"/>
                <a:sym typeface="Century Gothic"/>
              </a:rPr>
              <a:t> are the characters? </a:t>
            </a:r>
            <a:endParaRPr/>
          </a:p>
          <a:p>
            <a:pPr indent="-342900" lvl="0" marL="342900" marR="0" rtl="0" algn="l">
              <a:spcBef>
                <a:spcPts val="0"/>
              </a:spcBef>
              <a:spcAft>
                <a:spcPts val="0"/>
              </a:spcAft>
              <a:buClr>
                <a:schemeClr val="dk1"/>
              </a:buClr>
              <a:buSzPts val="2800"/>
              <a:buFont typeface="Arial"/>
              <a:buChar char="•"/>
            </a:pPr>
            <a:r>
              <a:rPr b="1" lang="en-US" sz="2800">
                <a:solidFill>
                  <a:schemeClr val="dk1"/>
                </a:solidFill>
                <a:latin typeface="Century Gothic"/>
                <a:ea typeface="Century Gothic"/>
                <a:cs typeface="Century Gothic"/>
                <a:sym typeface="Century Gothic"/>
              </a:rPr>
              <a:t>Where</a:t>
            </a:r>
            <a:r>
              <a:rPr lang="en-US" sz="2800">
                <a:solidFill>
                  <a:schemeClr val="dk1"/>
                </a:solidFill>
                <a:latin typeface="Century Gothic"/>
                <a:ea typeface="Century Gothic"/>
                <a:cs typeface="Century Gothic"/>
                <a:sym typeface="Century Gothic"/>
              </a:rPr>
              <a:t> are they? </a:t>
            </a:r>
            <a:endParaRPr/>
          </a:p>
          <a:p>
            <a:pPr indent="-342900" lvl="0" marL="342900" marR="0" rtl="0" algn="l">
              <a:spcBef>
                <a:spcPts val="0"/>
              </a:spcBef>
              <a:spcAft>
                <a:spcPts val="0"/>
              </a:spcAft>
              <a:buClr>
                <a:schemeClr val="dk1"/>
              </a:buClr>
              <a:buSzPts val="2800"/>
              <a:buFont typeface="Arial"/>
              <a:buChar char="•"/>
            </a:pPr>
            <a:r>
              <a:rPr b="1" lang="en-US" sz="2800">
                <a:solidFill>
                  <a:schemeClr val="dk1"/>
                </a:solidFill>
                <a:latin typeface="Century Gothic"/>
                <a:ea typeface="Century Gothic"/>
                <a:cs typeface="Century Gothic"/>
                <a:sym typeface="Century Gothic"/>
              </a:rPr>
              <a:t>When</a:t>
            </a:r>
            <a:r>
              <a:rPr lang="en-US" sz="2800">
                <a:solidFill>
                  <a:schemeClr val="dk1"/>
                </a:solidFill>
                <a:latin typeface="Century Gothic"/>
                <a:ea typeface="Century Gothic"/>
                <a:cs typeface="Century Gothic"/>
                <a:sym typeface="Century Gothic"/>
              </a:rPr>
              <a:t> does the story take place </a:t>
            </a:r>
            <a:r>
              <a:rPr lang="en-US" sz="2000">
                <a:solidFill>
                  <a:schemeClr val="dk1"/>
                </a:solidFill>
                <a:latin typeface="Century Gothic"/>
                <a:ea typeface="Century Gothic"/>
                <a:cs typeface="Century Gothic"/>
                <a:sym typeface="Century Gothic"/>
              </a:rPr>
              <a:t>(the future, past, or present)</a:t>
            </a:r>
            <a:r>
              <a:rPr lang="en-US" sz="2800">
                <a:solidFill>
                  <a:schemeClr val="dk1"/>
                </a:solidFill>
                <a:latin typeface="Century Gothic"/>
                <a:ea typeface="Century Gothic"/>
                <a:cs typeface="Century Gothic"/>
                <a:sym typeface="Century Gothic"/>
              </a:rPr>
              <a:t>?</a:t>
            </a:r>
            <a:endParaRPr/>
          </a:p>
          <a:p>
            <a:pPr indent="-342900" lvl="0" marL="342900" marR="0" rtl="0" algn="l">
              <a:spcBef>
                <a:spcPts val="0"/>
              </a:spcBef>
              <a:spcAft>
                <a:spcPts val="0"/>
              </a:spcAft>
              <a:buClr>
                <a:schemeClr val="dk1"/>
              </a:buClr>
              <a:buSzPts val="2800"/>
              <a:buFont typeface="Arial"/>
              <a:buChar char="•"/>
            </a:pPr>
            <a:r>
              <a:rPr b="1" lang="en-US" sz="2800">
                <a:solidFill>
                  <a:schemeClr val="dk1"/>
                </a:solidFill>
                <a:latin typeface="Century Gothic"/>
                <a:ea typeface="Century Gothic"/>
                <a:cs typeface="Century Gothic"/>
                <a:sym typeface="Century Gothic"/>
              </a:rPr>
              <a:t>Why</a:t>
            </a:r>
            <a:r>
              <a:rPr lang="en-US" sz="2800">
                <a:solidFill>
                  <a:schemeClr val="dk1"/>
                </a:solidFill>
                <a:latin typeface="Century Gothic"/>
                <a:ea typeface="Century Gothic"/>
                <a:cs typeface="Century Gothic"/>
                <a:sym typeface="Century Gothic"/>
              </a:rPr>
              <a:t> are the characters there?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descr="Image result for merlin transformers the last knight" id="447" name="Google Shape;447;p39"/>
          <p:cNvPicPr preferRelativeResize="0"/>
          <p:nvPr/>
        </p:nvPicPr>
        <p:blipFill rotWithShape="1">
          <a:blip r:embed="rId3">
            <a:alphaModFix/>
          </a:blip>
          <a:srcRect b="0" l="0" r="0" t="0"/>
          <a:stretch/>
        </p:blipFill>
        <p:spPr>
          <a:xfrm>
            <a:off x="2533652" y="2557461"/>
            <a:ext cx="7185025" cy="3592513"/>
          </a:xfrm>
          <a:prstGeom prst="rect">
            <a:avLst/>
          </a:prstGeom>
          <a:noFill/>
          <a:ln>
            <a:noFill/>
          </a:ln>
        </p:spPr>
      </p:pic>
      <p:sp>
        <p:nvSpPr>
          <p:cNvPr id="448" name="Google Shape;448;p39"/>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49" name="Google Shape;449;p39"/>
          <p:cNvSpPr txBox="1"/>
          <p:nvPr/>
        </p:nvSpPr>
        <p:spPr>
          <a:xfrm>
            <a:off x="2533652" y="5780642"/>
            <a:ext cx="45529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(Transformers: The Last Knight)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descr="Image result for merlin transformers the last knight" id="455" name="Google Shape;455;p40"/>
          <p:cNvPicPr preferRelativeResize="0"/>
          <p:nvPr/>
        </p:nvPicPr>
        <p:blipFill rotWithShape="1">
          <a:blip r:embed="rId3">
            <a:alphaModFix/>
          </a:blip>
          <a:srcRect b="0" l="0" r="0" t="0"/>
          <a:stretch/>
        </p:blipFill>
        <p:spPr>
          <a:xfrm>
            <a:off x="2533652" y="2557461"/>
            <a:ext cx="7185025" cy="3592513"/>
          </a:xfrm>
          <a:prstGeom prst="rect">
            <a:avLst/>
          </a:prstGeom>
          <a:noFill/>
          <a:ln>
            <a:noFill/>
          </a:ln>
        </p:spPr>
      </p:pic>
      <p:sp>
        <p:nvSpPr>
          <p:cNvPr id="456" name="Google Shape;456;p40"/>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57" name="Google Shape;457;p40"/>
          <p:cNvSpPr txBox="1"/>
          <p:nvPr/>
        </p:nvSpPr>
        <p:spPr>
          <a:xfrm>
            <a:off x="2533652" y="5780642"/>
            <a:ext cx="45529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(Transformers: The Last Knight)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descr="Image result for merlin transformers the last knight" id="463" name="Google Shape;463;p41"/>
          <p:cNvPicPr preferRelativeResize="0"/>
          <p:nvPr/>
        </p:nvPicPr>
        <p:blipFill rotWithShape="1">
          <a:blip r:embed="rId3">
            <a:alphaModFix/>
          </a:blip>
          <a:srcRect b="0" l="0" r="0" t="0"/>
          <a:stretch/>
        </p:blipFill>
        <p:spPr>
          <a:xfrm>
            <a:off x="2533652" y="2557461"/>
            <a:ext cx="7185025" cy="3592513"/>
          </a:xfrm>
          <a:prstGeom prst="rect">
            <a:avLst/>
          </a:prstGeom>
          <a:noFill/>
          <a:ln>
            <a:noFill/>
          </a:ln>
        </p:spPr>
      </p:pic>
      <p:sp>
        <p:nvSpPr>
          <p:cNvPr id="464" name="Google Shape;464;p41"/>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65" name="Google Shape;465;p41"/>
          <p:cNvSpPr txBox="1"/>
          <p:nvPr/>
        </p:nvSpPr>
        <p:spPr>
          <a:xfrm>
            <a:off x="2533652" y="5780642"/>
            <a:ext cx="45529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(Transformers: The Last Knight)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2"/>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pic>
        <p:nvPicPr>
          <p:cNvPr descr="Image result for interest curve in storytelling" id="472" name="Google Shape;472;p42"/>
          <p:cNvPicPr preferRelativeResize="0"/>
          <p:nvPr/>
        </p:nvPicPr>
        <p:blipFill rotWithShape="1">
          <a:blip r:embed="rId3">
            <a:alphaModFix/>
          </a:blip>
          <a:srcRect b="0" l="0" r="0" t="0"/>
          <a:stretch/>
        </p:blipFill>
        <p:spPr>
          <a:xfrm>
            <a:off x="543408" y="2800350"/>
            <a:ext cx="3760662" cy="2904067"/>
          </a:xfrm>
          <a:prstGeom prst="rect">
            <a:avLst/>
          </a:prstGeom>
          <a:noFill/>
          <a:ln>
            <a:noFill/>
          </a:ln>
        </p:spPr>
      </p:pic>
      <p:sp>
        <p:nvSpPr>
          <p:cNvPr id="473" name="Google Shape;473;p42"/>
          <p:cNvSpPr txBox="1"/>
          <p:nvPr/>
        </p:nvSpPr>
        <p:spPr>
          <a:xfrm>
            <a:off x="6343651" y="2533650"/>
            <a:ext cx="4552947"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Interest Curve:</a:t>
            </a:r>
            <a:endParaRPr/>
          </a:p>
          <a:p>
            <a:pPr indent="0" lvl="0" marL="0" marR="0" rtl="0" algn="l">
              <a:spcBef>
                <a:spcPts val="0"/>
              </a:spcBef>
              <a:spcAft>
                <a:spcPts val="0"/>
              </a:spcAft>
              <a:buNone/>
            </a:pPr>
            <a:r>
              <a:t/>
            </a:r>
            <a:endParaRPr sz="2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“The quality of an entertainment experience can be measured by the extent to which its unfolding sequence of events is able to hold a guest’s interest”</a:t>
            </a:r>
            <a:endParaRPr/>
          </a:p>
          <a:p>
            <a:pPr indent="0" lvl="0" marL="0" marR="0" rtl="0" algn="l">
              <a:spcBef>
                <a:spcPts val="0"/>
              </a:spcBef>
              <a:spcAft>
                <a:spcPts val="0"/>
              </a:spcAft>
              <a:buNone/>
            </a:pPr>
            <a:r>
              <a:t/>
            </a:r>
            <a:endParaRPr sz="2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i="1" lang="en-US" sz="1400">
                <a:solidFill>
                  <a:schemeClr val="dk1"/>
                </a:solidFill>
                <a:latin typeface="Century Gothic"/>
                <a:ea typeface="Century Gothic"/>
                <a:cs typeface="Century Gothic"/>
                <a:sym typeface="Century Gothic"/>
              </a:rPr>
              <a:t>- Jesse Schell ( Art of Game Design)</a:t>
            </a:r>
            <a:endParaRPr/>
          </a:p>
        </p:txBody>
      </p:sp>
      <p:pic>
        <p:nvPicPr>
          <p:cNvPr descr="https://vignette.wikia.nocookie.net/game-studies/images/b/b3/Wind_waker_interest_curve.png/revision/latest?cb=20131204150921" id="474" name="Google Shape;474;p42"/>
          <p:cNvPicPr preferRelativeResize="0"/>
          <p:nvPr/>
        </p:nvPicPr>
        <p:blipFill rotWithShape="1">
          <a:blip r:embed="rId4">
            <a:alphaModFix/>
          </a:blip>
          <a:srcRect b="0" l="0" r="0" t="0"/>
          <a:stretch/>
        </p:blipFill>
        <p:spPr>
          <a:xfrm rot="-5400000">
            <a:off x="3386258" y="3271544"/>
            <a:ext cx="3875204" cy="203958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descr="Image result for merlin transformers the last knight" id="480" name="Google Shape;480;p43"/>
          <p:cNvPicPr preferRelativeResize="0"/>
          <p:nvPr/>
        </p:nvPicPr>
        <p:blipFill rotWithShape="1">
          <a:blip r:embed="rId3">
            <a:alphaModFix/>
          </a:blip>
          <a:srcRect b="0" l="0" r="0" t="0"/>
          <a:stretch/>
        </p:blipFill>
        <p:spPr>
          <a:xfrm>
            <a:off x="2533652" y="2557461"/>
            <a:ext cx="7185025" cy="3592513"/>
          </a:xfrm>
          <a:prstGeom prst="rect">
            <a:avLst/>
          </a:prstGeom>
          <a:noFill/>
          <a:ln>
            <a:noFill/>
          </a:ln>
        </p:spPr>
      </p:pic>
      <p:sp>
        <p:nvSpPr>
          <p:cNvPr id="481" name="Google Shape;481;p43"/>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82" name="Google Shape;482;p43"/>
          <p:cNvSpPr txBox="1"/>
          <p:nvPr/>
        </p:nvSpPr>
        <p:spPr>
          <a:xfrm>
            <a:off x="2533652" y="5780642"/>
            <a:ext cx="45529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(Transformers: The Last Knight)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89" name="Google Shape;489;p4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110490" lvl="0" marL="285750" rtl="0" algn="l">
              <a:spcBef>
                <a:spcPts val="0"/>
              </a:spcBef>
              <a:spcAft>
                <a:spcPts val="0"/>
              </a:spcAft>
              <a:buSzPts val="2760"/>
              <a:buNone/>
            </a:pPr>
            <a:r>
              <a:t/>
            </a:r>
            <a:endParaRPr/>
          </a:p>
        </p:txBody>
      </p:sp>
      <p:pic>
        <p:nvPicPr>
          <p:cNvPr descr="Image result for luke on tatooine" id="490" name="Google Shape;490;p44"/>
          <p:cNvPicPr preferRelativeResize="0"/>
          <p:nvPr/>
        </p:nvPicPr>
        <p:blipFill rotWithShape="1">
          <a:blip r:embed="rId3">
            <a:alphaModFix/>
          </a:blip>
          <a:srcRect b="0" l="0" r="11281" t="0"/>
          <a:stretch/>
        </p:blipFill>
        <p:spPr>
          <a:xfrm>
            <a:off x="1295400" y="2975385"/>
            <a:ext cx="5334330" cy="2610327"/>
          </a:xfrm>
          <a:prstGeom prst="rect">
            <a:avLst/>
          </a:prstGeom>
          <a:noFill/>
          <a:ln>
            <a:noFill/>
          </a:ln>
        </p:spPr>
      </p:pic>
      <p:pic>
        <p:nvPicPr>
          <p:cNvPr descr="https://1850516970.rsc.cdn77.org/wordpress/wp-content/uploads/2013/10/Wizard-of-Oz-3D-BD_03.png" id="491" name="Google Shape;491;p44"/>
          <p:cNvPicPr preferRelativeResize="0"/>
          <p:nvPr/>
        </p:nvPicPr>
        <p:blipFill rotWithShape="1">
          <a:blip r:embed="rId4">
            <a:alphaModFix/>
          </a:blip>
          <a:srcRect b="18746" l="12500" r="10737" t="342"/>
          <a:stretch/>
        </p:blipFill>
        <p:spPr>
          <a:xfrm>
            <a:off x="6493789" y="2975385"/>
            <a:ext cx="4402808" cy="261032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498" name="Google Shape;498;p4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The Wonderful Wizard of Oz: Dorothy in Kansas</a:t>
            </a:r>
            <a:endParaRPr/>
          </a:p>
          <a:p>
            <a:pPr indent="-285750" lvl="0" marL="285750" rtl="0" algn="l">
              <a:spcBef>
                <a:spcPts val="1080"/>
              </a:spcBef>
              <a:spcAft>
                <a:spcPts val="0"/>
              </a:spcAft>
              <a:buSzPts val="2760"/>
              <a:buChar char="•"/>
            </a:pPr>
            <a:r>
              <a:rPr lang="en-US"/>
              <a:t>The Hobbit: Bilbo Baggins in the Shire</a:t>
            </a:r>
            <a:endParaRPr/>
          </a:p>
          <a:p>
            <a:pPr indent="-285750" lvl="0" marL="285750" rtl="0" algn="l">
              <a:spcBef>
                <a:spcPts val="1080"/>
              </a:spcBef>
              <a:spcAft>
                <a:spcPts val="0"/>
              </a:spcAft>
              <a:buSzPts val="2760"/>
              <a:buChar char="•"/>
            </a:pPr>
            <a:r>
              <a:rPr lang="en-US"/>
              <a:t>Star Wars: Luke Skywalker on Tatooine</a:t>
            </a:r>
            <a:endParaRPr/>
          </a:p>
          <a:p>
            <a:pPr indent="-285750" lvl="0" marL="285750" rtl="0" algn="l">
              <a:spcBef>
                <a:spcPts val="1080"/>
              </a:spcBef>
              <a:spcAft>
                <a:spcPts val="0"/>
              </a:spcAft>
              <a:buSzPts val="2760"/>
              <a:buChar char="•"/>
            </a:pPr>
            <a:r>
              <a:rPr lang="en-US"/>
              <a:t>The Lion King: Simba at Pride Rock</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pic>
        <p:nvPicPr>
          <p:cNvPr descr="Image result for alice and wonderland rabbit" id="505" name="Google Shape;505;p46"/>
          <p:cNvPicPr preferRelativeResize="0"/>
          <p:nvPr>
            <p:ph idx="1" type="body"/>
          </p:nvPr>
        </p:nvPicPr>
        <p:blipFill rotWithShape="1">
          <a:blip r:embed="rId3">
            <a:alphaModFix/>
          </a:blip>
          <a:srcRect b="0" l="0" r="0" t="0"/>
          <a:stretch/>
        </p:blipFill>
        <p:spPr>
          <a:xfrm>
            <a:off x="1295402" y="2603958"/>
            <a:ext cx="2196796" cy="3317875"/>
          </a:xfrm>
          <a:prstGeom prst="rect">
            <a:avLst/>
          </a:prstGeom>
          <a:noFill/>
          <a:ln>
            <a:noFill/>
          </a:ln>
        </p:spPr>
      </p:pic>
      <p:sp>
        <p:nvSpPr>
          <p:cNvPr id="506" name="Google Shape;506;p46"/>
          <p:cNvSpPr txBox="1"/>
          <p:nvPr/>
        </p:nvSpPr>
        <p:spPr>
          <a:xfrm>
            <a:off x="3688597" y="2556932"/>
            <a:ext cx="7208000" cy="3318936"/>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Discovery of Danger that leads to heroic path</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Character is confronted by a choice. – either following the heroic path to adventure, or living their otherwise normal/conventional life.</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Announcement of a “Quest” or event that could potentially change a situation.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513" name="Google Shape;513;p47"/>
          <p:cNvSpPr txBox="1"/>
          <p:nvPr/>
        </p:nvSpPr>
        <p:spPr>
          <a:xfrm>
            <a:off x="5936431" y="2820402"/>
            <a:ext cx="4960165" cy="2929469"/>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2760"/>
              <a:buFont typeface="Arial"/>
              <a:buNone/>
            </a:pPr>
            <a:r>
              <a:rPr lang="en-US" sz="2400" cap="none">
                <a:solidFill>
                  <a:srgbClr val="262626"/>
                </a:solidFill>
                <a:latin typeface="Century Gothic"/>
                <a:ea typeface="Century Gothic"/>
                <a:cs typeface="Century Gothic"/>
                <a:sym typeface="Century Gothic"/>
              </a:rPr>
              <a:t>	</a:t>
            </a:r>
            <a:r>
              <a:rPr b="1" lang="en-US" sz="2400" cap="none">
                <a:solidFill>
                  <a:srgbClr val="262626"/>
                </a:solidFill>
                <a:latin typeface="Century Gothic"/>
                <a:ea typeface="Century Gothic"/>
                <a:cs typeface="Century Gothic"/>
                <a:sym typeface="Century Gothic"/>
              </a:rPr>
              <a:t>THE CALL TO ADVENTURE:</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New world discovered is much different than old one.</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“Fateful Region of both Treasure and Danger”</a:t>
            </a:r>
            <a:endParaRPr/>
          </a:p>
        </p:txBody>
      </p:sp>
      <p:pic>
        <p:nvPicPr>
          <p:cNvPr descr="Image result for alice and wonderland rabbit hole" id="514" name="Google Shape;514;p47"/>
          <p:cNvPicPr preferRelativeResize="0"/>
          <p:nvPr/>
        </p:nvPicPr>
        <p:blipFill rotWithShape="1">
          <a:blip r:embed="rId3">
            <a:alphaModFix/>
          </a:blip>
          <a:srcRect b="0" l="0" r="0" t="0"/>
          <a:stretch/>
        </p:blipFill>
        <p:spPr>
          <a:xfrm>
            <a:off x="1295402" y="2820403"/>
            <a:ext cx="4641029" cy="253147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521" name="Google Shape;521;p48"/>
          <p:cNvSpPr txBox="1"/>
          <p:nvPr/>
        </p:nvSpPr>
        <p:spPr>
          <a:xfrm>
            <a:off x="6695267" y="2576376"/>
            <a:ext cx="4201329" cy="3173495"/>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The Wonderful Wizard of Oz: The tornado</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The Hobbit: Gandalf the wizard arrives</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Star Wars: R2D2’s cryptic message</a:t>
            </a:r>
            <a:endParaRPr/>
          </a:p>
        </p:txBody>
      </p:sp>
      <p:pic>
        <p:nvPicPr>
          <p:cNvPr descr="Image result for cinderella learns of ball" id="522" name="Google Shape;522;p48"/>
          <p:cNvPicPr preferRelativeResize="0"/>
          <p:nvPr/>
        </p:nvPicPr>
        <p:blipFill rotWithShape="1">
          <a:blip r:embed="rId3">
            <a:alphaModFix/>
          </a:blip>
          <a:srcRect b="0" l="0" r="0" t="0"/>
          <a:stretch/>
        </p:blipFill>
        <p:spPr>
          <a:xfrm>
            <a:off x="853144" y="2576376"/>
            <a:ext cx="2432497" cy="3173495"/>
          </a:xfrm>
          <a:prstGeom prst="rect">
            <a:avLst/>
          </a:prstGeom>
          <a:noFill/>
          <a:ln>
            <a:noFill/>
          </a:ln>
        </p:spPr>
      </p:pic>
      <p:pic>
        <p:nvPicPr>
          <p:cNvPr descr="https://i0.wp.com/sanvada.com/wp-content/uploads/2018/02/luke-skywalker-and-c-3po-watch-r2-d2-display-a-hologram-of-princess-leia-in-star-wars-a-new-hope.jpg?fit=1000%2C500&amp;ssl=1" id="523" name="Google Shape;523;p48"/>
          <p:cNvPicPr preferRelativeResize="0"/>
          <p:nvPr/>
        </p:nvPicPr>
        <p:blipFill rotWithShape="1">
          <a:blip r:embed="rId4">
            <a:alphaModFix/>
          </a:blip>
          <a:srcRect b="0" l="24122" r="24775" t="10367"/>
          <a:stretch/>
        </p:blipFill>
        <p:spPr>
          <a:xfrm>
            <a:off x="3068664" y="2569199"/>
            <a:ext cx="3626603" cy="318067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530" name="Google Shape;530;p49"/>
          <p:cNvSpPr txBox="1"/>
          <p:nvPr>
            <p:ph idx="1" type="body"/>
          </p:nvPr>
        </p:nvSpPr>
        <p:spPr>
          <a:xfrm>
            <a:off x="6571281" y="2556932"/>
            <a:ext cx="4325316" cy="331893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760"/>
              <a:buNone/>
            </a:pPr>
            <a:r>
              <a:rPr lang="en-US"/>
              <a:t>REFUSAL OF THE QUETS:</a:t>
            </a:r>
            <a:endParaRPr/>
          </a:p>
          <a:p>
            <a:pPr indent="-285750" lvl="0" marL="285750" rtl="0" algn="l">
              <a:spcBef>
                <a:spcPts val="1080"/>
              </a:spcBef>
              <a:spcAft>
                <a:spcPts val="0"/>
              </a:spcAft>
              <a:buSzPts val="2760"/>
              <a:buChar char="•"/>
            </a:pPr>
            <a:r>
              <a:rPr lang="en-US"/>
              <a:t>Without hero accepting quest, there is no story.</a:t>
            </a:r>
            <a:endParaRPr/>
          </a:p>
          <a:p>
            <a:pPr indent="-285750" lvl="0" marL="285750" rtl="0" algn="l">
              <a:spcBef>
                <a:spcPts val="1080"/>
              </a:spcBef>
              <a:spcAft>
                <a:spcPts val="0"/>
              </a:spcAft>
              <a:buSzPts val="2760"/>
              <a:buChar char="•"/>
            </a:pPr>
            <a:r>
              <a:rPr lang="en-US"/>
              <a:t>There are consequences for not accepting quest.</a:t>
            </a:r>
            <a:endParaRPr/>
          </a:p>
        </p:txBody>
      </p:sp>
      <p:pic>
        <p:nvPicPr>
          <p:cNvPr descr="Cretan_Bull.jpeg" id="531" name="Google Shape;531;p49"/>
          <p:cNvPicPr preferRelativeResize="0"/>
          <p:nvPr/>
        </p:nvPicPr>
        <p:blipFill rotWithShape="1">
          <a:blip r:embed="rId3">
            <a:alphaModFix/>
          </a:blip>
          <a:srcRect b="0" l="0" r="0" t="0"/>
          <a:stretch/>
        </p:blipFill>
        <p:spPr>
          <a:xfrm>
            <a:off x="861450" y="2556932"/>
            <a:ext cx="3544973" cy="1737426"/>
          </a:xfrm>
          <a:prstGeom prst="rect">
            <a:avLst/>
          </a:prstGeom>
          <a:noFill/>
          <a:ln>
            <a:noFill/>
          </a:ln>
        </p:spPr>
      </p:pic>
      <p:pic>
        <p:nvPicPr>
          <p:cNvPr descr="Minotaur_of_the_Labyrinth_by_FireBert101.png" id="532" name="Google Shape;532;p49"/>
          <p:cNvPicPr preferRelativeResize="0"/>
          <p:nvPr/>
        </p:nvPicPr>
        <p:blipFill rotWithShape="1">
          <a:blip r:embed="rId4">
            <a:alphaModFix/>
          </a:blip>
          <a:srcRect b="20701" l="0" r="0" t="4722"/>
          <a:stretch/>
        </p:blipFill>
        <p:spPr>
          <a:xfrm>
            <a:off x="4519310" y="2556932"/>
            <a:ext cx="1804603" cy="17374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539" name="Google Shape;539;p50"/>
          <p:cNvSpPr txBox="1"/>
          <p:nvPr>
            <p:ph idx="1" type="body"/>
          </p:nvPr>
        </p:nvSpPr>
        <p:spPr>
          <a:xfrm>
            <a:off x="4525505" y="2556932"/>
            <a:ext cx="6371092"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1" lang="en-US"/>
              <a:t>Star Wars: </a:t>
            </a:r>
            <a:r>
              <a:rPr lang="en-US"/>
              <a:t>Luke refuses the quest until he learns his aunt and uncle are dead</a:t>
            </a:r>
            <a:endParaRPr/>
          </a:p>
          <a:p>
            <a:pPr indent="-285750" lvl="0" marL="285750" rtl="0" algn="l">
              <a:spcBef>
                <a:spcPts val="1080"/>
              </a:spcBef>
              <a:spcAft>
                <a:spcPts val="0"/>
              </a:spcAft>
              <a:buSzPts val="2760"/>
              <a:buChar char="•"/>
            </a:pPr>
            <a:r>
              <a:rPr b="1" lang="en-US"/>
              <a:t>The Lion King: </a:t>
            </a:r>
            <a:r>
              <a:rPr lang="en-US"/>
              <a:t>Simba refuses to return to Pride Rock and accept his destiny</a:t>
            </a:r>
            <a:endParaRPr/>
          </a:p>
          <a:p>
            <a:pPr indent="-285750" lvl="0" marL="285750" rtl="0" algn="l">
              <a:spcBef>
                <a:spcPts val="1080"/>
              </a:spcBef>
              <a:spcAft>
                <a:spcPts val="0"/>
              </a:spcAft>
              <a:buSzPts val="2760"/>
              <a:buChar char="•"/>
            </a:pPr>
            <a:r>
              <a:rPr b="1" lang="en-US"/>
              <a:t>Groundhog Day: </a:t>
            </a:r>
            <a:r>
              <a:rPr lang="en-US"/>
              <a:t>Example of the negative cycle caused by refusing the call</a:t>
            </a:r>
            <a:endParaRPr/>
          </a:p>
        </p:txBody>
      </p:sp>
      <p:pic>
        <p:nvPicPr>
          <p:cNvPr descr="undefined" id="540" name="Google Shape;540;p50"/>
          <p:cNvPicPr preferRelativeResize="0"/>
          <p:nvPr/>
        </p:nvPicPr>
        <p:blipFill rotWithShape="1">
          <a:blip r:embed="rId3">
            <a:alphaModFix/>
          </a:blip>
          <a:srcRect b="1536" l="14583" r="20010" t="16757"/>
          <a:stretch/>
        </p:blipFill>
        <p:spPr>
          <a:xfrm>
            <a:off x="1295400" y="4108154"/>
            <a:ext cx="3010793" cy="2014143"/>
          </a:xfrm>
          <a:prstGeom prst="rect">
            <a:avLst/>
          </a:prstGeom>
          <a:noFill/>
          <a:ln>
            <a:noFill/>
          </a:ln>
        </p:spPr>
      </p:pic>
      <p:pic>
        <p:nvPicPr>
          <p:cNvPr descr="Image result for lion king simba returns to pride rock" id="541" name="Google Shape;541;p50"/>
          <p:cNvPicPr preferRelativeResize="0"/>
          <p:nvPr/>
        </p:nvPicPr>
        <p:blipFill rotWithShape="1">
          <a:blip r:embed="rId4">
            <a:alphaModFix/>
          </a:blip>
          <a:srcRect b="0" l="0" r="0" t="0"/>
          <a:stretch/>
        </p:blipFill>
        <p:spPr>
          <a:xfrm>
            <a:off x="1295401" y="2587626"/>
            <a:ext cx="3010792" cy="169357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547" name="Google Shape;547;p5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By </a:t>
            </a:r>
            <a:r>
              <a:rPr b="1" lang="en-US"/>
              <a:t>accepting</a:t>
            </a:r>
            <a:r>
              <a:rPr lang="en-US"/>
              <a:t> the call, the heroes advance into the next stage of their journey.</a:t>
            </a:r>
            <a:endParaRPr/>
          </a:p>
        </p:txBody>
      </p:sp>
      <p:pic>
        <p:nvPicPr>
          <p:cNvPr descr="Image result for frodo the shire" id="548" name="Google Shape;548;p51"/>
          <p:cNvPicPr preferRelativeResize="0"/>
          <p:nvPr/>
        </p:nvPicPr>
        <p:blipFill rotWithShape="1">
          <a:blip r:embed="rId3">
            <a:alphaModFix/>
          </a:blip>
          <a:srcRect b="0" l="0" r="0" t="0"/>
          <a:stretch/>
        </p:blipFill>
        <p:spPr>
          <a:xfrm>
            <a:off x="3037668" y="3484444"/>
            <a:ext cx="5889356" cy="24852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sp>
        <p:nvSpPr>
          <p:cNvPr id="554" name="Google Shape;554;p5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By </a:t>
            </a:r>
            <a:r>
              <a:rPr b="1" lang="en-US"/>
              <a:t>accepting</a:t>
            </a:r>
            <a:r>
              <a:rPr lang="en-US"/>
              <a:t> the call, the heroes advance into the next stage of their journey.</a:t>
            </a:r>
            <a:endParaRPr/>
          </a:p>
        </p:txBody>
      </p:sp>
      <p:pic>
        <p:nvPicPr>
          <p:cNvPr descr="Image result for neo pill" id="555" name="Google Shape;555;p52"/>
          <p:cNvPicPr preferRelativeResize="0"/>
          <p:nvPr/>
        </p:nvPicPr>
        <p:blipFill rotWithShape="1">
          <a:blip r:embed="rId3">
            <a:alphaModFix/>
          </a:blip>
          <a:srcRect b="0" l="0" r="0" t="0"/>
          <a:stretch/>
        </p:blipFill>
        <p:spPr>
          <a:xfrm>
            <a:off x="3074152" y="3569730"/>
            <a:ext cx="5574548" cy="23061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Middle</a:t>
            </a:r>
            <a:endParaRPr/>
          </a:p>
        </p:txBody>
      </p:sp>
      <p:sp>
        <p:nvSpPr>
          <p:cNvPr id="561" name="Google Shape;561;p5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Hero faces many complications and obstacles </a:t>
            </a:r>
            <a:endParaRPr/>
          </a:p>
          <a:p>
            <a:pPr indent="-285750" lvl="0" marL="285750" rtl="0" algn="l">
              <a:spcBef>
                <a:spcPts val="1080"/>
              </a:spcBef>
              <a:spcAft>
                <a:spcPts val="0"/>
              </a:spcAft>
              <a:buSzPts val="2760"/>
              <a:buChar char="•"/>
            </a:pPr>
            <a:r>
              <a:rPr lang="en-US"/>
              <a:t>The middle contains many twists and turns</a:t>
            </a:r>
            <a:endParaRPr/>
          </a:p>
          <a:p>
            <a:pPr indent="-285750" lvl="0" marL="285750" rtl="0" algn="l">
              <a:spcBef>
                <a:spcPts val="1080"/>
              </a:spcBef>
              <a:spcAft>
                <a:spcPts val="0"/>
              </a:spcAft>
              <a:buSzPts val="2760"/>
              <a:buChar char="•"/>
            </a:pPr>
            <a:r>
              <a:rPr lang="en-US"/>
              <a:t>Keeps raising the stakes to keep the story interesting and the tension building.</a:t>
            </a:r>
            <a:endParaRPr/>
          </a:p>
          <a:p>
            <a:pPr indent="-285750" lvl="0" marL="285750" rtl="0" algn="l">
              <a:spcBef>
                <a:spcPts val="1080"/>
              </a:spcBef>
              <a:spcAft>
                <a:spcPts val="0"/>
              </a:spcAft>
              <a:buSzPts val="2760"/>
              <a:buChar char="•"/>
            </a:pPr>
            <a:r>
              <a:rPr lang="en-US"/>
              <a:t>Often times something will happen to fundamentally change a character.</a:t>
            </a:r>
            <a:endParaRPr/>
          </a:p>
          <a:p>
            <a:pPr indent="-110490" lvl="0" marL="285750" rtl="0" algn="l">
              <a:spcBef>
                <a:spcPts val="1080"/>
              </a:spcBef>
              <a:spcAft>
                <a:spcPts val="0"/>
              </a:spcAft>
              <a:buSzPts val="276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Middle: Entering the Unknown</a:t>
            </a:r>
            <a:endParaRPr/>
          </a:p>
        </p:txBody>
      </p:sp>
      <p:sp>
        <p:nvSpPr>
          <p:cNvPr id="568" name="Google Shape;568;p54"/>
          <p:cNvSpPr txBox="1"/>
          <p:nvPr>
            <p:ph idx="1" type="body"/>
          </p:nvPr>
        </p:nvSpPr>
        <p:spPr>
          <a:xfrm>
            <a:off x="6555783" y="2975680"/>
            <a:ext cx="4340814" cy="2900188"/>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2760"/>
              <a:buChar char="•"/>
            </a:pPr>
            <a:r>
              <a:rPr lang="en-US"/>
              <a:t>Goodbye to “Comfort Zone”</a:t>
            </a:r>
            <a:endParaRPr/>
          </a:p>
          <a:p>
            <a:pPr indent="-285750" lvl="0" marL="285750" rtl="0" algn="l">
              <a:spcBef>
                <a:spcPts val="1080"/>
              </a:spcBef>
              <a:spcAft>
                <a:spcPts val="0"/>
              </a:spcAft>
              <a:buSzPts val="2760"/>
              <a:buChar char="•"/>
            </a:pPr>
            <a:r>
              <a:rPr lang="en-US"/>
              <a:t>Stage in which hero grows through tests.</a:t>
            </a:r>
            <a:endParaRPr/>
          </a:p>
          <a:p>
            <a:pPr indent="-285750" lvl="0" marL="285750" rtl="0" algn="l">
              <a:spcBef>
                <a:spcPts val="1080"/>
              </a:spcBef>
              <a:spcAft>
                <a:spcPts val="0"/>
              </a:spcAft>
              <a:buSzPts val="2760"/>
              <a:buChar char="•"/>
            </a:pPr>
            <a:r>
              <a:rPr lang="en-US"/>
              <a:t>It is not the end of the journey which teaches, but the journey itself. </a:t>
            </a:r>
            <a:endParaRPr/>
          </a:p>
          <a:p>
            <a:pPr indent="0" lvl="0" marL="0" rtl="0" algn="l">
              <a:spcBef>
                <a:spcPts val="1080"/>
              </a:spcBef>
              <a:spcAft>
                <a:spcPts val="0"/>
              </a:spcAft>
              <a:buSzPts val="2760"/>
              <a:buNone/>
            </a:pPr>
            <a:r>
              <a:t/>
            </a:r>
            <a:endParaRPr/>
          </a:p>
        </p:txBody>
      </p:sp>
      <p:pic>
        <p:nvPicPr>
          <p:cNvPr descr="Image result for frodo the shire" id="569" name="Google Shape;569;p54"/>
          <p:cNvPicPr preferRelativeResize="0"/>
          <p:nvPr/>
        </p:nvPicPr>
        <p:blipFill rotWithShape="1">
          <a:blip r:embed="rId3">
            <a:alphaModFix/>
          </a:blip>
          <a:srcRect b="0" l="0" r="0" t="0"/>
          <a:stretch/>
        </p:blipFill>
        <p:spPr>
          <a:xfrm>
            <a:off x="1307801" y="2975680"/>
            <a:ext cx="4891407" cy="206414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62626"/>
              </a:buClr>
              <a:buSzPct val="100000"/>
              <a:buFont typeface="Century Gothic"/>
              <a:buNone/>
            </a:pPr>
            <a:r>
              <a:rPr lang="en-US"/>
              <a:t>The Middle: Tests and the Supreme Ordeal</a:t>
            </a:r>
            <a:endParaRPr/>
          </a:p>
        </p:txBody>
      </p:sp>
      <p:sp>
        <p:nvSpPr>
          <p:cNvPr id="576" name="Google Shape;576;p55"/>
          <p:cNvSpPr txBox="1"/>
          <p:nvPr>
            <p:ph idx="1" type="body"/>
          </p:nvPr>
        </p:nvSpPr>
        <p:spPr>
          <a:xfrm>
            <a:off x="6044339" y="2743200"/>
            <a:ext cx="4852257" cy="2469515"/>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2760"/>
              <a:buChar char="•"/>
            </a:pPr>
            <a:r>
              <a:rPr b="1" lang="en-US"/>
              <a:t>Star Wars: </a:t>
            </a:r>
            <a:r>
              <a:rPr lang="en-US"/>
              <a:t>Blowing up the Death Star</a:t>
            </a:r>
            <a:endParaRPr/>
          </a:p>
          <a:p>
            <a:pPr indent="-285750" lvl="0" marL="285750" rtl="0" algn="l">
              <a:spcBef>
                <a:spcPts val="1080"/>
              </a:spcBef>
              <a:spcAft>
                <a:spcPts val="0"/>
              </a:spcAft>
              <a:buSzPts val="2760"/>
              <a:buChar char="•"/>
            </a:pPr>
            <a:r>
              <a:rPr b="1" lang="en-US"/>
              <a:t>Lord of the Rings: </a:t>
            </a:r>
            <a:r>
              <a:rPr lang="en-US"/>
              <a:t>Mount Doom</a:t>
            </a:r>
            <a:endParaRPr/>
          </a:p>
          <a:p>
            <a:pPr indent="-285750" lvl="0" marL="285750" rtl="0" algn="l">
              <a:spcBef>
                <a:spcPts val="1080"/>
              </a:spcBef>
              <a:spcAft>
                <a:spcPts val="0"/>
              </a:spcAft>
              <a:buSzPts val="2760"/>
              <a:buChar char="•"/>
            </a:pPr>
            <a:r>
              <a:rPr b="1" lang="en-US"/>
              <a:t>The Wizard of Oz: </a:t>
            </a:r>
            <a:r>
              <a:rPr lang="en-US"/>
              <a:t>Defeating the Wicked Witch </a:t>
            </a:r>
            <a:endParaRPr/>
          </a:p>
          <a:p>
            <a:pPr indent="-110490" lvl="0" marL="285750" rtl="0" algn="l">
              <a:spcBef>
                <a:spcPts val="1080"/>
              </a:spcBef>
              <a:spcAft>
                <a:spcPts val="0"/>
              </a:spcAft>
              <a:buSzPts val="2760"/>
              <a:buNone/>
            </a:pPr>
            <a:r>
              <a:t/>
            </a:r>
            <a:endParaRPr/>
          </a:p>
        </p:txBody>
      </p:sp>
      <p:pic>
        <p:nvPicPr>
          <p:cNvPr descr="Image result for frodo mount doom" id="577" name="Google Shape;577;p55"/>
          <p:cNvPicPr preferRelativeResize="0"/>
          <p:nvPr/>
        </p:nvPicPr>
        <p:blipFill rotWithShape="1">
          <a:blip r:embed="rId3">
            <a:alphaModFix/>
          </a:blip>
          <a:srcRect b="0" l="0" r="0" t="0"/>
          <a:stretch/>
        </p:blipFill>
        <p:spPr>
          <a:xfrm>
            <a:off x="1295402" y="2743200"/>
            <a:ext cx="4391298" cy="246951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End</a:t>
            </a:r>
            <a:endParaRPr/>
          </a:p>
        </p:txBody>
      </p:sp>
      <p:sp>
        <p:nvSpPr>
          <p:cNvPr id="583" name="Google Shape;583;p5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Where the climax and resolution of the problem occur</a:t>
            </a:r>
            <a:endParaRPr/>
          </a:p>
          <a:p>
            <a:pPr indent="-285750" lvl="0" marL="285750" rtl="0" algn="l">
              <a:spcBef>
                <a:spcPts val="1080"/>
              </a:spcBef>
              <a:spcAft>
                <a:spcPts val="0"/>
              </a:spcAft>
              <a:buSzPts val="2760"/>
              <a:buChar char="•"/>
            </a:pPr>
            <a:r>
              <a:rPr lang="en-US"/>
              <a:t>The hero's goal is attained, the problem is solved, etc.</a:t>
            </a:r>
            <a:endParaRPr/>
          </a:p>
          <a:p>
            <a:pPr indent="-285750" lvl="0" marL="285750" rtl="0" algn="l">
              <a:spcBef>
                <a:spcPts val="1080"/>
              </a:spcBef>
              <a:spcAft>
                <a:spcPts val="0"/>
              </a:spcAft>
              <a:buSzPts val="2760"/>
              <a:buChar char="•"/>
            </a:pPr>
            <a:r>
              <a:rPr lang="en-US"/>
              <a:t>Many include a showdown, or final confrontation (often between the protagonist and antagonist). </a:t>
            </a:r>
            <a:endParaRPr/>
          </a:p>
          <a:p>
            <a:pPr indent="-285750" lvl="0" marL="285750" rtl="0" algn="l">
              <a:spcBef>
                <a:spcPts val="1080"/>
              </a:spcBef>
              <a:spcAft>
                <a:spcPts val="0"/>
              </a:spcAft>
              <a:buSzPts val="2760"/>
              <a:buChar char="•"/>
            </a:pPr>
            <a:r>
              <a:rPr lang="en-US"/>
              <a:t>The action becomes most intense near the end as the hero makes a last stand </a:t>
            </a:r>
            <a:endParaRPr/>
          </a:p>
          <a:p>
            <a:pPr indent="-110490" lvl="0" marL="285750" rtl="0" algn="l">
              <a:spcBef>
                <a:spcPts val="1080"/>
              </a:spcBef>
              <a:spcAft>
                <a:spcPts val="0"/>
              </a:spcAft>
              <a:buSzPts val="2760"/>
              <a:buNone/>
            </a:pPr>
            <a:r>
              <a:t/>
            </a:r>
            <a:endParaRPr/>
          </a:p>
          <a:p>
            <a:pPr indent="-110490" lvl="0" marL="285750" rtl="0" algn="l">
              <a:spcBef>
                <a:spcPts val="1080"/>
              </a:spcBef>
              <a:spcAft>
                <a:spcPts val="0"/>
              </a:spcAft>
              <a:buSzPts val="2760"/>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62626"/>
              </a:buClr>
              <a:buSzPct val="100000"/>
              <a:buFont typeface="Century Gothic"/>
              <a:buNone/>
            </a:pPr>
            <a:r>
              <a:rPr lang="en-US"/>
              <a:t>The End: Reward and the Journey Home</a:t>
            </a:r>
            <a:endParaRPr/>
          </a:p>
        </p:txBody>
      </p:sp>
      <p:sp>
        <p:nvSpPr>
          <p:cNvPr id="590" name="Google Shape;590;p57"/>
          <p:cNvSpPr txBox="1"/>
          <p:nvPr>
            <p:ph idx="1" type="body"/>
          </p:nvPr>
        </p:nvSpPr>
        <p:spPr>
          <a:xfrm>
            <a:off x="5889355" y="2556932"/>
            <a:ext cx="5007241"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 </a:t>
            </a:r>
            <a:r>
              <a:rPr b="1" lang="en-US"/>
              <a:t>The Hobbit</a:t>
            </a:r>
            <a:r>
              <a:rPr lang="en-US"/>
              <a:t>: The Battle of Five Armies (even after defeating Smaug)</a:t>
            </a:r>
            <a:endParaRPr/>
          </a:p>
          <a:p>
            <a:pPr indent="-285750" lvl="0" marL="285750" rtl="0" algn="l">
              <a:spcBef>
                <a:spcPts val="1080"/>
              </a:spcBef>
              <a:spcAft>
                <a:spcPts val="0"/>
              </a:spcAft>
              <a:buSzPts val="2760"/>
              <a:buChar char="•"/>
            </a:pPr>
            <a:r>
              <a:rPr b="1" lang="en-US"/>
              <a:t>The Lord of the Rings: </a:t>
            </a:r>
            <a:r>
              <a:rPr lang="en-US"/>
              <a:t>Return to the Shire</a:t>
            </a:r>
            <a:endParaRPr/>
          </a:p>
          <a:p>
            <a:pPr indent="-110490" lvl="0" marL="285750" rtl="0" algn="l">
              <a:spcBef>
                <a:spcPts val="1080"/>
              </a:spcBef>
              <a:spcAft>
                <a:spcPts val="0"/>
              </a:spcAft>
              <a:buSzPts val="2760"/>
              <a:buNone/>
            </a:pPr>
            <a:r>
              <a:t/>
            </a:r>
            <a:endParaRPr/>
          </a:p>
        </p:txBody>
      </p:sp>
      <p:pic>
        <p:nvPicPr>
          <p:cNvPr descr="Image result for battle of the five armies" id="591" name="Google Shape;591;p57"/>
          <p:cNvPicPr preferRelativeResize="0"/>
          <p:nvPr/>
        </p:nvPicPr>
        <p:blipFill rotWithShape="1">
          <a:blip r:embed="rId3">
            <a:alphaModFix/>
          </a:blip>
          <a:srcRect b="0" l="0" r="0" t="0"/>
          <a:stretch/>
        </p:blipFill>
        <p:spPr>
          <a:xfrm>
            <a:off x="899492" y="2554907"/>
            <a:ext cx="4865877" cy="332096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62626"/>
              </a:buClr>
              <a:buSzPct val="100000"/>
              <a:buFont typeface="Century Gothic"/>
              <a:buNone/>
            </a:pPr>
            <a:r>
              <a:rPr lang="en-US"/>
              <a:t>The End: Reward and the Journey Home</a:t>
            </a:r>
            <a:endParaRPr/>
          </a:p>
        </p:txBody>
      </p:sp>
      <p:sp>
        <p:nvSpPr>
          <p:cNvPr id="598" name="Google Shape;598;p58"/>
          <p:cNvSpPr txBox="1"/>
          <p:nvPr>
            <p:ph idx="1" type="body"/>
          </p:nvPr>
        </p:nvSpPr>
        <p:spPr>
          <a:xfrm>
            <a:off x="5331417" y="2556932"/>
            <a:ext cx="5565180" cy="2061563"/>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Lord of the Rings: Frodo saves the Shire</a:t>
            </a:r>
            <a:endParaRPr/>
          </a:p>
          <a:p>
            <a:pPr indent="-285750" lvl="0" marL="285750" rtl="0" algn="l">
              <a:spcBef>
                <a:spcPts val="1080"/>
              </a:spcBef>
              <a:spcAft>
                <a:spcPts val="0"/>
              </a:spcAft>
              <a:buSzPts val="2760"/>
              <a:buChar char="•"/>
            </a:pPr>
            <a:r>
              <a:rPr lang="en-US"/>
              <a:t>The Wizard of Oz: Dorothy rids Oz of the Wicked Witch</a:t>
            </a:r>
            <a:endParaRPr/>
          </a:p>
          <a:p>
            <a:pPr indent="-110490" lvl="0" marL="285750" rtl="0" algn="l">
              <a:spcBef>
                <a:spcPts val="1080"/>
              </a:spcBef>
              <a:spcAft>
                <a:spcPts val="0"/>
              </a:spcAft>
              <a:buSzPts val="2760"/>
              <a:buNone/>
            </a:pPr>
            <a:r>
              <a:t/>
            </a:r>
            <a:endParaRPr/>
          </a:p>
        </p:txBody>
      </p:sp>
      <p:pic>
        <p:nvPicPr>
          <p:cNvPr descr="Image result for matrix neo" id="599" name="Google Shape;599;p58"/>
          <p:cNvPicPr preferRelativeResize="0"/>
          <p:nvPr/>
        </p:nvPicPr>
        <p:blipFill rotWithShape="1">
          <a:blip r:embed="rId3">
            <a:alphaModFix/>
          </a:blip>
          <a:srcRect b="0" l="0" r="0" t="0"/>
          <a:stretch/>
        </p:blipFill>
        <p:spPr>
          <a:xfrm>
            <a:off x="1295402" y="2616200"/>
            <a:ext cx="3867024" cy="21727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Why Format the Story?</a:t>
            </a:r>
            <a:endParaRPr/>
          </a:p>
        </p:txBody>
      </p:sp>
      <p:sp>
        <p:nvSpPr>
          <p:cNvPr id="606" name="Google Shape;606;p59"/>
          <p:cNvSpPr txBox="1"/>
          <p:nvPr>
            <p:ph idx="1" type="body"/>
          </p:nvPr>
        </p:nvSpPr>
        <p:spPr>
          <a:xfrm>
            <a:off x="1295401" y="28998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The script is the blueprint for a production. </a:t>
            </a:r>
            <a:endParaRPr/>
          </a:p>
          <a:p>
            <a:pPr indent="-285750" lvl="0" marL="285750" rtl="0" algn="l">
              <a:spcBef>
                <a:spcPts val="1080"/>
              </a:spcBef>
              <a:spcAft>
                <a:spcPts val="0"/>
              </a:spcAft>
              <a:buSzPts val="2760"/>
              <a:buChar char="•"/>
            </a:pPr>
            <a:r>
              <a:rPr lang="en-US"/>
              <a:t>Provides the writer with a means of communication that is intended for the Project Director and crew members. </a:t>
            </a:r>
            <a:endParaRPr/>
          </a:p>
          <a:p>
            <a:pPr indent="-285750" lvl="0" marL="285750" rtl="0" algn="l">
              <a:spcBef>
                <a:spcPts val="1080"/>
              </a:spcBef>
              <a:spcAft>
                <a:spcPts val="0"/>
              </a:spcAft>
              <a:buSzPts val="2760"/>
              <a:buChar char="•"/>
            </a:pPr>
            <a:r>
              <a:rPr lang="en-US"/>
              <a:t>It is the screenwriters job to tell the story</a:t>
            </a:r>
            <a:endParaRPr/>
          </a:p>
          <a:p>
            <a:pPr indent="-285750" lvl="0" marL="285750" rtl="0" algn="l">
              <a:spcBef>
                <a:spcPts val="1080"/>
              </a:spcBef>
              <a:spcAft>
                <a:spcPts val="0"/>
              </a:spcAft>
              <a:buSzPts val="2760"/>
              <a:buChar char="•"/>
            </a:pPr>
            <a:r>
              <a:rPr lang="en-US"/>
              <a:t>The Director’s job is to shots.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Why Format the Story?</a:t>
            </a:r>
            <a:endParaRPr/>
          </a:p>
        </p:txBody>
      </p:sp>
      <p:sp>
        <p:nvSpPr>
          <p:cNvPr id="613" name="Google Shape;613;p60"/>
          <p:cNvSpPr txBox="1"/>
          <p:nvPr>
            <p:ph idx="1" type="body"/>
          </p:nvPr>
        </p:nvSpPr>
        <p:spPr>
          <a:xfrm>
            <a:off x="1295401" y="28998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Helps with the rhythm </a:t>
            </a:r>
            <a:endParaRPr/>
          </a:p>
          <a:p>
            <a:pPr indent="-285750" lvl="0" marL="285750" rtl="0" algn="l">
              <a:spcBef>
                <a:spcPts val="1080"/>
              </a:spcBef>
              <a:spcAft>
                <a:spcPts val="0"/>
              </a:spcAft>
              <a:buSzPts val="2760"/>
              <a:buChar char="•"/>
            </a:pPr>
            <a:r>
              <a:rPr lang="en-US"/>
              <a:t>The format helps the producer or director visualize</a:t>
            </a:r>
            <a:endParaRPr/>
          </a:p>
          <a:p>
            <a:pPr indent="-285750" lvl="0" marL="285750" rtl="0" algn="l">
              <a:spcBef>
                <a:spcPts val="1080"/>
              </a:spcBef>
              <a:spcAft>
                <a:spcPts val="0"/>
              </a:spcAft>
              <a:buSzPts val="2760"/>
              <a:buChar char="•"/>
            </a:pPr>
            <a:r>
              <a:rPr lang="en-US"/>
              <a:t>The writers Concepts and ideas. </a:t>
            </a:r>
            <a:endParaRPr/>
          </a:p>
          <a:p>
            <a:pPr indent="-285750" lvl="0" marL="285750" rtl="0" algn="l">
              <a:spcBef>
                <a:spcPts val="1080"/>
              </a:spcBef>
              <a:spcAft>
                <a:spcPts val="0"/>
              </a:spcAft>
              <a:buSzPts val="2760"/>
              <a:buChar char="•"/>
            </a:pPr>
            <a:r>
              <a:rPr lang="en-US"/>
              <a:t>The script is also formatted to make things easier (schedules, prop lists, etc)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Standard Screenplay format</a:t>
            </a:r>
            <a:endParaRPr/>
          </a:p>
        </p:txBody>
      </p:sp>
      <p:sp>
        <p:nvSpPr>
          <p:cNvPr id="620" name="Google Shape;620;p61"/>
          <p:cNvSpPr txBox="1"/>
          <p:nvPr>
            <p:ph idx="1" type="body"/>
          </p:nvPr>
        </p:nvSpPr>
        <p:spPr>
          <a:xfrm>
            <a:off x="6076949" y="2899832"/>
            <a:ext cx="4819647"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Used as a Production Tool for the director and crew members </a:t>
            </a:r>
            <a:endParaRPr/>
          </a:p>
          <a:p>
            <a:pPr indent="-285750" lvl="0" marL="285750" rtl="0" algn="l">
              <a:spcBef>
                <a:spcPts val="1080"/>
              </a:spcBef>
              <a:spcAft>
                <a:spcPts val="0"/>
              </a:spcAft>
              <a:buSzPts val="2760"/>
              <a:buChar char="•"/>
            </a:pPr>
            <a:r>
              <a:rPr lang="en-US"/>
              <a:t>Hollywood standard, which includes several elements as the slug line, and dialogue.</a:t>
            </a:r>
            <a:endParaRPr/>
          </a:p>
          <a:p>
            <a:pPr indent="0" lvl="0" marL="0" rtl="0" algn="l">
              <a:spcBef>
                <a:spcPts val="1080"/>
              </a:spcBef>
              <a:spcAft>
                <a:spcPts val="0"/>
              </a:spcAft>
              <a:buSzPts val="2760"/>
              <a:buNone/>
            </a:pPr>
            <a:r>
              <a:t/>
            </a:r>
            <a:endParaRPr/>
          </a:p>
        </p:txBody>
      </p:sp>
      <p:pic>
        <p:nvPicPr>
          <p:cNvPr descr="Image result for standard screenplay format" id="621" name="Google Shape;621;p61"/>
          <p:cNvPicPr preferRelativeResize="0"/>
          <p:nvPr/>
        </p:nvPicPr>
        <p:blipFill rotWithShape="1">
          <a:blip r:embed="rId3">
            <a:alphaModFix/>
          </a:blip>
          <a:srcRect b="0" l="0" r="0" t="0"/>
          <a:stretch/>
        </p:blipFill>
        <p:spPr>
          <a:xfrm>
            <a:off x="2213546" y="2504018"/>
            <a:ext cx="2639841" cy="37719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Slug Lines</a:t>
            </a:r>
            <a:endParaRPr/>
          </a:p>
        </p:txBody>
      </p:sp>
      <p:sp>
        <p:nvSpPr>
          <p:cNvPr id="628" name="Google Shape;628;p62"/>
          <p:cNvSpPr txBox="1"/>
          <p:nvPr>
            <p:ph idx="1" type="body"/>
          </p:nvPr>
        </p:nvSpPr>
        <p:spPr>
          <a:xfrm>
            <a:off x="7620000" y="2725107"/>
            <a:ext cx="3276596" cy="331893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SzPct val="115000"/>
              <a:buNone/>
            </a:pPr>
            <a:r>
              <a:rPr b="1" lang="en-US"/>
              <a:t>Slug lines describe:</a:t>
            </a:r>
            <a:endParaRPr/>
          </a:p>
          <a:p>
            <a:pPr indent="-285750" lvl="0" marL="285750" rtl="0" algn="l">
              <a:spcBef>
                <a:spcPts val="1044"/>
              </a:spcBef>
              <a:spcAft>
                <a:spcPts val="0"/>
              </a:spcAft>
              <a:buSzPct val="115000"/>
              <a:buChar char="•"/>
            </a:pPr>
            <a:r>
              <a:rPr lang="en-US"/>
              <a:t>the location of a scene, </a:t>
            </a:r>
            <a:endParaRPr/>
          </a:p>
          <a:p>
            <a:pPr indent="-285750" lvl="0" marL="285750" rtl="0" algn="l">
              <a:spcBef>
                <a:spcPts val="1044"/>
              </a:spcBef>
              <a:spcAft>
                <a:spcPts val="0"/>
              </a:spcAft>
              <a:buSzPct val="115000"/>
              <a:buChar char="•"/>
            </a:pPr>
            <a:r>
              <a:rPr lang="en-US"/>
              <a:t>the time of the scene, </a:t>
            </a:r>
            <a:endParaRPr/>
          </a:p>
          <a:p>
            <a:pPr indent="-285750" lvl="0" marL="285750" rtl="0" algn="l">
              <a:spcBef>
                <a:spcPts val="1044"/>
              </a:spcBef>
              <a:spcAft>
                <a:spcPts val="0"/>
              </a:spcAft>
              <a:buSzPct val="115000"/>
              <a:buChar char="•"/>
            </a:pPr>
            <a:r>
              <a:rPr lang="en-US"/>
              <a:t>whether it takes place inside (interior setting) or outside  (exterior setting).</a:t>
            </a:r>
            <a:endParaRPr/>
          </a:p>
        </p:txBody>
      </p:sp>
      <p:pic>
        <p:nvPicPr>
          <p:cNvPr descr="Image result for slug line" id="629" name="Google Shape;629;p62"/>
          <p:cNvPicPr preferRelativeResize="0"/>
          <p:nvPr/>
        </p:nvPicPr>
        <p:blipFill rotWithShape="1">
          <a:blip r:embed="rId3">
            <a:alphaModFix/>
          </a:blip>
          <a:srcRect b="14060" l="10082" r="9422" t="5141"/>
          <a:stretch/>
        </p:blipFill>
        <p:spPr>
          <a:xfrm>
            <a:off x="1021344" y="2469950"/>
            <a:ext cx="6229861" cy="38292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Description</a:t>
            </a:r>
            <a:endParaRPr/>
          </a:p>
        </p:txBody>
      </p:sp>
      <p:sp>
        <p:nvSpPr>
          <p:cNvPr id="636" name="Google Shape;636;p63"/>
          <p:cNvSpPr txBox="1"/>
          <p:nvPr>
            <p:ph idx="1" type="body"/>
          </p:nvPr>
        </p:nvSpPr>
        <p:spPr>
          <a:xfrm>
            <a:off x="1295402" y="2725107"/>
            <a:ext cx="9601194" cy="331893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760"/>
              <a:buNone/>
            </a:pPr>
            <a:r>
              <a:rPr b="1" lang="en-US"/>
              <a:t>The description within a screenplay includes:</a:t>
            </a:r>
            <a:endParaRPr/>
          </a:p>
          <a:p>
            <a:pPr indent="0" lvl="0" marL="0" rtl="0" algn="ctr">
              <a:spcBef>
                <a:spcPts val="1080"/>
              </a:spcBef>
              <a:spcAft>
                <a:spcPts val="0"/>
              </a:spcAft>
              <a:buSzPts val="2760"/>
              <a:buNone/>
            </a:pPr>
            <a:r>
              <a:t/>
            </a:r>
            <a:endParaRPr b="1"/>
          </a:p>
          <a:p>
            <a:pPr indent="-285750" lvl="0" marL="285750" rtl="0" algn="l">
              <a:spcBef>
                <a:spcPts val="1080"/>
              </a:spcBef>
              <a:spcAft>
                <a:spcPts val="0"/>
              </a:spcAft>
              <a:buSzPts val="2760"/>
              <a:buChar char="•"/>
            </a:pPr>
            <a:r>
              <a:rPr lang="en-US"/>
              <a:t>Where the action takes place </a:t>
            </a:r>
            <a:endParaRPr/>
          </a:p>
          <a:p>
            <a:pPr indent="-285750" lvl="0" marL="285750" rtl="0" algn="l">
              <a:spcBef>
                <a:spcPts val="1080"/>
              </a:spcBef>
              <a:spcAft>
                <a:spcPts val="0"/>
              </a:spcAft>
              <a:buSzPts val="2760"/>
              <a:buChar char="•"/>
            </a:pPr>
            <a:r>
              <a:rPr lang="en-US"/>
              <a:t>Elements of a scene, such as characters and objects.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Description</a:t>
            </a:r>
            <a:endParaRPr/>
          </a:p>
        </p:txBody>
      </p:sp>
      <p:sp>
        <p:nvSpPr>
          <p:cNvPr id="643" name="Google Shape;643;p64"/>
          <p:cNvSpPr txBox="1"/>
          <p:nvPr>
            <p:ph idx="1" type="body"/>
          </p:nvPr>
        </p:nvSpPr>
        <p:spPr>
          <a:xfrm>
            <a:off x="1295402" y="2725107"/>
            <a:ext cx="9601194"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When writing a story, it is sometimes better to show the audience, then review information through dialogue. </a:t>
            </a:r>
            <a:endParaRPr/>
          </a:p>
          <a:p>
            <a:pPr indent="-285750" lvl="0" marL="285750" rtl="0" algn="l">
              <a:spcBef>
                <a:spcPts val="1080"/>
              </a:spcBef>
              <a:spcAft>
                <a:spcPts val="0"/>
              </a:spcAft>
              <a:buSzPts val="2760"/>
              <a:buChar char="•"/>
            </a:pPr>
            <a:r>
              <a:rPr lang="en-US"/>
              <a:t>The description should communicate images that disclose details the audience needs to see.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Description</a:t>
            </a:r>
            <a:endParaRPr/>
          </a:p>
        </p:txBody>
      </p:sp>
      <p:pic>
        <p:nvPicPr>
          <p:cNvPr descr="Image result for changeling angelina jolie child's room" id="650" name="Google Shape;650;p65"/>
          <p:cNvPicPr preferRelativeResize="0"/>
          <p:nvPr>
            <p:ph idx="1" type="body"/>
          </p:nvPr>
        </p:nvPicPr>
        <p:blipFill rotWithShape="1">
          <a:blip r:embed="rId3">
            <a:alphaModFix/>
          </a:blip>
          <a:srcRect b="0" l="0" r="383" t="0"/>
          <a:stretch/>
        </p:blipFill>
        <p:spPr>
          <a:xfrm>
            <a:off x="1295402" y="2557463"/>
            <a:ext cx="4406898" cy="3317875"/>
          </a:xfrm>
          <a:prstGeom prst="rect">
            <a:avLst/>
          </a:prstGeom>
          <a:noFill/>
          <a:ln>
            <a:noFill/>
          </a:ln>
        </p:spPr>
      </p:pic>
      <p:sp>
        <p:nvSpPr>
          <p:cNvPr id="651" name="Google Shape;651;p65"/>
          <p:cNvSpPr txBox="1"/>
          <p:nvPr/>
        </p:nvSpPr>
        <p:spPr>
          <a:xfrm>
            <a:off x="6273800" y="3390900"/>
            <a:ext cx="440690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entury Gothic"/>
                <a:ea typeface="Century Gothic"/>
                <a:cs typeface="Century Gothic"/>
                <a:sym typeface="Century Gothic"/>
              </a:rPr>
              <a:t>Image of a mother absently touching frayed toys in a child's room is much richer than explaining verbally that the child no longer lives at home.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Description</a:t>
            </a:r>
            <a:endParaRPr/>
          </a:p>
        </p:txBody>
      </p:sp>
      <p:pic>
        <p:nvPicPr>
          <p:cNvPr descr="Image result for changeling angelina jolie child's room" id="658" name="Google Shape;658;p66"/>
          <p:cNvPicPr preferRelativeResize="0"/>
          <p:nvPr>
            <p:ph idx="1" type="body"/>
          </p:nvPr>
        </p:nvPicPr>
        <p:blipFill rotWithShape="1">
          <a:blip r:embed="rId3">
            <a:alphaModFix/>
          </a:blip>
          <a:srcRect b="0" l="0" r="383" t="0"/>
          <a:stretch/>
        </p:blipFill>
        <p:spPr>
          <a:xfrm>
            <a:off x="1295402" y="2557463"/>
            <a:ext cx="4406898" cy="3317875"/>
          </a:xfrm>
          <a:prstGeom prst="rect">
            <a:avLst/>
          </a:prstGeom>
          <a:noFill/>
          <a:ln>
            <a:noFill/>
          </a:ln>
        </p:spPr>
      </p:pic>
      <p:sp>
        <p:nvSpPr>
          <p:cNvPr id="659" name="Google Shape;659;p66"/>
          <p:cNvSpPr txBox="1"/>
          <p:nvPr/>
        </p:nvSpPr>
        <p:spPr>
          <a:xfrm>
            <a:off x="6273800" y="2939127"/>
            <a:ext cx="4406900" cy="25545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entury Gothic"/>
                <a:ea typeface="Century Gothic"/>
                <a:cs typeface="Century Gothic"/>
                <a:sym typeface="Century Gothic"/>
              </a:rPr>
              <a:t>In other words:</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dk1"/>
                </a:solidFill>
                <a:latin typeface="Century Gothic"/>
                <a:ea typeface="Century Gothic"/>
                <a:cs typeface="Century Gothic"/>
                <a:sym typeface="Century Gothic"/>
              </a:rPr>
              <a:t>A picture is worth a thousand words</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dk1"/>
                </a:solidFill>
                <a:latin typeface="Century Gothic"/>
                <a:ea typeface="Century Gothic"/>
                <a:cs typeface="Century Gothic"/>
                <a:sym typeface="Century Gothic"/>
              </a:rPr>
              <a:t>Leave enough in there to inform, but let the audience decide how they feel.</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Dialogue</a:t>
            </a:r>
            <a:endParaRPr/>
          </a:p>
        </p:txBody>
      </p:sp>
      <p:sp>
        <p:nvSpPr>
          <p:cNvPr id="666" name="Google Shape;666;p67"/>
          <p:cNvSpPr txBox="1"/>
          <p:nvPr/>
        </p:nvSpPr>
        <p:spPr>
          <a:xfrm>
            <a:off x="1295402" y="3009900"/>
            <a:ext cx="9601196"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entury Gothic"/>
                <a:ea typeface="Century Gothic"/>
                <a:cs typeface="Century Gothic"/>
                <a:sym typeface="Century Gothic"/>
              </a:rPr>
              <a:t>Show rather than say it. However, that does not mean that there is no reason for dialogue. </a:t>
            </a:r>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entury Gothic"/>
                <a:ea typeface="Century Gothic"/>
                <a:cs typeface="Century Gothic"/>
                <a:sym typeface="Century Gothic"/>
              </a:rPr>
              <a:t>Use dialogue when you </a:t>
            </a:r>
            <a:r>
              <a:rPr b="1" lang="en-US" sz="2400">
                <a:solidFill>
                  <a:schemeClr val="dk1"/>
                </a:solidFill>
                <a:latin typeface="Century Gothic"/>
                <a:ea typeface="Century Gothic"/>
                <a:cs typeface="Century Gothic"/>
                <a:sym typeface="Century Gothic"/>
              </a:rPr>
              <a:t>want to express a characters </a:t>
            </a:r>
            <a:r>
              <a:rPr lang="en-US" sz="2400">
                <a:solidFill>
                  <a:schemeClr val="dk1"/>
                </a:solidFill>
                <a:latin typeface="Century Gothic"/>
                <a:ea typeface="Century Gothic"/>
                <a:cs typeface="Century Gothic"/>
                <a:sym typeface="Century Gothic"/>
              </a:rPr>
              <a:t>emotions, </a:t>
            </a:r>
            <a:r>
              <a:rPr b="1" lang="en-US" sz="2400">
                <a:solidFill>
                  <a:schemeClr val="dk1"/>
                </a:solidFill>
                <a:latin typeface="Century Gothic"/>
                <a:ea typeface="Century Gothic"/>
                <a:cs typeface="Century Gothic"/>
                <a:sym typeface="Century Gothic"/>
              </a:rPr>
              <a:t>explore the interactions </a:t>
            </a:r>
            <a:r>
              <a:rPr lang="en-US" sz="2400">
                <a:solidFill>
                  <a:schemeClr val="dk1"/>
                </a:solidFill>
                <a:latin typeface="Century Gothic"/>
                <a:ea typeface="Century Gothic"/>
                <a:cs typeface="Century Gothic"/>
                <a:sym typeface="Century Gothic"/>
              </a:rPr>
              <a:t>between characters and the environment, and to </a:t>
            </a:r>
            <a:r>
              <a:rPr b="1" lang="en-US" sz="2400">
                <a:solidFill>
                  <a:schemeClr val="dk1"/>
                </a:solidFill>
                <a:latin typeface="Century Gothic"/>
                <a:ea typeface="Century Gothic"/>
                <a:cs typeface="Century Gothic"/>
                <a:sym typeface="Century Gothic"/>
              </a:rPr>
              <a:t>move the story forward</a:t>
            </a:r>
            <a:r>
              <a:rPr lang="en-US" sz="2400">
                <a:solidFill>
                  <a:schemeClr val="dk1"/>
                </a:solidFill>
                <a:latin typeface="Century Gothic"/>
                <a:ea typeface="Century Gothic"/>
                <a:cs typeface="Century Gothic"/>
                <a:sym typeface="Century Gothic"/>
              </a:rPr>
              <a: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Two Column Script</a:t>
            </a:r>
            <a:endParaRPr/>
          </a:p>
        </p:txBody>
      </p:sp>
      <p:sp>
        <p:nvSpPr>
          <p:cNvPr id="673" name="Google Shape;673;p68"/>
          <p:cNvSpPr txBox="1"/>
          <p:nvPr/>
        </p:nvSpPr>
        <p:spPr>
          <a:xfrm>
            <a:off x="6553200" y="2489200"/>
            <a:ext cx="4343398" cy="317009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Frequently used for corporate videos, documentaries, multimedia, and news. </a:t>
            </a:r>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entury Gothic"/>
              <a:ea typeface="Century Gothic"/>
              <a:cs typeface="Century Gothic"/>
              <a:sym typeface="Century Gothic"/>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Broken into two columns (video and audio)</a:t>
            </a:r>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entury Gothic"/>
              <a:ea typeface="Century Gothic"/>
              <a:cs typeface="Century Gothic"/>
              <a:sym typeface="Century Gothic"/>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Left contains video information, with audio on the right. </a:t>
            </a:r>
            <a:endParaRPr/>
          </a:p>
        </p:txBody>
      </p:sp>
      <p:pic>
        <p:nvPicPr>
          <p:cNvPr descr="Image result for two column script" id="674" name="Google Shape;674;p68"/>
          <p:cNvPicPr preferRelativeResize="0"/>
          <p:nvPr/>
        </p:nvPicPr>
        <p:blipFill rotWithShape="1">
          <a:blip r:embed="rId3">
            <a:alphaModFix/>
          </a:blip>
          <a:srcRect b="20297" l="0" r="0" t="0"/>
          <a:stretch/>
        </p:blipFill>
        <p:spPr>
          <a:xfrm>
            <a:off x="1562099" y="2489200"/>
            <a:ext cx="4152901" cy="382381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Two Column Script</a:t>
            </a:r>
            <a:endParaRPr/>
          </a:p>
        </p:txBody>
      </p:sp>
      <p:sp>
        <p:nvSpPr>
          <p:cNvPr id="681" name="Google Shape;681;p69"/>
          <p:cNvSpPr txBox="1"/>
          <p:nvPr/>
        </p:nvSpPr>
        <p:spPr>
          <a:xfrm>
            <a:off x="6553200" y="2489200"/>
            <a:ext cx="4343398" cy="317009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Frequently used for corporate videos, documentaries, multimedia, and news. </a:t>
            </a:r>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entury Gothic"/>
              <a:ea typeface="Century Gothic"/>
              <a:cs typeface="Century Gothic"/>
              <a:sym typeface="Century Gothic"/>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Broken into two columns (video and audio)</a:t>
            </a:r>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entury Gothic"/>
              <a:ea typeface="Century Gothic"/>
              <a:cs typeface="Century Gothic"/>
              <a:sym typeface="Century Gothic"/>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Left contains video information, with audio on the right. </a:t>
            </a:r>
            <a:endParaRPr/>
          </a:p>
        </p:txBody>
      </p:sp>
      <p:pic>
        <p:nvPicPr>
          <p:cNvPr descr="Image result for two column script" id="682" name="Google Shape;682;p69"/>
          <p:cNvPicPr preferRelativeResize="0"/>
          <p:nvPr/>
        </p:nvPicPr>
        <p:blipFill rotWithShape="1">
          <a:blip r:embed="rId3">
            <a:alphaModFix/>
          </a:blip>
          <a:srcRect b="20297" l="0" r="0" t="0"/>
          <a:stretch/>
        </p:blipFill>
        <p:spPr>
          <a:xfrm>
            <a:off x="1562099" y="2489200"/>
            <a:ext cx="4152901" cy="382381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Storyboards</a:t>
            </a:r>
            <a:endParaRPr/>
          </a:p>
        </p:txBody>
      </p:sp>
      <p:sp>
        <p:nvSpPr>
          <p:cNvPr id="689" name="Google Shape;689;p70"/>
          <p:cNvSpPr txBox="1"/>
          <p:nvPr/>
        </p:nvSpPr>
        <p:spPr>
          <a:xfrm>
            <a:off x="1295402" y="2781300"/>
            <a:ext cx="9601196"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Series of sketches that are used as a planning tool</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Visually shows how the action of a story unfolds.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Facilitates production.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Main purpose – to clearly convey the narrative flow of a story by defining the challenges and problems of a project.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Understanding the elements is critical.</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Who uses Storyboards?</a:t>
            </a:r>
            <a:endParaRPr/>
          </a:p>
        </p:txBody>
      </p:sp>
      <p:sp>
        <p:nvSpPr>
          <p:cNvPr id="696" name="Google Shape;696;p71"/>
          <p:cNvSpPr txBox="1"/>
          <p:nvPr/>
        </p:nvSpPr>
        <p:spPr>
          <a:xfrm>
            <a:off x="1295402" y="2781300"/>
            <a:ext cx="9601196"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Advertising Campaigns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Video Games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Animations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Feature Films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Television Series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Custom 1">
      <a:dk1>
        <a:srgbClr val="000000"/>
      </a:dk1>
      <a:lt1>
        <a:srgbClr val="FFFFFF"/>
      </a:lt1>
      <a:dk2>
        <a:srgbClr val="212121"/>
      </a:dk2>
      <a:lt2>
        <a:srgbClr val="DADADA"/>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2016-01-10T17:17:42Z</dcterms:created>
  <dc:creator>Daniel</dc:creator>
</cp:coreProperties>
</file>