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6" r:id="rId2"/>
    <p:sldId id="257" r:id="rId3"/>
    <p:sldId id="29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2" r:id="rId36"/>
    <p:sldId id="291" r:id="rId37"/>
    <p:sldId id="290" r:id="rId38"/>
    <p:sldId id="293" r:id="rId39"/>
    <p:sldId id="294" r:id="rId40"/>
    <p:sldId id="295"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a:solidFill>
                  <a:schemeClr val="tx1"/>
                </a:solidFill>
                <a:effectLst/>
                <a:latin typeface="+mn-lt"/>
                <a:ea typeface="+mn-ea"/>
                <a:cs typeface="+mn-cs"/>
              </a:rPr>
              <a:t>_</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1</a:t>
            </a:fld>
            <a:endParaRPr lang="en-US"/>
          </a:p>
        </p:txBody>
      </p:sp>
    </p:spTree>
    <p:extLst>
      <p:ext uri="{BB962C8B-B14F-4D97-AF65-F5344CB8AC3E}">
        <p14:creationId xmlns:p14="http://schemas.microsoft.com/office/powerpoint/2010/main" val="2770150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a long time in the history of film storyboards have been a great tool to emphasize character blocking, camera placement and action. </a:t>
            </a:r>
          </a:p>
          <a:p>
            <a:r>
              <a:rPr lang="en-US" sz="1200" kern="1200" dirty="0">
                <a:solidFill>
                  <a:schemeClr val="tx1"/>
                </a:solidFill>
                <a:effectLst/>
                <a:latin typeface="+mn-lt"/>
                <a:ea typeface="+mn-ea"/>
                <a:cs typeface="+mn-cs"/>
              </a:rPr>
              <a:t>With the development of the language of film and animation as visual media, film makers came to realize that while a traditional storyboard is quite useful in organizing the shots and action, there are certain times when film-makers need to have a sense of timing. That’s where an Animatic is especially helpful.</a:t>
            </a:r>
          </a:p>
        </p:txBody>
      </p:sp>
      <p:sp>
        <p:nvSpPr>
          <p:cNvPr id="4" name="Slide Number Placeholder 3"/>
          <p:cNvSpPr>
            <a:spLocks noGrp="1"/>
          </p:cNvSpPr>
          <p:nvPr>
            <p:ph type="sldNum" sz="quarter" idx="10"/>
          </p:nvPr>
        </p:nvSpPr>
        <p:spPr/>
        <p:txBody>
          <a:bodyPr/>
          <a:lstStyle/>
          <a:p>
            <a:fld id="{3C7FDB04-D1AC-46DB-9592-CA12D78D404F}" type="slidenum">
              <a:rPr lang="en-US" smtClean="0"/>
              <a:t>2</a:t>
            </a:fld>
            <a:endParaRPr lang="en-US"/>
          </a:p>
        </p:txBody>
      </p:sp>
    </p:spTree>
    <p:extLst>
      <p:ext uri="{BB962C8B-B14F-4D97-AF65-F5344CB8AC3E}">
        <p14:creationId xmlns:p14="http://schemas.microsoft.com/office/powerpoint/2010/main" val="2623530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 animatic is a moving storyboard that helps the director of a production determine how scenes flow together.</a:t>
            </a:r>
          </a:p>
        </p:txBody>
      </p:sp>
      <p:sp>
        <p:nvSpPr>
          <p:cNvPr id="4" name="Slide Number Placeholder 3"/>
          <p:cNvSpPr>
            <a:spLocks noGrp="1"/>
          </p:cNvSpPr>
          <p:nvPr>
            <p:ph type="sldNum" sz="quarter" idx="10"/>
          </p:nvPr>
        </p:nvSpPr>
        <p:spPr/>
        <p:txBody>
          <a:bodyPr/>
          <a:lstStyle/>
          <a:p>
            <a:fld id="{3C7FDB04-D1AC-46DB-9592-CA12D78D404F}" type="slidenum">
              <a:rPr lang="en-US" smtClean="0"/>
              <a:t>3</a:t>
            </a:fld>
            <a:endParaRPr lang="en-US"/>
          </a:p>
        </p:txBody>
      </p:sp>
    </p:spTree>
    <p:extLst>
      <p:ext uri="{BB962C8B-B14F-4D97-AF65-F5344CB8AC3E}">
        <p14:creationId xmlns:p14="http://schemas.microsoft.com/office/powerpoint/2010/main" val="1416296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 animatic begins with the script, which is then translated into storyboards. </a:t>
            </a:r>
          </a:p>
          <a:p>
            <a:r>
              <a:rPr lang="en-US" sz="1200" kern="1200" dirty="0">
                <a:solidFill>
                  <a:schemeClr val="tx1"/>
                </a:solidFill>
                <a:effectLst/>
                <a:latin typeface="+mn-lt"/>
                <a:ea typeface="+mn-ea"/>
                <a:cs typeface="+mn-cs"/>
              </a:rPr>
              <a:t>The individual storyboard Panels are then shot with a camera, or scanned into a computer, and edited together in time  to a dialogue track.  </a:t>
            </a:r>
          </a:p>
          <a:p>
            <a:r>
              <a:rPr lang="en-US" sz="1200" kern="1200" dirty="0">
                <a:solidFill>
                  <a:schemeClr val="tx1"/>
                </a:solidFill>
                <a:effectLst/>
                <a:latin typeface="+mn-lt"/>
                <a:ea typeface="+mn-ea"/>
                <a:cs typeface="+mn-cs"/>
              </a:rPr>
              <a:t>By cutting together live footage, or using a stopwatch to time storyboards, the animatic artist has a guide for how long each movement, dialogue, and action will take.  Sound</a:t>
            </a:r>
            <a:r>
              <a:rPr lang="en-US" sz="1200" kern="1200" baseline="0" dirty="0">
                <a:solidFill>
                  <a:schemeClr val="tx1"/>
                </a:solidFill>
                <a:effectLst/>
                <a:latin typeface="+mn-lt"/>
                <a:ea typeface="+mn-ea"/>
                <a:cs typeface="+mn-cs"/>
              </a:rPr>
              <a:t> can also be used in an animatic, to give the viewer a sense of the dialogue in the scene, or the emotional buildup when matched to the music.</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4</a:t>
            </a:fld>
            <a:endParaRPr lang="en-US"/>
          </a:p>
        </p:txBody>
      </p:sp>
    </p:spTree>
    <p:extLst>
      <p:ext uri="{BB962C8B-B14F-4D97-AF65-F5344CB8AC3E}">
        <p14:creationId xmlns:p14="http://schemas.microsoft.com/office/powerpoint/2010/main" val="2425461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Although  these two examples of timing are often used to produce an animatic, the artist should never stick to them religiously. Sometimes the animatic artist may want creative license to emphasize an emotion or an action, in which case  the pre timed sequence would not be completely accurate. </a:t>
            </a:r>
          </a:p>
          <a:p>
            <a:r>
              <a:rPr lang="en-US" sz="1200" kern="1200" dirty="0">
                <a:solidFill>
                  <a:schemeClr val="tx1"/>
                </a:solidFill>
                <a:effectLst/>
                <a:latin typeface="+mn-lt"/>
                <a:ea typeface="+mn-ea"/>
                <a:cs typeface="+mn-cs"/>
              </a:rPr>
              <a:t>Nonetheless, without a well-timed animatic, production time for a shot could take three to four times longer to build, causing the studio to lose thousands of dollars and valuable production time.</a:t>
            </a:r>
          </a:p>
        </p:txBody>
      </p:sp>
      <p:sp>
        <p:nvSpPr>
          <p:cNvPr id="4" name="Slide Number Placeholder 3"/>
          <p:cNvSpPr>
            <a:spLocks noGrp="1"/>
          </p:cNvSpPr>
          <p:nvPr>
            <p:ph type="sldNum" sz="quarter" idx="10"/>
          </p:nvPr>
        </p:nvSpPr>
        <p:spPr/>
        <p:txBody>
          <a:bodyPr/>
          <a:lstStyle/>
          <a:p>
            <a:fld id="{3C7FDB04-D1AC-46DB-9592-CA12D78D404F}" type="slidenum">
              <a:rPr lang="en-US" smtClean="0"/>
              <a:t>5</a:t>
            </a:fld>
            <a:endParaRPr lang="en-US"/>
          </a:p>
        </p:txBody>
      </p:sp>
    </p:spTree>
    <p:extLst>
      <p:ext uri="{BB962C8B-B14F-4D97-AF65-F5344CB8AC3E}">
        <p14:creationId xmlns:p14="http://schemas.microsoft.com/office/powerpoint/2010/main" val="2360787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Almost everyone involved in a production can benefit from using an animatic. </a:t>
            </a:r>
          </a:p>
          <a:p>
            <a:r>
              <a:rPr lang="en-US" sz="1200" kern="1200" dirty="0">
                <a:solidFill>
                  <a:schemeClr val="tx1"/>
                </a:solidFill>
                <a:effectLst/>
                <a:latin typeface="+mn-lt"/>
                <a:ea typeface="+mn-ea"/>
                <a:cs typeface="+mn-cs"/>
              </a:rPr>
              <a:t>Animators use the animatic as a template for the scene setup and basic timing. </a:t>
            </a:r>
          </a:p>
          <a:p>
            <a:r>
              <a:rPr lang="en-US" sz="1200" kern="1200" dirty="0">
                <a:solidFill>
                  <a:schemeClr val="tx1"/>
                </a:solidFill>
                <a:effectLst/>
                <a:latin typeface="+mn-lt"/>
                <a:ea typeface="+mn-ea"/>
                <a:cs typeface="+mn-cs"/>
              </a:rPr>
              <a:t>Directors use the animatic to help them visualize scenes. </a:t>
            </a:r>
          </a:p>
        </p:txBody>
      </p:sp>
      <p:sp>
        <p:nvSpPr>
          <p:cNvPr id="4" name="Slide Number Placeholder 3"/>
          <p:cNvSpPr>
            <a:spLocks noGrp="1"/>
          </p:cNvSpPr>
          <p:nvPr>
            <p:ph type="sldNum" sz="quarter" idx="10"/>
          </p:nvPr>
        </p:nvSpPr>
        <p:spPr/>
        <p:txBody>
          <a:bodyPr/>
          <a:lstStyle/>
          <a:p>
            <a:fld id="{3C7FDB04-D1AC-46DB-9592-CA12D78D404F}" type="slidenum">
              <a:rPr lang="en-US" smtClean="0"/>
              <a:t>6</a:t>
            </a:fld>
            <a:endParaRPr lang="en-US"/>
          </a:p>
        </p:txBody>
      </p:sp>
    </p:spTree>
    <p:extLst>
      <p:ext uri="{BB962C8B-B14F-4D97-AF65-F5344CB8AC3E}">
        <p14:creationId xmlns:p14="http://schemas.microsoft.com/office/powerpoint/2010/main" val="217356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animatic helps actors who are working with computer animated characters or objects, to act and react to images that are not there. </a:t>
            </a:r>
          </a:p>
          <a:p>
            <a:r>
              <a:rPr lang="en-US" sz="1200" kern="1200" dirty="0">
                <a:solidFill>
                  <a:schemeClr val="tx1"/>
                </a:solidFill>
                <a:effectLst/>
                <a:latin typeface="+mn-lt"/>
                <a:ea typeface="+mn-ea"/>
                <a:cs typeface="+mn-cs"/>
              </a:rPr>
              <a:t>Special effects artist  use the animatic for clearly identifying timing issues. </a:t>
            </a:r>
          </a:p>
          <a:p>
            <a:r>
              <a:rPr lang="en-US" sz="1200" kern="1200" dirty="0">
                <a:solidFill>
                  <a:schemeClr val="tx1"/>
                </a:solidFill>
                <a:effectLst/>
                <a:latin typeface="+mn-lt"/>
                <a:ea typeface="+mn-ea"/>
                <a:cs typeface="+mn-cs"/>
              </a:rPr>
              <a:t>The animatic may also be used in the sound booth to help voice actors get a feel for the action that they are dubbing over.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Again, There is no set rule for the number of uses for the animatic. Most studios that use the animatic for pre-production have their own rules governing its uses and functions.</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7</a:t>
            </a:fld>
            <a:endParaRPr lang="en-US"/>
          </a:p>
        </p:txBody>
      </p:sp>
    </p:spTree>
    <p:extLst>
      <p:ext uri="{BB962C8B-B14F-4D97-AF65-F5344CB8AC3E}">
        <p14:creationId xmlns:p14="http://schemas.microsoft.com/office/powerpoint/2010/main" val="3250985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are several different types of animatics that a director may request to help previsualize shot. </a:t>
            </a:r>
          </a:p>
          <a:p>
            <a:r>
              <a:rPr lang="en-US" sz="1200" kern="1200" dirty="0">
                <a:solidFill>
                  <a:schemeClr val="tx1"/>
                </a:solidFill>
                <a:effectLst/>
                <a:latin typeface="+mn-lt"/>
                <a:ea typeface="+mn-ea"/>
                <a:cs typeface="+mn-cs"/>
              </a:rPr>
              <a:t>The four most common types include hand drawn animatics , motion test, </a:t>
            </a:r>
            <a:r>
              <a:rPr lang="en-US" sz="1200" kern="1200" dirty="0" err="1">
                <a:solidFill>
                  <a:schemeClr val="tx1"/>
                </a:solidFill>
                <a:effectLst/>
                <a:latin typeface="+mn-lt"/>
                <a:ea typeface="+mn-ea"/>
                <a:cs typeface="+mn-cs"/>
              </a:rPr>
              <a:t>videomatics</a:t>
            </a:r>
            <a:r>
              <a:rPr lang="en-US" sz="1200" kern="1200" dirty="0">
                <a:solidFill>
                  <a:schemeClr val="tx1"/>
                </a:solidFill>
                <a:effectLst/>
                <a:latin typeface="+mn-lt"/>
                <a:ea typeface="+mn-ea"/>
                <a:cs typeface="+mn-cs"/>
              </a:rPr>
              <a:t>, and 3d animatics.</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8</a:t>
            </a:fld>
            <a:endParaRPr lang="en-US"/>
          </a:p>
        </p:txBody>
      </p:sp>
    </p:spTree>
    <p:extLst>
      <p:ext uri="{BB962C8B-B14F-4D97-AF65-F5344CB8AC3E}">
        <p14:creationId xmlns:p14="http://schemas.microsoft.com/office/powerpoint/2010/main" val="4258200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Hand drawn animatics </a:t>
            </a:r>
          </a:p>
          <a:p>
            <a:r>
              <a:rPr lang="en-US" sz="1200" kern="1200" dirty="0">
                <a:solidFill>
                  <a:schemeClr val="tx1"/>
                </a:solidFill>
                <a:effectLst/>
                <a:latin typeface="+mn-lt"/>
                <a:ea typeface="+mn-ea"/>
                <a:cs typeface="+mn-cs"/>
              </a:rPr>
              <a:t>Hand drawn animatics are timed storyboards. </a:t>
            </a:r>
          </a:p>
          <a:p>
            <a:r>
              <a:rPr lang="en-US" sz="1200" kern="1200" dirty="0">
                <a:solidFill>
                  <a:schemeClr val="tx1"/>
                </a:solidFill>
                <a:effectLst/>
                <a:latin typeface="+mn-lt"/>
                <a:ea typeface="+mn-ea"/>
                <a:cs typeface="+mn-cs"/>
              </a:rPr>
              <a:t>The storyboards themselves are hand drawn sketches that are animated to show how is seen should flow. </a:t>
            </a:r>
          </a:p>
          <a:p>
            <a:r>
              <a:rPr lang="en-US" sz="1200" kern="1200" dirty="0">
                <a:solidFill>
                  <a:schemeClr val="tx1"/>
                </a:solidFill>
                <a:effectLst/>
                <a:latin typeface="+mn-lt"/>
                <a:ea typeface="+mn-ea"/>
                <a:cs typeface="+mn-cs"/>
              </a:rPr>
              <a:t>Such animatics help the director communicate complex action scenes. </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9</a:t>
            </a:fld>
            <a:endParaRPr lang="en-US"/>
          </a:p>
        </p:txBody>
      </p:sp>
    </p:spTree>
    <p:extLst>
      <p:ext uri="{BB962C8B-B14F-4D97-AF65-F5344CB8AC3E}">
        <p14:creationId xmlns:p14="http://schemas.microsoft.com/office/powerpoint/2010/main" val="14392774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Pencil tests are commonly found in </a:t>
            </a:r>
            <a:r>
              <a:rPr lang="en-US" sz="1200" kern="1200" dirty="0" err="1">
                <a:solidFill>
                  <a:schemeClr val="tx1"/>
                </a:solidFill>
                <a:effectLst/>
                <a:latin typeface="+mn-lt"/>
                <a:ea typeface="+mn-ea"/>
                <a:cs typeface="+mn-cs"/>
              </a:rPr>
              <a:t>cel</a:t>
            </a:r>
            <a:r>
              <a:rPr lang="en-US" sz="1200" kern="1200" dirty="0">
                <a:solidFill>
                  <a:schemeClr val="tx1"/>
                </a:solidFill>
                <a:effectLst/>
                <a:latin typeface="+mn-lt"/>
                <a:ea typeface="+mn-ea"/>
                <a:cs typeface="+mn-cs"/>
              </a:rPr>
              <a:t> animation. The purpose of a pencil test is to preview the motion of characters or objects. Once pencil test are analyzed they are cleaned up by the artist.</a:t>
            </a:r>
          </a:p>
        </p:txBody>
      </p:sp>
      <p:sp>
        <p:nvSpPr>
          <p:cNvPr id="4" name="Slide Number Placeholder 3"/>
          <p:cNvSpPr>
            <a:spLocks noGrp="1"/>
          </p:cNvSpPr>
          <p:nvPr>
            <p:ph type="sldNum" sz="quarter" idx="10"/>
          </p:nvPr>
        </p:nvSpPr>
        <p:spPr/>
        <p:txBody>
          <a:bodyPr/>
          <a:lstStyle/>
          <a:p>
            <a:fld id="{3C7FDB04-D1AC-46DB-9592-CA12D78D404F}" type="slidenum">
              <a:rPr lang="en-US" smtClean="0"/>
              <a:t>10</a:t>
            </a:fld>
            <a:endParaRPr lang="en-US"/>
          </a:p>
        </p:txBody>
      </p:sp>
    </p:spTree>
    <p:extLst>
      <p:ext uri="{BB962C8B-B14F-4D97-AF65-F5344CB8AC3E}">
        <p14:creationId xmlns:p14="http://schemas.microsoft.com/office/powerpoint/2010/main" val="926918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Motion preview, on the other hand, explores various issues including camera movement, character placement, timing, and pacing. </a:t>
            </a:r>
          </a:p>
          <a:p>
            <a:r>
              <a:rPr lang="en-US" sz="1200" kern="1200" dirty="0">
                <a:solidFill>
                  <a:schemeClr val="tx1"/>
                </a:solidFill>
                <a:effectLst/>
                <a:latin typeface="+mn-lt"/>
                <a:ea typeface="+mn-ea"/>
                <a:cs typeface="+mn-cs"/>
              </a:rPr>
              <a:t>For example, George Lucas previewed what a battle sequence of </a:t>
            </a:r>
            <a:r>
              <a:rPr lang="en-US" sz="1200" kern="1200" dirty="0" err="1">
                <a:solidFill>
                  <a:schemeClr val="tx1"/>
                </a:solidFill>
                <a:effectLst/>
                <a:latin typeface="+mn-lt"/>
                <a:ea typeface="+mn-ea"/>
                <a:cs typeface="+mn-cs"/>
              </a:rPr>
              <a:t>to</a:t>
            </a:r>
            <a:r>
              <a:rPr lang="en-US" sz="1200" kern="1200" dirty="0">
                <a:solidFill>
                  <a:schemeClr val="tx1"/>
                </a:solidFill>
                <a:effectLst/>
                <a:latin typeface="+mn-lt"/>
                <a:ea typeface="+mn-ea"/>
                <a:cs typeface="+mn-cs"/>
              </a:rPr>
              <a:t> spaceships would look like by cutting together existing World War II camera footage of planes in aerial combat. </a:t>
            </a:r>
          </a:p>
        </p:txBody>
      </p:sp>
      <p:sp>
        <p:nvSpPr>
          <p:cNvPr id="4" name="Slide Number Placeholder 3"/>
          <p:cNvSpPr>
            <a:spLocks noGrp="1"/>
          </p:cNvSpPr>
          <p:nvPr>
            <p:ph type="sldNum" sz="quarter" idx="10"/>
          </p:nvPr>
        </p:nvSpPr>
        <p:spPr/>
        <p:txBody>
          <a:bodyPr/>
          <a:lstStyle/>
          <a:p>
            <a:fld id="{3C7FDB04-D1AC-46DB-9592-CA12D78D404F}" type="slidenum">
              <a:rPr lang="en-US" smtClean="0"/>
              <a:t>11</a:t>
            </a:fld>
            <a:endParaRPr lang="en-US"/>
          </a:p>
        </p:txBody>
      </p:sp>
    </p:spTree>
    <p:extLst>
      <p:ext uri="{BB962C8B-B14F-4D97-AF65-F5344CB8AC3E}">
        <p14:creationId xmlns:p14="http://schemas.microsoft.com/office/powerpoint/2010/main" val="36993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a:t>
            </a:r>
            <a:r>
              <a:rPr lang="en-US" sz="1200" kern="1200" dirty="0" err="1">
                <a:solidFill>
                  <a:schemeClr val="tx1"/>
                </a:solidFill>
                <a:effectLst/>
                <a:latin typeface="+mn-lt"/>
                <a:ea typeface="+mn-ea"/>
                <a:cs typeface="+mn-cs"/>
              </a:rPr>
              <a:t>videomatic</a:t>
            </a:r>
            <a:r>
              <a:rPr lang="en-US" sz="1200" kern="1200" dirty="0">
                <a:solidFill>
                  <a:schemeClr val="tx1"/>
                </a:solidFill>
                <a:effectLst/>
                <a:latin typeface="+mn-lt"/>
                <a:ea typeface="+mn-ea"/>
                <a:cs typeface="+mn-cs"/>
              </a:rPr>
              <a:t> is a rough videotaped version of a scene that uses actors or production staff to assist in blocking the action, actor placement, timing, and camera angles.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Videomatics</a:t>
            </a:r>
            <a:r>
              <a:rPr lang="en-US" sz="1200" kern="1200" dirty="0">
                <a:solidFill>
                  <a:schemeClr val="tx1"/>
                </a:solidFill>
                <a:effectLst/>
                <a:latin typeface="+mn-lt"/>
                <a:ea typeface="+mn-ea"/>
                <a:cs typeface="+mn-cs"/>
              </a:rPr>
              <a:t> are usually shot on or near the studio lot, using existing equipment.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example, the director’s car might serve as a space vehicle, or a picnic table might be used as a ledge that overlooks a deadly Gorge.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member of the production staff usually sits in front of an actor, and is shot against a bluescreen. </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12</a:t>
            </a:fld>
            <a:endParaRPr lang="en-US"/>
          </a:p>
        </p:txBody>
      </p:sp>
    </p:spTree>
    <p:extLst>
      <p:ext uri="{BB962C8B-B14F-4D97-AF65-F5344CB8AC3E}">
        <p14:creationId xmlns:p14="http://schemas.microsoft.com/office/powerpoint/2010/main" val="794634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a:t>
            </a:r>
            <a:r>
              <a:rPr lang="en-US" sz="1200" kern="1200" dirty="0" err="1">
                <a:solidFill>
                  <a:schemeClr val="tx1"/>
                </a:solidFill>
                <a:effectLst/>
                <a:latin typeface="+mn-lt"/>
                <a:ea typeface="+mn-ea"/>
                <a:cs typeface="+mn-cs"/>
              </a:rPr>
              <a:t>videomatic</a:t>
            </a:r>
            <a:r>
              <a:rPr lang="en-US" sz="1200" kern="1200" dirty="0">
                <a:solidFill>
                  <a:schemeClr val="tx1"/>
                </a:solidFill>
                <a:effectLst/>
                <a:latin typeface="+mn-lt"/>
                <a:ea typeface="+mn-ea"/>
                <a:cs typeface="+mn-cs"/>
              </a:rPr>
              <a:t> is a rough videotaped version of a scene that uses actors or production staff to assist in blocking the action, actor placement, timing, and camera angles.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Videomatics</a:t>
            </a:r>
            <a:r>
              <a:rPr lang="en-US" sz="1200" kern="1200" dirty="0">
                <a:solidFill>
                  <a:schemeClr val="tx1"/>
                </a:solidFill>
                <a:effectLst/>
                <a:latin typeface="+mn-lt"/>
                <a:ea typeface="+mn-ea"/>
                <a:cs typeface="+mn-cs"/>
              </a:rPr>
              <a:t> are usually shot on or near the studio lot, using existing equipment.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example, the director’s car might serve as a space vehicle, or a picnic table might be used as a ledge that overlooks a deadly Gorge.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member of the production staff usually sits in front of an actor, and is shot against a bluescreen. </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13</a:t>
            </a:fld>
            <a:endParaRPr lang="en-US"/>
          </a:p>
        </p:txBody>
      </p:sp>
    </p:spTree>
    <p:extLst>
      <p:ext uri="{BB962C8B-B14F-4D97-AF65-F5344CB8AC3E}">
        <p14:creationId xmlns:p14="http://schemas.microsoft.com/office/powerpoint/2010/main" val="19926707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blue background is then removed, and replaced with a new background that makes it appear as if the character is actually 16 stories high.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Usually the directing is minimal and cinematography simple. The idea is to test out the script, timing, and feel of the shot. </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14</a:t>
            </a:fld>
            <a:endParaRPr lang="en-US"/>
          </a:p>
        </p:txBody>
      </p:sp>
    </p:spTree>
    <p:extLst>
      <p:ext uri="{BB962C8B-B14F-4D97-AF65-F5344CB8AC3E}">
        <p14:creationId xmlns:p14="http://schemas.microsoft.com/office/powerpoint/2010/main" val="1832771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Some companies opt to make their animatics from computer-generated material rather than hand drawn storyboards.  </a:t>
            </a:r>
          </a:p>
        </p:txBody>
      </p:sp>
      <p:sp>
        <p:nvSpPr>
          <p:cNvPr id="4" name="Slide Number Placeholder 3"/>
          <p:cNvSpPr>
            <a:spLocks noGrp="1"/>
          </p:cNvSpPr>
          <p:nvPr>
            <p:ph type="sldNum" sz="quarter" idx="10"/>
          </p:nvPr>
        </p:nvSpPr>
        <p:spPr/>
        <p:txBody>
          <a:bodyPr/>
          <a:lstStyle/>
          <a:p>
            <a:fld id="{3C7FDB04-D1AC-46DB-9592-CA12D78D404F}" type="slidenum">
              <a:rPr lang="en-US" smtClean="0"/>
              <a:t>15</a:t>
            </a:fld>
            <a:endParaRPr lang="en-US"/>
          </a:p>
        </p:txBody>
      </p:sp>
    </p:spTree>
    <p:extLst>
      <p:ext uri="{BB962C8B-B14F-4D97-AF65-F5344CB8AC3E}">
        <p14:creationId xmlns:p14="http://schemas.microsoft.com/office/powerpoint/2010/main" val="16121402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3D artist create low-resolution models , also known as proxy models ,  of the set characters and props . </a:t>
            </a:r>
          </a:p>
          <a:p>
            <a:r>
              <a:rPr lang="en-US" sz="1200" kern="1200" dirty="0">
                <a:solidFill>
                  <a:schemeClr val="tx1"/>
                </a:solidFill>
                <a:effectLst/>
                <a:latin typeface="+mn-lt"/>
                <a:ea typeface="+mn-ea"/>
                <a:cs typeface="+mn-cs"/>
              </a:rPr>
              <a:t>It is understood  that these proxy models will be replaced later with the real thing.</a:t>
            </a:r>
          </a:p>
          <a:p>
            <a:r>
              <a:rPr lang="en-US" sz="1200" kern="1200" dirty="0">
                <a:solidFill>
                  <a:schemeClr val="tx1"/>
                </a:solidFill>
                <a:effectLst/>
                <a:latin typeface="+mn-lt"/>
                <a:ea typeface="+mn-ea"/>
                <a:cs typeface="+mn-cs"/>
              </a:rPr>
              <a:t>The 3D artist then animate each shot, applying the basic rules of storyboarding such as blocking movements and camera framing</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16</a:t>
            </a:fld>
            <a:endParaRPr lang="en-US"/>
          </a:p>
        </p:txBody>
      </p:sp>
    </p:spTree>
    <p:extLst>
      <p:ext uri="{BB962C8B-B14F-4D97-AF65-F5344CB8AC3E}">
        <p14:creationId xmlns:p14="http://schemas.microsoft.com/office/powerpoint/2010/main" val="39415167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rough cut is a well-developed animatic  that is constantly updated with near completed animation or finished shots.</a:t>
            </a:r>
          </a:p>
          <a:p>
            <a:r>
              <a:rPr lang="en-US" sz="1200" kern="1200" dirty="0">
                <a:solidFill>
                  <a:schemeClr val="tx1"/>
                </a:solidFill>
                <a:effectLst/>
                <a:latin typeface="+mn-lt"/>
                <a:ea typeface="+mn-ea"/>
                <a:cs typeface="+mn-cs"/>
              </a:rPr>
              <a:t>The rough cut is a great way to give a director, or a production a way of visualizing the development of a film while ensuring that all these parts flow together as a story.</a:t>
            </a:r>
          </a:p>
        </p:txBody>
      </p:sp>
      <p:sp>
        <p:nvSpPr>
          <p:cNvPr id="4" name="Slide Number Placeholder 3"/>
          <p:cNvSpPr>
            <a:spLocks noGrp="1"/>
          </p:cNvSpPr>
          <p:nvPr>
            <p:ph type="sldNum" sz="quarter" idx="10"/>
          </p:nvPr>
        </p:nvSpPr>
        <p:spPr/>
        <p:txBody>
          <a:bodyPr/>
          <a:lstStyle/>
          <a:p>
            <a:fld id="{3C7FDB04-D1AC-46DB-9592-CA12D78D404F}" type="slidenum">
              <a:rPr lang="en-US" smtClean="0"/>
              <a:t>17</a:t>
            </a:fld>
            <a:endParaRPr lang="en-US"/>
          </a:p>
        </p:txBody>
      </p:sp>
    </p:spTree>
    <p:extLst>
      <p:ext uri="{BB962C8B-B14F-4D97-AF65-F5344CB8AC3E}">
        <p14:creationId xmlns:p14="http://schemas.microsoft.com/office/powerpoint/2010/main" val="22841771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Once a shot is ready for review, the artist replaces the existing animatic shot with the actual final footage. </a:t>
            </a:r>
          </a:p>
          <a:p>
            <a:r>
              <a:rPr lang="en-US" sz="1200" kern="1200" dirty="0">
                <a:solidFill>
                  <a:schemeClr val="tx1"/>
                </a:solidFill>
                <a:effectLst/>
                <a:latin typeface="+mn-lt"/>
                <a:ea typeface="+mn-ea"/>
                <a:cs typeface="+mn-cs"/>
              </a:rPr>
              <a:t>The updated rough-cut is then presented to the director or department head for approval. </a:t>
            </a:r>
          </a:p>
          <a:p>
            <a:r>
              <a:rPr lang="en-US" sz="1200" kern="1200" dirty="0">
                <a:solidFill>
                  <a:schemeClr val="tx1"/>
                </a:solidFill>
                <a:effectLst/>
                <a:latin typeface="+mn-lt"/>
                <a:ea typeface="+mn-ea"/>
                <a:cs typeface="+mn-cs"/>
              </a:rPr>
              <a:t>The rough cut animatic should reflect the tools and techniques needed to create each scene. </a:t>
            </a:r>
          </a:p>
          <a:p>
            <a:r>
              <a:rPr lang="en-US" sz="1200" kern="1200" dirty="0">
                <a:solidFill>
                  <a:schemeClr val="tx1"/>
                </a:solidFill>
                <a:effectLst/>
                <a:latin typeface="+mn-lt"/>
                <a:ea typeface="+mn-ea"/>
                <a:cs typeface="+mn-cs"/>
              </a:rPr>
              <a:t>If a shot requires special effect, the rough cut should have that same, or a proximate, special effect in it. </a:t>
            </a:r>
          </a:p>
          <a:p>
            <a:r>
              <a:rPr lang="en-US" sz="1200" kern="1200" dirty="0">
                <a:solidFill>
                  <a:schemeClr val="tx1"/>
                </a:solidFill>
                <a:effectLst/>
                <a:latin typeface="+mn-lt"/>
                <a:ea typeface="+mn-ea"/>
                <a:cs typeface="+mn-cs"/>
              </a:rPr>
              <a:t>For example if alive actor picks up a computer-generated object, the rough cut should show the actor picking up the 3D model or in an approximation of the CG object.</a:t>
            </a:r>
          </a:p>
        </p:txBody>
      </p:sp>
      <p:sp>
        <p:nvSpPr>
          <p:cNvPr id="4" name="Slide Number Placeholder 3"/>
          <p:cNvSpPr>
            <a:spLocks noGrp="1"/>
          </p:cNvSpPr>
          <p:nvPr>
            <p:ph type="sldNum" sz="quarter" idx="10"/>
          </p:nvPr>
        </p:nvSpPr>
        <p:spPr/>
        <p:txBody>
          <a:bodyPr/>
          <a:lstStyle/>
          <a:p>
            <a:fld id="{3C7FDB04-D1AC-46DB-9592-CA12D78D404F}" type="slidenum">
              <a:rPr lang="en-US" smtClean="0"/>
              <a:t>18</a:t>
            </a:fld>
            <a:endParaRPr lang="en-US"/>
          </a:p>
        </p:txBody>
      </p:sp>
    </p:spTree>
    <p:extLst>
      <p:ext uri="{BB962C8B-B14F-4D97-AF65-F5344CB8AC3E}">
        <p14:creationId xmlns:p14="http://schemas.microsoft.com/office/powerpoint/2010/main" val="26895295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Every animatic artist works with software to load the hand-drawn or film shots into the computer and manipulate them. </a:t>
            </a:r>
          </a:p>
          <a:p>
            <a:r>
              <a:rPr lang="en-US" sz="1200" kern="1200" dirty="0">
                <a:solidFill>
                  <a:schemeClr val="tx1"/>
                </a:solidFill>
                <a:effectLst/>
                <a:latin typeface="+mn-lt"/>
                <a:ea typeface="+mn-ea"/>
                <a:cs typeface="+mn-cs"/>
              </a:rPr>
              <a:t>There are several storyboard software programs on the market. </a:t>
            </a:r>
          </a:p>
          <a:p>
            <a:r>
              <a:rPr lang="en-US" sz="1200" kern="1200" dirty="0">
                <a:solidFill>
                  <a:schemeClr val="tx1"/>
                </a:solidFill>
                <a:effectLst/>
                <a:latin typeface="+mn-lt"/>
                <a:ea typeface="+mn-ea"/>
                <a:cs typeface="+mn-cs"/>
              </a:rPr>
              <a:t>Amongst many other things Photoshop and after effects are often used to prepare  storyboards and animatics. </a:t>
            </a:r>
          </a:p>
          <a:p>
            <a:r>
              <a:rPr lang="en-US" sz="1200" kern="1200" dirty="0">
                <a:solidFill>
                  <a:schemeClr val="tx1"/>
                </a:solidFill>
                <a:effectLst/>
                <a:latin typeface="+mn-lt"/>
                <a:ea typeface="+mn-ea"/>
                <a:cs typeface="+mn-cs"/>
              </a:rPr>
              <a:t>Both have many compatible features, but specialize in different areas, with photoshop more dedicated to traditional composition, and After Effects dedicated to motion. </a:t>
            </a:r>
          </a:p>
          <a:p>
            <a:r>
              <a:rPr lang="en-US" sz="1200" kern="1200" dirty="0">
                <a:solidFill>
                  <a:schemeClr val="tx1"/>
                </a:solidFill>
                <a:effectLst/>
                <a:latin typeface="+mn-lt"/>
                <a:ea typeface="+mn-ea"/>
                <a:cs typeface="+mn-cs"/>
              </a:rPr>
              <a:t>An Ideal workflow is the combination of each. </a:t>
            </a:r>
          </a:p>
        </p:txBody>
      </p:sp>
      <p:sp>
        <p:nvSpPr>
          <p:cNvPr id="4" name="Slide Number Placeholder 3"/>
          <p:cNvSpPr>
            <a:spLocks noGrp="1"/>
          </p:cNvSpPr>
          <p:nvPr>
            <p:ph type="sldNum" sz="quarter" idx="10"/>
          </p:nvPr>
        </p:nvSpPr>
        <p:spPr/>
        <p:txBody>
          <a:bodyPr/>
          <a:lstStyle/>
          <a:p>
            <a:fld id="{3C7FDB04-D1AC-46DB-9592-CA12D78D404F}" type="slidenum">
              <a:rPr lang="en-US" smtClean="0"/>
              <a:t>19</a:t>
            </a:fld>
            <a:endParaRPr lang="en-US"/>
          </a:p>
        </p:txBody>
      </p:sp>
    </p:spTree>
    <p:extLst>
      <p:ext uri="{BB962C8B-B14F-4D97-AF65-F5344CB8AC3E}">
        <p14:creationId xmlns:p14="http://schemas.microsoft.com/office/powerpoint/2010/main" val="27052684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Remember though, storyboards are not about software, but stories. </a:t>
            </a:r>
          </a:p>
          <a:p>
            <a:r>
              <a:rPr lang="en-US" sz="1200" kern="1200" dirty="0">
                <a:solidFill>
                  <a:schemeClr val="tx1"/>
                </a:solidFill>
                <a:effectLst/>
                <a:latin typeface="+mn-lt"/>
                <a:ea typeface="+mn-ea"/>
                <a:cs typeface="+mn-cs"/>
              </a:rPr>
              <a:t>Technology is only the means for articulating and executing the director artist's vision.</a:t>
            </a:r>
          </a:p>
          <a:p>
            <a:r>
              <a:rPr lang="en-US" sz="1200" kern="1200" dirty="0">
                <a:solidFill>
                  <a:schemeClr val="tx1"/>
                </a:solidFill>
                <a:effectLst/>
                <a:latin typeface="+mn-lt"/>
                <a:ea typeface="+mn-ea"/>
                <a:cs typeface="+mn-cs"/>
              </a:rPr>
              <a:t>Other Software include Storyboard Quick, </a:t>
            </a:r>
            <a:r>
              <a:rPr lang="en-US" sz="1200" kern="1200" dirty="0" err="1">
                <a:solidFill>
                  <a:schemeClr val="tx1"/>
                </a:solidFill>
                <a:effectLst/>
                <a:latin typeface="+mn-lt"/>
                <a:ea typeface="+mn-ea"/>
                <a:cs typeface="+mn-cs"/>
              </a:rPr>
              <a:t>FrameForge</a:t>
            </a:r>
            <a:r>
              <a:rPr lang="en-US" sz="1200" kern="1200" dirty="0">
                <a:solidFill>
                  <a:schemeClr val="tx1"/>
                </a:solidFill>
                <a:effectLst/>
                <a:latin typeface="+mn-lt"/>
                <a:ea typeface="+mn-ea"/>
                <a:cs typeface="+mn-cs"/>
              </a:rPr>
              <a:t> 3d studio and shot master.</a:t>
            </a:r>
          </a:p>
        </p:txBody>
      </p:sp>
      <p:sp>
        <p:nvSpPr>
          <p:cNvPr id="4" name="Slide Number Placeholder 3"/>
          <p:cNvSpPr>
            <a:spLocks noGrp="1"/>
          </p:cNvSpPr>
          <p:nvPr>
            <p:ph type="sldNum" sz="quarter" idx="10"/>
          </p:nvPr>
        </p:nvSpPr>
        <p:spPr/>
        <p:txBody>
          <a:bodyPr/>
          <a:lstStyle/>
          <a:p>
            <a:fld id="{3C7FDB04-D1AC-46DB-9592-CA12D78D404F}" type="slidenum">
              <a:rPr lang="en-US" smtClean="0"/>
              <a:t>20</a:t>
            </a:fld>
            <a:endParaRPr lang="en-US"/>
          </a:p>
        </p:txBody>
      </p:sp>
    </p:spTree>
    <p:extLst>
      <p:ext uri="{BB962C8B-B14F-4D97-AF65-F5344CB8AC3E}">
        <p14:creationId xmlns:p14="http://schemas.microsoft.com/office/powerpoint/2010/main" val="3864553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Remember though, storyboards are not about software, but stories. </a:t>
            </a:r>
          </a:p>
          <a:p>
            <a:r>
              <a:rPr lang="en-US" sz="1200" kern="1200" dirty="0">
                <a:solidFill>
                  <a:schemeClr val="tx1"/>
                </a:solidFill>
                <a:effectLst/>
                <a:latin typeface="+mn-lt"/>
                <a:ea typeface="+mn-ea"/>
                <a:cs typeface="+mn-cs"/>
              </a:rPr>
              <a:t>Technology is only the means for articulating and executing the director artist's vision.</a:t>
            </a:r>
          </a:p>
        </p:txBody>
      </p:sp>
      <p:sp>
        <p:nvSpPr>
          <p:cNvPr id="4" name="Slide Number Placeholder 3"/>
          <p:cNvSpPr>
            <a:spLocks noGrp="1"/>
          </p:cNvSpPr>
          <p:nvPr>
            <p:ph type="sldNum" sz="quarter" idx="10"/>
          </p:nvPr>
        </p:nvSpPr>
        <p:spPr/>
        <p:txBody>
          <a:bodyPr/>
          <a:lstStyle/>
          <a:p>
            <a:fld id="{3C7FDB04-D1AC-46DB-9592-CA12D78D404F}" type="slidenum">
              <a:rPr lang="en-US" smtClean="0"/>
              <a:t>21</a:t>
            </a:fld>
            <a:endParaRPr lang="en-US"/>
          </a:p>
        </p:txBody>
      </p:sp>
    </p:spTree>
    <p:extLst>
      <p:ext uri="{BB962C8B-B14F-4D97-AF65-F5344CB8AC3E}">
        <p14:creationId xmlns:p14="http://schemas.microsoft.com/office/powerpoint/2010/main" val="3531535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Scanners are often used to bring in  hand drawn artwork into a computer.  </a:t>
            </a:r>
          </a:p>
          <a:p>
            <a:r>
              <a:rPr lang="en-US" sz="1200" kern="1200" dirty="0">
                <a:solidFill>
                  <a:schemeClr val="tx1"/>
                </a:solidFill>
                <a:effectLst/>
                <a:latin typeface="+mn-lt"/>
                <a:ea typeface="+mn-ea"/>
                <a:cs typeface="+mn-cs"/>
              </a:rPr>
              <a:t>When scanning storyboards,  you need to set the resolution.  </a:t>
            </a:r>
          </a:p>
          <a:p>
            <a:r>
              <a:rPr lang="en-US" sz="1200" kern="1200" dirty="0">
                <a:solidFill>
                  <a:schemeClr val="tx1"/>
                </a:solidFill>
                <a:effectLst/>
                <a:latin typeface="+mn-lt"/>
                <a:ea typeface="+mn-ea"/>
                <a:cs typeface="+mn-cs"/>
              </a:rPr>
              <a:t>Television resolution for PCs is 72 DPI at 720 x 480 pixels, and Mac 72 dpi at 640 x 480. </a:t>
            </a:r>
          </a:p>
          <a:p>
            <a:r>
              <a:rPr lang="en-US" sz="1200" kern="1200" dirty="0">
                <a:solidFill>
                  <a:schemeClr val="tx1"/>
                </a:solidFill>
                <a:effectLst/>
                <a:latin typeface="+mn-lt"/>
                <a:ea typeface="+mn-ea"/>
                <a:cs typeface="+mn-cs"/>
              </a:rPr>
              <a:t>Depending on which platform you use, either PC or Mac, these will be your choices for the basic composition size of the animatic. </a:t>
            </a:r>
          </a:p>
        </p:txBody>
      </p:sp>
      <p:sp>
        <p:nvSpPr>
          <p:cNvPr id="4" name="Slide Number Placeholder 3"/>
          <p:cNvSpPr>
            <a:spLocks noGrp="1"/>
          </p:cNvSpPr>
          <p:nvPr>
            <p:ph type="sldNum" sz="quarter" idx="10"/>
          </p:nvPr>
        </p:nvSpPr>
        <p:spPr/>
        <p:txBody>
          <a:bodyPr/>
          <a:lstStyle/>
          <a:p>
            <a:fld id="{3C7FDB04-D1AC-46DB-9592-CA12D78D404F}" type="slidenum">
              <a:rPr lang="en-US" smtClean="0"/>
              <a:t>22</a:t>
            </a:fld>
            <a:endParaRPr lang="en-US"/>
          </a:p>
        </p:txBody>
      </p:sp>
    </p:spTree>
    <p:extLst>
      <p:ext uri="{BB962C8B-B14F-4D97-AF65-F5344CB8AC3E}">
        <p14:creationId xmlns:p14="http://schemas.microsoft.com/office/powerpoint/2010/main" val="29878146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basic rule of thumb  is to always scan larger than you need. It is easier  to take away then to add.  </a:t>
            </a:r>
          </a:p>
          <a:p>
            <a:r>
              <a:rPr lang="en-US" sz="1200" kern="1200" dirty="0">
                <a:solidFill>
                  <a:schemeClr val="tx1"/>
                </a:solidFill>
                <a:effectLst/>
                <a:latin typeface="+mn-lt"/>
                <a:ea typeface="+mn-ea"/>
                <a:cs typeface="+mn-cs"/>
              </a:rPr>
              <a:t>Although television resolution is 72 DPI,  you never know when the director will ask you to change a still shot to show movement. </a:t>
            </a:r>
          </a:p>
          <a:p>
            <a:r>
              <a:rPr lang="en-US" sz="1200" kern="1200" dirty="0">
                <a:solidFill>
                  <a:schemeClr val="tx1"/>
                </a:solidFill>
                <a:effectLst/>
                <a:latin typeface="+mn-lt"/>
                <a:ea typeface="+mn-ea"/>
                <a:cs typeface="+mn-cs"/>
              </a:rPr>
              <a:t>Having a little foresight could save you a few headaches down the road. </a:t>
            </a:r>
          </a:p>
          <a:p>
            <a:r>
              <a:rPr lang="en-US" sz="1200" kern="1200" dirty="0">
                <a:solidFill>
                  <a:schemeClr val="tx1"/>
                </a:solidFill>
                <a:effectLst/>
                <a:latin typeface="+mn-lt"/>
                <a:ea typeface="+mn-ea"/>
                <a:cs typeface="+mn-cs"/>
              </a:rPr>
              <a:t>As a rule of thumb it's a good idea to scan your images at 150 dpi</a:t>
            </a:r>
          </a:p>
        </p:txBody>
      </p:sp>
      <p:sp>
        <p:nvSpPr>
          <p:cNvPr id="4" name="Slide Number Placeholder 3"/>
          <p:cNvSpPr>
            <a:spLocks noGrp="1"/>
          </p:cNvSpPr>
          <p:nvPr>
            <p:ph type="sldNum" sz="quarter" idx="10"/>
          </p:nvPr>
        </p:nvSpPr>
        <p:spPr/>
        <p:txBody>
          <a:bodyPr/>
          <a:lstStyle/>
          <a:p>
            <a:fld id="{3C7FDB04-D1AC-46DB-9592-CA12D78D404F}" type="slidenum">
              <a:rPr lang="en-US" smtClean="0"/>
              <a:t>23</a:t>
            </a:fld>
            <a:endParaRPr lang="en-US"/>
          </a:p>
        </p:txBody>
      </p:sp>
    </p:spTree>
    <p:extLst>
      <p:ext uri="{BB962C8B-B14F-4D97-AF65-F5344CB8AC3E}">
        <p14:creationId xmlns:p14="http://schemas.microsoft.com/office/powerpoint/2010/main" val="17060080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Still shots should be scanned at 72 DPI, 720 x 480 minimum size.</a:t>
            </a:r>
          </a:p>
        </p:txBody>
      </p:sp>
      <p:sp>
        <p:nvSpPr>
          <p:cNvPr id="4" name="Slide Number Placeholder 3"/>
          <p:cNvSpPr>
            <a:spLocks noGrp="1"/>
          </p:cNvSpPr>
          <p:nvPr>
            <p:ph type="sldNum" sz="quarter" idx="10"/>
          </p:nvPr>
        </p:nvSpPr>
        <p:spPr/>
        <p:txBody>
          <a:bodyPr/>
          <a:lstStyle/>
          <a:p>
            <a:fld id="{3C7FDB04-D1AC-46DB-9592-CA12D78D404F}" type="slidenum">
              <a:rPr lang="en-US" smtClean="0"/>
              <a:t>24</a:t>
            </a:fld>
            <a:endParaRPr lang="en-US"/>
          </a:p>
        </p:txBody>
      </p:sp>
    </p:spTree>
    <p:extLst>
      <p:ext uri="{BB962C8B-B14F-4D97-AF65-F5344CB8AC3E}">
        <p14:creationId xmlns:p14="http://schemas.microsoft.com/office/powerpoint/2010/main" val="7653650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consideration you must think about here is the length of a pan. </a:t>
            </a:r>
          </a:p>
          <a:p>
            <a:r>
              <a:rPr lang="en-US" dirty="0"/>
              <a:t>Does a camera pan a full 360 Degrees? </a:t>
            </a:r>
          </a:p>
          <a:p>
            <a:r>
              <a:rPr lang="en-US" dirty="0"/>
              <a:t>Can you fit your panning sketch into the scanner? </a:t>
            </a:r>
          </a:p>
        </p:txBody>
      </p:sp>
      <p:sp>
        <p:nvSpPr>
          <p:cNvPr id="4" name="Slide Number Placeholder 3"/>
          <p:cNvSpPr>
            <a:spLocks noGrp="1"/>
          </p:cNvSpPr>
          <p:nvPr>
            <p:ph type="sldNum" sz="quarter" idx="10"/>
          </p:nvPr>
        </p:nvSpPr>
        <p:spPr/>
        <p:txBody>
          <a:bodyPr/>
          <a:lstStyle/>
          <a:p>
            <a:fld id="{3C7FDB04-D1AC-46DB-9592-CA12D78D404F}" type="slidenum">
              <a:rPr lang="en-US" smtClean="0"/>
              <a:t>25</a:t>
            </a:fld>
            <a:endParaRPr lang="en-US"/>
          </a:p>
        </p:txBody>
      </p:sp>
    </p:spTree>
    <p:extLst>
      <p:ext uri="{BB962C8B-B14F-4D97-AF65-F5344CB8AC3E}">
        <p14:creationId xmlns:p14="http://schemas.microsoft.com/office/powerpoint/2010/main" val="10028418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a rule of thumb zoomed should be scanned at 300 dpi.</a:t>
            </a:r>
          </a:p>
          <a:p>
            <a:r>
              <a:rPr lang="en-US" sz="1200" kern="1200" dirty="0">
                <a:solidFill>
                  <a:schemeClr val="tx1"/>
                </a:solidFill>
                <a:effectLst/>
                <a:latin typeface="+mn-lt"/>
                <a:ea typeface="+mn-ea"/>
                <a:cs typeface="+mn-cs"/>
              </a:rPr>
              <a:t>If you want to be exact you should figure out how close you are going to get in on the frame.</a:t>
            </a:r>
          </a:p>
          <a:p>
            <a:r>
              <a:rPr lang="en-US" sz="1200" kern="1200" dirty="0">
                <a:solidFill>
                  <a:schemeClr val="tx1"/>
                </a:solidFill>
                <a:effectLst/>
                <a:latin typeface="+mn-lt"/>
                <a:ea typeface="+mn-ea"/>
                <a:cs typeface="+mn-cs"/>
              </a:rPr>
              <a:t>For example, if you are going to move in on the frame twice, scan at twice the base resolution (72 dpi x 2 zooms = 144 dpi)</a:t>
            </a:r>
          </a:p>
        </p:txBody>
      </p:sp>
      <p:sp>
        <p:nvSpPr>
          <p:cNvPr id="4" name="Slide Number Placeholder 3"/>
          <p:cNvSpPr>
            <a:spLocks noGrp="1"/>
          </p:cNvSpPr>
          <p:nvPr>
            <p:ph type="sldNum" sz="quarter" idx="10"/>
          </p:nvPr>
        </p:nvSpPr>
        <p:spPr/>
        <p:txBody>
          <a:bodyPr/>
          <a:lstStyle/>
          <a:p>
            <a:fld id="{3C7FDB04-D1AC-46DB-9592-CA12D78D404F}" type="slidenum">
              <a:rPr lang="en-US" smtClean="0"/>
              <a:t>26</a:t>
            </a:fld>
            <a:endParaRPr lang="en-US"/>
          </a:p>
        </p:txBody>
      </p:sp>
    </p:spTree>
    <p:extLst>
      <p:ext uri="{BB962C8B-B14F-4D97-AF65-F5344CB8AC3E}">
        <p14:creationId xmlns:p14="http://schemas.microsoft.com/office/powerpoint/2010/main" val="29013223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the raw scanned images in Photoshop as either TGA or Tiff format. </a:t>
            </a:r>
          </a:p>
          <a:p>
            <a:r>
              <a:rPr lang="en-US" dirty="0"/>
              <a:t>Both of these formats are </a:t>
            </a:r>
            <a:r>
              <a:rPr lang="en-US" b="1" dirty="0"/>
              <a:t>lossless </a:t>
            </a:r>
            <a:r>
              <a:rPr lang="en-US" dirty="0"/>
              <a:t>(file type does not use any type of compression to store the data within the image). </a:t>
            </a:r>
          </a:p>
          <a:p>
            <a:r>
              <a:rPr lang="en-US" dirty="0"/>
              <a:t>Lossy types of Algorithms to compress the data and with repeated use (opening, saving, closing), the data can be loaded overtime. </a:t>
            </a:r>
          </a:p>
          <a:p>
            <a:r>
              <a:rPr lang="en-US" dirty="0"/>
              <a:t>Other formats that are lossy are jpeg, gif , and BMP.</a:t>
            </a:r>
          </a:p>
        </p:txBody>
      </p:sp>
      <p:sp>
        <p:nvSpPr>
          <p:cNvPr id="4" name="Slide Number Placeholder 3"/>
          <p:cNvSpPr>
            <a:spLocks noGrp="1"/>
          </p:cNvSpPr>
          <p:nvPr>
            <p:ph type="sldNum" sz="quarter" idx="10"/>
          </p:nvPr>
        </p:nvSpPr>
        <p:spPr/>
        <p:txBody>
          <a:bodyPr/>
          <a:lstStyle/>
          <a:p>
            <a:fld id="{3C7FDB04-D1AC-46DB-9592-CA12D78D404F}" type="slidenum">
              <a:rPr lang="en-US" smtClean="0"/>
              <a:t>27</a:t>
            </a:fld>
            <a:endParaRPr lang="en-US"/>
          </a:p>
        </p:txBody>
      </p:sp>
    </p:spTree>
    <p:extLst>
      <p:ext uri="{BB962C8B-B14F-4D97-AF65-F5344CB8AC3E}">
        <p14:creationId xmlns:p14="http://schemas.microsoft.com/office/powerpoint/2010/main" val="7187258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It is faster to scan everything all at once rather than going back and forth between the scanning software and Photoshop. </a:t>
            </a:r>
          </a:p>
          <a:p>
            <a:r>
              <a:rPr lang="en-US" sz="1200" kern="1200" dirty="0">
                <a:solidFill>
                  <a:schemeClr val="tx1"/>
                </a:solidFill>
                <a:effectLst/>
                <a:latin typeface="+mn-lt"/>
                <a:ea typeface="+mn-ea"/>
                <a:cs typeface="+mn-cs"/>
              </a:rPr>
              <a:t>Save each file in Photoshop then start cleaning them up for use in programs such as After Effects. </a:t>
            </a:r>
          </a:p>
          <a:p>
            <a:r>
              <a:rPr lang="en-US" sz="1200" kern="1200" dirty="0">
                <a:solidFill>
                  <a:schemeClr val="tx1"/>
                </a:solidFill>
                <a:effectLst/>
                <a:latin typeface="+mn-lt"/>
                <a:ea typeface="+mn-ea"/>
                <a:cs typeface="+mn-cs"/>
              </a:rPr>
              <a:t>It is wise to save the original raw image and work with a copy.</a:t>
            </a:r>
          </a:p>
        </p:txBody>
      </p:sp>
      <p:sp>
        <p:nvSpPr>
          <p:cNvPr id="4" name="Slide Number Placeholder 3"/>
          <p:cNvSpPr>
            <a:spLocks noGrp="1"/>
          </p:cNvSpPr>
          <p:nvPr>
            <p:ph type="sldNum" sz="quarter" idx="10"/>
          </p:nvPr>
        </p:nvSpPr>
        <p:spPr/>
        <p:txBody>
          <a:bodyPr/>
          <a:lstStyle/>
          <a:p>
            <a:fld id="{3C7FDB04-D1AC-46DB-9592-CA12D78D404F}" type="slidenum">
              <a:rPr lang="en-US" smtClean="0"/>
              <a:t>28</a:t>
            </a:fld>
            <a:endParaRPr lang="en-US"/>
          </a:p>
        </p:txBody>
      </p:sp>
    </p:spTree>
    <p:extLst>
      <p:ext uri="{BB962C8B-B14F-4D97-AF65-F5344CB8AC3E}">
        <p14:creationId xmlns:p14="http://schemas.microsoft.com/office/powerpoint/2010/main" val="24974738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It is faster to scan everything all at once rather than going back and forth between the scanning software and Photoshop. </a:t>
            </a:r>
          </a:p>
          <a:p>
            <a:r>
              <a:rPr lang="en-US" sz="1200" kern="1200" dirty="0">
                <a:solidFill>
                  <a:schemeClr val="tx1"/>
                </a:solidFill>
                <a:effectLst/>
                <a:latin typeface="+mn-lt"/>
                <a:ea typeface="+mn-ea"/>
                <a:cs typeface="+mn-cs"/>
              </a:rPr>
              <a:t>Save each file in Photoshop then start cleaning them up for use in programs such as After Effects. </a:t>
            </a:r>
          </a:p>
          <a:p>
            <a:r>
              <a:rPr lang="en-US" sz="1200" kern="1200" dirty="0">
                <a:solidFill>
                  <a:schemeClr val="tx1"/>
                </a:solidFill>
                <a:effectLst/>
                <a:latin typeface="+mn-lt"/>
                <a:ea typeface="+mn-ea"/>
                <a:cs typeface="+mn-cs"/>
              </a:rPr>
              <a:t>It is wise to save the original raw image and work with a copy.</a:t>
            </a:r>
          </a:p>
        </p:txBody>
      </p:sp>
      <p:sp>
        <p:nvSpPr>
          <p:cNvPr id="4" name="Slide Number Placeholder 3"/>
          <p:cNvSpPr>
            <a:spLocks noGrp="1"/>
          </p:cNvSpPr>
          <p:nvPr>
            <p:ph type="sldNum" sz="quarter" idx="10"/>
          </p:nvPr>
        </p:nvSpPr>
        <p:spPr/>
        <p:txBody>
          <a:bodyPr/>
          <a:lstStyle/>
          <a:p>
            <a:fld id="{3C7FDB04-D1AC-46DB-9592-CA12D78D404F}" type="slidenum">
              <a:rPr lang="en-US" smtClean="0"/>
              <a:t>29</a:t>
            </a:fld>
            <a:endParaRPr lang="en-US"/>
          </a:p>
        </p:txBody>
      </p:sp>
    </p:spTree>
    <p:extLst>
      <p:ext uri="{BB962C8B-B14F-4D97-AF65-F5344CB8AC3E}">
        <p14:creationId xmlns:p14="http://schemas.microsoft.com/office/powerpoint/2010/main" val="437591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Straight lines, dots, fuzzies and so forth should be removed. Adjust the contrast as needed. Keep white paper white, and black lines black. Nothing is more distracting than yellowish paper  with gray lines that are supposed to represent your storyboards. Most scanning software allows you to adjust the contrast, or you can fix it in Photoshop by adjusting the contrast.</a:t>
            </a:r>
          </a:p>
        </p:txBody>
      </p:sp>
      <p:sp>
        <p:nvSpPr>
          <p:cNvPr id="4" name="Slide Number Placeholder 3"/>
          <p:cNvSpPr>
            <a:spLocks noGrp="1"/>
          </p:cNvSpPr>
          <p:nvPr>
            <p:ph type="sldNum" sz="quarter" idx="10"/>
          </p:nvPr>
        </p:nvSpPr>
        <p:spPr/>
        <p:txBody>
          <a:bodyPr/>
          <a:lstStyle/>
          <a:p>
            <a:fld id="{3C7FDB04-D1AC-46DB-9592-CA12D78D404F}" type="slidenum">
              <a:rPr lang="en-US" smtClean="0"/>
              <a:t>30</a:t>
            </a:fld>
            <a:endParaRPr lang="en-US"/>
          </a:p>
        </p:txBody>
      </p:sp>
    </p:spTree>
    <p:extLst>
      <p:ext uri="{BB962C8B-B14F-4D97-AF65-F5344CB8AC3E}">
        <p14:creationId xmlns:p14="http://schemas.microsoft.com/office/powerpoint/2010/main" val="37812812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you decide what to animate, it might be necessary to move body parts, such as an arm waving up and down for timing purposes. </a:t>
            </a:r>
          </a:p>
          <a:p>
            <a:r>
              <a:rPr lang="en-US" sz="1200" kern="1200" dirty="0">
                <a:solidFill>
                  <a:schemeClr val="tx1"/>
                </a:solidFill>
                <a:effectLst/>
                <a:latin typeface="+mn-lt"/>
                <a:ea typeface="+mn-ea"/>
                <a:cs typeface="+mn-cs"/>
              </a:rPr>
              <a:t>To do this, you would cut the arm out , and put it on its own layer.</a:t>
            </a:r>
          </a:p>
          <a:p>
            <a:r>
              <a:rPr lang="en-US" sz="1200" kern="1200" dirty="0">
                <a:solidFill>
                  <a:schemeClr val="tx1"/>
                </a:solidFill>
                <a:effectLst/>
                <a:latin typeface="+mn-lt"/>
                <a:ea typeface="+mn-ea"/>
                <a:cs typeface="+mn-cs"/>
              </a:rPr>
              <a:t>There are several tools with in Photoshop that you can use for such editing purposes</a:t>
            </a:r>
          </a:p>
        </p:txBody>
      </p:sp>
      <p:sp>
        <p:nvSpPr>
          <p:cNvPr id="4" name="Slide Number Placeholder 3"/>
          <p:cNvSpPr>
            <a:spLocks noGrp="1"/>
          </p:cNvSpPr>
          <p:nvPr>
            <p:ph type="sldNum" sz="quarter" idx="10"/>
          </p:nvPr>
        </p:nvSpPr>
        <p:spPr/>
        <p:txBody>
          <a:bodyPr/>
          <a:lstStyle/>
          <a:p>
            <a:fld id="{3C7FDB04-D1AC-46DB-9592-CA12D78D404F}" type="slidenum">
              <a:rPr lang="en-US" smtClean="0"/>
              <a:t>31</a:t>
            </a:fld>
            <a:endParaRPr lang="en-US"/>
          </a:p>
        </p:txBody>
      </p:sp>
    </p:spTree>
    <p:extLst>
      <p:ext uri="{BB962C8B-B14F-4D97-AF65-F5344CB8AC3E}">
        <p14:creationId xmlns:p14="http://schemas.microsoft.com/office/powerpoint/2010/main" val="37285149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Marquee tools are good for selecting large rectangular or elliptical areas.</a:t>
            </a:r>
          </a:p>
          <a:p>
            <a:r>
              <a:rPr lang="en-US" sz="1200" kern="1200" dirty="0">
                <a:solidFill>
                  <a:schemeClr val="tx1"/>
                </a:solidFill>
                <a:effectLst/>
                <a:latin typeface="+mn-lt"/>
                <a:ea typeface="+mn-ea"/>
                <a:cs typeface="+mn-cs"/>
              </a:rPr>
              <a:t>The magic wand tool selects large areas. It is useful for removing the background color from an image. </a:t>
            </a:r>
          </a:p>
          <a:p>
            <a:r>
              <a:rPr lang="en-US" sz="1200" kern="1200" dirty="0">
                <a:solidFill>
                  <a:schemeClr val="tx1"/>
                </a:solidFill>
                <a:effectLst/>
                <a:latin typeface="+mn-lt"/>
                <a:ea typeface="+mn-ea"/>
                <a:cs typeface="+mn-cs"/>
              </a:rPr>
              <a:t>There are several lasso tools  that you can choose from. The lasso is free hand selection tool. </a:t>
            </a:r>
          </a:p>
        </p:txBody>
      </p:sp>
      <p:sp>
        <p:nvSpPr>
          <p:cNvPr id="4" name="Slide Number Placeholder 3"/>
          <p:cNvSpPr>
            <a:spLocks noGrp="1"/>
          </p:cNvSpPr>
          <p:nvPr>
            <p:ph type="sldNum" sz="quarter" idx="10"/>
          </p:nvPr>
        </p:nvSpPr>
        <p:spPr/>
        <p:txBody>
          <a:bodyPr/>
          <a:lstStyle/>
          <a:p>
            <a:fld id="{3C7FDB04-D1AC-46DB-9592-CA12D78D404F}" type="slidenum">
              <a:rPr lang="en-US" smtClean="0"/>
              <a:t>32</a:t>
            </a:fld>
            <a:endParaRPr lang="en-US"/>
          </a:p>
        </p:txBody>
      </p:sp>
    </p:spTree>
    <p:extLst>
      <p:ext uri="{BB962C8B-B14F-4D97-AF65-F5344CB8AC3E}">
        <p14:creationId xmlns:p14="http://schemas.microsoft.com/office/powerpoint/2010/main" val="14282737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key elements to keep in mind when considering timing. </a:t>
            </a:r>
          </a:p>
          <a:p>
            <a:r>
              <a:rPr lang="en-US" dirty="0"/>
              <a:t>First, each production has a specified length, whether it is a 30-second television spot or a two-hour feature film. </a:t>
            </a:r>
          </a:p>
          <a:p>
            <a:r>
              <a:rPr lang="en-US" dirty="0"/>
              <a:t>Second, the mood and pace of our production is determined by the cutting and motion of every scene. </a:t>
            </a:r>
          </a:p>
          <a:p>
            <a:r>
              <a:rPr lang="en-US" dirty="0"/>
              <a:t>And third, acting effects the timing of each shot. </a:t>
            </a:r>
          </a:p>
          <a:p>
            <a:r>
              <a:rPr lang="en-US" dirty="0"/>
              <a:t>Bad timing sticks out like a sore thumb in any medium and any format.</a:t>
            </a:r>
          </a:p>
        </p:txBody>
      </p:sp>
      <p:sp>
        <p:nvSpPr>
          <p:cNvPr id="4" name="Slide Number Placeholder 3"/>
          <p:cNvSpPr>
            <a:spLocks noGrp="1"/>
          </p:cNvSpPr>
          <p:nvPr>
            <p:ph type="sldNum" sz="quarter" idx="10"/>
          </p:nvPr>
        </p:nvSpPr>
        <p:spPr/>
        <p:txBody>
          <a:bodyPr/>
          <a:lstStyle/>
          <a:p>
            <a:fld id="{3C7FDB04-D1AC-46DB-9592-CA12D78D404F}" type="slidenum">
              <a:rPr lang="en-US" smtClean="0"/>
              <a:t>33</a:t>
            </a:fld>
            <a:endParaRPr lang="en-US"/>
          </a:p>
        </p:txBody>
      </p:sp>
    </p:spTree>
    <p:extLst>
      <p:ext uri="{BB962C8B-B14F-4D97-AF65-F5344CB8AC3E}">
        <p14:creationId xmlns:p14="http://schemas.microsoft.com/office/powerpoint/2010/main" val="2352624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Time is often a complicated issue. </a:t>
            </a:r>
          </a:p>
          <a:p>
            <a:r>
              <a:rPr lang="en-US" sz="1200" kern="1200" dirty="0">
                <a:solidFill>
                  <a:schemeClr val="tx1"/>
                </a:solidFill>
                <a:effectLst/>
                <a:latin typeface="+mn-lt"/>
                <a:ea typeface="+mn-ea"/>
                <a:cs typeface="+mn-cs"/>
              </a:rPr>
              <a:t>If a shot is too long, it may slow down the pace and make it boring. </a:t>
            </a:r>
          </a:p>
          <a:p>
            <a:r>
              <a:rPr lang="en-US" sz="1200" kern="1200" dirty="0">
                <a:solidFill>
                  <a:schemeClr val="tx1"/>
                </a:solidFill>
                <a:effectLst/>
                <a:latin typeface="+mn-lt"/>
                <a:ea typeface="+mn-ea"/>
                <a:cs typeface="+mn-cs"/>
              </a:rPr>
              <a:t>On the other hand, if the shot is too short, it may seem ambiguous and confusing. </a:t>
            </a:r>
          </a:p>
          <a:p>
            <a:r>
              <a:rPr lang="en-US" sz="1200" kern="1200" dirty="0">
                <a:solidFill>
                  <a:schemeClr val="tx1"/>
                </a:solidFill>
                <a:effectLst/>
                <a:latin typeface="+mn-lt"/>
                <a:ea typeface="+mn-ea"/>
                <a:cs typeface="+mn-cs"/>
              </a:rPr>
              <a:t>Trial-and-error perfect or timing skills. </a:t>
            </a:r>
          </a:p>
        </p:txBody>
      </p:sp>
      <p:sp>
        <p:nvSpPr>
          <p:cNvPr id="4" name="Slide Number Placeholder 3"/>
          <p:cNvSpPr>
            <a:spLocks noGrp="1"/>
          </p:cNvSpPr>
          <p:nvPr>
            <p:ph type="sldNum" sz="quarter" idx="10"/>
          </p:nvPr>
        </p:nvSpPr>
        <p:spPr/>
        <p:txBody>
          <a:bodyPr/>
          <a:lstStyle/>
          <a:p>
            <a:fld id="{3C7FDB04-D1AC-46DB-9592-CA12D78D404F}" type="slidenum">
              <a:rPr lang="en-US" smtClean="0"/>
              <a:t>34</a:t>
            </a:fld>
            <a:endParaRPr lang="en-US"/>
          </a:p>
        </p:txBody>
      </p:sp>
    </p:spTree>
    <p:extLst>
      <p:ext uri="{BB962C8B-B14F-4D97-AF65-F5344CB8AC3E}">
        <p14:creationId xmlns:p14="http://schemas.microsoft.com/office/powerpoint/2010/main" val="2261046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tx1"/>
                </a:solidFill>
              </a:rPr>
              <a:t>If you don't know how long a shot should be, make an educated guess. </a:t>
            </a:r>
          </a:p>
          <a:p>
            <a:r>
              <a:rPr lang="en-US" dirty="0">
                <a:solidFill>
                  <a:schemeClr val="tx1"/>
                </a:solidFill>
              </a:rPr>
              <a:t>Remember, the animatic is created to block out the timing. </a:t>
            </a:r>
          </a:p>
          <a:p>
            <a:r>
              <a:rPr lang="en-US" dirty="0">
                <a:solidFill>
                  <a:schemeClr val="tx1"/>
                </a:solidFill>
              </a:rPr>
              <a:t>Using a nonlinear software to edit and the animatic makes it easy for animators to add or subtract frames from a shot.</a:t>
            </a:r>
          </a:p>
        </p:txBody>
      </p:sp>
      <p:sp>
        <p:nvSpPr>
          <p:cNvPr id="4" name="Slide Number Placeholder 3"/>
          <p:cNvSpPr>
            <a:spLocks noGrp="1"/>
          </p:cNvSpPr>
          <p:nvPr>
            <p:ph type="sldNum" sz="quarter" idx="10"/>
          </p:nvPr>
        </p:nvSpPr>
        <p:spPr/>
        <p:txBody>
          <a:bodyPr/>
          <a:lstStyle/>
          <a:p>
            <a:fld id="{3C7FDB04-D1AC-46DB-9592-CA12D78D404F}" type="slidenum">
              <a:rPr lang="en-US" smtClean="0"/>
              <a:t>35</a:t>
            </a:fld>
            <a:endParaRPr lang="en-US"/>
          </a:p>
        </p:txBody>
      </p:sp>
    </p:spTree>
    <p:extLst>
      <p:ext uri="{BB962C8B-B14F-4D97-AF65-F5344CB8AC3E}">
        <p14:creationId xmlns:p14="http://schemas.microsoft.com/office/powerpoint/2010/main" val="6089832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Developing good timing in the </a:t>
            </a:r>
            <a:r>
              <a:rPr lang="en-US" sz="1200" kern="1200" dirty="0" err="1">
                <a:solidFill>
                  <a:schemeClr val="tx1"/>
                </a:solidFill>
                <a:effectLst/>
                <a:latin typeface="+mn-lt"/>
                <a:ea typeface="+mn-ea"/>
                <a:cs typeface="+mn-cs"/>
              </a:rPr>
              <a:t>atomatic</a:t>
            </a:r>
            <a:r>
              <a:rPr lang="en-US" sz="1200" kern="1200" dirty="0">
                <a:solidFill>
                  <a:schemeClr val="tx1"/>
                </a:solidFill>
                <a:effectLst/>
                <a:latin typeface="+mn-lt"/>
                <a:ea typeface="+mn-ea"/>
                <a:cs typeface="+mn-cs"/>
              </a:rPr>
              <a:t> helps animators with their workload. </a:t>
            </a:r>
          </a:p>
          <a:p>
            <a:r>
              <a:rPr lang="en-US" dirty="0"/>
              <a:t>The single most important thing to remember when blocking out your timing is the </a:t>
            </a:r>
            <a:r>
              <a:rPr lang="en-US" b="1" dirty="0"/>
              <a:t>FPS</a:t>
            </a:r>
            <a:r>
              <a:rPr lang="en-US" dirty="0"/>
              <a:t> or </a:t>
            </a:r>
            <a:r>
              <a:rPr lang="en-US" b="1" dirty="0"/>
              <a:t>framerate.</a:t>
            </a:r>
          </a:p>
          <a:p>
            <a:r>
              <a:rPr lang="en-US" dirty="0"/>
              <a:t>FPS or “</a:t>
            </a:r>
            <a:r>
              <a:rPr lang="en-US" b="1" dirty="0"/>
              <a:t>Frames per Second</a:t>
            </a:r>
            <a:r>
              <a:rPr lang="en-US" dirty="0"/>
              <a:t>” is your guiding rule. This is how many frames equal one second of actual, real-world time.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Frame count, blocking the animation, and dialogue tracks, and specific shot movements are the main factors used in determining the timing of the animatic.</a:t>
            </a:r>
          </a:p>
        </p:txBody>
      </p:sp>
      <p:sp>
        <p:nvSpPr>
          <p:cNvPr id="4" name="Slide Number Placeholder 3"/>
          <p:cNvSpPr>
            <a:spLocks noGrp="1"/>
          </p:cNvSpPr>
          <p:nvPr>
            <p:ph type="sldNum" sz="quarter" idx="10"/>
          </p:nvPr>
        </p:nvSpPr>
        <p:spPr/>
        <p:txBody>
          <a:bodyPr/>
          <a:lstStyle/>
          <a:p>
            <a:fld id="{3C7FDB04-D1AC-46DB-9592-CA12D78D404F}" type="slidenum">
              <a:rPr lang="en-US" smtClean="0"/>
              <a:t>36</a:t>
            </a:fld>
            <a:endParaRPr lang="en-US"/>
          </a:p>
        </p:txBody>
      </p:sp>
    </p:spTree>
    <p:extLst>
      <p:ext uri="{BB962C8B-B14F-4D97-AF65-F5344CB8AC3E}">
        <p14:creationId xmlns:p14="http://schemas.microsoft.com/office/powerpoint/2010/main" val="21854276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Film speed is 24 frames per second and television is 30 fps. </a:t>
            </a:r>
          </a:p>
          <a:p>
            <a:r>
              <a:rPr lang="en-US" sz="1200" kern="1200" dirty="0">
                <a:solidFill>
                  <a:schemeClr val="tx1"/>
                </a:solidFill>
                <a:effectLst/>
                <a:latin typeface="+mn-lt"/>
                <a:ea typeface="+mn-ea"/>
                <a:cs typeface="+mn-cs"/>
              </a:rPr>
              <a:t>Some games and different media use other frame rates.</a:t>
            </a:r>
          </a:p>
          <a:p>
            <a:r>
              <a:rPr lang="en-US" sz="1200" kern="1200" dirty="0">
                <a:solidFill>
                  <a:schemeClr val="tx1"/>
                </a:solidFill>
                <a:effectLst/>
                <a:latin typeface="+mn-lt"/>
                <a:ea typeface="+mn-ea"/>
                <a:cs typeface="+mn-cs"/>
              </a:rPr>
              <a:t>Some modern cameras have a very high framerate that allows the animator/director to slow down time when needed.</a:t>
            </a:r>
          </a:p>
          <a:p>
            <a:r>
              <a:rPr lang="en-US" sz="1200" kern="1200" dirty="0">
                <a:solidFill>
                  <a:schemeClr val="tx1"/>
                </a:solidFill>
                <a:effectLst/>
                <a:latin typeface="+mn-lt"/>
                <a:ea typeface="+mn-ea"/>
                <a:cs typeface="+mn-cs"/>
              </a:rPr>
              <a:t>Knowing the frames per second for a project can save you time when creating an animatic. </a:t>
            </a:r>
          </a:p>
        </p:txBody>
      </p:sp>
      <p:sp>
        <p:nvSpPr>
          <p:cNvPr id="4" name="Slide Number Placeholder 3"/>
          <p:cNvSpPr>
            <a:spLocks noGrp="1"/>
          </p:cNvSpPr>
          <p:nvPr>
            <p:ph type="sldNum" sz="quarter" idx="10"/>
          </p:nvPr>
        </p:nvSpPr>
        <p:spPr/>
        <p:txBody>
          <a:bodyPr/>
          <a:lstStyle/>
          <a:p>
            <a:fld id="{3C7FDB04-D1AC-46DB-9592-CA12D78D404F}" type="slidenum">
              <a:rPr lang="en-US" smtClean="0"/>
              <a:t>37</a:t>
            </a:fld>
            <a:endParaRPr lang="en-US"/>
          </a:p>
        </p:txBody>
      </p:sp>
    </p:spTree>
    <p:extLst>
      <p:ext uri="{BB962C8B-B14F-4D97-AF65-F5344CB8AC3E}">
        <p14:creationId xmlns:p14="http://schemas.microsoft.com/office/powerpoint/2010/main" val="11986849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Some people are naturals at timing, but most of us are not. </a:t>
            </a:r>
          </a:p>
          <a:p>
            <a:r>
              <a:rPr lang="en-US" sz="1200" kern="1200" dirty="0">
                <a:solidFill>
                  <a:schemeClr val="tx1"/>
                </a:solidFill>
                <a:effectLst/>
                <a:latin typeface="+mn-lt"/>
                <a:ea typeface="+mn-ea"/>
                <a:cs typeface="+mn-cs"/>
              </a:rPr>
              <a:t>For those of us who do not have this natural talent, we need plenty of practice. </a:t>
            </a:r>
          </a:p>
          <a:p>
            <a:r>
              <a:rPr lang="en-US" sz="1200" kern="1200" dirty="0">
                <a:solidFill>
                  <a:schemeClr val="tx1"/>
                </a:solidFill>
                <a:effectLst/>
                <a:latin typeface="+mn-lt"/>
                <a:ea typeface="+mn-ea"/>
                <a:cs typeface="+mn-cs"/>
              </a:rPr>
              <a:t>Every animator, whether they are 2D or 3D animatic artist, should own a stopwatch. </a:t>
            </a:r>
          </a:p>
          <a:p>
            <a:r>
              <a:rPr lang="en-US" sz="1200" kern="1200" dirty="0">
                <a:solidFill>
                  <a:schemeClr val="tx1"/>
                </a:solidFill>
                <a:effectLst/>
                <a:latin typeface="+mn-lt"/>
                <a:ea typeface="+mn-ea"/>
                <a:cs typeface="+mn-cs"/>
              </a:rPr>
              <a:t>The hardest part  4 animatic artists to learn  is how to use a stopwatch!  </a:t>
            </a:r>
          </a:p>
          <a:p>
            <a:r>
              <a:rPr lang="en-US" sz="1200" kern="1200" dirty="0">
                <a:solidFill>
                  <a:schemeClr val="tx1"/>
                </a:solidFill>
                <a:effectLst/>
                <a:latin typeface="+mn-lt"/>
                <a:ea typeface="+mn-ea"/>
                <a:cs typeface="+mn-cs"/>
              </a:rPr>
              <a:t>This may sound simple, but many animators by a stopwatch and never use it because they think they already know how long it takes to perform a task. </a:t>
            </a:r>
          </a:p>
          <a:p>
            <a:r>
              <a:rPr lang="en-US" sz="1200" kern="1200" dirty="0">
                <a:solidFill>
                  <a:schemeClr val="tx1"/>
                </a:solidFill>
                <a:effectLst/>
                <a:latin typeface="+mn-lt"/>
                <a:ea typeface="+mn-ea"/>
                <a:cs typeface="+mn-cs"/>
              </a:rPr>
              <a:t>Using a stopwatch or some sort of timing will give you a real-world reference of how long an action takes.</a:t>
            </a:r>
          </a:p>
          <a:p>
            <a:r>
              <a:rPr lang="en-US" sz="1200" kern="1200" dirty="0">
                <a:solidFill>
                  <a:schemeClr val="tx1"/>
                </a:solidFill>
                <a:effectLst/>
                <a:latin typeface="+mn-lt"/>
                <a:ea typeface="+mn-ea"/>
                <a:cs typeface="+mn-cs"/>
              </a:rPr>
              <a:t>Another way to sharpen up your sense of timing is to Simply watch others. </a:t>
            </a:r>
          </a:p>
          <a:p>
            <a:r>
              <a:rPr lang="en-US" sz="1200" kern="1200" dirty="0">
                <a:solidFill>
                  <a:schemeClr val="tx1"/>
                </a:solidFill>
                <a:effectLst/>
                <a:latin typeface="+mn-lt"/>
                <a:ea typeface="+mn-ea"/>
                <a:cs typeface="+mn-cs"/>
              </a:rPr>
              <a:t>Watch to see how other artists have dealt with time in situations similar to your own.</a:t>
            </a:r>
          </a:p>
        </p:txBody>
      </p:sp>
      <p:sp>
        <p:nvSpPr>
          <p:cNvPr id="4" name="Slide Number Placeholder 3"/>
          <p:cNvSpPr>
            <a:spLocks noGrp="1"/>
          </p:cNvSpPr>
          <p:nvPr>
            <p:ph type="sldNum" sz="quarter" idx="10"/>
          </p:nvPr>
        </p:nvSpPr>
        <p:spPr/>
        <p:txBody>
          <a:bodyPr/>
          <a:lstStyle/>
          <a:p>
            <a:fld id="{3C7FDB04-D1AC-46DB-9592-CA12D78D404F}" type="slidenum">
              <a:rPr lang="en-US" smtClean="0"/>
              <a:t>38</a:t>
            </a:fld>
            <a:endParaRPr lang="en-US"/>
          </a:p>
        </p:txBody>
      </p:sp>
    </p:spTree>
    <p:extLst>
      <p:ext uri="{BB962C8B-B14F-4D97-AF65-F5344CB8AC3E}">
        <p14:creationId xmlns:p14="http://schemas.microsoft.com/office/powerpoint/2010/main" val="13260816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Observing the real world is also a great way to get a sense of timing. </a:t>
            </a:r>
          </a:p>
          <a:p>
            <a:r>
              <a:rPr lang="en-US" sz="1200" kern="1200" dirty="0">
                <a:solidFill>
                  <a:schemeClr val="tx1"/>
                </a:solidFill>
                <a:effectLst/>
                <a:latin typeface="+mn-lt"/>
                <a:ea typeface="+mn-ea"/>
                <a:cs typeface="+mn-cs"/>
              </a:rPr>
              <a:t>Video reference is often times a crucial tool when it comes to animation. </a:t>
            </a:r>
          </a:p>
          <a:p>
            <a:r>
              <a:rPr lang="en-US" sz="1200" kern="1200" dirty="0">
                <a:solidFill>
                  <a:schemeClr val="tx1"/>
                </a:solidFill>
                <a:effectLst/>
                <a:latin typeface="+mn-lt"/>
                <a:ea typeface="+mn-ea"/>
                <a:cs typeface="+mn-cs"/>
              </a:rPr>
              <a:t>Long before motion capture technology was ever invented, animators would use  film reference  to get a good sense of  timing and natural poses. </a:t>
            </a:r>
          </a:p>
        </p:txBody>
      </p:sp>
      <p:sp>
        <p:nvSpPr>
          <p:cNvPr id="4" name="Slide Number Placeholder 3"/>
          <p:cNvSpPr>
            <a:spLocks noGrp="1"/>
          </p:cNvSpPr>
          <p:nvPr>
            <p:ph type="sldNum" sz="quarter" idx="10"/>
          </p:nvPr>
        </p:nvSpPr>
        <p:spPr/>
        <p:txBody>
          <a:bodyPr/>
          <a:lstStyle/>
          <a:p>
            <a:fld id="{3C7FDB04-D1AC-46DB-9592-CA12D78D404F}" type="slidenum">
              <a:rPr lang="en-US" smtClean="0"/>
              <a:t>39</a:t>
            </a:fld>
            <a:endParaRPr lang="en-US"/>
          </a:p>
        </p:txBody>
      </p:sp>
    </p:spTree>
    <p:extLst>
      <p:ext uri="{BB962C8B-B14F-4D97-AF65-F5344CB8AC3E}">
        <p14:creationId xmlns:p14="http://schemas.microsoft.com/office/powerpoint/2010/main" val="3455910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tx1"/>
                </a:solidFill>
              </a:rPr>
              <a:t>No matter the skill level of an artist, reference can only make your work better.</a:t>
            </a:r>
          </a:p>
          <a:p>
            <a:r>
              <a:rPr lang="en-US" dirty="0">
                <a:solidFill>
                  <a:schemeClr val="tx1"/>
                </a:solidFill>
              </a:rPr>
              <a:t>Disney pioneered using test footage to create a new high quality standard of animation at the time.</a:t>
            </a:r>
          </a:p>
          <a:p>
            <a:r>
              <a:rPr lang="en-US" dirty="0">
                <a:solidFill>
                  <a:schemeClr val="tx1"/>
                </a:solidFill>
              </a:rPr>
              <a:t>The footage not only captured the subtlety of the natural gestures and the timing, but more importantly, the relationship between the two.</a:t>
            </a:r>
          </a:p>
          <a:p>
            <a:endParaRPr lang="en-US" dirty="0">
              <a:solidFill>
                <a:schemeClr val="tx1"/>
              </a:solidFill>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40</a:t>
            </a:fld>
            <a:endParaRPr lang="en-US"/>
          </a:p>
        </p:txBody>
      </p:sp>
    </p:spTree>
    <p:extLst>
      <p:ext uri="{BB962C8B-B14F-4D97-AF65-F5344CB8AC3E}">
        <p14:creationId xmlns:p14="http://schemas.microsoft.com/office/powerpoint/2010/main" val="9848345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ideo" Target="https://www.youtube.com/embed/MRyPSOyC7_c" TargetMode="Externa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9.gif"/><Relationship Id="rId5" Type="http://schemas.openxmlformats.org/officeDocument/2006/relationships/image" Target="../media/image8.gif"/><Relationship Id="rId4" Type="http://schemas.openxmlformats.org/officeDocument/2006/relationships/image" Target="../media/image7.gif"/></Relationships>
</file>

<file path=ppt/slides/_rels/slide11.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9.xml"/><Relationship Id="rId5" Type="http://schemas.openxmlformats.org/officeDocument/2006/relationships/image" Target="../media/image13.jpeg"/><Relationship Id="rId4" Type="http://schemas.openxmlformats.org/officeDocument/2006/relationships/image" Target="../media/image12.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3625" y="1871131"/>
            <a:ext cx="7448549" cy="1515533"/>
          </a:xfrm>
        </p:spPr>
        <p:txBody>
          <a:bodyPr/>
          <a:lstStyle/>
          <a:p>
            <a:r>
              <a:rPr lang="en-US" sz="4400" dirty="0"/>
              <a:t>Animatics</a:t>
            </a:r>
          </a:p>
        </p:txBody>
      </p:sp>
      <p:sp>
        <p:nvSpPr>
          <p:cNvPr id="5" name="Subtitle 4">
            <a:extLst>
              <a:ext uri="{FF2B5EF4-FFF2-40B4-BE49-F238E27FC236}">
                <a16:creationId xmlns:a16="http://schemas.microsoft.com/office/drawing/2014/main" id="{70C6AD92-1E75-4AE6-A160-8290338F1B5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35282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Animatics</a:t>
            </a:r>
          </a:p>
        </p:txBody>
      </p:sp>
      <p:pic>
        <p:nvPicPr>
          <p:cNvPr id="4" name="MRyPSOyC7_c"/>
          <p:cNvPicPr>
            <a:picLocks noGrp="1" noRot="1" noChangeAspect="1"/>
          </p:cNvPicPr>
          <p:nvPr>
            <p:ph idx="1"/>
            <a:videoFile r:link="rId1"/>
          </p:nvPr>
        </p:nvPicPr>
        <p:blipFill>
          <a:blip r:embed="rId4"/>
          <a:stretch>
            <a:fillRect/>
          </a:stretch>
        </p:blipFill>
        <p:spPr>
          <a:xfrm>
            <a:off x="3357738" y="2743200"/>
            <a:ext cx="5757334" cy="3238500"/>
          </a:xfrm>
          <a:prstGeom prst="rect">
            <a:avLst/>
          </a:prstGeom>
        </p:spPr>
      </p:pic>
    </p:spTree>
    <p:extLst>
      <p:ext uri="{BB962C8B-B14F-4D97-AF65-F5344CB8AC3E}">
        <p14:creationId xmlns:p14="http://schemas.microsoft.com/office/powerpoint/2010/main" val="76523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p:txBody>
          <a:bodyPr/>
          <a:lstStyle/>
          <a:p>
            <a:r>
              <a:rPr lang="en-US" dirty="0"/>
              <a:t>Animatics are a “</a:t>
            </a:r>
            <a:r>
              <a:rPr lang="en-US" b="1" dirty="0"/>
              <a:t>moving storyboard</a:t>
            </a:r>
            <a:r>
              <a:rPr lang="en-US" dirty="0"/>
              <a:t>” that helps a production understand how scenes flow together.</a:t>
            </a:r>
          </a:p>
        </p:txBody>
      </p:sp>
    </p:spTree>
    <p:extLst>
      <p:ext uri="{BB962C8B-B14F-4D97-AF65-F5344CB8AC3E}">
        <p14:creationId xmlns:p14="http://schemas.microsoft.com/office/powerpoint/2010/main" val="53106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p:txBody>
          <a:bodyPr/>
          <a:lstStyle/>
          <a:p>
            <a:r>
              <a:rPr lang="en-US" dirty="0"/>
              <a:t>Begins with </a:t>
            </a:r>
            <a:r>
              <a:rPr lang="en-US" b="1" dirty="0"/>
              <a:t>script</a:t>
            </a:r>
            <a:r>
              <a:rPr lang="en-US" dirty="0"/>
              <a:t>, that is translated to storyboard and then timed in an animatic.</a:t>
            </a:r>
          </a:p>
          <a:p>
            <a:r>
              <a:rPr lang="en-US" dirty="0"/>
              <a:t>Individual panels are </a:t>
            </a:r>
            <a:r>
              <a:rPr lang="en-US" b="1" dirty="0"/>
              <a:t>brought into computer or editing software.</a:t>
            </a:r>
          </a:p>
          <a:p>
            <a:r>
              <a:rPr lang="en-US" dirty="0"/>
              <a:t>By using stopwatch or cutting together footage, the animatic artist can decide </a:t>
            </a:r>
            <a:r>
              <a:rPr lang="en-US" b="1" dirty="0"/>
              <a:t>how long each movement, dialogue or action will take.</a:t>
            </a:r>
          </a:p>
          <a:p>
            <a:r>
              <a:rPr lang="en-US" b="1" dirty="0">
                <a:solidFill>
                  <a:schemeClr val="tx1"/>
                </a:solidFill>
              </a:rPr>
              <a:t>Sound</a:t>
            </a:r>
            <a:r>
              <a:rPr lang="en-US" dirty="0">
                <a:solidFill>
                  <a:schemeClr val="tx1"/>
                </a:solidFill>
              </a:rPr>
              <a:t> can also be used in an animatic, to give the viewer a sense of the dialogue in the scene, or the emotional buildup when matched to the music.</a:t>
            </a:r>
            <a:endParaRPr lang="en-US" dirty="0"/>
          </a:p>
        </p:txBody>
      </p:sp>
    </p:spTree>
    <p:extLst>
      <p:ext uri="{BB962C8B-B14F-4D97-AF65-F5344CB8AC3E}">
        <p14:creationId xmlns:p14="http://schemas.microsoft.com/office/powerpoint/2010/main" val="3726580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p:txBody>
          <a:bodyPr/>
          <a:lstStyle/>
          <a:p>
            <a:r>
              <a:rPr lang="en-US" dirty="0"/>
              <a:t>There is no set rule for how animatics should be done.</a:t>
            </a:r>
          </a:p>
          <a:p>
            <a:r>
              <a:rPr lang="en-US" dirty="0"/>
              <a:t>Artists may want creative license to </a:t>
            </a:r>
            <a:r>
              <a:rPr lang="en-US" b="1" dirty="0"/>
              <a:t>emphasize action or emotion</a:t>
            </a:r>
            <a:r>
              <a:rPr lang="en-US" dirty="0"/>
              <a:t>.</a:t>
            </a:r>
          </a:p>
          <a:p>
            <a:r>
              <a:rPr lang="en-US" dirty="0"/>
              <a:t>Without animatics, production time and the expense could be greatly increased.</a:t>
            </a:r>
          </a:p>
        </p:txBody>
      </p:sp>
    </p:spTree>
    <p:extLst>
      <p:ext uri="{BB962C8B-B14F-4D97-AF65-F5344CB8AC3E}">
        <p14:creationId xmlns:p14="http://schemas.microsoft.com/office/powerpoint/2010/main" val="1807602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pPr marL="0" indent="0" algn="ctr">
              <a:buNone/>
            </a:pPr>
            <a:r>
              <a:rPr lang="en-US" b="1" dirty="0"/>
              <a:t>Animatics help coordinate productions </a:t>
            </a:r>
            <a:br>
              <a:rPr lang="en-US" b="1" dirty="0"/>
            </a:br>
            <a:r>
              <a:rPr lang="en-US" b="1" dirty="0"/>
              <a:t>by ensuring everyone is following the same vision:</a:t>
            </a:r>
          </a:p>
          <a:p>
            <a:r>
              <a:rPr lang="en-US" dirty="0"/>
              <a:t>Directors use animatics to help them visualize a scene. </a:t>
            </a:r>
          </a:p>
          <a:p>
            <a:r>
              <a:rPr lang="en-US" dirty="0"/>
              <a:t>Animators can use it to block out timing for a scene.</a:t>
            </a:r>
          </a:p>
          <a:p>
            <a:endParaRPr lang="en-US" dirty="0"/>
          </a:p>
        </p:txBody>
      </p:sp>
    </p:spTree>
    <p:extLst>
      <p:ext uri="{BB962C8B-B14F-4D97-AF65-F5344CB8AC3E}">
        <p14:creationId xmlns:p14="http://schemas.microsoft.com/office/powerpoint/2010/main" val="4166670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pPr marL="0" indent="0" algn="ctr">
              <a:buNone/>
            </a:pPr>
            <a:r>
              <a:rPr lang="en-US" b="1" dirty="0"/>
              <a:t>Animatics help coordinate productions </a:t>
            </a:r>
            <a:br>
              <a:rPr lang="en-US" b="1" dirty="0"/>
            </a:br>
            <a:r>
              <a:rPr lang="en-US" b="1" dirty="0"/>
              <a:t>by ensuring everyone is following the same vision:</a:t>
            </a:r>
          </a:p>
          <a:p>
            <a:r>
              <a:rPr lang="en-US" dirty="0"/>
              <a:t>Actors may use animatics when interacting with CG characters that aren’t there.</a:t>
            </a:r>
          </a:p>
          <a:p>
            <a:r>
              <a:rPr lang="en-US" dirty="0"/>
              <a:t>Special effects artists can use the animatic to clearly identify timing issues.</a:t>
            </a:r>
          </a:p>
          <a:p>
            <a:r>
              <a:rPr lang="en-US" dirty="0"/>
              <a:t>Voice actors or sound effects artists can also use the animatic for visualization.</a:t>
            </a:r>
          </a:p>
        </p:txBody>
      </p:sp>
    </p:spTree>
    <p:extLst>
      <p:ext uri="{BB962C8B-B14F-4D97-AF65-F5344CB8AC3E}">
        <p14:creationId xmlns:p14="http://schemas.microsoft.com/office/powerpoint/2010/main" val="2715988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Types of 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r>
              <a:rPr lang="en-US" b="1" dirty="0"/>
              <a:t>Hand-Drawn Animatics</a:t>
            </a:r>
          </a:p>
          <a:p>
            <a:r>
              <a:rPr lang="en-US" b="1" dirty="0"/>
              <a:t>Motion Tests</a:t>
            </a:r>
          </a:p>
          <a:p>
            <a:r>
              <a:rPr lang="en-US" b="1" dirty="0" err="1"/>
              <a:t>Videomatics</a:t>
            </a:r>
            <a:endParaRPr lang="en-US" b="1" dirty="0"/>
          </a:p>
          <a:p>
            <a:r>
              <a:rPr lang="en-US" b="1" dirty="0"/>
              <a:t>3D Animatics</a:t>
            </a:r>
          </a:p>
        </p:txBody>
      </p:sp>
    </p:spTree>
    <p:extLst>
      <p:ext uri="{BB962C8B-B14F-4D97-AF65-F5344CB8AC3E}">
        <p14:creationId xmlns:p14="http://schemas.microsoft.com/office/powerpoint/2010/main" val="3118048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Types of 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pPr marL="0" indent="0" algn="ctr">
              <a:buNone/>
            </a:pPr>
            <a:r>
              <a:rPr lang="en-US" b="1" dirty="0"/>
              <a:t>Hand drawn animatics </a:t>
            </a:r>
          </a:p>
          <a:p>
            <a:r>
              <a:rPr lang="en-US" dirty="0"/>
              <a:t>Basically “</a:t>
            </a:r>
            <a:r>
              <a:rPr lang="en-US" b="1" dirty="0"/>
              <a:t>timed storyboards</a:t>
            </a:r>
            <a:r>
              <a:rPr lang="en-US" dirty="0"/>
              <a:t>”.</a:t>
            </a:r>
          </a:p>
          <a:p>
            <a:r>
              <a:rPr lang="en-US" dirty="0"/>
              <a:t>The storyboards themselves are hand drawn sketches that are animated to show how is seen should flow. </a:t>
            </a:r>
          </a:p>
          <a:p>
            <a:r>
              <a:rPr lang="en-US" dirty="0"/>
              <a:t>Often times can be simpler to produce, and help director communicate complex action scenes.</a:t>
            </a:r>
          </a:p>
        </p:txBody>
      </p:sp>
    </p:spTree>
    <p:extLst>
      <p:ext uri="{BB962C8B-B14F-4D97-AF65-F5344CB8AC3E}">
        <p14:creationId xmlns:p14="http://schemas.microsoft.com/office/powerpoint/2010/main" val="3766932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Image result for sergio pablos pencil test">
            <a:extLst>
              <a:ext uri="{FF2B5EF4-FFF2-40B4-BE49-F238E27FC236}">
                <a16:creationId xmlns:a16="http://schemas.microsoft.com/office/drawing/2014/main" id="{4CADCCF3-94ED-47A5-AACD-E27ECD4485B5}"/>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696590" y="3137060"/>
            <a:ext cx="2745452" cy="149627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sz="4400" dirty="0"/>
              <a:t>Types of 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195551" cy="3676443"/>
          </a:xfrm>
        </p:spPr>
        <p:txBody>
          <a:bodyPr>
            <a:normAutofit/>
          </a:bodyPr>
          <a:lstStyle/>
          <a:p>
            <a:pPr marL="0" indent="0" algn="ctr">
              <a:buNone/>
            </a:pPr>
            <a:r>
              <a:rPr lang="en-US" b="1" dirty="0"/>
              <a:t>Pencil Tests</a:t>
            </a:r>
          </a:p>
          <a:p>
            <a:r>
              <a:rPr lang="en-US" dirty="0">
                <a:solidFill>
                  <a:schemeClr val="tx1"/>
                </a:solidFill>
              </a:rPr>
              <a:t>Pencil tests are commonly found in </a:t>
            </a:r>
            <a:r>
              <a:rPr lang="en-US" dirty="0" err="1">
                <a:solidFill>
                  <a:schemeClr val="tx1"/>
                </a:solidFill>
              </a:rPr>
              <a:t>cel</a:t>
            </a:r>
            <a:r>
              <a:rPr lang="en-US" dirty="0">
                <a:solidFill>
                  <a:schemeClr val="tx1"/>
                </a:solidFill>
              </a:rPr>
              <a:t> animation.</a:t>
            </a:r>
          </a:p>
          <a:p>
            <a:r>
              <a:rPr lang="en-US" dirty="0">
                <a:solidFill>
                  <a:schemeClr val="tx1"/>
                </a:solidFill>
              </a:rPr>
              <a:t>The purpose of a pencil test is to </a:t>
            </a:r>
            <a:r>
              <a:rPr lang="en-US" b="1" dirty="0">
                <a:solidFill>
                  <a:schemeClr val="tx1"/>
                </a:solidFill>
              </a:rPr>
              <a:t>preview the motion of characters or objects</a:t>
            </a:r>
            <a:r>
              <a:rPr lang="en-US" dirty="0">
                <a:solidFill>
                  <a:schemeClr val="tx1"/>
                </a:solidFill>
              </a:rPr>
              <a:t>. </a:t>
            </a:r>
          </a:p>
          <a:p>
            <a:r>
              <a:rPr lang="en-US" dirty="0">
                <a:solidFill>
                  <a:schemeClr val="tx1"/>
                </a:solidFill>
              </a:rPr>
              <a:t>Once pencil tests are analyzed, they are cleaned up by the artist.</a:t>
            </a:r>
          </a:p>
          <a:p>
            <a:pPr marL="0" indent="0">
              <a:buNone/>
            </a:pPr>
            <a:endParaRPr lang="en-US" dirty="0">
              <a:solidFill>
                <a:schemeClr val="tx1"/>
              </a:solidFill>
            </a:endParaRPr>
          </a:p>
        </p:txBody>
      </p:sp>
      <p:pic>
        <p:nvPicPr>
          <p:cNvPr id="1026" name="Picture 2" descr="Image result for disney rough pencil test">
            <a:extLst>
              <a:ext uri="{FF2B5EF4-FFF2-40B4-BE49-F238E27FC236}">
                <a16:creationId xmlns:a16="http://schemas.microsoft.com/office/drawing/2014/main" id="{D13A70B7-D29E-4CF2-BDA2-5B673D2772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1251" y="3137059"/>
            <a:ext cx="2025340" cy="14962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disney rough pencil test">
            <a:extLst>
              <a:ext uri="{FF2B5EF4-FFF2-40B4-BE49-F238E27FC236}">
                <a16:creationId xmlns:a16="http://schemas.microsoft.com/office/drawing/2014/main" id="{621D507C-E6AA-47B4-9F3F-420569F3FFF7}"/>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6654957" y="4609421"/>
            <a:ext cx="2107424" cy="149627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freak of the  pencil test">
            <a:extLst>
              <a:ext uri="{FF2B5EF4-FFF2-40B4-BE49-F238E27FC236}">
                <a16:creationId xmlns:a16="http://schemas.microsoft.com/office/drawing/2014/main" id="{FF87D506-117D-4719-810B-36DD0E732CA1}"/>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8762381" y="4633332"/>
            <a:ext cx="2679661" cy="1495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6338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Types of 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195551" cy="3676443"/>
          </a:xfrm>
        </p:spPr>
        <p:txBody>
          <a:bodyPr>
            <a:normAutofit/>
          </a:bodyPr>
          <a:lstStyle/>
          <a:p>
            <a:pPr marL="0" indent="0" algn="ctr">
              <a:buNone/>
            </a:pPr>
            <a:r>
              <a:rPr lang="en-US" b="1" dirty="0"/>
              <a:t>Motion Previews</a:t>
            </a:r>
          </a:p>
          <a:p>
            <a:r>
              <a:rPr lang="en-US" dirty="0">
                <a:solidFill>
                  <a:schemeClr val="tx1"/>
                </a:solidFill>
              </a:rPr>
              <a:t>Camera movement</a:t>
            </a:r>
          </a:p>
          <a:p>
            <a:r>
              <a:rPr lang="en-US" dirty="0">
                <a:solidFill>
                  <a:schemeClr val="tx1"/>
                </a:solidFill>
              </a:rPr>
              <a:t>Character placement</a:t>
            </a:r>
          </a:p>
          <a:p>
            <a:r>
              <a:rPr lang="en-US" dirty="0">
                <a:solidFill>
                  <a:schemeClr val="tx1"/>
                </a:solidFill>
              </a:rPr>
              <a:t>Timing</a:t>
            </a:r>
          </a:p>
          <a:p>
            <a:r>
              <a:rPr lang="en-US" dirty="0">
                <a:solidFill>
                  <a:schemeClr val="tx1"/>
                </a:solidFill>
              </a:rPr>
              <a:t>Pacing</a:t>
            </a:r>
          </a:p>
          <a:p>
            <a:pPr marL="0" indent="0">
              <a:buNone/>
            </a:pPr>
            <a:endParaRPr lang="en-US" dirty="0">
              <a:solidFill>
                <a:schemeClr val="tx1"/>
              </a:solidFill>
            </a:endParaRPr>
          </a:p>
        </p:txBody>
      </p:sp>
      <p:pic>
        <p:nvPicPr>
          <p:cNvPr id="2050" name="Picture 2" descr="Image result for george lucas star wars world war 2">
            <a:extLst>
              <a:ext uri="{FF2B5EF4-FFF2-40B4-BE49-F238E27FC236}">
                <a16:creationId xmlns:a16="http://schemas.microsoft.com/office/drawing/2014/main" id="{780B4E96-B238-45D4-8E09-8302CA344587}"/>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173093"/>
            <a:ext cx="5149605" cy="27978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428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Types of 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pPr marL="0" indent="0" algn="ctr">
              <a:buNone/>
            </a:pPr>
            <a:r>
              <a:rPr lang="en-US" b="1" dirty="0" err="1"/>
              <a:t>Videomatic</a:t>
            </a:r>
            <a:endParaRPr lang="en-US" b="1" dirty="0"/>
          </a:p>
          <a:p>
            <a:r>
              <a:rPr lang="en-US" dirty="0">
                <a:solidFill>
                  <a:schemeClr val="tx1"/>
                </a:solidFill>
              </a:rPr>
              <a:t>A </a:t>
            </a:r>
            <a:r>
              <a:rPr lang="en-US" dirty="0" err="1">
                <a:solidFill>
                  <a:schemeClr val="tx1"/>
                </a:solidFill>
              </a:rPr>
              <a:t>Videomatic</a:t>
            </a:r>
            <a:r>
              <a:rPr lang="en-US" dirty="0">
                <a:solidFill>
                  <a:schemeClr val="tx1"/>
                </a:solidFill>
              </a:rPr>
              <a:t> is a rough videotaped version of a scene that uses actors or production staff to assist in blocking the action, actor placement, timing, and camera angles. </a:t>
            </a:r>
          </a:p>
          <a:p>
            <a:r>
              <a:rPr lang="en-US" dirty="0" err="1">
                <a:solidFill>
                  <a:schemeClr val="tx1"/>
                </a:solidFill>
              </a:rPr>
              <a:t>Videomatics</a:t>
            </a:r>
            <a:r>
              <a:rPr lang="en-US" dirty="0">
                <a:solidFill>
                  <a:schemeClr val="tx1"/>
                </a:solidFill>
              </a:rPr>
              <a:t> are usually shot on or near the studio lot, using existing equipment.</a:t>
            </a:r>
          </a:p>
          <a:p>
            <a:r>
              <a:rPr lang="en-US" dirty="0">
                <a:solidFill>
                  <a:schemeClr val="tx1"/>
                </a:solidFill>
              </a:rPr>
              <a:t>Usually shot against bluescreen.</a:t>
            </a:r>
          </a:p>
          <a:p>
            <a:pPr marL="0" indent="0">
              <a:buNone/>
            </a:pPr>
            <a:endParaRPr lang="en-US" dirty="0">
              <a:solidFill>
                <a:schemeClr val="tx1"/>
              </a:solidFill>
            </a:endParaRPr>
          </a:p>
        </p:txBody>
      </p:sp>
    </p:spTree>
    <p:extLst>
      <p:ext uri="{BB962C8B-B14F-4D97-AF65-F5344CB8AC3E}">
        <p14:creationId xmlns:p14="http://schemas.microsoft.com/office/powerpoint/2010/main" val="1901988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Types of 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pPr marL="0" indent="0" algn="ctr">
              <a:buNone/>
            </a:pPr>
            <a:r>
              <a:rPr lang="en-US" b="1" dirty="0" err="1"/>
              <a:t>Videomatic</a:t>
            </a:r>
            <a:endParaRPr lang="en-US" b="1" dirty="0"/>
          </a:p>
          <a:p>
            <a:r>
              <a:rPr lang="en-US" dirty="0">
                <a:solidFill>
                  <a:schemeClr val="tx1"/>
                </a:solidFill>
              </a:rPr>
              <a:t>A </a:t>
            </a:r>
            <a:r>
              <a:rPr lang="en-US" dirty="0" err="1">
                <a:solidFill>
                  <a:schemeClr val="tx1"/>
                </a:solidFill>
              </a:rPr>
              <a:t>Videomatic</a:t>
            </a:r>
            <a:r>
              <a:rPr lang="en-US" dirty="0">
                <a:solidFill>
                  <a:schemeClr val="tx1"/>
                </a:solidFill>
              </a:rPr>
              <a:t> is a rough videotaped version of a scene that uses actors or production staff to assist in blocking the action, actor placement, timing, and camera angles. </a:t>
            </a:r>
          </a:p>
          <a:p>
            <a:r>
              <a:rPr lang="en-US" dirty="0" err="1">
                <a:solidFill>
                  <a:schemeClr val="tx1"/>
                </a:solidFill>
              </a:rPr>
              <a:t>Videomatics</a:t>
            </a:r>
            <a:r>
              <a:rPr lang="en-US" dirty="0">
                <a:solidFill>
                  <a:schemeClr val="tx1"/>
                </a:solidFill>
              </a:rPr>
              <a:t> are usually shot on or near the studio lot, using existing equipment.</a:t>
            </a:r>
          </a:p>
          <a:p>
            <a:r>
              <a:rPr lang="en-US" dirty="0">
                <a:solidFill>
                  <a:schemeClr val="tx1"/>
                </a:solidFill>
              </a:rPr>
              <a:t>Usually shot against bluescreen.</a:t>
            </a:r>
          </a:p>
          <a:p>
            <a:pPr marL="0" indent="0">
              <a:buNone/>
            </a:pPr>
            <a:endParaRPr lang="en-US" dirty="0">
              <a:solidFill>
                <a:schemeClr val="tx1"/>
              </a:solidFill>
            </a:endParaRPr>
          </a:p>
        </p:txBody>
      </p:sp>
    </p:spTree>
    <p:extLst>
      <p:ext uri="{BB962C8B-B14F-4D97-AF65-F5344CB8AC3E}">
        <p14:creationId xmlns:p14="http://schemas.microsoft.com/office/powerpoint/2010/main" val="3052631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Types of 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pPr marL="0" indent="0" algn="ctr">
              <a:buNone/>
            </a:pPr>
            <a:r>
              <a:rPr lang="en-US" b="1" dirty="0" err="1"/>
              <a:t>Videomatic</a:t>
            </a:r>
            <a:endParaRPr lang="en-US" b="1" dirty="0"/>
          </a:p>
          <a:p>
            <a:r>
              <a:rPr lang="en-US" dirty="0">
                <a:solidFill>
                  <a:schemeClr val="tx1"/>
                </a:solidFill>
              </a:rPr>
              <a:t>Blue background is then removed and replaced with new background.</a:t>
            </a:r>
          </a:p>
          <a:p>
            <a:r>
              <a:rPr lang="en-US" dirty="0">
                <a:solidFill>
                  <a:schemeClr val="tx1"/>
                </a:solidFill>
              </a:rPr>
              <a:t>Usually directing is minimal, and cinematography style is simple.</a:t>
            </a:r>
          </a:p>
          <a:p>
            <a:r>
              <a:rPr lang="en-US" dirty="0">
                <a:solidFill>
                  <a:schemeClr val="tx1"/>
                </a:solidFill>
              </a:rPr>
              <a:t>The idea is to test out the script, timing and feel of the shot.</a:t>
            </a:r>
          </a:p>
          <a:p>
            <a:pPr marL="0" indent="0">
              <a:buNone/>
            </a:pPr>
            <a:endParaRPr lang="en-US" dirty="0">
              <a:solidFill>
                <a:schemeClr val="tx1"/>
              </a:solidFill>
            </a:endParaRPr>
          </a:p>
        </p:txBody>
      </p:sp>
    </p:spTree>
    <p:extLst>
      <p:ext uri="{BB962C8B-B14F-4D97-AF65-F5344CB8AC3E}">
        <p14:creationId xmlns:p14="http://schemas.microsoft.com/office/powerpoint/2010/main" val="1776579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Types of 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pPr marL="0" indent="0" algn="ctr">
              <a:buNone/>
            </a:pPr>
            <a:r>
              <a:rPr lang="en-US" b="1" dirty="0"/>
              <a:t>3D Animatic</a:t>
            </a:r>
          </a:p>
          <a:p>
            <a:r>
              <a:rPr lang="en-US" dirty="0">
                <a:solidFill>
                  <a:schemeClr val="tx1"/>
                </a:solidFill>
              </a:rPr>
              <a:t>Some will prefer to create animatics from computer generated material rather than hand-drawn storyboards.</a:t>
            </a:r>
          </a:p>
          <a:p>
            <a:r>
              <a:rPr lang="en-US" dirty="0">
                <a:solidFill>
                  <a:schemeClr val="tx1"/>
                </a:solidFill>
              </a:rPr>
              <a:t>This can give the artist and the team the ability to easily adapt the storyboard to a production that has a lot of changes.</a:t>
            </a:r>
          </a:p>
          <a:p>
            <a:pPr marL="0" indent="0">
              <a:buNone/>
            </a:pPr>
            <a:endParaRPr lang="en-US" dirty="0">
              <a:solidFill>
                <a:schemeClr val="tx1"/>
              </a:solidFill>
            </a:endParaRPr>
          </a:p>
          <a:p>
            <a:endParaRPr lang="en-US" dirty="0">
              <a:solidFill>
                <a:schemeClr val="tx1"/>
              </a:solidFill>
            </a:endParaRPr>
          </a:p>
          <a:p>
            <a:pPr marL="0" indent="0">
              <a:buNone/>
            </a:pPr>
            <a:endParaRPr lang="en-US" dirty="0">
              <a:solidFill>
                <a:schemeClr val="tx1"/>
              </a:solidFill>
            </a:endParaRPr>
          </a:p>
        </p:txBody>
      </p:sp>
    </p:spTree>
    <p:extLst>
      <p:ext uri="{BB962C8B-B14F-4D97-AF65-F5344CB8AC3E}">
        <p14:creationId xmlns:p14="http://schemas.microsoft.com/office/powerpoint/2010/main" val="3160671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Types of 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pPr marL="0" indent="0" algn="ctr">
              <a:buNone/>
            </a:pPr>
            <a:r>
              <a:rPr lang="en-US" b="1" dirty="0"/>
              <a:t>3D Animatic</a:t>
            </a:r>
          </a:p>
          <a:p>
            <a:r>
              <a:rPr lang="en-US" dirty="0">
                <a:solidFill>
                  <a:schemeClr val="tx1"/>
                </a:solidFill>
              </a:rPr>
              <a:t>3D Artist will create “proxy model”, of characters and props. These will be updated later.</a:t>
            </a:r>
          </a:p>
          <a:p>
            <a:r>
              <a:rPr lang="en-US" dirty="0">
                <a:solidFill>
                  <a:schemeClr val="tx1"/>
                </a:solidFill>
              </a:rPr>
              <a:t>A “layout” animation is created to get a sense of the action.</a:t>
            </a:r>
          </a:p>
          <a:p>
            <a:r>
              <a:rPr lang="en-US" dirty="0"/>
              <a:t>Allows the production team to experiment with different camera positions, blocking movements, and camera framing, which are difficult to explore with storyboard panels. </a:t>
            </a:r>
          </a:p>
          <a:p>
            <a:endParaRPr lang="en-US" dirty="0">
              <a:solidFill>
                <a:schemeClr val="tx1"/>
              </a:solidFill>
            </a:endParaRPr>
          </a:p>
          <a:p>
            <a:endParaRPr lang="en-US" dirty="0">
              <a:solidFill>
                <a:schemeClr val="tx1"/>
              </a:solidFill>
            </a:endParaRPr>
          </a:p>
          <a:p>
            <a:pPr marL="0" indent="0">
              <a:buNone/>
            </a:pPr>
            <a:endParaRPr lang="en-US" dirty="0">
              <a:solidFill>
                <a:schemeClr val="tx1"/>
              </a:solidFill>
            </a:endParaRPr>
          </a:p>
        </p:txBody>
      </p:sp>
    </p:spTree>
    <p:extLst>
      <p:ext uri="{BB962C8B-B14F-4D97-AF65-F5344CB8AC3E}">
        <p14:creationId xmlns:p14="http://schemas.microsoft.com/office/powerpoint/2010/main" val="2945247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r>
              <a:rPr lang="en-US" dirty="0">
                <a:solidFill>
                  <a:schemeClr val="tx1"/>
                </a:solidFill>
              </a:rPr>
              <a:t>Rough cut is a well-developed animatic that is constantly updated as the film or animation develops.</a:t>
            </a:r>
          </a:p>
          <a:p>
            <a:r>
              <a:rPr lang="en-US" dirty="0">
                <a:solidFill>
                  <a:schemeClr val="tx1"/>
                </a:solidFill>
              </a:rPr>
              <a:t>This is very useful to visualize the progress of a film.</a:t>
            </a:r>
          </a:p>
          <a:p>
            <a:r>
              <a:rPr lang="en-US" dirty="0">
                <a:solidFill>
                  <a:schemeClr val="tx1"/>
                </a:solidFill>
              </a:rPr>
              <a:t>Just as with any animatic, it also helps the production understand how the different pieces flow together as a story.</a:t>
            </a:r>
          </a:p>
          <a:p>
            <a:endParaRPr lang="en-US" dirty="0">
              <a:solidFill>
                <a:schemeClr val="tx1"/>
              </a:solidFill>
            </a:endParaRPr>
          </a:p>
          <a:p>
            <a:pPr marL="0" indent="0">
              <a:buNone/>
            </a:pPr>
            <a:endParaRPr lang="en-US" dirty="0">
              <a:solidFill>
                <a:schemeClr val="tx1"/>
              </a:solidFill>
            </a:endParaRPr>
          </a:p>
        </p:txBody>
      </p:sp>
      <p:sp>
        <p:nvSpPr>
          <p:cNvPr id="6" name="Title 1">
            <a:extLst>
              <a:ext uri="{FF2B5EF4-FFF2-40B4-BE49-F238E27FC236}">
                <a16:creationId xmlns:a16="http://schemas.microsoft.com/office/drawing/2014/main" id="{3D2CB519-3565-4F7C-81C7-CC1BD289FB58}"/>
              </a:ext>
            </a:extLst>
          </p:cNvPr>
          <p:cNvSpPr>
            <a:spLocks noGrp="1"/>
          </p:cNvSpPr>
          <p:nvPr>
            <p:ph type="title"/>
          </p:nvPr>
        </p:nvSpPr>
        <p:spPr>
          <a:xfrm>
            <a:off x="3349381" y="723014"/>
            <a:ext cx="6241816" cy="685800"/>
          </a:xfrm>
        </p:spPr>
        <p:txBody>
          <a:bodyPr>
            <a:normAutofit fontScale="90000"/>
          </a:bodyPr>
          <a:lstStyle/>
          <a:p>
            <a:r>
              <a:rPr lang="en-US" sz="4900" dirty="0"/>
              <a:t>Rough-Cut</a:t>
            </a:r>
            <a:endParaRPr lang="en-US" sz="4400" dirty="0"/>
          </a:p>
        </p:txBody>
      </p:sp>
    </p:spTree>
    <p:extLst>
      <p:ext uri="{BB962C8B-B14F-4D97-AF65-F5344CB8AC3E}">
        <p14:creationId xmlns:p14="http://schemas.microsoft.com/office/powerpoint/2010/main" val="2643633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9381" y="723014"/>
            <a:ext cx="6241816" cy="685800"/>
          </a:xfrm>
        </p:spPr>
        <p:txBody>
          <a:bodyPr>
            <a:normAutofit fontScale="90000"/>
          </a:bodyPr>
          <a:lstStyle/>
          <a:p>
            <a:r>
              <a:rPr lang="en-US" sz="4900" dirty="0"/>
              <a:t>Rough-Cut</a:t>
            </a:r>
            <a:endParaRPr lang="en-US" sz="4400" dirty="0"/>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type="body" sz="half" idx="2"/>
          </p:nvPr>
        </p:nvSpPr>
        <p:spPr>
          <a:xfrm>
            <a:off x="947061" y="1509486"/>
            <a:ext cx="7456710" cy="4491807"/>
          </a:xfrm>
        </p:spPr>
        <p:txBody>
          <a:bodyPr>
            <a:noAutofit/>
          </a:bodyPr>
          <a:lstStyle/>
          <a:p>
            <a:pPr marL="342900" indent="-342900" algn="l">
              <a:buFont typeface="Arial" panose="020B0604020202020204" pitchFamily="34" charset="0"/>
              <a:buChar char="•"/>
            </a:pPr>
            <a:r>
              <a:rPr lang="en-US" sz="2400" dirty="0">
                <a:solidFill>
                  <a:schemeClr val="tx1"/>
                </a:solidFill>
              </a:rPr>
              <a:t>Once a shot is ready for review, the artist replaces the existing animatic shot with the actual final footage. </a:t>
            </a:r>
          </a:p>
          <a:p>
            <a:pPr marL="342900" indent="-342900" algn="l">
              <a:buFont typeface="Arial" panose="020B0604020202020204" pitchFamily="34" charset="0"/>
              <a:buChar char="•"/>
            </a:pPr>
            <a:r>
              <a:rPr lang="en-US" sz="2400" dirty="0">
                <a:solidFill>
                  <a:schemeClr val="tx1"/>
                </a:solidFill>
              </a:rPr>
              <a:t>The updated rough-cut is then presented to the director or department head for approval. </a:t>
            </a:r>
          </a:p>
          <a:p>
            <a:pPr marL="342900" indent="-342900" algn="l">
              <a:buFont typeface="Arial" panose="020B0604020202020204" pitchFamily="34" charset="0"/>
              <a:buChar char="•"/>
            </a:pPr>
            <a:r>
              <a:rPr lang="en-US" sz="2400" dirty="0">
                <a:solidFill>
                  <a:schemeClr val="tx1"/>
                </a:solidFill>
              </a:rPr>
              <a:t>The rough cut animatic should reflect the tools and techniques needed to create each scene. </a:t>
            </a:r>
          </a:p>
          <a:p>
            <a:pPr marL="342900" indent="-342900" algn="l">
              <a:buFont typeface="Arial" panose="020B0604020202020204" pitchFamily="34" charset="0"/>
              <a:buChar char="•"/>
            </a:pPr>
            <a:r>
              <a:rPr lang="en-US" sz="2400" dirty="0">
                <a:solidFill>
                  <a:schemeClr val="tx1"/>
                </a:solidFill>
              </a:rPr>
              <a:t>If a shot requires special effect, the rough cut should have that same, or a proximate, special </a:t>
            </a:r>
          </a:p>
          <a:p>
            <a:pPr marL="342900" indent="-342900" algn="l">
              <a:buFont typeface="Arial" panose="020B0604020202020204" pitchFamily="34" charset="0"/>
              <a:buChar char="•"/>
            </a:pPr>
            <a:r>
              <a:rPr lang="en-US" sz="2400" dirty="0">
                <a:solidFill>
                  <a:schemeClr val="tx1"/>
                </a:solidFill>
              </a:rPr>
              <a:t>effect in it. </a:t>
            </a:r>
          </a:p>
          <a:p>
            <a:pPr marL="0" indent="0" algn="l">
              <a:buNone/>
            </a:pPr>
            <a:endParaRPr lang="en-US" sz="2400" dirty="0">
              <a:solidFill>
                <a:schemeClr val="tx1"/>
              </a:solidFill>
            </a:endParaRPr>
          </a:p>
        </p:txBody>
      </p:sp>
      <p:pic>
        <p:nvPicPr>
          <p:cNvPr id="3074" name="Picture 2" descr="Image result for Game of thrones special effects making">
            <a:extLst>
              <a:ext uri="{FF2B5EF4-FFF2-40B4-BE49-F238E27FC236}">
                <a16:creationId xmlns:a16="http://schemas.microsoft.com/office/drawing/2014/main" id="{BDF5BA09-3871-4120-9F2D-3CE5AFE562D7}"/>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8842620" y="1216546"/>
            <a:ext cx="2402320" cy="134038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elated image">
            <a:extLst>
              <a:ext uri="{FF2B5EF4-FFF2-40B4-BE49-F238E27FC236}">
                <a16:creationId xmlns:a16="http://schemas.microsoft.com/office/drawing/2014/main" id="{241713AF-440E-47D8-BD2E-94AA52BC4E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42619" y="2858195"/>
            <a:ext cx="2402320" cy="150145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mage result for Game of thrones special effects making">
            <a:extLst>
              <a:ext uri="{FF2B5EF4-FFF2-40B4-BE49-F238E27FC236}">
                <a16:creationId xmlns:a16="http://schemas.microsoft.com/office/drawing/2014/main" id="{C2ED1E4B-C6F7-4070-AC56-006C5761444A}"/>
              </a:ext>
            </a:extLst>
          </p:cNvPr>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8842619" y="4660908"/>
            <a:ext cx="2402320" cy="1340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7280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Software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lnSpcReduction="10000"/>
          </a:bodyPr>
          <a:lstStyle/>
          <a:p>
            <a:r>
              <a:rPr lang="en-US" dirty="0">
                <a:solidFill>
                  <a:schemeClr val="tx1"/>
                </a:solidFill>
              </a:rPr>
              <a:t>Every animatic artist uses software to either produce images or to load hand-drawn shots into the computer and manipulate them.</a:t>
            </a:r>
          </a:p>
          <a:p>
            <a:r>
              <a:rPr lang="en-US" dirty="0">
                <a:solidFill>
                  <a:schemeClr val="tx1"/>
                </a:solidFill>
              </a:rPr>
              <a:t>Among many other things, </a:t>
            </a:r>
            <a:r>
              <a:rPr lang="en-US" b="1" dirty="0">
                <a:solidFill>
                  <a:schemeClr val="tx1"/>
                </a:solidFill>
              </a:rPr>
              <a:t>Photoshop</a:t>
            </a:r>
            <a:r>
              <a:rPr lang="en-US" dirty="0">
                <a:solidFill>
                  <a:schemeClr val="tx1"/>
                </a:solidFill>
              </a:rPr>
              <a:t> and </a:t>
            </a:r>
            <a:r>
              <a:rPr lang="en-US" b="1" dirty="0">
                <a:solidFill>
                  <a:schemeClr val="tx1"/>
                </a:solidFill>
              </a:rPr>
              <a:t>After Effects </a:t>
            </a:r>
            <a:r>
              <a:rPr lang="en-US" dirty="0">
                <a:solidFill>
                  <a:schemeClr val="tx1"/>
                </a:solidFill>
              </a:rPr>
              <a:t>are often chosen to prepare storyboards and animatics.</a:t>
            </a:r>
          </a:p>
          <a:p>
            <a:r>
              <a:rPr lang="en-US" dirty="0">
                <a:solidFill>
                  <a:schemeClr val="tx1"/>
                </a:solidFill>
              </a:rPr>
              <a:t>Both have compatible features</a:t>
            </a:r>
          </a:p>
          <a:p>
            <a:r>
              <a:rPr lang="en-US" dirty="0">
                <a:solidFill>
                  <a:schemeClr val="tx1"/>
                </a:solidFill>
              </a:rPr>
              <a:t>Each specializes in different areas: Photoshop for stills and manipulation, After Effects is very similar, but deals more with motion.</a:t>
            </a:r>
          </a:p>
          <a:p>
            <a:r>
              <a:rPr lang="en-US" dirty="0">
                <a:solidFill>
                  <a:schemeClr val="tx1"/>
                </a:solidFill>
              </a:rPr>
              <a:t>Ideal workflow tends to be a combination of both.</a:t>
            </a:r>
          </a:p>
          <a:p>
            <a:pPr marL="0" indent="0">
              <a:buNone/>
            </a:pPr>
            <a:endParaRPr lang="en-US" dirty="0">
              <a:solidFill>
                <a:schemeClr val="tx1"/>
              </a:solidFill>
            </a:endParaRPr>
          </a:p>
        </p:txBody>
      </p:sp>
    </p:spTree>
    <p:extLst>
      <p:ext uri="{BB962C8B-B14F-4D97-AF65-F5344CB8AC3E}">
        <p14:creationId xmlns:p14="http://schemas.microsoft.com/office/powerpoint/2010/main" val="3407029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Software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solidFill>
                  <a:schemeClr val="tx1"/>
                </a:solidFill>
              </a:rPr>
              <a:t>Storyboard Pro</a:t>
            </a:r>
          </a:p>
          <a:p>
            <a:r>
              <a:rPr lang="en-US" dirty="0" err="1">
                <a:solidFill>
                  <a:schemeClr val="tx1"/>
                </a:solidFill>
              </a:rPr>
              <a:t>Frameforge</a:t>
            </a:r>
            <a:endParaRPr lang="en-US" dirty="0">
              <a:solidFill>
                <a:schemeClr val="tx1"/>
              </a:solidFill>
            </a:endParaRPr>
          </a:p>
          <a:p>
            <a:r>
              <a:rPr lang="en-US" dirty="0">
                <a:solidFill>
                  <a:schemeClr val="tx1"/>
                </a:solidFill>
              </a:rPr>
              <a:t>Storyboard Quick</a:t>
            </a:r>
          </a:p>
          <a:p>
            <a:r>
              <a:rPr lang="en-US" dirty="0">
                <a:solidFill>
                  <a:schemeClr val="tx1"/>
                </a:solidFill>
              </a:rPr>
              <a:t>Shot Master</a:t>
            </a:r>
          </a:p>
          <a:p>
            <a:endParaRPr lang="en-US" dirty="0">
              <a:solidFill>
                <a:schemeClr val="tx1"/>
              </a:solidFill>
            </a:endParaRPr>
          </a:p>
          <a:p>
            <a:pPr marL="0" indent="0">
              <a:buNone/>
            </a:pPr>
            <a:endParaRPr lang="en-US" dirty="0">
              <a:solidFill>
                <a:schemeClr val="tx1"/>
              </a:solidFill>
            </a:endParaRPr>
          </a:p>
        </p:txBody>
      </p:sp>
    </p:spTree>
    <p:extLst>
      <p:ext uri="{BB962C8B-B14F-4D97-AF65-F5344CB8AC3E}">
        <p14:creationId xmlns:p14="http://schemas.microsoft.com/office/powerpoint/2010/main" val="16124923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Software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solidFill>
                  <a:schemeClr val="tx1"/>
                </a:solidFill>
              </a:rPr>
              <a:t>Remember though, storyboards are </a:t>
            </a:r>
            <a:r>
              <a:rPr lang="en-US" b="1" dirty="0">
                <a:solidFill>
                  <a:schemeClr val="tx1"/>
                </a:solidFill>
              </a:rPr>
              <a:t>not about software</a:t>
            </a:r>
            <a:r>
              <a:rPr lang="en-US" dirty="0">
                <a:solidFill>
                  <a:schemeClr val="tx1"/>
                </a:solidFill>
              </a:rPr>
              <a:t>, </a:t>
            </a:r>
            <a:r>
              <a:rPr lang="en-US" b="1" dirty="0">
                <a:solidFill>
                  <a:schemeClr val="tx1"/>
                </a:solidFill>
              </a:rPr>
              <a:t>but</a:t>
            </a:r>
            <a:r>
              <a:rPr lang="en-US" dirty="0">
                <a:solidFill>
                  <a:schemeClr val="tx1"/>
                </a:solidFill>
              </a:rPr>
              <a:t> </a:t>
            </a:r>
            <a:r>
              <a:rPr lang="en-US" b="1" u="sng" dirty="0">
                <a:solidFill>
                  <a:srgbClr val="FF0000"/>
                </a:solidFill>
              </a:rPr>
              <a:t>stories</a:t>
            </a:r>
            <a:r>
              <a:rPr lang="en-US" dirty="0">
                <a:solidFill>
                  <a:schemeClr val="tx1"/>
                </a:solidFill>
              </a:rPr>
              <a:t>. </a:t>
            </a:r>
          </a:p>
          <a:p>
            <a:r>
              <a:rPr lang="en-US" b="1" dirty="0">
                <a:solidFill>
                  <a:schemeClr val="tx1"/>
                </a:solidFill>
              </a:rPr>
              <a:t>Technology is only the means for articulating and executing</a:t>
            </a:r>
            <a:r>
              <a:rPr lang="en-US" dirty="0">
                <a:solidFill>
                  <a:schemeClr val="tx1"/>
                </a:solidFill>
              </a:rPr>
              <a:t> the director artist's vision.</a:t>
            </a:r>
          </a:p>
          <a:p>
            <a:endParaRPr lang="en-US" dirty="0">
              <a:solidFill>
                <a:schemeClr val="tx1"/>
              </a:solidFill>
            </a:endParaRPr>
          </a:p>
          <a:p>
            <a:pPr marL="0" indent="0">
              <a:buNone/>
            </a:pPr>
            <a:endParaRPr lang="en-US" dirty="0">
              <a:solidFill>
                <a:schemeClr val="tx1"/>
              </a:solidFill>
            </a:endParaRPr>
          </a:p>
        </p:txBody>
      </p:sp>
    </p:spTree>
    <p:extLst>
      <p:ext uri="{BB962C8B-B14F-4D97-AF65-F5344CB8AC3E}">
        <p14:creationId xmlns:p14="http://schemas.microsoft.com/office/powerpoint/2010/main" val="13859896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Scanning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solidFill>
                  <a:schemeClr val="tx1"/>
                </a:solidFill>
              </a:rPr>
              <a:t>Scanners are often used to bring in  hand drawn artwork into a computer.  </a:t>
            </a:r>
          </a:p>
          <a:p>
            <a:r>
              <a:rPr lang="en-US" dirty="0">
                <a:solidFill>
                  <a:schemeClr val="tx1"/>
                </a:solidFill>
              </a:rPr>
              <a:t>When scanning storyboards,  you need to set the </a:t>
            </a:r>
            <a:r>
              <a:rPr lang="en-US" b="1" dirty="0">
                <a:solidFill>
                  <a:schemeClr val="tx1"/>
                </a:solidFill>
              </a:rPr>
              <a:t>resolution</a:t>
            </a:r>
            <a:r>
              <a:rPr lang="en-US" dirty="0">
                <a:solidFill>
                  <a:schemeClr val="tx1"/>
                </a:solidFill>
              </a:rPr>
              <a:t>.  </a:t>
            </a:r>
          </a:p>
          <a:p>
            <a:r>
              <a:rPr lang="en-US" dirty="0">
                <a:solidFill>
                  <a:schemeClr val="tx1"/>
                </a:solidFill>
              </a:rPr>
              <a:t>Television resolution for PCs is 72 dpi at 720 x 480 pixels, and Mac 72 dpi at 640 x 480. </a:t>
            </a:r>
          </a:p>
          <a:p>
            <a:pPr marL="0" indent="0">
              <a:buNone/>
            </a:pPr>
            <a:endParaRPr lang="en-US" dirty="0">
              <a:solidFill>
                <a:schemeClr val="tx1"/>
              </a:solidFill>
            </a:endParaRPr>
          </a:p>
        </p:txBody>
      </p:sp>
    </p:spTree>
    <p:extLst>
      <p:ext uri="{BB962C8B-B14F-4D97-AF65-F5344CB8AC3E}">
        <p14:creationId xmlns:p14="http://schemas.microsoft.com/office/powerpoint/2010/main" val="25285531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Still Shots and Moving Shots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solidFill>
                  <a:schemeClr val="tx1"/>
                </a:solidFill>
              </a:rPr>
              <a:t>Scanners are often used to bring in  hand drawn artwork into a computer.  </a:t>
            </a:r>
          </a:p>
          <a:p>
            <a:r>
              <a:rPr lang="en-US" dirty="0">
                <a:solidFill>
                  <a:schemeClr val="tx1"/>
                </a:solidFill>
              </a:rPr>
              <a:t>When scanning storyboards,  you need to set the </a:t>
            </a:r>
            <a:r>
              <a:rPr lang="en-US" b="1" dirty="0">
                <a:solidFill>
                  <a:schemeClr val="tx1"/>
                </a:solidFill>
              </a:rPr>
              <a:t>resolution</a:t>
            </a:r>
            <a:r>
              <a:rPr lang="en-US" dirty="0">
                <a:solidFill>
                  <a:schemeClr val="tx1"/>
                </a:solidFill>
              </a:rPr>
              <a:t>.  </a:t>
            </a:r>
          </a:p>
          <a:p>
            <a:r>
              <a:rPr lang="en-US" dirty="0">
                <a:solidFill>
                  <a:schemeClr val="tx1"/>
                </a:solidFill>
              </a:rPr>
              <a:t>Television resolution for PCs is 72 dpi at 720 x 480 pixels, and Mac 72 dpi at 640 x 480. </a:t>
            </a:r>
          </a:p>
          <a:p>
            <a:pPr marL="0" indent="0">
              <a:buNone/>
            </a:pPr>
            <a:endParaRPr lang="en-US" dirty="0">
              <a:solidFill>
                <a:schemeClr val="tx1"/>
              </a:solidFill>
            </a:endParaRPr>
          </a:p>
        </p:txBody>
      </p:sp>
    </p:spTree>
    <p:extLst>
      <p:ext uri="{BB962C8B-B14F-4D97-AF65-F5344CB8AC3E}">
        <p14:creationId xmlns:p14="http://schemas.microsoft.com/office/powerpoint/2010/main" val="662264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Still Shots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t>Still shots should be scanned at 72 DPI, 720 x 480 minimum size.</a:t>
            </a:r>
          </a:p>
        </p:txBody>
      </p:sp>
    </p:spTree>
    <p:extLst>
      <p:ext uri="{BB962C8B-B14F-4D97-AF65-F5344CB8AC3E}">
        <p14:creationId xmlns:p14="http://schemas.microsoft.com/office/powerpoint/2010/main" val="8702834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Pan Shots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t>The only consideration you must think about here is the length of a pan. </a:t>
            </a:r>
          </a:p>
          <a:p>
            <a:r>
              <a:rPr lang="en-US" dirty="0"/>
              <a:t>Does a camera pan a full 360 Degrees? </a:t>
            </a:r>
          </a:p>
          <a:p>
            <a:r>
              <a:rPr lang="en-US" dirty="0"/>
              <a:t>Can you fit your panning sketch into the scanner? </a:t>
            </a:r>
          </a:p>
        </p:txBody>
      </p:sp>
    </p:spTree>
    <p:extLst>
      <p:ext uri="{BB962C8B-B14F-4D97-AF65-F5344CB8AC3E}">
        <p14:creationId xmlns:p14="http://schemas.microsoft.com/office/powerpoint/2010/main" val="14514895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Zoom Shots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solidFill>
                  <a:schemeClr val="tx1"/>
                </a:solidFill>
              </a:rPr>
              <a:t>As a rule of thumb zoomed should be scanned at 300 dpi.</a:t>
            </a:r>
          </a:p>
          <a:p>
            <a:r>
              <a:rPr lang="en-US" dirty="0">
                <a:solidFill>
                  <a:schemeClr val="tx1"/>
                </a:solidFill>
              </a:rPr>
              <a:t>If you want to be exact you should figure out how close you are going to get in on the frame.</a:t>
            </a:r>
          </a:p>
        </p:txBody>
      </p:sp>
    </p:spTree>
    <p:extLst>
      <p:ext uri="{BB962C8B-B14F-4D97-AF65-F5344CB8AC3E}">
        <p14:creationId xmlns:p14="http://schemas.microsoft.com/office/powerpoint/2010/main" val="3936372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Zoom Shots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t>Save the raw scanned images in Photoshop as either TGA or Tiff format. </a:t>
            </a:r>
          </a:p>
          <a:p>
            <a:r>
              <a:rPr lang="en-US" dirty="0"/>
              <a:t>Both of these formats are </a:t>
            </a:r>
            <a:r>
              <a:rPr lang="en-US" b="1" dirty="0"/>
              <a:t>lossless </a:t>
            </a:r>
            <a:r>
              <a:rPr lang="en-US" dirty="0"/>
              <a:t>(file type does not use any type of compression to store the data within the image). </a:t>
            </a:r>
          </a:p>
          <a:p>
            <a:r>
              <a:rPr lang="en-US" dirty="0"/>
              <a:t>Formats such as .gif, jpeg and .bmp are used to compress data with repeated use (opening, saving, closing. These are called “lossy” because of the loss of detail in favor of file size and compression.</a:t>
            </a:r>
          </a:p>
        </p:txBody>
      </p:sp>
    </p:spTree>
    <p:extLst>
      <p:ext uri="{BB962C8B-B14F-4D97-AF65-F5344CB8AC3E}">
        <p14:creationId xmlns:p14="http://schemas.microsoft.com/office/powerpoint/2010/main" val="18796503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Cleanup</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solidFill>
                  <a:schemeClr val="tx1"/>
                </a:solidFill>
              </a:rPr>
              <a:t>It is faster to scan everything all at once rather than going back and forth between the scanning software and Photoshop. </a:t>
            </a:r>
          </a:p>
          <a:p>
            <a:r>
              <a:rPr lang="en-US" dirty="0">
                <a:solidFill>
                  <a:schemeClr val="tx1"/>
                </a:solidFill>
              </a:rPr>
              <a:t>Save each file in Photoshop then start cleaning them up for use in programs such as After Effects. </a:t>
            </a:r>
          </a:p>
          <a:p>
            <a:r>
              <a:rPr lang="en-US" dirty="0">
                <a:solidFill>
                  <a:schemeClr val="tx1"/>
                </a:solidFill>
              </a:rPr>
              <a:t>It is wise to save the original raw image and work with a copy.</a:t>
            </a:r>
          </a:p>
        </p:txBody>
      </p:sp>
    </p:spTree>
    <p:extLst>
      <p:ext uri="{BB962C8B-B14F-4D97-AF65-F5344CB8AC3E}">
        <p14:creationId xmlns:p14="http://schemas.microsoft.com/office/powerpoint/2010/main" val="25480803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Preparing Storyboards for Animatic</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solidFill>
                  <a:schemeClr val="tx1"/>
                </a:solidFill>
              </a:rPr>
              <a:t>It is faster to scan everything all at once rather than going back and forth between the scanning software and Photoshop. </a:t>
            </a:r>
          </a:p>
          <a:p>
            <a:r>
              <a:rPr lang="en-US" dirty="0">
                <a:solidFill>
                  <a:schemeClr val="tx1"/>
                </a:solidFill>
              </a:rPr>
              <a:t>Save each file in Photoshop then start cleaning them up for use in programs such as After Effects. </a:t>
            </a:r>
          </a:p>
          <a:p>
            <a:r>
              <a:rPr lang="en-US" dirty="0">
                <a:solidFill>
                  <a:schemeClr val="tx1"/>
                </a:solidFill>
              </a:rPr>
              <a:t>It is wise to save the original raw image and work with a copy.</a:t>
            </a:r>
          </a:p>
        </p:txBody>
      </p:sp>
    </p:spTree>
    <p:extLst>
      <p:ext uri="{BB962C8B-B14F-4D97-AF65-F5344CB8AC3E}">
        <p14:creationId xmlns:p14="http://schemas.microsoft.com/office/powerpoint/2010/main" val="5007829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Image Cleanup</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t>Straight lines, dots, fuzzy pixels and so forth should be removed. </a:t>
            </a:r>
          </a:p>
          <a:p>
            <a:r>
              <a:rPr lang="en-US" dirty="0"/>
              <a:t>Adjust the contrast as needed. Keep white paper white, and black lines black.</a:t>
            </a:r>
          </a:p>
          <a:p>
            <a:r>
              <a:rPr lang="en-US" dirty="0"/>
              <a:t>Objective should be clarity. What is the main point the drawing is supposed to show?</a:t>
            </a:r>
          </a:p>
          <a:p>
            <a:r>
              <a:rPr lang="en-US" dirty="0"/>
              <a:t>Most scanning software allows you to adjust the contrast, or you can fix it in Photoshop by adjusting the contrast.</a:t>
            </a:r>
          </a:p>
        </p:txBody>
      </p:sp>
    </p:spTree>
    <p:extLst>
      <p:ext uri="{BB962C8B-B14F-4D97-AF65-F5344CB8AC3E}">
        <p14:creationId xmlns:p14="http://schemas.microsoft.com/office/powerpoint/2010/main" val="31637607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Movement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solidFill>
                  <a:schemeClr val="tx1"/>
                </a:solidFill>
              </a:rPr>
              <a:t>As you decide what to animate, it might be necessary to move body parts or objects separately.</a:t>
            </a:r>
          </a:p>
          <a:p>
            <a:r>
              <a:rPr lang="en-US" dirty="0">
                <a:solidFill>
                  <a:schemeClr val="tx1"/>
                </a:solidFill>
              </a:rPr>
              <a:t>To do this, cut the part out , and put it on its </a:t>
            </a:r>
            <a:r>
              <a:rPr lang="en-US" b="1" dirty="0">
                <a:solidFill>
                  <a:schemeClr val="tx1"/>
                </a:solidFill>
              </a:rPr>
              <a:t>own layer</a:t>
            </a:r>
            <a:r>
              <a:rPr lang="en-US" dirty="0">
                <a:solidFill>
                  <a:schemeClr val="tx1"/>
                </a:solidFill>
              </a:rPr>
              <a:t>.</a:t>
            </a:r>
          </a:p>
          <a:p>
            <a:r>
              <a:rPr lang="en-US" dirty="0">
                <a:solidFill>
                  <a:schemeClr val="tx1"/>
                </a:solidFill>
              </a:rPr>
              <a:t>There are several tools with in Photoshop that you can use for such editing purposes.</a:t>
            </a:r>
          </a:p>
          <a:p>
            <a:r>
              <a:rPr lang="en-US" dirty="0">
                <a:solidFill>
                  <a:schemeClr val="tx1"/>
                </a:solidFill>
              </a:rPr>
              <a:t>All of these methods are usable within After Effects.</a:t>
            </a:r>
          </a:p>
        </p:txBody>
      </p:sp>
    </p:spTree>
    <p:extLst>
      <p:ext uri="{BB962C8B-B14F-4D97-AF65-F5344CB8AC3E}">
        <p14:creationId xmlns:p14="http://schemas.microsoft.com/office/powerpoint/2010/main" val="9451428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Selection Tools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t>The </a:t>
            </a:r>
            <a:r>
              <a:rPr lang="en-US" b="1" dirty="0"/>
              <a:t>Marquee</a:t>
            </a:r>
            <a:r>
              <a:rPr lang="en-US" dirty="0"/>
              <a:t> tools are good for selecting large rectangular or elliptical areas.</a:t>
            </a:r>
          </a:p>
          <a:p>
            <a:r>
              <a:rPr lang="en-US" b="1" dirty="0"/>
              <a:t>Magic Wand</a:t>
            </a:r>
            <a:r>
              <a:rPr lang="en-US" dirty="0"/>
              <a:t> tool selects large areas. It is useful for removing the background color from an image. </a:t>
            </a:r>
          </a:p>
          <a:p>
            <a:r>
              <a:rPr lang="en-US" b="1" dirty="0"/>
              <a:t>Lasso</a:t>
            </a:r>
            <a:r>
              <a:rPr lang="en-US" dirty="0"/>
              <a:t> tools that you can choose from. </a:t>
            </a:r>
          </a:p>
          <a:p>
            <a:r>
              <a:rPr lang="en-US" dirty="0"/>
              <a:t>The </a:t>
            </a:r>
            <a:r>
              <a:rPr lang="en-US" b="1" dirty="0"/>
              <a:t>Pen</a:t>
            </a:r>
            <a:r>
              <a:rPr lang="en-US" dirty="0"/>
              <a:t> tool can also be used as a very flexible selection tool by converting the path to selection.</a:t>
            </a:r>
          </a:p>
        </p:txBody>
      </p:sp>
    </p:spTree>
    <p:extLst>
      <p:ext uri="{BB962C8B-B14F-4D97-AF65-F5344CB8AC3E}">
        <p14:creationId xmlns:p14="http://schemas.microsoft.com/office/powerpoint/2010/main" val="14548425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Timing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t>Each production has a </a:t>
            </a:r>
            <a:r>
              <a:rPr lang="en-US" b="1" dirty="0"/>
              <a:t>specified length</a:t>
            </a:r>
            <a:r>
              <a:rPr lang="en-US" dirty="0"/>
              <a:t>, whether it is a 30-second television spot or a two-hour feature film. </a:t>
            </a:r>
          </a:p>
          <a:p>
            <a:r>
              <a:rPr lang="en-US" dirty="0"/>
              <a:t>The </a:t>
            </a:r>
            <a:r>
              <a:rPr lang="en-US" b="1" dirty="0"/>
              <a:t>mood</a:t>
            </a:r>
            <a:r>
              <a:rPr lang="en-US" dirty="0"/>
              <a:t> and </a:t>
            </a:r>
            <a:r>
              <a:rPr lang="en-US" b="1" dirty="0"/>
              <a:t>pace</a:t>
            </a:r>
            <a:r>
              <a:rPr lang="en-US" dirty="0"/>
              <a:t> of our production is determined by the cutting and motion of every scene. </a:t>
            </a:r>
          </a:p>
          <a:p>
            <a:r>
              <a:rPr lang="en-US" dirty="0"/>
              <a:t>Acting effects the timing of each shot. </a:t>
            </a:r>
          </a:p>
          <a:p>
            <a:r>
              <a:rPr lang="en-US" dirty="0"/>
              <a:t>Bad timing sticks out like a sore thumb in any medium and any format.</a:t>
            </a:r>
          </a:p>
          <a:p>
            <a:endParaRPr lang="en-US" dirty="0"/>
          </a:p>
        </p:txBody>
      </p:sp>
    </p:spTree>
    <p:extLst>
      <p:ext uri="{BB962C8B-B14F-4D97-AF65-F5344CB8AC3E}">
        <p14:creationId xmlns:p14="http://schemas.microsoft.com/office/powerpoint/2010/main" val="36404600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Developing a sense for Timing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t>Timing is important. Just as in music, where it gives meaning to the notes. Timing in storyboards does the same for the visual elements.</a:t>
            </a:r>
          </a:p>
          <a:p>
            <a:r>
              <a:rPr lang="en-US" dirty="0">
                <a:solidFill>
                  <a:schemeClr val="tx1"/>
                </a:solidFill>
              </a:rPr>
              <a:t>If a shot is too long, it may slow down the pace and make it boring. </a:t>
            </a:r>
          </a:p>
          <a:p>
            <a:r>
              <a:rPr lang="en-US" dirty="0">
                <a:solidFill>
                  <a:schemeClr val="tx1"/>
                </a:solidFill>
              </a:rPr>
              <a:t>If the shot is too short, it may seem ambiguous and confusing. </a:t>
            </a:r>
          </a:p>
          <a:p>
            <a:r>
              <a:rPr lang="en-US" dirty="0">
                <a:solidFill>
                  <a:schemeClr val="tx1"/>
                </a:solidFill>
              </a:rPr>
              <a:t>Trial-and-error perfect or timing skills. </a:t>
            </a:r>
          </a:p>
          <a:p>
            <a:endParaRPr lang="en-US" dirty="0"/>
          </a:p>
        </p:txBody>
      </p:sp>
    </p:spTree>
    <p:extLst>
      <p:ext uri="{BB962C8B-B14F-4D97-AF65-F5344CB8AC3E}">
        <p14:creationId xmlns:p14="http://schemas.microsoft.com/office/powerpoint/2010/main" val="14573527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Developing a sense for Timing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solidFill>
                  <a:schemeClr val="tx1"/>
                </a:solidFill>
              </a:rPr>
              <a:t>If you don't know how long a shot should be, make an educated guess. </a:t>
            </a:r>
          </a:p>
          <a:p>
            <a:r>
              <a:rPr lang="en-US" dirty="0">
                <a:solidFill>
                  <a:schemeClr val="tx1"/>
                </a:solidFill>
              </a:rPr>
              <a:t>Remember, the animatic is created to </a:t>
            </a:r>
            <a:r>
              <a:rPr lang="en-US" b="1" dirty="0">
                <a:solidFill>
                  <a:schemeClr val="tx1"/>
                </a:solidFill>
              </a:rPr>
              <a:t>block</a:t>
            </a:r>
            <a:r>
              <a:rPr lang="en-US" dirty="0">
                <a:solidFill>
                  <a:schemeClr val="tx1"/>
                </a:solidFill>
              </a:rPr>
              <a:t> </a:t>
            </a:r>
            <a:r>
              <a:rPr lang="en-US" b="1" dirty="0">
                <a:solidFill>
                  <a:schemeClr val="tx1"/>
                </a:solidFill>
              </a:rPr>
              <a:t>out the timing</a:t>
            </a:r>
            <a:r>
              <a:rPr lang="en-US" dirty="0">
                <a:solidFill>
                  <a:schemeClr val="tx1"/>
                </a:solidFill>
              </a:rPr>
              <a:t>. </a:t>
            </a:r>
          </a:p>
          <a:p>
            <a:r>
              <a:rPr lang="en-US" dirty="0">
                <a:solidFill>
                  <a:schemeClr val="tx1"/>
                </a:solidFill>
              </a:rPr>
              <a:t>Using a nonlinear software to edit and the animatic makes it easy for animators to add or subtract frames from a shot.</a:t>
            </a:r>
          </a:p>
          <a:p>
            <a:endParaRPr lang="en-US" dirty="0"/>
          </a:p>
        </p:txBody>
      </p:sp>
    </p:spTree>
    <p:extLst>
      <p:ext uri="{BB962C8B-B14F-4D97-AF65-F5344CB8AC3E}">
        <p14:creationId xmlns:p14="http://schemas.microsoft.com/office/powerpoint/2010/main" val="9117165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Developing a sense for Timing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t>The single most important thing to remember when blocking out your timing is the </a:t>
            </a:r>
            <a:r>
              <a:rPr lang="en-US" b="1" dirty="0"/>
              <a:t>FPS</a:t>
            </a:r>
            <a:r>
              <a:rPr lang="en-US" dirty="0"/>
              <a:t> or </a:t>
            </a:r>
            <a:r>
              <a:rPr lang="en-US" b="1" dirty="0"/>
              <a:t>framerate.</a:t>
            </a:r>
          </a:p>
          <a:p>
            <a:r>
              <a:rPr lang="en-US" dirty="0"/>
              <a:t>FPS or “</a:t>
            </a:r>
            <a:r>
              <a:rPr lang="en-US" b="1" dirty="0"/>
              <a:t>Frames per Second</a:t>
            </a:r>
            <a:r>
              <a:rPr lang="en-US" dirty="0"/>
              <a:t>” is your guiding rule. This is how many frames equal one second of actual, real-world time.</a:t>
            </a:r>
            <a:endParaRPr lang="en-US" dirty="0">
              <a:solidFill>
                <a:schemeClr val="tx1"/>
              </a:solidFill>
            </a:endParaRPr>
          </a:p>
          <a:p>
            <a:r>
              <a:rPr lang="en-US" dirty="0">
                <a:solidFill>
                  <a:schemeClr val="tx1"/>
                </a:solidFill>
              </a:rPr>
              <a:t>Frame count, blocking the animation, dialogue tracks, and specific shot movements are also main factors used in determining the timing of the animatic.</a:t>
            </a:r>
          </a:p>
          <a:p>
            <a:endParaRPr lang="en-US" dirty="0"/>
          </a:p>
          <a:p>
            <a:endParaRPr lang="en-US" dirty="0"/>
          </a:p>
        </p:txBody>
      </p:sp>
    </p:spTree>
    <p:extLst>
      <p:ext uri="{BB962C8B-B14F-4D97-AF65-F5344CB8AC3E}">
        <p14:creationId xmlns:p14="http://schemas.microsoft.com/office/powerpoint/2010/main" val="8557913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Developing a sense for Timing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solidFill>
                  <a:schemeClr val="tx1"/>
                </a:solidFill>
              </a:rPr>
              <a:t>Film speed is 24 frames per second and television is 30 fps. </a:t>
            </a:r>
          </a:p>
          <a:p>
            <a:r>
              <a:rPr lang="en-US" dirty="0">
                <a:solidFill>
                  <a:schemeClr val="tx1"/>
                </a:solidFill>
              </a:rPr>
              <a:t>Some games and different media use other frame rates.</a:t>
            </a:r>
          </a:p>
          <a:p>
            <a:r>
              <a:rPr lang="en-US" dirty="0">
                <a:solidFill>
                  <a:schemeClr val="tx1"/>
                </a:solidFill>
              </a:rPr>
              <a:t>Some modern cameras have a very high framerate that allows the animator/director to slow down time when needed.</a:t>
            </a:r>
          </a:p>
          <a:p>
            <a:r>
              <a:rPr lang="en-US" dirty="0">
                <a:solidFill>
                  <a:schemeClr val="tx1"/>
                </a:solidFill>
              </a:rPr>
              <a:t>Knowing the frames per second for a project can save you time when creating an animatic. </a:t>
            </a:r>
          </a:p>
        </p:txBody>
      </p:sp>
    </p:spTree>
    <p:extLst>
      <p:ext uri="{BB962C8B-B14F-4D97-AF65-F5344CB8AC3E}">
        <p14:creationId xmlns:p14="http://schemas.microsoft.com/office/powerpoint/2010/main" val="14065323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Developing a sense for Timing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solidFill>
                  <a:schemeClr val="tx1"/>
                </a:solidFill>
              </a:rPr>
              <a:t>Timing is a difficult skill to acquire. While some have a natural sense, most of us acquire it with practice.</a:t>
            </a:r>
          </a:p>
          <a:p>
            <a:r>
              <a:rPr lang="en-US" dirty="0">
                <a:solidFill>
                  <a:schemeClr val="tx1"/>
                </a:solidFill>
              </a:rPr>
              <a:t>Use a timing device such as a stopwatch to get a sense of how long actions take.</a:t>
            </a:r>
          </a:p>
          <a:p>
            <a:r>
              <a:rPr lang="en-US" dirty="0">
                <a:solidFill>
                  <a:schemeClr val="tx1"/>
                </a:solidFill>
              </a:rPr>
              <a:t>Observe how other artists treat timing in their films.</a:t>
            </a:r>
          </a:p>
          <a:p>
            <a:r>
              <a:rPr lang="en-US" dirty="0">
                <a:solidFill>
                  <a:schemeClr val="tx1"/>
                </a:solidFill>
              </a:rPr>
              <a:t>Observe real life to get a sense of how long real movements should last.</a:t>
            </a:r>
          </a:p>
        </p:txBody>
      </p:sp>
    </p:spTree>
    <p:extLst>
      <p:ext uri="{BB962C8B-B14F-4D97-AF65-F5344CB8AC3E}">
        <p14:creationId xmlns:p14="http://schemas.microsoft.com/office/powerpoint/2010/main" val="22630954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Developing a sense for Timing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6063342" cy="3676443"/>
          </a:xfrm>
        </p:spPr>
        <p:txBody>
          <a:bodyPr>
            <a:normAutofit/>
          </a:bodyPr>
          <a:lstStyle/>
          <a:p>
            <a:r>
              <a:rPr lang="en-US" dirty="0">
                <a:solidFill>
                  <a:schemeClr val="tx1"/>
                </a:solidFill>
              </a:rPr>
              <a:t>Observing the real world is also a great way to get a sense of timing. </a:t>
            </a:r>
          </a:p>
          <a:p>
            <a:r>
              <a:rPr lang="en-US" dirty="0">
                <a:solidFill>
                  <a:schemeClr val="tx1"/>
                </a:solidFill>
              </a:rPr>
              <a:t>Video reference is often times a crucial tool when it comes to animation. </a:t>
            </a:r>
          </a:p>
          <a:p>
            <a:r>
              <a:rPr lang="en-US" dirty="0">
                <a:solidFill>
                  <a:schemeClr val="tx1"/>
                </a:solidFill>
              </a:rPr>
              <a:t>Long before motion capture technology was ever invented, animators would use film reference to get a good sense of  timing and natural poses. </a:t>
            </a:r>
          </a:p>
        </p:txBody>
      </p:sp>
      <p:pic>
        <p:nvPicPr>
          <p:cNvPr id="12290" name="Picture 2" descr="Image result for Disney test footage">
            <a:extLst>
              <a:ext uri="{FF2B5EF4-FFF2-40B4-BE49-F238E27FC236}">
                <a16:creationId xmlns:a16="http://schemas.microsoft.com/office/drawing/2014/main" id="{17A39F0B-E6B4-485C-A833-76B253BAEBDE}"/>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358743" y="3137502"/>
            <a:ext cx="3860800"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86422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Developing a sense for Timing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941937" y="2556931"/>
            <a:ext cx="6199092" cy="3887412"/>
          </a:xfrm>
        </p:spPr>
        <p:txBody>
          <a:bodyPr>
            <a:normAutofit/>
          </a:bodyPr>
          <a:lstStyle/>
          <a:p>
            <a:r>
              <a:rPr lang="en-US" dirty="0">
                <a:solidFill>
                  <a:schemeClr val="tx1"/>
                </a:solidFill>
              </a:rPr>
              <a:t>No matter the skill level of an artist, </a:t>
            </a:r>
            <a:r>
              <a:rPr lang="en-US" b="1" dirty="0">
                <a:solidFill>
                  <a:schemeClr val="tx1"/>
                </a:solidFill>
              </a:rPr>
              <a:t>reference</a:t>
            </a:r>
            <a:r>
              <a:rPr lang="en-US" dirty="0">
                <a:solidFill>
                  <a:schemeClr val="tx1"/>
                </a:solidFill>
              </a:rPr>
              <a:t> </a:t>
            </a:r>
            <a:r>
              <a:rPr lang="en-US" b="1" dirty="0">
                <a:solidFill>
                  <a:schemeClr val="tx1"/>
                </a:solidFill>
              </a:rPr>
              <a:t>can</a:t>
            </a:r>
            <a:r>
              <a:rPr lang="en-US" dirty="0">
                <a:solidFill>
                  <a:schemeClr val="tx1"/>
                </a:solidFill>
              </a:rPr>
              <a:t> </a:t>
            </a:r>
            <a:r>
              <a:rPr lang="en-US" b="1" dirty="0">
                <a:solidFill>
                  <a:schemeClr val="tx1"/>
                </a:solidFill>
              </a:rPr>
              <a:t>only</a:t>
            </a:r>
            <a:r>
              <a:rPr lang="en-US" dirty="0">
                <a:solidFill>
                  <a:schemeClr val="tx1"/>
                </a:solidFill>
              </a:rPr>
              <a:t> </a:t>
            </a:r>
            <a:r>
              <a:rPr lang="en-US" b="1" dirty="0">
                <a:solidFill>
                  <a:schemeClr val="tx1"/>
                </a:solidFill>
              </a:rPr>
              <a:t>make</a:t>
            </a:r>
            <a:r>
              <a:rPr lang="en-US" dirty="0">
                <a:solidFill>
                  <a:schemeClr val="tx1"/>
                </a:solidFill>
              </a:rPr>
              <a:t> </a:t>
            </a:r>
            <a:r>
              <a:rPr lang="en-US" b="1" dirty="0">
                <a:solidFill>
                  <a:schemeClr val="tx1"/>
                </a:solidFill>
              </a:rPr>
              <a:t>your</a:t>
            </a:r>
            <a:r>
              <a:rPr lang="en-US" dirty="0">
                <a:solidFill>
                  <a:schemeClr val="tx1"/>
                </a:solidFill>
              </a:rPr>
              <a:t> </a:t>
            </a:r>
            <a:r>
              <a:rPr lang="en-US" b="1" dirty="0">
                <a:solidFill>
                  <a:schemeClr val="tx1"/>
                </a:solidFill>
              </a:rPr>
              <a:t>work</a:t>
            </a:r>
            <a:r>
              <a:rPr lang="en-US" dirty="0">
                <a:solidFill>
                  <a:schemeClr val="tx1"/>
                </a:solidFill>
              </a:rPr>
              <a:t> </a:t>
            </a:r>
            <a:r>
              <a:rPr lang="en-US" b="1" dirty="0">
                <a:solidFill>
                  <a:schemeClr val="tx1"/>
                </a:solidFill>
              </a:rPr>
              <a:t>better</a:t>
            </a:r>
            <a:r>
              <a:rPr lang="en-US" dirty="0">
                <a:solidFill>
                  <a:schemeClr val="tx1"/>
                </a:solidFill>
              </a:rPr>
              <a:t>.</a:t>
            </a:r>
          </a:p>
          <a:p>
            <a:r>
              <a:rPr lang="en-US" dirty="0">
                <a:solidFill>
                  <a:schemeClr val="tx1"/>
                </a:solidFill>
              </a:rPr>
              <a:t>Disney pioneered using test footage to create a new high quality standard of animation at the time.</a:t>
            </a:r>
          </a:p>
          <a:p>
            <a:r>
              <a:rPr lang="en-US" dirty="0">
                <a:solidFill>
                  <a:schemeClr val="tx1"/>
                </a:solidFill>
              </a:rPr>
              <a:t>The footage not only captured the </a:t>
            </a:r>
            <a:r>
              <a:rPr lang="en-US" b="1" dirty="0">
                <a:solidFill>
                  <a:schemeClr val="tx1"/>
                </a:solidFill>
              </a:rPr>
              <a:t>subtlety</a:t>
            </a:r>
            <a:r>
              <a:rPr lang="en-US" dirty="0">
                <a:solidFill>
                  <a:schemeClr val="tx1"/>
                </a:solidFill>
              </a:rPr>
              <a:t> of the natural </a:t>
            </a:r>
            <a:r>
              <a:rPr lang="en-US" b="1" dirty="0">
                <a:solidFill>
                  <a:schemeClr val="tx1"/>
                </a:solidFill>
              </a:rPr>
              <a:t>gestures </a:t>
            </a:r>
            <a:r>
              <a:rPr lang="en-US" dirty="0">
                <a:solidFill>
                  <a:schemeClr val="tx1"/>
                </a:solidFill>
              </a:rPr>
              <a:t>and the </a:t>
            </a:r>
            <a:r>
              <a:rPr lang="en-US" b="1" dirty="0">
                <a:solidFill>
                  <a:schemeClr val="tx1"/>
                </a:solidFill>
              </a:rPr>
              <a:t>timing</a:t>
            </a:r>
            <a:r>
              <a:rPr lang="en-US" dirty="0">
                <a:solidFill>
                  <a:schemeClr val="tx1"/>
                </a:solidFill>
              </a:rPr>
              <a:t>, but more importantly, the </a:t>
            </a:r>
            <a:r>
              <a:rPr lang="en-US" b="1" dirty="0">
                <a:solidFill>
                  <a:schemeClr val="tx1"/>
                </a:solidFill>
              </a:rPr>
              <a:t>relationship</a:t>
            </a:r>
            <a:r>
              <a:rPr lang="en-US" dirty="0">
                <a:solidFill>
                  <a:schemeClr val="tx1"/>
                </a:solidFill>
              </a:rPr>
              <a:t> between the two.</a:t>
            </a:r>
          </a:p>
        </p:txBody>
      </p:sp>
      <p:pic>
        <p:nvPicPr>
          <p:cNvPr id="31746" name="Picture 2" descr="Image result for Disney test footage Alice and wonderland">
            <a:extLst>
              <a:ext uri="{FF2B5EF4-FFF2-40B4-BE49-F238E27FC236}">
                <a16:creationId xmlns:a16="http://schemas.microsoft.com/office/drawing/2014/main" id="{7CCCAA59-81B3-44BA-8420-2EEF68A655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8743" y="2714171"/>
            <a:ext cx="3891320" cy="3161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281321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8075</TotalTime>
  <Words>4457</Words>
  <Application>Microsoft Office PowerPoint</Application>
  <PresentationFormat>Widescreen</PresentationFormat>
  <Paragraphs>339</Paragraphs>
  <Slides>40</Slides>
  <Notes>40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Garamond</vt:lpstr>
      <vt:lpstr>Game Design Theme</vt:lpstr>
      <vt:lpstr>Animatics</vt:lpstr>
      <vt:lpstr>Animatics</vt:lpstr>
      <vt:lpstr>Animatics</vt:lpstr>
      <vt:lpstr>Animatics</vt:lpstr>
      <vt:lpstr>Animatics</vt:lpstr>
      <vt:lpstr>Animatics</vt:lpstr>
      <vt:lpstr>Animatics</vt:lpstr>
      <vt:lpstr>Types of Animatics</vt:lpstr>
      <vt:lpstr>Types of Animatics</vt:lpstr>
      <vt:lpstr>Types of Animatics</vt:lpstr>
      <vt:lpstr>Types of Animatics</vt:lpstr>
      <vt:lpstr>Types of Animatics</vt:lpstr>
      <vt:lpstr>Types of Animatics</vt:lpstr>
      <vt:lpstr>Types of Animatics</vt:lpstr>
      <vt:lpstr>Types of Animatics</vt:lpstr>
      <vt:lpstr>Types of Animatics</vt:lpstr>
      <vt:lpstr>Rough-Cut</vt:lpstr>
      <vt:lpstr>Rough-Cut</vt:lpstr>
      <vt:lpstr>Software</vt:lpstr>
      <vt:lpstr>Software</vt:lpstr>
      <vt:lpstr>Software</vt:lpstr>
      <vt:lpstr>Scanning</vt:lpstr>
      <vt:lpstr>Still Shots and Moving Shots</vt:lpstr>
      <vt:lpstr>Still Shots</vt:lpstr>
      <vt:lpstr>Pan Shots</vt:lpstr>
      <vt:lpstr>Zoom Shots</vt:lpstr>
      <vt:lpstr>Zoom Shots</vt:lpstr>
      <vt:lpstr>Cleanup</vt:lpstr>
      <vt:lpstr>Preparing Storyboards for Animatic</vt:lpstr>
      <vt:lpstr>Image Cleanup</vt:lpstr>
      <vt:lpstr>Movement</vt:lpstr>
      <vt:lpstr>Selection Tools</vt:lpstr>
      <vt:lpstr>Timing</vt:lpstr>
      <vt:lpstr>Developing a sense for Timing</vt:lpstr>
      <vt:lpstr>Developing a sense for Timing</vt:lpstr>
      <vt:lpstr>Developing a sense for Timing</vt:lpstr>
      <vt:lpstr>Developing a sense for Timing</vt:lpstr>
      <vt:lpstr>Developing a sense for Timing</vt:lpstr>
      <vt:lpstr>Developing a sense for Timing</vt:lpstr>
      <vt:lpstr>Developing a sense for Timing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371</cp:revision>
  <dcterms:created xsi:type="dcterms:W3CDTF">2016-05-07T19:16:27Z</dcterms:created>
  <dcterms:modified xsi:type="dcterms:W3CDTF">2026-08-10T08:10:03Z</dcterms:modified>
</cp:coreProperties>
</file>