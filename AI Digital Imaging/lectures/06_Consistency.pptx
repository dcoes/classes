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4678" autoAdjust="0"/>
  </p:normalViewPr>
  <p:slideViewPr>
    <p:cSldViewPr snapToGrid="0">
      <p:cViewPr varScale="1">
        <p:scale>
          <a:sx n="36" d="100"/>
          <a:sy n="36" d="100"/>
        </p:scale>
        <p:origin x="1430" y="24"/>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E8B73-20FE-4169-9595-E55E7D4C6C8A}" type="datetimeFigureOut">
              <a:rPr lang="en-US" smtClean="0"/>
              <a:t>8/10/2026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7FDB04-D1AC-46DB-9592-CA12D78D404F}" type="slidenum">
              <a:rPr lang="en-US" smtClean="0"/>
              <a:t>‹#›</a:t>
            </a:fld>
            <a:endParaRPr lang="en-US"/>
          </a:p>
        </p:txBody>
      </p:sp>
    </p:spTree>
    <p:extLst>
      <p:ext uri="{BB962C8B-B14F-4D97-AF65-F5344CB8AC3E}">
        <p14:creationId xmlns:p14="http://schemas.microsoft.com/office/powerpoint/2010/main" val="18440064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Running time, about 50 minutes.</a:t>
            </a:r>
            <a:r>
              <a:t> Spot it and recall (6). An old animation problem (8). Why generators drift (5). The five features (4). The tools for holding it: reference, structure and style (10). Your own model sheet (6). Places, and relighting instead of regenerating (6). Cold reversal (3). Project 1 reminder and options (2).</a:t>
            </a:r>
          </a:p>
          <a:p>
            <a:pPr>
              <a:spcAft>
                <a:spcPts val="800"/>
              </a:spcAft>
            </a:pPr>
            <a:r>
              <a:rPr b="1"/>
              <a:t>Prep before class.</a:t>
            </a:r>
            <a:r>
              <a:t> The provided character for Option A, as a key image plus a short list of five features to hold (face shape, hair, costume colors, one prop, proportions). Three generated images of one character with one consistency break each, for the cold reversal. Optional, if you have time: a short set of the character run through a pose or reference workflow at home, to show what holds and what doesn't.</a:t>
            </a:r>
          </a:p>
          <a:p>
            <a:pPr>
              <a:spcAft>
                <a:spcPts val="800"/>
              </a:spcAft>
            </a:pPr>
            <a:r>
              <a:t>Slot image: a classic studio character model sheet. Fleischer and Disney-era sheets from the 1930s are easy to find in animation histories; show it, don't redistribute it. Check the reference image features on the lab license before class, the names and placement change between versions.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rPr b="1"/>
              <a:t>Spot it, about four minutes.</a:t>
            </a:r>
            <a:r>
              <a:t> Put the image up and say nothing for a few seconds. Then: what's wrong with it? Hands up, one error per person, and make them say where it is and what kind of error it is, in the checklist words once we have them (anatomy, perspective, light, lettering, repeated texture, sheen). Count the errors out loud as they come in. Don't confirm or correct until the room stops finding things, then add the one they missed, if there is one.</a:t>
            </a:r>
          </a:p>
          <a:p>
            <a:pPr>
              <a:spcAft>
                <a:spcPts val="800"/>
              </a:spcAft>
            </a:pPr>
            <a:r>
              <a:t>This opener runs every class. The point is repetition: by week four the room finds the shadow problem before the hand problem, which is the right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Recall. [Cold call.] What's the order of fixes? [Structure, light, surface, edges and grain last.] Why not just regenerate the hand until it's right? [Slot machine, each pull can break something new.]</a:t>
            </a:r>
          </a:p>
          <a:p>
            <a:pPr>
              <a:spcAft>
                <a:spcPts val="800"/>
              </a:spcAft>
            </a:pPr>
            <a:r>
              <a:t>Today's Spot it was a little different: two images of what's supposed to be the same character. That's today's whole topic, and it's the problem the generator is worst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Before generators, animation studios had exactly this problem, at enormous scale. A feature film might have dozens of animators drawing the same character, thousands of times, and the character had to look like the same person in every frame.</a:t>
            </a:r>
          </a:p>
          <a:p>
            <a:pPr>
              <a:spcAft>
                <a:spcPts val="800"/>
              </a:spcAft>
            </a:pPr>
            <a:r>
              <a:t>The answer, from the 1930s or so, was the </a:t>
            </a:r>
            <a:r>
              <a:rPr b="1"/>
              <a:t>model sheet</a:t>
            </a:r>
            <a:r>
              <a:t>: a page showing the character from several angles, in several expressions, with notes about proportions. "Three heads tall." "The eyes never cross the center line." Everyone drew from the sheet.</a:t>
            </a:r>
          </a:p>
          <a:p>
            <a:pPr>
              <a:spcAft>
                <a:spcPts val="800"/>
              </a:spcAft>
            </a:pPr>
            <a:r>
              <a:t>And when someone's drawing drifted away from it, the character was "off-model." That's a real studio word, and some of you in animation have probably heard it. Keep it, because it's the best description I know of what a generator does.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Here's the mechanical picture. Every time you generate, it's as if a new artist walked into the studio, heard your description, and drew the character without ever seeing the model sheet or any previous drawing.</a:t>
            </a:r>
          </a:p>
          <a:p>
            <a:pPr>
              <a:spcAft>
                <a:spcPts val="800"/>
              </a:spcAft>
            </a:pPr>
            <a:r>
              <a:t>Each one does a reasonable job of matching the words. None of them matches each other. That's why your character's hair is a different length in every image, the jacket changes color, the scar moves to the other cheek, and she's a bit older in the third 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Why, mechanically? Three reasons.</a:t>
            </a:r>
          </a:p>
          <a:p>
            <a:pPr>
              <a:spcAft>
                <a:spcPts val="800"/>
              </a:spcAft>
            </a:pPr>
            <a:r>
              <a:rPr b="1"/>
              <a:t>No memory between runs.</a:t>
            </a:r>
            <a:r>
              <a:t> Each generation starts from new noise, steered by your words. Nothing carries over unless you hand it over.</a:t>
            </a:r>
          </a:p>
          <a:p>
            <a:pPr>
              <a:spcAft>
                <a:spcPts val="800"/>
              </a:spcAft>
            </a:pPr>
            <a:r>
              <a:rPr b="1"/>
              <a:t>A name is not a face.</a:t>
            </a:r>
            <a:r>
              <a:t> Calling your character "Mara" means nothing to the system. It's just a word.</a:t>
            </a:r>
          </a:p>
          <a:p>
            <a:pPr>
              <a:spcAft>
                <a:spcPts val="800"/>
              </a:spcAft>
            </a:pPr>
            <a:r>
              <a:rPr b="1"/>
              <a:t>Words describe a type, not a person.</a:t>
            </a:r>
            <a:r>
              <a:t> "A tall woman with short red hair and a green jacket" describes thousands of people. The generator picks a different one each time, and every one of them matches your words.</a:t>
            </a:r>
          </a:p>
          <a:p>
            <a:pPr>
              <a:spcAft>
                <a:spcPts val="800"/>
              </a:spcAft>
            </a:pPr>
            <a:r>
              <a:t>So consistency has to come from something other than words. That's what today is about.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For Option A tonight, and for your final project, you'll keep a short list of features that must hold across every image. Five is a good number. For a character, some of these include:</a:t>
            </a:r>
          </a:p>
          <a:p>
            <a:pPr>
              <a:spcAft>
                <a:spcPts val="800"/>
              </a:spcAft>
            </a:pPr>
            <a:r>
              <a:rPr b="1"/>
              <a:t>Face shape and features</a:t>
            </a:r>
            <a:r>
              <a:t>, the shape of the jaw, the nose, the eyes. </a:t>
            </a:r>
            <a:r>
              <a:rPr b="1"/>
              <a:t>Hair and silhouette</a:t>
            </a:r>
            <a:r>
              <a:t>, which is the overall shape of the character, readable from a distance. </a:t>
            </a:r>
            <a:r>
              <a:rPr b="1"/>
              <a:t>Costume and its colors.</a:t>
            </a:r>
            <a:r>
              <a:t> </a:t>
            </a:r>
            <a:r>
              <a:rPr b="1"/>
              <a:t>Props and marks</a:t>
            </a:r>
            <a:r>
              <a:t>: the sword, the scar, the badge. And </a:t>
            </a:r>
            <a:r>
              <a:rPr b="1"/>
              <a:t>proportions</a:t>
            </a:r>
            <a:r>
              <a:t>: how many heads tall, how long the arms.</a:t>
            </a:r>
          </a:p>
          <a:p>
            <a:pPr>
              <a:spcAft>
                <a:spcPts val="800"/>
              </a:spcAft>
            </a:pPr>
            <a:r>
              <a:t>Silhouette is on this list on purpose. If the silhouette changes, the audience notices before they notice anything else. It's the same readability standard from storyboarding.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Now the tools that help, and where each one stops helping.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first tool is a </a:t>
            </a:r>
            <a:r>
              <a:rPr b="1"/>
              <a:t>reference image</a:t>
            </a:r>
            <a:r>
              <a:t>. Instead of describing the character, you hand the generator a picture of her, and ask for her in a new pose or scene.</a:t>
            </a:r>
          </a:p>
          <a:p>
            <a:pPr>
              <a:spcAft>
                <a:spcPts val="800"/>
              </a:spcAft>
            </a:pPr>
            <a:r>
              <a:t>Photoshop's Generative Fill can take a reference image now, and some of the partner models in the dropdown are noticeably better at keeping a character than others. [Check what's on the lab license this term and say which ones.]</a:t>
            </a:r>
          </a:p>
          <a:p>
            <a:pPr>
              <a:spcAft>
                <a:spcPts val="800"/>
              </a:spcAft>
            </a:pPr>
            <a:r>
              <a:t>It works much better than words. It does not work perfectly. Expect the overall look to hold, and the details to drift: the number of buttons, the exact pattern on the fabric, which side the part in her hair is on. Which is why the checklist exists.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Two different kinds of reference, and people confuse them.</a:t>
            </a:r>
          </a:p>
          <a:p>
            <a:pPr>
              <a:spcAft>
                <a:spcPts val="800"/>
              </a:spcAft>
            </a:pPr>
            <a:r>
              <a:t>A </a:t>
            </a:r>
            <a:r>
              <a:rPr b="1"/>
              <a:t>structure</a:t>
            </a:r>
            <a:r>
              <a:t> reference says: arrange it like this. The pose, the layout, where the big shapes are. It doesn't care about color. A </a:t>
            </a:r>
            <a:r>
              <a:rPr b="1"/>
              <a:t>style</a:t>
            </a:r>
            <a:r>
              <a:t> reference says: make it look like this. The palette, the texture, the way it's rendered. It doesn't care about arrangement.</a:t>
            </a:r>
          </a:p>
          <a:p>
            <a:pPr>
              <a:spcAft>
                <a:spcPts val="800"/>
              </a:spcAft>
            </a:pPr>
            <a:r>
              <a:t>Firefly has offered both of these under those names for a while, and other tools have their own versions. The names and the menus move around between versions, so I'll show you where they are today in the demo rather than promise a menu path.</a:t>
            </a:r>
          </a:p>
          <a:p>
            <a:pPr>
              <a:spcAft>
                <a:spcPts val="800"/>
              </a:spcAft>
            </a:pPr>
            <a:r>
              <a:t>Keeping them separate in your head is the useful part. When something's wrong, ask: is it a structure problem or a style problem? Then you know which reference to change.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Where consistency tends to break, even with good references. Some of these include:</a:t>
            </a:r>
          </a:p>
          <a:p>
            <a:pPr>
              <a:spcAft>
                <a:spcPts val="800"/>
              </a:spcAft>
            </a:pPr>
            <a:r>
              <a:rPr b="1"/>
              <a:t>Back views and unusual angles.</a:t>
            </a:r>
            <a:r>
              <a:t> The reference usually shows the front, so the back is invented, differently each time. </a:t>
            </a:r>
            <a:r>
              <a:rPr b="1"/>
              <a:t>Hands holding props</a:t>
            </a:r>
            <a:r>
              <a:t>: the sword changes shape. </a:t>
            </a:r>
            <a:r>
              <a:rPr b="1"/>
              <a:t>Small details</a:t>
            </a:r>
            <a:r>
              <a:t>: buttons, logos, patterns, scars, jewelry, the number of stripes. And </a:t>
            </a:r>
            <a:r>
              <a:rPr b="1"/>
              <a:t>age and build</a:t>
            </a:r>
            <a:r>
              <a:t>, which drift slowly across a set, so each neighbor looks fine but the first and last don't match.</a:t>
            </a:r>
          </a:p>
          <a:p>
            <a:pPr>
              <a:spcAft>
                <a:spcPts val="800"/>
              </a:spcAft>
            </a:pPr>
            <a:r>
              <a:t>None of these are hard to fix by hand once you've seen them. All of them are easy to miss if you only look at one image at a time.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So the real answer to consistency, as of now, is the same as it was in the 1930s.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Make a model sheet before you make a series.</a:t>
            </a:r>
          </a:p>
          <a:p>
            <a:pPr>
              <a:spcAft>
                <a:spcPts val="800"/>
              </a:spcAft>
            </a:pPr>
            <a:r>
              <a:rPr b="1"/>
              <a:t>Choose the key</a:t>
            </a:r>
            <a:r>
              <a:t>: your strongest image of the character, the one everything else has to match. </a:t>
            </a:r>
            <a:r>
              <a:rPr b="1"/>
              <a:t>List</a:t>
            </a:r>
            <a:r>
              <a:t> the five features. </a:t>
            </a:r>
            <a:r>
              <a:rPr b="1"/>
              <a:t>Build a sheet</a:t>
            </a:r>
            <a:r>
              <a:t>, a single Photoshop artboard with the character from a few angles, generated, fixed by hand, or drawn, and the feature list written on it. </a:t>
            </a:r>
            <a:r>
              <a:rPr b="1"/>
              <a:t>Check</a:t>
            </a:r>
            <a:r>
              <a:t> every new image against the sheet, feature by feature.</a:t>
            </a:r>
          </a:p>
          <a:p>
            <a:pPr>
              <a:spcAft>
                <a:spcPts val="800"/>
              </a:spcAft>
            </a:pPr>
            <a:r>
              <a:t>For your final project, that sheet is part of your reference board, and it's what you'll defend your series against in critique.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How to actually check a set, since looking at one image at a time is how drift hides.</a:t>
            </a:r>
          </a:p>
          <a:p>
            <a:pPr>
              <a:spcAft>
                <a:spcPts val="800"/>
              </a:spcAft>
            </a:pPr>
            <a:r>
              <a:t>Put them </a:t>
            </a:r>
            <a:r>
              <a:rPr b="1"/>
              <a:t>side by side</a:t>
            </a:r>
            <a:r>
              <a:t>, at the same size, on one canvas. Then </a:t>
            </a:r>
            <a:r>
              <a:rPr b="1"/>
              <a:t>flip between them</a:t>
            </a:r>
            <a:r>
              <a:t>: make them layers in one file and toggle visibility quickly, which is a trick from animation, flipping drawings to catch changes. And </a:t>
            </a:r>
            <a:r>
              <a:rPr b="1"/>
              <a:t>squint</a:t>
            </a:r>
            <a:r>
              <a:t>, so detail disappears and you only see silhouettes and big color shapes. If one silhouette is different, you'll see it immediately.</a:t>
            </a:r>
          </a:p>
          <a:p>
            <a:pPr>
              <a:spcAft>
                <a:spcPts val="800"/>
              </a:spcAft>
            </a:pPr>
            <a:r>
              <a:t>Go down your five features, one at a time, across all the images. Not one image at a time down all the features. That direction matters.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Places drift exactly like characters. Generate "the same village square" three times and you get three different villages.</a:t>
            </a:r>
          </a:p>
          <a:p>
            <a:pPr>
              <a:spcAft>
                <a:spcPts val="800"/>
              </a:spcAft>
            </a:pPr>
            <a:r>
              <a:t>Option B tonight is a place at three times of day, consistent in layout. The trap is to generate it three times with "morning," "noon" and "night" in the prompt. You'll get three villages.</a:t>
            </a:r>
          </a:p>
          <a:p>
            <a:pPr>
              <a:spcAft>
                <a:spcPts val="800"/>
              </a:spcAft>
            </a:pPr>
            <a:r>
              <a:t>The better approach: get </a:t>
            </a:r>
            <a:r>
              <a:rPr b="1"/>
              <a:t>one</a:t>
            </a:r>
            <a:r>
              <a:t> layout you like, lock it, and then </a:t>
            </a:r>
            <a:r>
              <a:rPr b="1"/>
              <a:t>change only the light.</a:t>
            </a:r>
            <a:r>
              <a:t> Same idea as the lighting sweep in session 2, but now the image itself is held still instead of the prompt. Check the things that give it away: windows, doors, the horizon, the shape of the roofline.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The worked example for relighting.</a:t>
            </a:r>
          </a:p>
          <a:p>
            <a:pPr>
              <a:spcAft>
                <a:spcPts val="800"/>
              </a:spcAft>
            </a:pPr>
            <a:r>
              <a:rPr b="1"/>
              <a:t>One base image</a:t>
            </a:r>
            <a:r>
              <a:t>, checked and fixed. </a:t>
            </a:r>
            <a:r>
              <a:rPr b="1"/>
              <a:t>Duplicate</a:t>
            </a:r>
            <a:r>
              <a:t> it three times. On each copy, </a:t>
            </a:r>
            <a:r>
              <a:rPr b="1"/>
              <a:t>adjust</a:t>
            </a:r>
            <a:r>
              <a:t> the light with Curves, Color Balance and painted shadow layers: warm and long shadows for evening, cool and dark for night. Then, if you need it, </a:t>
            </a:r>
            <a:r>
              <a:rPr b="1"/>
              <a:t>fill small</a:t>
            </a:r>
            <a:r>
              <a:t>: generate only the sky, or only the lit windows at night, inside tight selections, so the layout can't move.</a:t>
            </a:r>
          </a:p>
          <a:p>
            <a:pPr>
              <a:spcAft>
                <a:spcPts val="800"/>
              </a:spcAft>
            </a:pPr>
            <a:r>
              <a:t>That's the general principle: generate the parts that are allowed to change, and protect the parts that aren't with your selection.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Cold reversal. Three images of the same character. Each one has one break. Use the five features. Two minutes, in pairs.</a:t>
            </a:r>
          </a:p>
          <a:p>
            <a:pPr>
              <a:spcAft>
                <a:spcPts val="800"/>
              </a:spcAft>
            </a:pPr>
            <a:r>
              <a:t>[Take answers, one image at a time. Don't confirm until they've argued it a bit.]</a:t>
            </a:r>
          </a:p>
          <a:p>
            <a:pPr>
              <a:spcAft>
                <a:spcPts val="800"/>
              </a:spcAft>
            </a:pPr>
            <a:r>
              <a:t>Notice how you found them: probably by comparing two at a time, and by checking silhouette and color first. That's the method.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Project 1 is due at the start of next class, and next class is critique, so bring it ready to show.</a:t>
            </a:r>
          </a:p>
          <a:p>
            <a:pPr>
              <a:spcAft>
                <a:spcPts val="800"/>
              </a:spcAft>
            </a:pPr>
            <a:r>
              <a:t>For each of the three images: a CALLOUT layer with every significant error numbered, fixes on their own named FIX_ layers, and the image doing what its brief asks. A dated, layered .psd for each, and a short list of the callouts.</a:t>
            </a:r>
          </a:p>
          <a:p>
            <a:pPr>
              <a:spcAft>
                <a:spcPts val="800"/>
              </a:spcAft>
            </a:pPr>
            <a:r>
              <a:t>If something's going wrong with it tonight, it's better to bring an honest unfinished version with a good process record than a finished-looking file with nothing in it. You know how the rubric works.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[About five minutes.] Here's a case where the inconsistency was, at least according to the studio, the point.</a:t>
            </a:r>
          </a:p>
          <a:p>
            <a:pPr>
              <a:spcAft>
                <a:spcPts val="800"/>
              </a:spcAft>
            </a:pPr>
            <a:r>
              <a:t>In 2023, a superhero series about shape-shifting aliens opened with a title sequence made with generators. Faces and figures morph and flicker from frame to frame, never quite the same person twice. The production said the shifting look fit a story about not knowing who anyone really is. A lot of artists and animators were angry anyway, partly about the look and partly about what it meant for the people who'd normally have made a title sequence.</a:t>
            </a:r>
          </a:p>
          <a:p>
            <a:pPr>
              <a:spcAft>
                <a:spcPts val="800"/>
              </a:spcAft>
            </a:pPr>
            <a:r>
              <a:t>[Show it. Then ask two questions.] First: is the drift a choice here, or a limitation they made a virtue of? Second: would it have worked for a story where you're supposed to trust the characters?</a:t>
            </a:r>
          </a:p>
          <a:p>
            <a:pPr>
              <a:spcAft>
                <a:spcPts val="800"/>
              </a:spcAft>
            </a:pPr>
            <a:r>
              <a:t>There's no tidy answer, and I don't think you need one. The useful point is that inconsistency reads as </a:t>
            </a:r>
            <a:r>
              <a:rPr b="1"/>
              <a:t>unease.</a:t>
            </a:r>
            <a:r>
              <a:t> If you want unease, it's a tool. If you don't, it's a mistake.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Last idea before the cold reversal. Consistency isn't only a technical problem, it's a design decision you make up front.</a:t>
            </a:r>
          </a:p>
          <a:p>
            <a:pPr>
              <a:spcAft>
                <a:spcPts val="800"/>
              </a:spcAft>
            </a:pPr>
            <a:r>
              <a:t>For your final, you'll write a short </a:t>
            </a:r>
            <a:r>
              <a:rPr b="1"/>
              <a:t>must and must-not</a:t>
            </a:r>
            <a:r>
              <a:t> list in session 10. Today's version is simpler: what must never change across the set, and what is allowed to change? The character's face must never change. Her pose may. The village layout must never change. The time of day may.</a:t>
            </a:r>
          </a:p>
          <a:p>
            <a:pPr>
              <a:spcAft>
                <a:spcPts val="800"/>
              </a:spcAft>
            </a:pPr>
            <a:r>
              <a:t>Once that's written down, the generator stops being a source of surprises and becomes a source of variations inside rules you set. That's the rigging idea, honestly: you don't ask the animator to be careful, you lock the controls that shouldn't move.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Thirty seconds. Read the terms aloud and ask the room for any they can't explain yet. These are on Canvas as a running glossary, which helps everyone and helps accommodated students most, on a schedule where the next class is often tomorrow.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Tonight, due next class, on top of Project 1, so keep it to about 45 minutes.</a:t>
            </a:r>
          </a:p>
          <a:p>
            <a:pPr>
              <a:spcAft>
                <a:spcPts val="800"/>
              </a:spcAft>
            </a:pPr>
            <a:r>
              <a:rPr b="1"/>
              <a:t>Option A</a:t>
            </a:r>
            <a:r>
              <a:t>: the provided character, three poses, with the five listed features holding in all three. Use references, fix by hand, and include your feature checklist.</a:t>
            </a:r>
          </a:p>
          <a:p>
            <a:pPr>
              <a:spcAft>
                <a:spcPts val="800"/>
              </a:spcAft>
            </a:pPr>
            <a:r>
              <a:rPr b="1"/>
              <a:t>Option B</a:t>
            </a:r>
            <a:r>
              <a:t>: a place of your choosing, three times of day, same layout. Relight rather than regenerate.</a:t>
            </a:r>
          </a:p>
          <a:p>
            <a:pPr>
              <a:spcAft>
                <a:spcPts val="800"/>
              </a:spcAft>
            </a:pPr>
            <a:r>
              <a:t>Same rubric.</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spcAft>
                <a:spcPts val="800"/>
              </a:spcAft>
            </a:pPr>
            <a:r>
              <a:t>Make a model sheet before you make a series. [Demo: one character, three poses, and the checking method.]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HD-PanelTitle-GrommetsCombine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783C7E8E-FD18-4999-BA7E-E42594F7B785}" type="slidenum">
              <a:rPr lang="en-US" smtClean="0"/>
              <a:t>‹#›</a:t>
            </a:fld>
            <a:endParaRPr lang="en-US"/>
          </a:p>
        </p:txBody>
      </p:sp>
      <p:cxnSp>
        <p:nvCxnSpPr>
          <p:cNvPr id="15" name="Straight Connector 14"/>
          <p:cNvCxnSpPr/>
          <p:nvPr/>
        </p:nvCxnSpPr>
        <p:spPr>
          <a:xfrm>
            <a:off x="2692399" y="3522131"/>
            <a:ext cx="681566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39532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28497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2012723" y="3710585"/>
            <a:ext cx="8163380"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1456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3526212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2E33A7-84C6-449C-AE67-6E7B8B6855DE}" type="datetimeFigureOut">
              <a:rPr lang="en-US" smtClean="0"/>
              <a:t>8/10/2026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83C7E8E-FD18-4999-BA7E-E42594F7B785}" type="slidenum">
              <a:rPr lang="en-US" smtClean="0"/>
              <a:t>‹#›</a:t>
            </a:fld>
            <a:endParaRPr lang="en-US"/>
          </a:p>
        </p:txBody>
      </p:sp>
      <p:cxnSp>
        <p:nvCxnSpPr>
          <p:cNvPr id="18" name="Straight Connector 17"/>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839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92E33A7-84C6-449C-AE67-6E7B8B6855DE}" type="datetimeFigureOut">
              <a:rPr lang="en-US" smtClean="0"/>
              <a:t>8/10/2026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132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92E33A7-84C6-449C-AE67-6E7B8B6855DE}" type="datetimeFigureOut">
              <a:rPr lang="en-US" smtClean="0"/>
              <a:t>8/10/2026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699410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cxnSp>
        <p:nvCxnSpPr>
          <p:cNvPr id="16" name="Straight Connector 15"/>
          <p:cNvCxnSpPr/>
          <p:nvPr/>
        </p:nvCxnSpPr>
        <p:spPr>
          <a:xfrm>
            <a:off x="1396169" y="2912533"/>
            <a:ext cx="35144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00149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33869325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92E33A7-84C6-449C-AE67-6E7B8B6855DE}" type="datetimeFigureOut">
              <a:rPr lang="en-US" smtClean="0"/>
              <a:t>8/10/2026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578941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72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19" name="Straight Connector 18"/>
          <p:cNvCxnSpPr/>
          <p:nvPr/>
        </p:nvCxnSpPr>
        <p:spPr>
          <a:xfrm>
            <a:off x="1396169" y="4140199"/>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96793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Tree>
    <p:extLst>
      <p:ext uri="{BB962C8B-B14F-4D97-AF65-F5344CB8AC3E}">
        <p14:creationId xmlns:p14="http://schemas.microsoft.com/office/powerpoint/2010/main" val="29658508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4"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cxnSp>
        <p:nvCxnSpPr>
          <p:cNvPr id="26" name="Straight Connector 25"/>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836220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1"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5" name="Straight Connector 14"/>
          <p:cNvCxnSpPr/>
          <p:nvPr/>
        </p:nvCxnSpPr>
        <p:spPr>
          <a:xfrm>
            <a:off x="1396169" y="3429000"/>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815429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1396169" y="2421466"/>
            <a:ext cx="9407298" cy="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046629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92E33A7-84C6-449C-AE67-6E7B8B6855DE}" type="datetimeFigureOut">
              <a:rPr lang="en-US" smtClean="0"/>
              <a:t>8/10/2026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83C7E8E-FD18-4999-BA7E-E42594F7B785}" type="slidenum">
              <a:rPr lang="en-US" smtClean="0"/>
              <a:t>‹#›</a:t>
            </a:fld>
            <a:endParaRPr lang="en-US"/>
          </a:p>
        </p:txBody>
      </p:sp>
      <p:cxnSp>
        <p:nvCxnSpPr>
          <p:cNvPr id="14" name="Straight Connector 13"/>
          <p:cNvCxnSpPr/>
          <p:nvPr/>
        </p:nvCxnSpPr>
        <p:spPr>
          <a:xfrm>
            <a:off x="8863890" y="990600"/>
            <a:ext cx="0" cy="4876800"/>
          </a:xfrm>
          <a:prstGeom prst="line">
            <a:avLst/>
          </a:prstGeom>
          <a:ln w="15875">
            <a:solidFill>
              <a:schemeClr val="accent1">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0857335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7" name="Picture 6" descr="HD-PanelContent-GrommetsCombined.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92E33A7-84C6-449C-AE67-6E7B8B6855DE}" type="datetimeFigureOut">
              <a:rPr lang="en-US" smtClean="0"/>
              <a:t>8/10/2026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83C7E8E-FD18-4999-BA7E-E42594F7B785}" type="slidenum">
              <a:rPr lang="en-US" smtClean="0"/>
              <a:t>‹#›</a:t>
            </a:fld>
            <a:endParaRPr lang="en-US"/>
          </a:p>
        </p:txBody>
      </p:sp>
    </p:spTree>
    <p:extLst>
      <p:ext uri="{BB962C8B-B14F-4D97-AF65-F5344CB8AC3E}">
        <p14:creationId xmlns:p14="http://schemas.microsoft.com/office/powerpoint/2010/main" val="36926841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Consistency</a:t>
            </a:r>
          </a:p>
        </p:txBody>
      </p:sp>
      <p:sp>
        <p:nvSpPr>
          <p:cNvPr id="3" name="Subtitle 2"/>
          <p:cNvSpPr>
            <a:spLocks noGrp="1"/>
          </p:cNvSpPr>
          <p:nvPr>
            <p:ph type="subTitle" idx="1"/>
          </p:nvPr>
        </p:nvSpPr>
        <p:spPr/>
        <p:txBody>
          <a:bodyPr/>
          <a:lstStyle/>
          <a:p>
            <a:r>
              <a:t>AI Digital Imaging  |  Session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Spot it</a:t>
            </a:r>
          </a:p>
        </p:txBody>
      </p:sp>
      <p:sp>
        <p:nvSpPr>
          <p:cNvPr id="3" name="Content Placeholder 2"/>
          <p:cNvSpPr>
            <a:spLocks noGrp="1"/>
          </p:cNvSpPr>
          <p:nvPr>
            <p:ph idx="1"/>
          </p:nvPr>
        </p:nvSpPr>
        <p:spPr>
          <a:xfrm>
            <a:off x="1298448" y="2560320"/>
            <a:ext cx="5349240" cy="3383280"/>
          </a:xfrm>
        </p:spPr>
        <p:txBody>
          <a:bodyPr/>
          <a:lstStyle/>
          <a:p>
            <a:pPr/>
            <a:r>
              <a:t>One image. Ninety seconds.</a:t>
            </a:r>
          </a:p>
          <a:p>
            <a:pPr/>
            <a:r>
              <a:t>What's wrong with it?</a:t>
            </a:r>
          </a:p>
          <a:p>
            <a:pPr/>
            <a:r>
              <a:t>Say where, and what kind.</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one of your generated characters, two images side by side, with one feature that changed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 time</a:t>
            </a:r>
          </a:p>
        </p:txBody>
      </p:sp>
      <p:sp>
        <p:nvSpPr>
          <p:cNvPr id="3" name="Content Placeholder 2"/>
          <p:cNvSpPr>
            <a:spLocks noGrp="1"/>
          </p:cNvSpPr>
          <p:nvPr>
            <p:ph idx="1"/>
          </p:nvPr>
        </p:nvSpPr>
        <p:spPr/>
        <p:txBody>
          <a:bodyPr/>
          <a:lstStyle/>
          <a:p>
            <a:pPr/>
            <a:r>
              <a:t>Rerolling is a slot machine.</a:t>
            </a:r>
          </a:p>
          <a:p>
            <a:pPr/>
            <a:r>
              <a:t>Structure, light, surface, edges.</a:t>
            </a:r>
          </a:p>
          <a:p>
            <a:pPr/>
            <a:r>
              <a:t>The fix matches the image.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 old problem</a:t>
            </a:r>
          </a:p>
        </p:txBody>
      </p:sp>
      <p:sp>
        <p:nvSpPr>
          <p:cNvPr id="3" name="Content Placeholder 2"/>
          <p:cNvSpPr>
            <a:spLocks noGrp="1"/>
          </p:cNvSpPr>
          <p:nvPr>
            <p:ph idx="1"/>
          </p:nvPr>
        </p:nvSpPr>
        <p:spPr>
          <a:xfrm>
            <a:off x="1298448" y="2560320"/>
            <a:ext cx="5349240" cy="3383280"/>
          </a:xfrm>
        </p:spPr>
        <p:txBody>
          <a:bodyPr/>
          <a:lstStyle/>
          <a:p>
            <a:pPr/>
            <a:r>
              <a:t>Many artists, one character.</a:t>
            </a:r>
          </a:p>
          <a:p>
            <a:pPr/>
            <a:r>
              <a:t>The 1930s answer: the model sheet.</a:t>
            </a:r>
          </a:p>
          <a:p>
            <a:pPr/>
            <a:r>
              <a:t>"Off-model" is a studio word.</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a 1930s-era studio character model sheet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Generators draw everyone "off-model."</a:t>
            </a:r>
          </a:p>
        </p:txBody>
      </p:sp>
      <p:sp>
        <p:nvSpPr>
          <p:cNvPr id="3" name="Text Placeholder 2"/>
          <p:cNvSpPr>
            <a:spLocks noGrp="1"/>
          </p:cNvSpPr>
          <p:nvPr>
            <p:ph type="body" idx="13" sz="quarter"/>
          </p:nvPr>
        </p:nvSpPr>
        <p:spPr/>
        <p:txBody>
          <a:bodyPr/>
          <a:lstStyle/>
          <a:p>
            <a:r>
              <a:t>Today's idea</a:t>
            </a:r>
          </a:p>
        </p:txBody>
      </p:sp>
      <p:sp>
        <p:nvSpPr>
          <p:cNvPr id="4" name="Text Placeholder 3"/>
          <p:cNvSpPr>
            <a:spLocks noGrp="1"/>
          </p:cNvSpPr>
          <p:nvPr>
            <p:ph type="body" idx="1"/>
          </p:nvPr>
        </p:nvSpPr>
        <p:spPr/>
        <p:txBody>
          <a:bodyPr/>
          <a:lstStyle/>
          <a:p>
            <a:r>
              <a:t>Every run is a new artist who never saw the sheet.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it drifts</a:t>
            </a:r>
          </a:p>
        </p:txBody>
      </p:sp>
      <p:sp>
        <p:nvSpPr>
          <p:cNvPr id="3" name="Content Placeholder 2"/>
          <p:cNvSpPr>
            <a:spLocks noGrp="1"/>
          </p:cNvSpPr>
          <p:nvPr>
            <p:ph idx="1"/>
          </p:nvPr>
        </p:nvSpPr>
        <p:spPr/>
        <p:txBody>
          <a:bodyPr/>
          <a:lstStyle/>
          <a:p>
            <a:pPr/>
            <a:r>
              <a:t>No memory between runs.</a:t>
            </a:r>
          </a:p>
          <a:p>
            <a:pPr/>
            <a:r>
              <a:t>A name is not a face.</a:t>
            </a:r>
          </a:p>
          <a:p>
            <a:pPr/>
            <a:r>
              <a:t>Words describe a type, not a person.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has to hold</a:t>
            </a:r>
          </a:p>
        </p:txBody>
      </p:sp>
      <p:sp>
        <p:nvSpPr>
          <p:cNvPr id="3" name="Rectangle 2"/>
          <p:cNvSpPr/>
          <p:nvPr/>
        </p:nvSpPr>
        <p:spPr>
          <a:xfrm>
            <a:off x="12984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64207" y="2514600"/>
            <a:ext cx="4343400" cy="411480"/>
          </a:xfrm>
          <a:prstGeom prst="rect">
            <a:avLst/>
          </a:prstGeom>
          <a:noFill/>
        </p:spPr>
        <p:txBody>
          <a:bodyPr wrap="square">
            <a:spAutoFit/>
          </a:bodyPr>
          <a:lstStyle/>
          <a:p>
            <a:r>
              <a:rPr sz="2100">
                <a:solidFill>
                  <a:srgbClr val="2B2B2B"/>
                </a:solidFill>
              </a:rPr>
              <a:t>Face shape and features</a:t>
            </a:r>
          </a:p>
        </p:txBody>
      </p:sp>
      <p:sp>
        <p:nvSpPr>
          <p:cNvPr id="5" name="Rectangle 4"/>
          <p:cNvSpPr/>
          <p:nvPr/>
        </p:nvSpPr>
        <p:spPr>
          <a:xfrm>
            <a:off x="12984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64207" y="3081528"/>
            <a:ext cx="4343400" cy="411480"/>
          </a:xfrm>
          <a:prstGeom prst="rect">
            <a:avLst/>
          </a:prstGeom>
          <a:noFill/>
        </p:spPr>
        <p:txBody>
          <a:bodyPr wrap="square">
            <a:spAutoFit/>
          </a:bodyPr>
          <a:lstStyle/>
          <a:p>
            <a:r>
              <a:rPr sz="2100">
                <a:solidFill>
                  <a:srgbClr val="2B2B2B"/>
                </a:solidFill>
              </a:rPr>
              <a:t>Hair and silhouette</a:t>
            </a:r>
          </a:p>
        </p:txBody>
      </p:sp>
      <p:sp>
        <p:nvSpPr>
          <p:cNvPr id="7" name="Rectangle 6"/>
          <p:cNvSpPr/>
          <p:nvPr/>
        </p:nvSpPr>
        <p:spPr>
          <a:xfrm>
            <a:off x="1298448" y="3739896"/>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64207" y="3648456"/>
            <a:ext cx="4343400" cy="411480"/>
          </a:xfrm>
          <a:prstGeom prst="rect">
            <a:avLst/>
          </a:prstGeom>
          <a:noFill/>
        </p:spPr>
        <p:txBody>
          <a:bodyPr wrap="square">
            <a:spAutoFit/>
          </a:bodyPr>
          <a:lstStyle/>
          <a:p>
            <a:r>
              <a:rPr sz="2100">
                <a:solidFill>
                  <a:srgbClr val="2B2B2B"/>
                </a:solidFill>
              </a:rPr>
              <a:t>Costume and its colors</a:t>
            </a:r>
          </a:p>
        </p:txBody>
      </p:sp>
      <p:sp>
        <p:nvSpPr>
          <p:cNvPr id="9" name="Rectangle 8"/>
          <p:cNvSpPr/>
          <p:nvPr/>
        </p:nvSpPr>
        <p:spPr>
          <a:xfrm>
            <a:off x="6099048" y="2606040"/>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4808" y="2514600"/>
            <a:ext cx="4343400" cy="411480"/>
          </a:xfrm>
          <a:prstGeom prst="rect">
            <a:avLst/>
          </a:prstGeom>
          <a:noFill/>
        </p:spPr>
        <p:txBody>
          <a:bodyPr wrap="square">
            <a:spAutoFit/>
          </a:bodyPr>
          <a:lstStyle/>
          <a:p>
            <a:r>
              <a:rPr sz="2100">
                <a:solidFill>
                  <a:srgbClr val="2B2B2B"/>
                </a:solidFill>
              </a:rPr>
              <a:t>Props and marks</a:t>
            </a:r>
          </a:p>
        </p:txBody>
      </p:sp>
      <p:sp>
        <p:nvSpPr>
          <p:cNvPr id="11" name="Rectangle 10"/>
          <p:cNvSpPr/>
          <p:nvPr/>
        </p:nvSpPr>
        <p:spPr>
          <a:xfrm>
            <a:off x="6099048" y="3172968"/>
            <a:ext cx="274320" cy="274320"/>
          </a:xfrm>
          <a:prstGeom prst="rect">
            <a:avLst/>
          </a:prstGeom>
          <a:no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64808" y="3081528"/>
            <a:ext cx="4343400" cy="411480"/>
          </a:xfrm>
          <a:prstGeom prst="rect">
            <a:avLst/>
          </a:prstGeom>
          <a:noFill/>
        </p:spPr>
        <p:txBody>
          <a:bodyPr wrap="square">
            <a:spAutoFit/>
          </a:bodyPr>
          <a:lstStyle/>
          <a:p>
            <a:r>
              <a:rPr sz="2100">
                <a:solidFill>
                  <a:srgbClr val="2B2B2B"/>
                </a:solidFill>
              </a:rPr>
              <a:t>Proportions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tools for holding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 images</a:t>
            </a:r>
          </a:p>
        </p:txBody>
      </p:sp>
      <p:sp>
        <p:nvSpPr>
          <p:cNvPr id="3" name="Content Placeholder 2"/>
          <p:cNvSpPr>
            <a:spLocks noGrp="1"/>
          </p:cNvSpPr>
          <p:nvPr>
            <p:ph idx="1"/>
          </p:nvPr>
        </p:nvSpPr>
        <p:spPr/>
        <p:txBody>
          <a:bodyPr/>
          <a:lstStyle/>
          <a:p>
            <a:pPr/>
            <a:r>
              <a:t>Hand it the character.</a:t>
            </a:r>
          </a:p>
          <a:p>
            <a:pPr/>
            <a:r>
              <a:t>It matches the look, roughly.</a:t>
            </a:r>
          </a:p>
          <a:p>
            <a:pPr/>
            <a:r>
              <a:t>It still drifts in the details.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Structure versus style</a:t>
            </a:r>
          </a:p>
        </p:txBody>
      </p:sp>
      <p:sp>
        <p:nvSpPr>
          <p:cNvPr id="3" name="Content Placeholder 2"/>
          <p:cNvSpPr>
            <a:spLocks noGrp="1"/>
          </p:cNvSpPr>
          <p:nvPr>
            <p:ph idx="1" sz="half"/>
          </p:nvPr>
        </p:nvSpPr>
        <p:spPr/>
        <p:txBody>
          <a:bodyPr/>
          <a:lstStyle/>
          <a:p>
            <a:pPr/>
            <a:r>
              <a:rPr b="1"/>
              <a:t>Structure reference</a:t>
            </a:r>
          </a:p>
          <a:p>
            <a:pPr/>
            <a:r>
              <a:t>Pose, layout, shapes.</a:t>
            </a:r>
          </a:p>
          <a:p>
            <a:pPr/>
            <a:r>
              <a:t>"Arrange it like this."</a:t>
            </a:r>
          </a:p>
        </p:txBody>
      </p:sp>
      <p:sp>
        <p:nvSpPr>
          <p:cNvPr id="4" name="Content Placeholder 3"/>
          <p:cNvSpPr>
            <a:spLocks noGrp="1"/>
          </p:cNvSpPr>
          <p:nvPr>
            <p:ph idx="2" sz="half"/>
          </p:nvPr>
        </p:nvSpPr>
        <p:spPr/>
        <p:txBody>
          <a:bodyPr/>
          <a:lstStyle/>
          <a:p>
            <a:pPr/>
            <a:r>
              <a:rPr b="1"/>
              <a:t>Style reference</a:t>
            </a:r>
          </a:p>
          <a:p>
            <a:pPr/>
            <a:r>
              <a:t>Color, texture, rendering.</a:t>
            </a:r>
          </a:p>
          <a:p>
            <a:pPr/>
            <a:r>
              <a:t>"Make it look like this."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Where it breaks</a:t>
            </a:r>
          </a:p>
        </p:txBody>
      </p:sp>
      <p:sp>
        <p:nvSpPr>
          <p:cNvPr id="3" name="Content Placeholder 2"/>
          <p:cNvSpPr>
            <a:spLocks noGrp="1"/>
          </p:cNvSpPr>
          <p:nvPr>
            <p:ph idx="1"/>
          </p:nvPr>
        </p:nvSpPr>
        <p:spPr/>
        <p:txBody>
          <a:bodyPr/>
          <a:lstStyle/>
          <a:p>
            <a:pPr/>
            <a:r>
              <a:t>Back views and turnarounds.</a:t>
            </a:r>
          </a:p>
          <a:p>
            <a:pPr/>
            <a:r>
              <a:t>Hands holding props.</a:t>
            </a:r>
          </a:p>
          <a:p>
            <a:pPr/>
            <a:r>
              <a:t>Small things: buttons, logos, scars.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hand keeps it consistent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Your own model sheet</a:t>
            </a:r>
          </a:p>
        </p:txBody>
      </p:sp>
      <p:sp>
        <p:nvSpPr>
          <p:cNvPr id="3" name="Rounded Rectangle 2"/>
          <p:cNvSpPr/>
          <p:nvPr/>
        </p:nvSpPr>
        <p:spPr>
          <a:xfrm>
            <a:off x="1298448"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Choose the key</a:t>
            </a:r>
          </a:p>
          <a:p>
            <a:pPr algn="ctr"/>
            <a:r>
              <a:rPr sz="1600">
                <a:solidFill>
                  <a:srgbClr val="2B2B2B"/>
                </a:solidFill>
              </a:rPr>
              <a:t>your best image</a:t>
            </a:r>
          </a:p>
        </p:txBody>
      </p:sp>
      <p:sp>
        <p:nvSpPr>
          <p:cNvPr id="4" name="Rounded Rectangle 3"/>
          <p:cNvSpPr/>
          <p:nvPr/>
        </p:nvSpPr>
        <p:spPr>
          <a:xfrm>
            <a:off x="3771900"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List</a:t>
            </a:r>
          </a:p>
          <a:p>
            <a:pPr algn="ctr"/>
            <a:r>
              <a:rPr sz="1600">
                <a:solidFill>
                  <a:srgbClr val="2B2B2B"/>
                </a:solidFill>
              </a:rPr>
              <a:t>five features</a:t>
            </a:r>
          </a:p>
        </p:txBody>
      </p:sp>
      <p:sp>
        <p:nvSpPr>
          <p:cNvPr id="5" name="Rounded Rectangle 4"/>
          <p:cNvSpPr/>
          <p:nvPr/>
        </p:nvSpPr>
        <p:spPr>
          <a:xfrm>
            <a:off x="6245351"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Build a sheet</a:t>
            </a:r>
          </a:p>
          <a:p>
            <a:pPr algn="ctr"/>
            <a:r>
              <a:rPr sz="1600">
                <a:solidFill>
                  <a:srgbClr val="2B2B2B"/>
                </a:solidFill>
              </a:rPr>
              <a:t>front, three-quarter, side</a:t>
            </a:r>
          </a:p>
        </p:txBody>
      </p:sp>
      <p:sp>
        <p:nvSpPr>
          <p:cNvPr id="6" name="Rounded Rectangle 5"/>
          <p:cNvSpPr/>
          <p:nvPr/>
        </p:nvSpPr>
        <p:spPr>
          <a:xfrm>
            <a:off x="8718803"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Check</a:t>
            </a:r>
          </a:p>
          <a:p>
            <a:pPr algn="ctr"/>
            <a:r>
              <a:rPr sz="1600">
                <a:solidFill>
                  <a:srgbClr val="2B2B2B"/>
                </a:solidFill>
              </a:rPr>
              <a:t>every image against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Checking across a set</a:t>
            </a:r>
          </a:p>
        </p:txBody>
      </p:sp>
      <p:sp>
        <p:nvSpPr>
          <p:cNvPr id="3" name="Content Placeholder 2"/>
          <p:cNvSpPr>
            <a:spLocks noGrp="1"/>
          </p:cNvSpPr>
          <p:nvPr>
            <p:ph idx="1"/>
          </p:nvPr>
        </p:nvSpPr>
        <p:spPr/>
        <p:txBody>
          <a:bodyPr/>
          <a:lstStyle/>
          <a:p>
            <a:pPr/>
            <a:r>
              <a:t>Side by side, same size.</a:t>
            </a:r>
          </a:p>
          <a:p>
            <a:pPr/>
            <a:r>
              <a:t>Flip between them quickly.</a:t>
            </a:r>
          </a:p>
          <a:p>
            <a:pPr/>
            <a:r>
              <a:t>Squint for the silhouette.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Places drift too</a:t>
            </a:r>
          </a:p>
        </p:txBody>
      </p:sp>
      <p:sp>
        <p:nvSpPr>
          <p:cNvPr id="3" name="Content Placeholder 2"/>
          <p:cNvSpPr>
            <a:spLocks noGrp="1"/>
          </p:cNvSpPr>
          <p:nvPr>
            <p:ph idx="1"/>
          </p:nvPr>
        </p:nvSpPr>
        <p:spPr>
          <a:xfrm>
            <a:off x="1298448" y="2560320"/>
            <a:ext cx="5349240" cy="3383280"/>
          </a:xfrm>
        </p:spPr>
        <p:txBody>
          <a:bodyPr/>
          <a:lstStyle/>
          <a:p>
            <a:pPr/>
            <a:r>
              <a:t>Same layout, three times of day.</a:t>
            </a:r>
          </a:p>
          <a:p>
            <a:pPr/>
            <a:r>
              <a:t>Lock the layout. Change the light.</a:t>
            </a:r>
          </a:p>
          <a:p>
            <a:pPr/>
            <a:r>
              <a:t>Check windows, doors, horizon.</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one place of yours at three times of day, same layout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Relight, don't regenerate</a:t>
            </a:r>
          </a:p>
        </p:txBody>
      </p:sp>
      <p:sp>
        <p:nvSpPr>
          <p:cNvPr id="3" name="Rounded Rectangle 2"/>
          <p:cNvSpPr/>
          <p:nvPr/>
        </p:nvSpPr>
        <p:spPr>
          <a:xfrm>
            <a:off x="1298448"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One base image</a:t>
            </a:r>
          </a:p>
          <a:p>
            <a:pPr algn="ctr"/>
            <a:r>
              <a:rPr sz="1600">
                <a:solidFill>
                  <a:srgbClr val="2B2B2B"/>
                </a:solidFill>
              </a:rPr>
              <a:t>fixed by hand</a:t>
            </a:r>
          </a:p>
        </p:txBody>
      </p:sp>
      <p:sp>
        <p:nvSpPr>
          <p:cNvPr id="4" name="Rounded Rectangle 3"/>
          <p:cNvSpPr/>
          <p:nvPr/>
        </p:nvSpPr>
        <p:spPr>
          <a:xfrm>
            <a:off x="3771900"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Duplicate</a:t>
            </a:r>
          </a:p>
          <a:p>
            <a:pPr algn="ctr"/>
            <a:r>
              <a:rPr sz="1600">
                <a:solidFill>
                  <a:srgbClr val="2B2B2B"/>
                </a:solidFill>
              </a:rPr>
              <a:t>three copies</a:t>
            </a:r>
          </a:p>
        </p:txBody>
      </p:sp>
      <p:sp>
        <p:nvSpPr>
          <p:cNvPr id="5" name="Rounded Rectangle 4"/>
          <p:cNvSpPr/>
          <p:nvPr/>
        </p:nvSpPr>
        <p:spPr>
          <a:xfrm>
            <a:off x="6245351"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Adjust</a:t>
            </a:r>
          </a:p>
          <a:p>
            <a:pPr algn="ctr"/>
            <a:r>
              <a:rPr sz="1600">
                <a:solidFill>
                  <a:srgbClr val="2B2B2B"/>
                </a:solidFill>
              </a:rPr>
              <a:t>curves, color, shadows</a:t>
            </a:r>
          </a:p>
        </p:txBody>
      </p:sp>
      <p:sp>
        <p:nvSpPr>
          <p:cNvPr id="6" name="Rounded Rectangle 5"/>
          <p:cNvSpPr/>
          <p:nvPr/>
        </p:nvSpPr>
        <p:spPr>
          <a:xfrm>
            <a:off x="8718803" y="2697480"/>
            <a:ext cx="2180844" cy="1691640"/>
          </a:xfrm>
          <a:prstGeom prst="roundRect">
            <a:avLst/>
          </a:prstGeom>
          <a:solidFill>
            <a:srgbClr val="F2F0EA"/>
          </a:solidFill>
          <a:ln w="15875">
            <a:solidFill>
              <a:srgbClr val="2B2B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200" b="1">
                <a:solidFill>
                  <a:srgbClr val="2B2B2B"/>
                </a:solidFill>
              </a:rPr>
              <a:t>Fill small</a:t>
            </a:r>
          </a:p>
          <a:p>
            <a:pPr algn="ctr"/>
            <a:r>
              <a:rPr sz="1600">
                <a:solidFill>
                  <a:srgbClr val="2B2B2B"/>
                </a:solidFill>
              </a:rPr>
              <a:t>only the sky, the windows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Now you: find the breaks</a:t>
            </a:r>
          </a:p>
        </p:txBody>
      </p:sp>
      <p:sp>
        <p:nvSpPr>
          <p:cNvPr id="3" name="IMAGE SLOT"/>
          <p:cNvSpPr/>
          <p:nvPr/>
        </p:nvSpPr>
        <p:spPr>
          <a:xfrm>
            <a:off x="1298448" y="2395728"/>
            <a:ext cx="9601200" cy="347472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three generated images of one character, one consistency break in each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Project 1, due next class</a:t>
            </a:r>
          </a:p>
        </p:txBody>
      </p:sp>
      <p:sp>
        <p:nvSpPr>
          <p:cNvPr id="3" name="Content Placeholder 2"/>
          <p:cNvSpPr>
            <a:spLocks noGrp="1"/>
          </p:cNvSpPr>
          <p:nvPr>
            <p:ph idx="1"/>
          </p:nvPr>
        </p:nvSpPr>
        <p:spPr/>
        <p:txBody>
          <a:bodyPr/>
          <a:lstStyle/>
          <a:p>
            <a:pPr/>
            <a:r>
              <a:t>Three images, three briefs.</a:t>
            </a:r>
          </a:p>
          <a:p>
            <a:pPr/>
            <a:r>
              <a:t>CALLOUT layer, numbered.</a:t>
            </a:r>
          </a:p>
          <a:p>
            <a:pPr/>
            <a:r>
              <a:t>Every fix on a FIX_ layer.</a:t>
            </a:r>
          </a:p>
          <a:p>
            <a:pPr/>
            <a:r>
              <a:t>Dated .psd for each.</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 the wild: a title sequence</a:t>
            </a:r>
          </a:p>
        </p:txBody>
      </p:sp>
      <p:sp>
        <p:nvSpPr>
          <p:cNvPr id="3" name="Content Placeholder 2"/>
          <p:cNvSpPr>
            <a:spLocks noGrp="1"/>
          </p:cNvSpPr>
          <p:nvPr>
            <p:ph idx="1"/>
          </p:nvPr>
        </p:nvSpPr>
        <p:spPr>
          <a:xfrm>
            <a:off x="1298448" y="2560320"/>
            <a:ext cx="5349240" cy="3383280"/>
          </a:xfrm>
        </p:spPr>
        <p:txBody>
          <a:bodyPr/>
          <a:lstStyle/>
          <a:p>
            <a:pPr/>
            <a:r>
              <a:t>A streaming series, 2023.</a:t>
            </a:r>
          </a:p>
          <a:p>
            <a:pPr/>
            <a:r>
              <a:t>Generated, shifting imagery.</a:t>
            </a:r>
          </a:p>
          <a:p>
            <a:pPr/>
            <a:r>
              <a:t>Artists were not happy.</a:t>
            </a:r>
          </a:p>
        </p:txBody>
      </p:sp>
      <p:sp>
        <p:nvSpPr>
          <p:cNvPr id="4" name="IMAGE SLOT"/>
          <p:cNvSpPr/>
          <p:nvPr/>
        </p:nvSpPr>
        <p:spPr>
          <a:xfrm>
            <a:off x="6949440" y="2468880"/>
            <a:ext cx="4471416" cy="3429000"/>
          </a:xfrm>
          <a:prstGeom prst="rect">
            <a:avLst/>
          </a:prstGeom>
          <a:solidFill>
            <a:srgbClr val="F2F0EA"/>
          </a:solidFill>
          <a:ln w="15875">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i="1">
                <a:solidFill>
                  <a:srgbClr val="8A8A8A"/>
                </a:solidFill>
              </a:rPr>
              <a:t>image: frames from the generated opening titles of a 2023 superhero streaming series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Consistency is a design decision</a:t>
            </a:r>
          </a:p>
        </p:txBody>
      </p:sp>
      <p:sp>
        <p:nvSpPr>
          <p:cNvPr id="3" name="Content Placeholder 2"/>
          <p:cNvSpPr>
            <a:spLocks noGrp="1"/>
          </p:cNvSpPr>
          <p:nvPr>
            <p:ph idx="1"/>
          </p:nvPr>
        </p:nvSpPr>
        <p:spPr/>
        <p:txBody>
          <a:bodyPr/>
          <a:lstStyle/>
          <a:p>
            <a:pPr/>
            <a:r>
              <a:t>What must never change?</a:t>
            </a:r>
          </a:p>
          <a:p>
            <a:pPr/>
            <a:r>
              <a:t>What may change?</a:t>
            </a:r>
          </a:p>
          <a:p>
            <a:pPr/>
            <a:r>
              <a:t>Write both down before you start.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Words from today</a:t>
            </a:r>
          </a:p>
        </p:txBody>
      </p:sp>
      <p:sp>
        <p:nvSpPr>
          <p:cNvPr id="3" name="Content Placeholder 2"/>
          <p:cNvSpPr>
            <a:spLocks noGrp="1"/>
          </p:cNvSpPr>
          <p:nvPr>
            <p:ph idx="1" sz="half"/>
          </p:nvPr>
        </p:nvSpPr>
        <p:spPr/>
        <p:txBody>
          <a:bodyPr/>
          <a:lstStyle/>
          <a:p>
            <a:pPr>
              <a:spcAft>
                <a:spcPts val="600"/>
              </a:spcAft>
            </a:pPr>
            <a:r>
              <a:rPr b="1" sz="1900"/>
              <a:t>Model sheet</a:t>
            </a:r>
            <a:r>
              <a:rPr sz="1900"/>
              <a:t> – one page that defines how a character looks</a:t>
            </a:r>
          </a:p>
          <a:p>
            <a:pPr>
              <a:spcAft>
                <a:spcPts val="600"/>
              </a:spcAft>
            </a:pPr>
            <a:r>
              <a:rPr b="1" sz="1900"/>
              <a:t>Off-model</a:t>
            </a:r>
            <a:r>
              <a:rPr sz="1900"/>
              <a:t> – a drawing that drifted from the sheet</a:t>
            </a:r>
          </a:p>
          <a:p>
            <a:pPr>
              <a:spcAft>
                <a:spcPts val="600"/>
              </a:spcAft>
            </a:pPr>
            <a:r>
              <a:rPr b="1" sz="1900"/>
              <a:t>Key image</a:t>
            </a:r>
            <a:r>
              <a:rPr sz="1900"/>
              <a:t> – the one everything else must match</a:t>
            </a:r>
          </a:p>
        </p:txBody>
      </p:sp>
      <p:sp>
        <p:nvSpPr>
          <p:cNvPr id="4" name="Content Placeholder 3"/>
          <p:cNvSpPr>
            <a:spLocks noGrp="1"/>
          </p:cNvSpPr>
          <p:nvPr>
            <p:ph idx="2" sz="half"/>
          </p:nvPr>
        </p:nvSpPr>
        <p:spPr/>
        <p:txBody>
          <a:bodyPr/>
          <a:lstStyle/>
          <a:p>
            <a:pPr>
              <a:spcAft>
                <a:spcPts val="600"/>
              </a:spcAft>
            </a:pPr>
            <a:r>
              <a:rPr b="1" sz="1900"/>
              <a:t>Structure reference</a:t>
            </a:r>
            <a:r>
              <a:rPr sz="1900"/>
              <a:t> – arrange it like this</a:t>
            </a:r>
          </a:p>
          <a:p>
            <a:pPr>
              <a:spcAft>
                <a:spcPts val="600"/>
              </a:spcAft>
            </a:pPr>
            <a:r>
              <a:rPr b="1" sz="1900"/>
              <a:t>Style reference</a:t>
            </a:r>
            <a:r>
              <a:rPr sz="1900"/>
              <a:t> – make it look like this</a:t>
            </a:r>
          </a:p>
          <a:p>
            <a:pPr>
              <a:spcAft>
                <a:spcPts val="600"/>
              </a:spcAft>
            </a:pPr>
            <a:r>
              <a:rPr b="1" sz="1900"/>
              <a:t>Relight</a:t>
            </a:r>
            <a:r>
              <a:rPr sz="1900"/>
              <a:t> – change the light, keep the layout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Before next class: pick one</a:t>
            </a:r>
          </a:p>
        </p:txBody>
      </p:sp>
      <p:sp>
        <p:nvSpPr>
          <p:cNvPr id="3" name="Text Placeholder 2"/>
          <p:cNvSpPr>
            <a:spLocks noGrp="1"/>
          </p:cNvSpPr>
          <p:nvPr>
            <p:ph type="body" idx="1"/>
          </p:nvPr>
        </p:nvSpPr>
        <p:spPr/>
        <p:txBody>
          <a:bodyPr/>
          <a:lstStyle/>
          <a:p>
            <a:r>
              <a:t>Option A, guided</a:t>
            </a:r>
          </a:p>
        </p:txBody>
      </p:sp>
      <p:sp>
        <p:nvSpPr>
          <p:cNvPr id="4" name="Content Placeholder 3"/>
          <p:cNvSpPr>
            <a:spLocks noGrp="1"/>
          </p:cNvSpPr>
          <p:nvPr>
            <p:ph idx="2" sz="half"/>
          </p:nvPr>
        </p:nvSpPr>
        <p:spPr/>
        <p:txBody>
          <a:bodyPr/>
          <a:lstStyle/>
          <a:p>
            <a:pPr/>
            <a:r>
              <a:t>The provided character</a:t>
            </a:r>
          </a:p>
          <a:p>
            <a:pPr/>
            <a:r>
              <a:t>in three poses.</a:t>
            </a:r>
          </a:p>
          <a:p>
            <a:pPr/>
            <a:r>
              <a:t>Keep the five listed features.</a:t>
            </a:r>
          </a:p>
        </p:txBody>
      </p:sp>
      <p:sp>
        <p:nvSpPr>
          <p:cNvPr id="5" name="Text Placeholder 4"/>
          <p:cNvSpPr>
            <a:spLocks noGrp="1"/>
          </p:cNvSpPr>
          <p:nvPr>
            <p:ph type="body" idx="3" sz="quarter"/>
          </p:nvPr>
        </p:nvSpPr>
        <p:spPr/>
        <p:txBody>
          <a:bodyPr/>
          <a:lstStyle/>
          <a:p>
            <a:r>
              <a:t>Option B, own material</a:t>
            </a:r>
          </a:p>
        </p:txBody>
      </p:sp>
      <p:sp>
        <p:nvSpPr>
          <p:cNvPr id="6" name="Content Placeholder 5"/>
          <p:cNvSpPr>
            <a:spLocks noGrp="1"/>
          </p:cNvSpPr>
          <p:nvPr>
            <p:ph idx="4" sz="quarter"/>
          </p:nvPr>
        </p:nvSpPr>
        <p:spPr/>
        <p:txBody>
          <a:bodyPr/>
          <a:lstStyle/>
          <a:p>
            <a:pPr/>
            <a:r>
              <a:t>A place of your choosing</a:t>
            </a:r>
          </a:p>
          <a:p>
            <a:pPr/>
            <a:r>
              <a:t>at three times of day.</a:t>
            </a:r>
          </a:p>
          <a:p>
            <a:pPr/>
            <a:r>
              <a:t>Consistent in layout.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Make a model sheet before you make a series.</a:t>
            </a:r>
          </a:p>
        </p:txBody>
      </p:sp>
      <p:sp>
        <p:nvSpPr>
          <p:cNvPr id="3" name="Text Placeholder 2"/>
          <p:cNvSpPr>
            <a:spLocks noGrp="1"/>
          </p:cNvSpPr>
          <p:nvPr>
            <p:ph type="body" idx="13" sz="quarter"/>
          </p:nvPr>
        </p:nvSpPr>
        <p:spPr/>
        <p:txBody>
          <a:bodyPr/>
          <a:lstStyle/>
          <a:p>
            <a:r>
              <a:t>One line to take home</a:t>
            </a:r>
          </a:p>
        </p:txBody>
      </p:sp>
      <p:sp>
        <p:nvSpPr>
          <p:cNvPr id="4" name="Text Placeholder 3"/>
          <p:cNvSpPr>
            <a:spLocks noGrp="1"/>
          </p:cNvSpPr>
          <p:nvPr>
            <p:ph type="body" idx="1"/>
          </p:nvPr>
        </p:nvSpPr>
        <p:spPr/>
        <p:txBody>
          <a:bodyPr/>
          <a:lstStyle/>
          <a:p>
            <a:r>
              <a:t>Then check every image against it.</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Game Design Theme">
  <a:themeElements>
    <a:clrScheme name="Organic">
      <a:dk1>
        <a:sysClr val="windowText" lastClr="000000"/>
      </a:dk1>
      <a:lt1>
        <a:sysClr val="window" lastClr="FFFFFF"/>
      </a:lt1>
      <a:dk2>
        <a:srgbClr val="212121"/>
      </a:dk2>
      <a:lt2>
        <a:srgbClr val="DADADA"/>
      </a:lt2>
      <a:accent1>
        <a:srgbClr val="D9B247"/>
      </a:accent1>
      <a:accent2>
        <a:srgbClr val="CC702D"/>
      </a:accent2>
      <a:accent3>
        <a:srgbClr val="B53A31"/>
      </a:accent3>
      <a:accent4>
        <a:srgbClr val="815F56"/>
      </a:accent4>
      <a:accent5>
        <a:srgbClr val="AE9E7C"/>
      </a:accent5>
      <a:accent6>
        <a:srgbClr val="7B8865"/>
      </a:accent6>
      <a:hlink>
        <a:srgbClr val="BB7826"/>
      </a:hlink>
      <a:folHlink>
        <a:srgbClr val="CF9C5F"/>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Game Design Theme" id="{FDF2760C-01FA-4CD6-92F4-89C50AE1AED8}" vid="{701598FD-A452-4D8B-8848-C96AAD2A0D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Game Design Theme</Template>
  <TotalTime>8078</TotalTime>
  <Words>4258</Words>
  <Application>Microsoft Office PowerPoint</Application>
  <PresentationFormat>Widescreen</PresentationFormat>
  <Paragraphs>228</Paragraphs>
  <Slides>36</Slides>
  <Notes>36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36</vt:i4>
      </vt:variant>
    </vt:vector>
  </HeadingPairs>
  <TitlesOfParts>
    <vt:vector size="40" baseType="lpstr">
      <vt:lpstr>Arial</vt:lpstr>
      <vt:lpstr>Calibri</vt:lpstr>
      <vt:lpstr>Garamond</vt:lpstr>
      <vt:lpstr>Game Design Theme</vt:lpstr>
      <vt:lpstr>Storytelling Through Lighting</vt:lpstr>
      <vt:lpstr>Nothing Is Accidental</vt:lpstr>
      <vt:lpstr>Where This Comes From</vt:lpstr>
      <vt:lpstr>Film vs. 3D</vt:lpstr>
      <vt:lpstr>The Standard Setup</vt:lpstr>
      <vt:lpstr>Key Light</vt:lpstr>
      <vt:lpstr>Fill Light</vt:lpstr>
      <vt:lpstr>Backlight</vt:lpstr>
      <vt:lpstr>The Two Families</vt:lpstr>
      <vt:lpstr>High-Key Lighting</vt:lpstr>
      <vt:lpstr>Low-Key Lighting</vt:lpstr>
      <vt:lpstr>What Contrast Does</vt:lpstr>
      <vt:lpstr>High Contrast</vt:lpstr>
      <vt:lpstr>Low Contrast</vt:lpstr>
      <vt:lpstr>Hard vs. Soft, Explained by the Sun</vt:lpstr>
      <vt:lpstr>Hard Light</vt:lpstr>
      <vt:lpstr>Soft Light</vt:lpstr>
      <vt:lpstr>Drawing Light in a Storyboard Panel</vt:lpstr>
      <vt:lpstr>Direction Changes the Mood</vt:lpstr>
      <vt:lpstr>Frontal Lighting</vt:lpstr>
      <vt:lpstr>Side Lighting</vt:lpstr>
      <vt:lpstr>Backlighting</vt:lpstr>
      <vt:lpstr>Underlighting</vt:lpstr>
      <vt:lpstr>Exercise: Light the Same Pose Four Ways</vt:lpstr>
      <vt:lpstr>Train Your Eye</vt:lpstr>
      <vt:lpstr>Realistic Lighting</vt:lpstr>
      <vt:lpstr>Dramatic / Stylized Lighting</vt:lpstr>
      <vt:lpstr>What Color Does in a Story</vt:lpstr>
      <vt:lpstr>Contrast Is the Real Tool</vt:lpstr>
      <vt:lpstr>Making Something Stand Out — Or Getting Out of Its Way</vt:lpstr>
      <vt:lpstr>The Wheel, Once</vt:lpstr>
      <vt:lpstr>Warm</vt:lpstr>
      <vt:lpstr>Cool</vt:lpstr>
      <vt:lpstr>Color Meaning Is Cultural</vt:lpstr>
      <vt:lpstr>Apply It: Light and Color, One Panel</vt:lpstr>
      <vt:lpstr>A Language Still Being Written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Acting for Animation</dc:title>
  <dc:creator>Daniel</dc:creator>
  <cp:lastModifiedBy>Daniel Coes</cp:lastModifiedBy>
  <cp:revision>372</cp:revision>
  <dcterms:created xsi:type="dcterms:W3CDTF">2016-05-07T19:16:27Z</dcterms:created>
  <dcterms:modified xsi:type="dcterms:W3CDTF">2026-08-11T01:20:15Z</dcterms:modified>
</cp:coreProperties>
</file>