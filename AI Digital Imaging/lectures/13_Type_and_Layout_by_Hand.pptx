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Running time, about 50 minutes.</a:t>
            </a:r>
            <a:r>
              <a:t> Spot it and recall (5). Why type is done by hand (5). Hierarchy, placement, legibility (15). Type on busy images (5). Choosing a font, and the three formats (7). A poster cliché, for discussion (4). Worked example and cold reversal (6). Consistency of type across a series (2). Options (1).</a:t>
            </a:r>
          </a:p>
          <a:p>
            <a:pPr>
              <a:spcAft>
                <a:spcPts val="800"/>
              </a:spcAft>
            </a:pPr>
            <a:r>
              <a:rPr b="1"/>
              <a:t>Prep before class.</a:t>
            </a:r>
            <a:r>
              <a:t> The layout template for Option A (title area, line, credit area, margins marked) for each of the three brief types. Check which Adobe Fonts are activated on the lab machines. One image of yours with badly placed type for the cold reversal.</a:t>
            </a:r>
          </a:p>
          <a:p>
            <a:pPr>
              <a:spcAft>
                <a:spcPts val="800"/>
              </a:spcAft>
            </a:pPr>
            <a:r>
              <a:t>Slot images: two or three film or game posters with very clear hierarchy (one title, one image, small credits), and a "floating heads" poster for the cliché discussion.</a:t>
            </a:r>
          </a:p>
          <a:p>
            <a:pPr>
              <a:spcAft>
                <a:spcPts val="800"/>
              </a:spcAft>
            </a:pPr>
            <a:r>
              <a:t>Boundary note: this is type on a single still image. Type in motion is the Motion Graphics course, and typography as a discipline belongs to Graphic Design. Name hierarchy, placement and legibility and stop there; if a student wants more, point them at those courses.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Spot it, about four minutes.</a:t>
            </a:r>
            <a:r>
              <a:t> Put the image up and say nothing for a few seconds. Then: what's wrong with it? Hands up, one error per person, and make them say where it is and what kind of error it is, in the checklist words once we have them (anatomy, perspective, light, lettering, repeated texture, sheen). Count the errors out loud as they come in. Don't confirm or correct until the room stops finding things, then add the one they missed, if there is one.</a:t>
            </a:r>
          </a:p>
          <a:p>
            <a:pPr>
              <a:spcAft>
                <a:spcPts val="800"/>
              </a:spcAft>
            </a:pPr>
            <a:r>
              <a:t>This opener runs every class. The point is repetition: by week four the room finds the shadow problem before the hand problem, which is the right order.</a:t>
            </a:r>
          </a:p>
          <a:p>
            <a:pPr>
              <a:spcAft>
                <a:spcPts val="800"/>
              </a:spcAft>
            </a:pPr>
            <a:r>
              <a:t>Lettering on purpose today, to set up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Recall. [Cold call.] What was the most common consistency break in the rough sets? What did you do about yours last night?</a:t>
            </a:r>
          </a:p>
          <a:p>
            <a:pPr>
              <a:spcAft>
                <a:spcPts val="800"/>
              </a:spcAft>
            </a:pPr>
            <a:r>
              <a:t>Milestone 3, the corrected set, is due next class. Today adds the last layer your images need before then: type.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Today's rule is simple. In this course, type on your images is set by hand, with Photoshop's Type tool, in a font you chose, spelled correctly. Not generated.</a:t>
            </a:r>
          </a:p>
          <a:p>
            <a:pPr>
              <a:spcAft>
                <a:spcPts val="800"/>
              </a:spcAft>
            </a:pPr>
            <a:r>
              <a:t>Even as generators get better at lettering, and some of them are getting quite a lot better, generated text comes baked into the pixels. You can't edit it, can't fix a typo, can't change the font, can't move it two millimeters to the left. Real type stays sharp at any size and stays editable forever. And a client will always, always want to change the title.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Three jobs, and we'll take them one at a time.</a:t>
            </a:r>
          </a:p>
          <a:p>
            <a:pPr>
              <a:spcAft>
                <a:spcPts val="800"/>
              </a:spcAft>
            </a:pPr>
            <a:r>
              <a:rPr b="1"/>
              <a:t>Hierarchy</a:t>
            </a:r>
            <a:r>
              <a:t>: what someone reads first, second, third. </a:t>
            </a:r>
            <a:r>
              <a:rPr b="1"/>
              <a:t>Placement</a:t>
            </a:r>
            <a:r>
              <a:t>: where the type sits on the image, and what it covers. </a:t>
            </a:r>
            <a:r>
              <a:rPr b="1"/>
              <a:t>Legibility</a:t>
            </a:r>
            <a:r>
              <a:t>: whether it can actually be read, at the size people will see it.</a:t>
            </a:r>
          </a:p>
          <a:p>
            <a:pPr>
              <a:spcAft>
                <a:spcPts val="800"/>
              </a:spcAft>
            </a:pPr>
            <a:r>
              <a:t>Graphic designers spend whole courses on this. We need enough of it to put a title on an image without ruining the image.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Same photo, same words. On the left, four pieces of text at roughly similar sizes, in four styles, in the middle of the image. Your eye doesn't know where to start, and the type sits right on top of the subject.</a:t>
            </a:r>
          </a:p>
          <a:p>
            <a:pPr>
              <a:spcAft>
                <a:spcPts val="800"/>
              </a:spcAft>
            </a:pPr>
            <a:r>
              <a:t>On the right, one thing is clearly first: the title, big and heavy, in the dark sky at the top. The subtitle is second, smaller and lighter. The practical details are third, small, in a band at the bottom where they don't fight the image.</a:t>
            </a:r>
          </a:p>
          <a:p>
            <a:pPr>
              <a:spcAft>
                <a:spcPts val="800"/>
              </a:spcAft>
            </a:pPr>
            <a:r>
              <a:t>That's </a:t>
            </a:r>
            <a:r>
              <a:rPr b="1"/>
              <a:t>hierarchy</a:t>
            </a:r>
            <a:r>
              <a:t>: size, weight and contrast deciding the reading order. Three levels is plenty. More than three and it starts to look like the left side again.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[Show the posters. Ask: where's the type, and what is it sitting on?]</a:t>
            </a:r>
          </a:p>
          <a:p>
            <a:pPr>
              <a:spcAft>
                <a:spcPts val="800"/>
              </a:spcAft>
            </a:pPr>
            <a:r>
              <a:t>Placement. Type goes in the </a:t>
            </a:r>
            <a:r>
              <a:rPr b="1"/>
              <a:t>quiet areas</a:t>
            </a:r>
            <a:r>
              <a:t> of the image: sky, floor, a wall, a deep shadow. Places with little detail and even value, where letters can be read.</a:t>
            </a:r>
          </a:p>
          <a:p>
            <a:pPr>
              <a:spcAft>
                <a:spcPts val="800"/>
              </a:spcAft>
            </a:pPr>
            <a:r>
              <a:t>This is why the brief asked you to decide where the type goes before generating. If you generated with an empty sky at the top, you're fine. If your image is busy edge to edge, you'll be fighting it, which is the next slide. In the worst case, use Generative Expand or a fill to make quiet space, and that's a legitimate use of the tool.</a:t>
            </a:r>
          </a:p>
          <a:p>
            <a:pPr>
              <a:spcAft>
                <a:spcPts val="800"/>
              </a:spcAft>
            </a:pPr>
            <a:r>
              <a:t>And never across a face, or across the thing the image is about. The type and the subject should share the frame, not fight for the same spot.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Legibility. Two tests.</a:t>
            </a:r>
          </a:p>
          <a:p>
            <a:pPr>
              <a:spcAft>
                <a:spcPts val="800"/>
              </a:spcAft>
            </a:pPr>
            <a:r>
              <a:rPr b="1"/>
              <a:t>Contrast</a:t>
            </a:r>
            <a:r>
              <a:t>: light type on dark, or dark type on light. Medium on medium disappears. Check in gray, as always.</a:t>
            </a:r>
          </a:p>
          <a:p>
            <a:pPr>
              <a:spcAft>
                <a:spcPts val="800"/>
              </a:spcAft>
            </a:pPr>
            <a:r>
              <a:rPr b="1"/>
              <a:t>Size</a:t>
            </a:r>
            <a:r>
              <a:t>: test at the size people will actually see it. For key art on a store page, that might be a thumbnail on a phone. Zoom out until the image is the size of your thumb on the screen. Can you still read the title? If not, it's too small, too thin, or on too busy a background.</a:t>
            </a:r>
          </a:p>
          <a:p>
            <a:pPr>
              <a:spcAft>
                <a:spcPts val="800"/>
              </a:spcAft>
            </a:pPr>
            <a:r>
              <a:t>Students almost always make titles too small and too thin. Go bigger than feels comfortable.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When you have to put type on a busy area, some of the fixes include:</a:t>
            </a:r>
          </a:p>
          <a:p>
            <a:pPr>
              <a:spcAft>
                <a:spcPts val="800"/>
              </a:spcAft>
            </a:pPr>
            <a:r>
              <a:rPr b="1"/>
              <a:t>Darken behind it</a:t>
            </a:r>
            <a:r>
              <a:t>: a soft gradient, on its own layer, under the type. </a:t>
            </a:r>
            <a:r>
              <a:rPr b="1"/>
              <a:t>Soften the area</a:t>
            </a:r>
            <a:r>
              <a:t>: a slight blur on a copy of that part of the image, masked. </a:t>
            </a:r>
            <a:r>
              <a:rPr b="1"/>
              <a:t>A solid band</a:t>
            </a:r>
            <a:r>
              <a:t>: a strip of color, which is very common on chapter headers and posters. And a subtle drop shadow, which I didn't show because it's so easy to overdo: if you can see the shadow as a shadow, it's too much.</a:t>
            </a:r>
          </a:p>
          <a:p>
            <a:pPr>
              <a:spcAft>
                <a:spcPts val="800"/>
              </a:spcAft>
            </a:pPr>
            <a:r>
              <a:t>All of these on their own named layers, so you can adjust them later. And do them subtly. The goal is that nobody notices the trick, they just notice they can read the title.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little spacing, just the two moves that make the biggest difference, and they're both in the Character panel.</a:t>
            </a:r>
          </a:p>
          <a:p>
            <a:pPr>
              <a:spcAft>
                <a:spcPts val="800"/>
              </a:spcAft>
            </a:pPr>
            <a:r>
              <a:rPr b="1"/>
              <a:t>Tracking</a:t>
            </a:r>
            <a:r>
              <a:t> is the overall spacing between letters. All-capital titles almost always look better with the tracking opened up a bit. Lowercase text usually wants to be left alone.</a:t>
            </a:r>
          </a:p>
          <a:p>
            <a:pPr>
              <a:spcAft>
                <a:spcPts val="800"/>
              </a:spcAft>
            </a:pPr>
            <a:r>
              <a:rPr b="1"/>
              <a:t>Kerning</a:t>
            </a:r>
            <a:r>
              <a:t> is the space between one specific pair of letters. In big titles, some pairs look gappy: an A next to a V, a T next to an o, an L next to a T. Put the cursor between them and tighten just that pair, holding Alt and using the arrow keys.</a:t>
            </a:r>
          </a:p>
          <a:p>
            <a:pPr>
              <a:spcAft>
                <a:spcPts val="800"/>
              </a:spcAft>
            </a:pPr>
            <a:r>
              <a:rPr b="1"/>
              <a:t>Leading</a:t>
            </a:r>
            <a:r>
              <a:t> is the space between lines. In a two-line title, bring the lines closer than the default, until they read as one block but the letters don't touch.</a:t>
            </a:r>
          </a:p>
          <a:p>
            <a:pPr>
              <a:spcAft>
                <a:spcPts val="800"/>
              </a:spcAft>
            </a:pPr>
            <a:r>
              <a:t>[Worked example in the demo: one title, before and after. Then have them fix one pair on their own title.]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most embarrassing error on a poster isn't a bad hand. It's a typo in the title, because everyone reads the title, and nobody can unsee it. Remember "a pasadise of sweet teats." That was the generator's fault. Yours would be yours.</a:t>
            </a:r>
          </a:p>
          <a:p>
            <a:pPr>
              <a:spcAft>
                <a:spcPts val="800"/>
              </a:spcAft>
            </a:pPr>
            <a:r>
              <a:t>Three habits. </a:t>
            </a:r>
            <a:r>
              <a:rPr b="1"/>
              <a:t>Read it slowly</a:t>
            </a:r>
            <a:r>
              <a:t>, then read it again </a:t>
            </a:r>
            <a:r>
              <a:rPr b="1"/>
              <a:t>backwards</a:t>
            </a:r>
            <a:r>
              <a:t>, word by word, which stops your brain from autocorrecting what it expects. Check </a:t>
            </a:r>
            <a:r>
              <a:rPr b="1"/>
              <a:t>names and dates</a:t>
            </a:r>
            <a:r>
              <a:t> against the brief, letter by letter. And </a:t>
            </a:r>
            <a:r>
              <a:rPr b="1"/>
              <a:t>have someone else read it</a:t>
            </a:r>
            <a:r>
              <a:t>, because you'll read what you meant to write.</a:t>
            </a:r>
          </a:p>
          <a:p>
            <a:pPr>
              <a:spcAft>
                <a:spcPts val="800"/>
              </a:spcAft>
            </a:pPr>
            <a:r>
              <a:t>Thirty seconds of checking,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Alignment, last. Pick one, left, centered or right, and use it for all the type in an image. Mixing alignments is one of the quickest ways to make a layout look unplanned.</a:t>
            </a:r>
          </a:p>
          <a:p>
            <a:pPr>
              <a:spcAft>
                <a:spcPts val="800"/>
              </a:spcAft>
            </a:pPr>
            <a:r>
              <a:t>Better still, </a:t>
            </a:r>
            <a:r>
              <a:rPr b="1"/>
              <a:t>align to something in the image</a:t>
            </a:r>
            <a:r>
              <a:t>: the left edge of a building, the line of the horizon, the edge of a figure. Type that lines up with the picture looks like it was designed with the picture. Type that just floats in a corner looks added at the end, which, to be fair, it was.</a:t>
            </a:r>
          </a:p>
          <a:p>
            <a:pPr>
              <a:spcAft>
                <a:spcPts val="800"/>
              </a:spcAft>
            </a:pPr>
            <a:r>
              <a:t>And, as with everything in a series, the same choice on every image.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Choosing a font, quickly, without turning this into a typography course.</a:t>
            </a:r>
          </a:p>
          <a:p>
            <a:pPr>
              <a:spcAft>
                <a:spcPts val="800"/>
              </a:spcAft>
            </a:pPr>
            <a:r>
              <a:rPr b="1"/>
              <a:t>Match the mood</a:t>
            </a:r>
            <a:r>
              <a:t> of your brief. A heavy, wide sans for a loud game title. A classic serif for a book. Something with more character for a festival poster. Read your brief's "what should someone feel" line, and pick the font that agrees.</a:t>
            </a:r>
          </a:p>
          <a:p>
            <a:pPr>
              <a:spcAft>
                <a:spcPts val="800"/>
              </a:spcAft>
            </a:pPr>
            <a:r>
              <a:rPr b="1"/>
              <a:t>Two families at most</a:t>
            </a:r>
            <a:r>
              <a:t>: one for the title, one for everything else. Often one family is enough, in two weights.</a:t>
            </a:r>
          </a:p>
          <a:p>
            <a:pPr>
              <a:spcAft>
                <a:spcPts val="800"/>
              </a:spcAft>
            </a:pPr>
            <a:r>
              <a:t>And use </a:t>
            </a:r>
            <a:r>
              <a:rPr b="1"/>
              <a:t>Adobe Fonts</a:t>
            </a:r>
            <a:r>
              <a:t>, which are licensed for this, and already in the lab. Fonts from random free sites often have licenses that don't allow commercial use, which matters the moment someone pays you.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three brief types each have a typical layout.</a:t>
            </a:r>
          </a:p>
          <a:p>
            <a:pPr>
              <a:spcAft>
                <a:spcPts val="800"/>
              </a:spcAft>
            </a:pPr>
            <a:r>
              <a:rPr b="1"/>
              <a:t>Key art</a:t>
            </a:r>
            <a:r>
              <a:t>: a title or logo area, usually with room for a platform badge or rating, and a version that still works when cropped vertical for phones. </a:t>
            </a:r>
            <a:r>
              <a:rPr b="1"/>
              <a:t>Chapter headers</a:t>
            </a:r>
            <a:r>
              <a:t>: the chapter number and title in exactly the same position and size on every one. </a:t>
            </a:r>
            <a:r>
              <a:rPr b="1"/>
              <a:t>Posters</a:t>
            </a:r>
            <a:r>
              <a:t>: a title, one line of description, and small credits or details, consistent across the series.</a:t>
            </a:r>
          </a:p>
          <a:p>
            <a:pPr>
              <a:spcAft>
                <a:spcPts val="800"/>
              </a:spcAft>
            </a:pPr>
            <a:r>
              <a:t>The templates on Canvas have these areas marked. You can use them or design your own, which is the difference between tonight's two options.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four minutes.] A discussion, and a bit of fun. Here's a type of poster you've seen a thousand times: the cast's heads floating in the sky, orange and blue color, title at the bottom.</a:t>
            </a:r>
          </a:p>
          <a:p>
            <a:pPr>
              <a:spcAft>
                <a:spcPts val="800"/>
              </a:spcAft>
            </a:pPr>
            <a:r>
              <a:t>[Ask: why does this look the way it does?] Usually the room gets there: contracts that specify how big each actor's face is, marketing departments, the fact that it works well enough as a thumbnail.</a:t>
            </a:r>
          </a:p>
          <a:p>
            <a:pPr>
              <a:spcAft>
                <a:spcPts val="800"/>
              </a:spcAft>
            </a:pPr>
            <a:r>
              <a:t>Here's the connection to this course. A generator trained on thousands of these posters will happily make you more of them, because that's the average poster. If you want something that doesn't look like everything else, that has to come from your brief and your layout. The average is always available, and nobody needs you to make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worked example, which I'll do live.</a:t>
            </a:r>
          </a:p>
          <a:p>
            <a:pPr>
              <a:spcAft>
                <a:spcPts val="800"/>
              </a:spcAft>
            </a:pPr>
            <a:r>
              <a:t>Place the image in the </a:t>
            </a:r>
            <a:r>
              <a:rPr b="1"/>
              <a:t>template</a:t>
            </a:r>
            <a:r>
              <a:t> with its margins. Find the </a:t>
            </a:r>
            <a:r>
              <a:rPr b="1"/>
              <a:t>quiet area</a:t>
            </a:r>
            <a:r>
              <a:t> and check its value in gray. Set the </a:t>
            </a:r>
            <a:r>
              <a:rPr b="1"/>
              <a:t>type</a:t>
            </a:r>
            <a:r>
              <a:t>: the title first, at the largest size that works, then the chapter number, smaller. Add a </a:t>
            </a:r>
            <a:r>
              <a:rPr b="1"/>
              <a:t>support</a:t>
            </a:r>
            <a:r>
              <a:t> layer only if needed: a band or a soft gradient. Then the </a:t>
            </a:r>
            <a:r>
              <a:rPr b="1"/>
              <a:t>thumbnail test</a:t>
            </a:r>
            <a:r>
              <a:t>: zoom out until it's tiny. Can you still read it? Does the image still read?</a:t>
            </a:r>
          </a:p>
          <a:p>
            <a:pPr>
              <a:spcAft>
                <a:spcPts val="800"/>
              </a:spcAft>
            </a:pPr>
            <a:r>
              <a:t>Then save the type layers as a group you can reuse on every other image in the series.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Cold reversal. Here's an image with a layout that isn't working. In pairs: what's wrong with the hierarchy, the placement, and the legibility, and what would you change first? Two minutes.</a:t>
            </a:r>
          </a:p>
          <a:p>
            <a:pPr>
              <a:spcAft>
                <a:spcPts val="800"/>
              </a:spcAft>
            </a:pPr>
            <a:r>
              <a:t>[Take answers. Don't fix it on screen. Different first moves are fine if they can say why.]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Last thing. In a series, the type is part of what makes it a series.</a:t>
            </a:r>
          </a:p>
          <a:p>
            <a:pPr>
              <a:spcAft>
                <a:spcPts val="800"/>
              </a:spcAft>
            </a:pPr>
            <a:r>
              <a:t>Same position, same size, same fonts, same treatment on every image. The easiest way to guarantee that: build the type group once, perfectly, on your strongest image, then copy the whole group into the other files and change only the words. If you're comfortable with Smart Objects or artboards, use those, but copying a group works fine.</a:t>
            </a:r>
          </a:p>
          <a:p>
            <a:pPr>
              <a:spcAft>
                <a:spcPts val="800"/>
              </a:spcAft>
            </a:pPr>
            <a:r>
              <a:t>If your type moves around from image to image, the set stops looking like a set, even if the pictures are perfectly consistent.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Tonight, due next class, along with Milestone 3, so keep this to about 45 minutes.</a:t>
            </a:r>
          </a:p>
          <a:p>
            <a:pPr>
              <a:spcAft>
                <a:spcPts val="800"/>
              </a:spcAft>
            </a:pPr>
            <a:r>
              <a:rPr b="1"/>
              <a:t>Option A</a:t>
            </a:r>
            <a:r>
              <a:t>: add type to one image from your set, using the layout template on Canvas for your brief type.</a:t>
            </a:r>
          </a:p>
          <a:p>
            <a:pPr>
              <a:spcAft>
                <a:spcPts val="800"/>
              </a:spcAft>
            </a:pPr>
            <a:r>
              <a:rPr b="1"/>
              <a:t>Option B</a:t>
            </a:r>
            <a:r>
              <a:t>: design your own layout for one image, and write two or three sentences on the hierarchy: what's read first, second, third, and why.</a:t>
            </a:r>
          </a:p>
          <a:p>
            <a:pPr>
              <a:spcAft>
                <a:spcPts val="800"/>
              </a:spcAft>
            </a:pPr>
            <a:r>
              <a:t>Milestone 3 next class: the corrected set, critiqued in small groups, with written notes from each reader.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Set the type yourself. [Demo: the chapter header,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Type and Layout by Hand</a:t>
            </a:r>
          </a:p>
        </p:txBody>
      </p:sp>
      <p:sp>
        <p:nvSpPr>
          <p:cNvPr id="3" name="Subtitle 2"/>
          <p:cNvSpPr>
            <a:spLocks noGrp="1"/>
          </p:cNvSpPr>
          <p:nvPr>
            <p:ph type="subTitle" idx="1"/>
          </p:nvPr>
        </p:nvSpPr>
        <p:spPr/>
        <p:txBody>
          <a:bodyPr/>
          <a:lstStyle/>
          <a:p>
            <a:r>
              <a:t>AI Digital Imaging  |  Session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it</a:t>
            </a:r>
          </a:p>
        </p:txBody>
      </p:sp>
      <p:sp>
        <p:nvSpPr>
          <p:cNvPr id="3" name="Content Placeholder 2"/>
          <p:cNvSpPr>
            <a:spLocks noGrp="1"/>
          </p:cNvSpPr>
          <p:nvPr>
            <p:ph idx="1"/>
          </p:nvPr>
        </p:nvSpPr>
        <p:spPr>
          <a:xfrm>
            <a:off x="1298448" y="2560320"/>
            <a:ext cx="5349240" cy="3383280"/>
          </a:xfrm>
        </p:spPr>
        <p:txBody>
          <a:bodyPr/>
          <a:lstStyle/>
          <a:p>
            <a:pPr/>
            <a:r>
              <a:t>One image. Ninety seconds.</a:t>
            </a:r>
          </a:p>
          <a:p>
            <a:pPr/>
            <a:r>
              <a:t>What's wrong with it?</a:t>
            </a:r>
          </a:p>
          <a:p>
            <a:pPr/>
            <a:r>
              <a:t>Say where, and what kind.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generated poster or sign with lettering errors (yours)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 time</a:t>
            </a:r>
          </a:p>
        </p:txBody>
      </p:sp>
      <p:sp>
        <p:nvSpPr>
          <p:cNvPr id="3" name="Content Placeholder 2"/>
          <p:cNvSpPr>
            <a:spLocks noGrp="1"/>
          </p:cNvSpPr>
          <p:nvPr>
            <p:ph idx="1"/>
          </p:nvPr>
        </p:nvSpPr>
        <p:spPr/>
        <p:txBody>
          <a:bodyPr/>
          <a:lstStyle/>
          <a:p>
            <a:pPr/>
            <a:r>
              <a:t>A series is judged as one thing.</a:t>
            </a:r>
          </a:p>
          <a:p>
            <a:pPr/>
            <a:r>
              <a:t>Find the weakest image.</a:t>
            </a:r>
          </a:p>
          <a:p>
            <a:pPr/>
            <a:r>
              <a:t>Keep your rejects, with reasons.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 the type yourself.</a:t>
            </a:r>
          </a:p>
        </p:txBody>
      </p:sp>
      <p:sp>
        <p:nvSpPr>
          <p:cNvPr id="3" name="Text Placeholder 2"/>
          <p:cNvSpPr>
            <a:spLocks noGrp="1"/>
          </p:cNvSpPr>
          <p:nvPr>
            <p:ph type="body" idx="13" sz="quarter"/>
          </p:nvPr>
        </p:nvSpPr>
        <p:spPr/>
        <p:txBody>
          <a:bodyPr/>
          <a:lstStyle/>
          <a:p>
            <a:r>
              <a:t>Today's idea</a:t>
            </a:r>
          </a:p>
        </p:txBody>
      </p:sp>
      <p:sp>
        <p:nvSpPr>
          <p:cNvPr id="4" name="Text Placeholder 3"/>
          <p:cNvSpPr>
            <a:spLocks noGrp="1"/>
          </p:cNvSpPr>
          <p:nvPr>
            <p:ph type="body" idx="1"/>
          </p:nvPr>
        </p:nvSpPr>
        <p:spPr/>
        <p:txBody>
          <a:bodyPr/>
          <a:lstStyle/>
          <a:p>
            <a:r>
              <a:t>Every letter spelled right, in a font you chose.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jobs of type on an image</a:t>
            </a:r>
          </a:p>
        </p:txBody>
      </p:sp>
      <p:sp>
        <p:nvSpPr>
          <p:cNvPr id="3" name="Rounded Rectangle 2"/>
          <p:cNvSpPr/>
          <p:nvPr/>
        </p:nvSpPr>
        <p:spPr>
          <a:xfrm>
            <a:off x="1298448" y="2697480"/>
            <a:ext cx="3005328"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Hierarchy</a:t>
            </a:r>
          </a:p>
          <a:p>
            <a:pPr algn="ctr"/>
            <a:r>
              <a:rPr sz="1600">
                <a:solidFill>
                  <a:srgbClr val="2B2B2B"/>
                </a:solidFill>
              </a:rPr>
              <a:t>what's read first</a:t>
            </a:r>
          </a:p>
        </p:txBody>
      </p:sp>
      <p:sp>
        <p:nvSpPr>
          <p:cNvPr id="4" name="Rounded Rectangle 3"/>
          <p:cNvSpPr/>
          <p:nvPr/>
        </p:nvSpPr>
        <p:spPr>
          <a:xfrm>
            <a:off x="4596384" y="2697480"/>
            <a:ext cx="3005328"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Placement</a:t>
            </a:r>
          </a:p>
          <a:p>
            <a:pPr algn="ctr"/>
            <a:r>
              <a:rPr sz="1600">
                <a:solidFill>
                  <a:srgbClr val="2B2B2B"/>
                </a:solidFill>
              </a:rPr>
              <a:t>where it sits</a:t>
            </a:r>
          </a:p>
        </p:txBody>
      </p:sp>
      <p:sp>
        <p:nvSpPr>
          <p:cNvPr id="5" name="Rounded Rectangle 4"/>
          <p:cNvSpPr/>
          <p:nvPr/>
        </p:nvSpPr>
        <p:spPr>
          <a:xfrm>
            <a:off x="7894320" y="2697480"/>
            <a:ext cx="3005328"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Legibility</a:t>
            </a:r>
          </a:p>
          <a:p>
            <a:pPr algn="ctr"/>
            <a:r>
              <a:rPr sz="1600">
                <a:solidFill>
                  <a:srgbClr val="2B2B2B"/>
                </a:solidFill>
              </a:rPr>
              <a:t>can it be read, at size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Hierarchy: one thing first</a:t>
            </a:r>
          </a:p>
        </p:txBody>
      </p:sp>
      <p:pic>
        <p:nvPicPr>
          <p:cNvPr id="3" name="Picture 2" descr="type_hierarchy.png"/>
          <p:cNvPicPr>
            <a:picLocks noChangeAspect="1"/>
          </p:cNvPicPr>
          <p:nvPr/>
        </p:nvPicPr>
        <p:blipFill>
          <a:blip r:embed="rId2"/>
          <a:stretch>
            <a:fillRect/>
          </a:stretch>
        </p:blipFill>
        <p:spPr>
          <a:xfrm>
            <a:off x="4008326" y="2377440"/>
            <a:ext cx="4181442" cy="3246120"/>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Same photo, same words. Size, weight and position decide what's read first.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Placement</a:t>
            </a:r>
          </a:p>
        </p:txBody>
      </p:sp>
      <p:sp>
        <p:nvSpPr>
          <p:cNvPr id="3" name="Content Placeholder 2"/>
          <p:cNvSpPr>
            <a:spLocks noGrp="1"/>
          </p:cNvSpPr>
          <p:nvPr>
            <p:ph idx="1"/>
          </p:nvPr>
        </p:nvSpPr>
        <p:spPr>
          <a:xfrm>
            <a:off x="1298448" y="2560320"/>
            <a:ext cx="5349240" cy="3383280"/>
          </a:xfrm>
        </p:spPr>
        <p:txBody>
          <a:bodyPr/>
          <a:lstStyle/>
          <a:p>
            <a:pPr/>
            <a:r>
              <a:t>Leave room when you generate.</a:t>
            </a:r>
          </a:p>
          <a:p>
            <a:pPr/>
            <a:r>
              <a:t>Quiet areas: sky, floor, shadow.</a:t>
            </a:r>
          </a:p>
          <a:p>
            <a:pPr/>
            <a:r>
              <a:t>Never across the face.</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two or three well-known posters with very clear hierarchy (title, image, small credits)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Legibility</a:t>
            </a:r>
          </a:p>
        </p:txBody>
      </p:sp>
      <p:sp>
        <p:nvSpPr>
          <p:cNvPr id="3" name="Content Placeholder 2"/>
          <p:cNvSpPr>
            <a:spLocks noGrp="1"/>
          </p:cNvSpPr>
          <p:nvPr>
            <p:ph idx="1"/>
          </p:nvPr>
        </p:nvSpPr>
        <p:spPr/>
        <p:txBody>
          <a:bodyPr/>
          <a:lstStyle/>
          <a:p>
            <a:pPr/>
            <a:r>
              <a:t>Contrast with what's behind it.</a:t>
            </a:r>
          </a:p>
          <a:p>
            <a:pPr/>
            <a:r>
              <a:t>Test it at final size.</a:t>
            </a:r>
          </a:p>
          <a:p>
            <a:pPr/>
            <a:r>
              <a:t>The thumbnail test.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the image is busy</a:t>
            </a:r>
          </a:p>
        </p:txBody>
      </p:sp>
      <p:pic>
        <p:nvPicPr>
          <p:cNvPr id="3" name="Picture 2" descr="type_on_busy.png"/>
          <p:cNvPicPr>
            <a:picLocks noChangeAspect="1"/>
          </p:cNvPicPr>
          <p:nvPr/>
        </p:nvPicPr>
        <p:blipFill>
          <a:blip r:embed="rId2"/>
          <a:stretch>
            <a:fillRect/>
          </a:stretch>
        </p:blipFill>
        <p:spPr>
          <a:xfrm>
            <a:off x="1298448" y="2929596"/>
            <a:ext cx="9601200" cy="2141806"/>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Darken behind it, soften the area, or give it a band. Subtly.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Spacing, in two moves</a:t>
            </a:r>
          </a:p>
        </p:txBody>
      </p:sp>
      <p:sp>
        <p:nvSpPr>
          <p:cNvPr id="3" name="Content Placeholder 2"/>
          <p:cNvSpPr>
            <a:spLocks noGrp="1"/>
          </p:cNvSpPr>
          <p:nvPr>
            <p:ph idx="1"/>
          </p:nvPr>
        </p:nvSpPr>
        <p:spPr/>
        <p:txBody>
          <a:bodyPr/>
          <a:lstStyle/>
          <a:p>
            <a:pPr/>
            <a:r>
              <a:t>Tracking: open up all-caps titles.</a:t>
            </a:r>
          </a:p>
          <a:p>
            <a:pPr/>
            <a:r>
              <a:t>Kerning: fix the pairs that gap.</a:t>
            </a:r>
          </a:p>
          <a:p>
            <a:pPr/>
            <a:r>
              <a:t>Leading: lines close, not touching.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Proofread like it matters</a:t>
            </a:r>
          </a:p>
        </p:txBody>
      </p:sp>
      <p:sp>
        <p:nvSpPr>
          <p:cNvPr id="3" name="Content Placeholder 2"/>
          <p:cNvSpPr>
            <a:spLocks noGrp="1"/>
          </p:cNvSpPr>
          <p:nvPr>
            <p:ph idx="1"/>
          </p:nvPr>
        </p:nvSpPr>
        <p:spPr/>
        <p:txBody>
          <a:bodyPr/>
          <a:lstStyle/>
          <a:p>
            <a:pPr/>
            <a:r>
              <a:t>Typos are the loudest error.</a:t>
            </a:r>
          </a:p>
          <a:p>
            <a:pPr/>
            <a:r>
              <a:t>Read it backwards, word by word.</a:t>
            </a:r>
          </a:p>
          <a:p>
            <a:pPr/>
            <a:r>
              <a:t>Have someone else read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Alignment</a:t>
            </a:r>
          </a:p>
        </p:txBody>
      </p:sp>
      <p:sp>
        <p:nvSpPr>
          <p:cNvPr id="3" name="Content Placeholder 2"/>
          <p:cNvSpPr>
            <a:spLocks noGrp="1"/>
          </p:cNvSpPr>
          <p:nvPr>
            <p:ph idx="1"/>
          </p:nvPr>
        </p:nvSpPr>
        <p:spPr/>
        <p:txBody>
          <a:bodyPr/>
          <a:lstStyle/>
          <a:p>
            <a:pPr/>
            <a:r>
              <a:t>Left, centered, or right: pick one.</a:t>
            </a:r>
          </a:p>
          <a:p>
            <a:pPr/>
            <a:r>
              <a:t>Align to something in the image.</a:t>
            </a:r>
          </a:p>
          <a:p>
            <a:pPr/>
            <a:r>
              <a:t>Keep it the same across the set.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Choosing a font</a:t>
            </a:r>
          </a:p>
        </p:txBody>
      </p:sp>
      <p:sp>
        <p:nvSpPr>
          <p:cNvPr id="3" name="Content Placeholder 2"/>
          <p:cNvSpPr>
            <a:spLocks noGrp="1"/>
          </p:cNvSpPr>
          <p:nvPr>
            <p:ph idx="1"/>
          </p:nvPr>
        </p:nvSpPr>
        <p:spPr/>
        <p:txBody>
          <a:bodyPr/>
          <a:lstStyle/>
          <a:p>
            <a:pPr/>
            <a:r>
              <a:t>Match the mood of the brief.</a:t>
            </a:r>
          </a:p>
          <a:p>
            <a:pPr/>
            <a:r>
              <a:t>Two families, at most.</a:t>
            </a:r>
          </a:p>
          <a:p>
            <a:pPr/>
            <a:r>
              <a:t>Adobe Fonts, in the lab.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three formats</a:t>
            </a:r>
          </a:p>
        </p:txBody>
      </p:sp>
      <p:sp>
        <p:nvSpPr>
          <p:cNvPr id="3" name="Rectangle 2"/>
          <p:cNvSpPr/>
          <p:nvPr/>
        </p:nvSpPr>
        <p:spPr>
          <a:xfrm>
            <a:off x="12984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14600"/>
            <a:ext cx="9144000" cy="411480"/>
          </a:xfrm>
          <a:prstGeom prst="rect">
            <a:avLst/>
          </a:prstGeom>
          <a:noFill/>
        </p:spPr>
        <p:txBody>
          <a:bodyPr wrap="square">
            <a:spAutoFit/>
          </a:bodyPr>
          <a:lstStyle/>
          <a:p>
            <a:r>
              <a:rPr sz="2100">
                <a:solidFill>
                  <a:srgbClr val="2B2B2B"/>
                </a:solidFill>
              </a:rPr>
              <a:t>Key art: title, logo area, vertical crop</a:t>
            </a:r>
          </a:p>
        </p:txBody>
      </p:sp>
      <p:sp>
        <p:nvSpPr>
          <p:cNvPr id="5" name="Rectangle 4"/>
          <p:cNvSpPr/>
          <p:nvPr/>
        </p:nvSpPr>
        <p:spPr>
          <a:xfrm>
            <a:off x="12984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7" y="3081528"/>
            <a:ext cx="9144000" cy="411480"/>
          </a:xfrm>
          <a:prstGeom prst="rect">
            <a:avLst/>
          </a:prstGeom>
          <a:noFill/>
        </p:spPr>
        <p:txBody>
          <a:bodyPr wrap="square">
            <a:spAutoFit/>
          </a:bodyPr>
          <a:lstStyle/>
          <a:p>
            <a:r>
              <a:rPr sz="2100">
                <a:solidFill>
                  <a:srgbClr val="2B2B2B"/>
                </a:solidFill>
              </a:rPr>
              <a:t>Chapter headers: same spot every time</a:t>
            </a:r>
          </a:p>
        </p:txBody>
      </p:sp>
      <p:sp>
        <p:nvSpPr>
          <p:cNvPr id="7" name="Rectangle 6"/>
          <p:cNvSpPr/>
          <p:nvPr/>
        </p:nvSpPr>
        <p:spPr>
          <a:xfrm>
            <a:off x="12984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7" y="3648456"/>
            <a:ext cx="9144000" cy="411480"/>
          </a:xfrm>
          <a:prstGeom prst="rect">
            <a:avLst/>
          </a:prstGeom>
          <a:noFill/>
        </p:spPr>
        <p:txBody>
          <a:bodyPr wrap="square">
            <a:spAutoFit/>
          </a:bodyPr>
          <a:lstStyle/>
          <a:p>
            <a:r>
              <a:rPr sz="2100">
                <a:solidFill>
                  <a:srgbClr val="2B2B2B"/>
                </a:solidFill>
              </a:rPr>
              <a:t>Posters: title, one line, small credits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poster cliché</a:t>
            </a:r>
          </a:p>
        </p:txBody>
      </p:sp>
      <p:sp>
        <p:nvSpPr>
          <p:cNvPr id="3" name="Content Placeholder 2"/>
          <p:cNvSpPr>
            <a:spLocks noGrp="1"/>
          </p:cNvSpPr>
          <p:nvPr>
            <p:ph idx="1"/>
          </p:nvPr>
        </p:nvSpPr>
        <p:spPr>
          <a:xfrm>
            <a:off x="1298448" y="2560320"/>
            <a:ext cx="5349240" cy="3383280"/>
          </a:xfrm>
        </p:spPr>
        <p:txBody>
          <a:bodyPr/>
          <a:lstStyle/>
          <a:p>
            <a:pPr/>
            <a:r>
              <a:t>Floating heads.</a:t>
            </a:r>
          </a:p>
          <a:p>
            <a:pPr/>
            <a:r>
              <a:t>Orange and blue.</a:t>
            </a:r>
          </a:p>
          <a:p>
            <a:pPr/>
            <a:r>
              <a:t>Why does everything look like this?</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typical 'floating heads' film poster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Worked example: a chapter header</a:t>
            </a:r>
          </a:p>
        </p:txBody>
      </p:sp>
      <p:sp>
        <p:nvSpPr>
          <p:cNvPr id="3" name="Rounded Rectangle 2"/>
          <p:cNvSpPr/>
          <p:nvPr/>
        </p:nvSpPr>
        <p:spPr>
          <a:xfrm>
            <a:off x="1298448"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2B2B2B"/>
                </a:solidFill>
              </a:rPr>
              <a:t>Template</a:t>
            </a:r>
          </a:p>
          <a:p>
            <a:pPr algn="ctr"/>
            <a:r>
              <a:rPr sz="1200">
                <a:solidFill>
                  <a:srgbClr val="2B2B2B"/>
                </a:solidFill>
              </a:rPr>
              <a:t>areas and margins</a:t>
            </a:r>
          </a:p>
        </p:txBody>
      </p:sp>
      <p:sp>
        <p:nvSpPr>
          <p:cNvPr id="4" name="Rounded Rectangle 3"/>
          <p:cNvSpPr/>
          <p:nvPr/>
        </p:nvSpPr>
        <p:spPr>
          <a:xfrm>
            <a:off x="3277209"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2B2B2B"/>
                </a:solidFill>
              </a:rPr>
              <a:t>Quiet area</a:t>
            </a:r>
          </a:p>
          <a:p>
            <a:pPr algn="ctr"/>
            <a:r>
              <a:rPr sz="1200">
                <a:solidFill>
                  <a:srgbClr val="2B2B2B"/>
                </a:solidFill>
              </a:rPr>
              <a:t>check in gray</a:t>
            </a:r>
          </a:p>
        </p:txBody>
      </p:sp>
      <p:sp>
        <p:nvSpPr>
          <p:cNvPr id="5" name="Rounded Rectangle 4"/>
          <p:cNvSpPr/>
          <p:nvPr/>
        </p:nvSpPr>
        <p:spPr>
          <a:xfrm>
            <a:off x="5255971"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2B2B2B"/>
                </a:solidFill>
              </a:rPr>
              <a:t>Type</a:t>
            </a:r>
          </a:p>
          <a:p>
            <a:pPr algn="ctr"/>
            <a:r>
              <a:rPr sz="1200">
                <a:solidFill>
                  <a:srgbClr val="2B2B2B"/>
                </a:solidFill>
              </a:rPr>
              <a:t>title, then number</a:t>
            </a:r>
          </a:p>
        </p:txBody>
      </p:sp>
      <p:sp>
        <p:nvSpPr>
          <p:cNvPr id="6" name="Rounded Rectangle 5"/>
          <p:cNvSpPr/>
          <p:nvPr/>
        </p:nvSpPr>
        <p:spPr>
          <a:xfrm>
            <a:off x="7234732"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2B2B2B"/>
                </a:solidFill>
              </a:rPr>
              <a:t>Support</a:t>
            </a:r>
          </a:p>
          <a:p>
            <a:pPr algn="ctr"/>
            <a:r>
              <a:rPr sz="1200">
                <a:solidFill>
                  <a:srgbClr val="2B2B2B"/>
                </a:solidFill>
              </a:rPr>
              <a:t>band or gradient</a:t>
            </a:r>
          </a:p>
        </p:txBody>
      </p:sp>
      <p:sp>
        <p:nvSpPr>
          <p:cNvPr id="7" name="Rounded Rectangle 6"/>
          <p:cNvSpPr/>
          <p:nvPr/>
        </p:nvSpPr>
        <p:spPr>
          <a:xfrm>
            <a:off x="9213494"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2B2B2B"/>
                </a:solidFill>
              </a:rPr>
              <a:t>Thumbnail test</a:t>
            </a:r>
          </a:p>
          <a:p>
            <a:pPr algn="ctr"/>
            <a:r>
              <a:rPr sz="1200">
                <a:solidFill>
                  <a:srgbClr val="2B2B2B"/>
                </a:solidFill>
              </a:rPr>
              <a:t>zoom way out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Now you: what's wrong with this layout?</a:t>
            </a:r>
          </a:p>
        </p:txBody>
      </p:sp>
      <p:sp>
        <p:nvSpPr>
          <p:cNvPr id="3" name="IMAGE SLOT"/>
          <p:cNvSpPr/>
          <p:nvPr/>
        </p:nvSpPr>
        <p:spPr>
          <a:xfrm>
            <a:off x="1298448" y="2395728"/>
            <a:ext cx="9601200" cy="347472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one of your images with badly placed type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 across a series</a:t>
            </a:r>
          </a:p>
        </p:txBody>
      </p:sp>
      <p:sp>
        <p:nvSpPr>
          <p:cNvPr id="3" name="Content Placeholder 2"/>
          <p:cNvSpPr>
            <a:spLocks noGrp="1"/>
          </p:cNvSpPr>
          <p:nvPr>
            <p:ph idx="1"/>
          </p:nvPr>
        </p:nvSpPr>
        <p:spPr/>
        <p:txBody>
          <a:bodyPr/>
          <a:lstStyle/>
          <a:p>
            <a:pPr/>
            <a:r>
              <a:t>Same position, same size.</a:t>
            </a:r>
          </a:p>
          <a:p>
            <a:pPr/>
            <a:r>
              <a:t>Build it once, reuse it.</a:t>
            </a:r>
          </a:p>
          <a:p>
            <a:pPr/>
            <a:r>
              <a:t>Only the words change.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Hierarchy</a:t>
            </a:r>
            <a:r>
              <a:rPr sz="1900"/>
              <a:t> – the order things are read in</a:t>
            </a:r>
          </a:p>
          <a:p>
            <a:pPr>
              <a:spcAft>
                <a:spcPts val="600"/>
              </a:spcAft>
            </a:pPr>
            <a:r>
              <a:rPr b="1" sz="1900"/>
              <a:t>Quiet area</a:t>
            </a:r>
            <a:r>
              <a:rPr sz="1900"/>
              <a:t> – low detail, even value: where type can sit</a:t>
            </a:r>
          </a:p>
          <a:p>
            <a:pPr>
              <a:spcAft>
                <a:spcPts val="600"/>
              </a:spcAft>
            </a:pPr>
            <a:r>
              <a:rPr b="1" sz="1900"/>
              <a:t>Tracking</a:t>
            </a:r>
            <a:r>
              <a:rPr sz="1900"/>
              <a:t> – the overall spacing between letters</a:t>
            </a:r>
          </a:p>
        </p:txBody>
      </p:sp>
      <p:sp>
        <p:nvSpPr>
          <p:cNvPr id="4" name="Content Placeholder 3"/>
          <p:cNvSpPr>
            <a:spLocks noGrp="1"/>
          </p:cNvSpPr>
          <p:nvPr>
            <p:ph idx="2" sz="half"/>
          </p:nvPr>
        </p:nvSpPr>
        <p:spPr/>
        <p:txBody>
          <a:bodyPr/>
          <a:lstStyle/>
          <a:p>
            <a:pPr>
              <a:spcAft>
                <a:spcPts val="600"/>
              </a:spcAft>
            </a:pPr>
            <a:r>
              <a:rPr b="1" sz="1900"/>
              <a:t>Margin</a:t>
            </a:r>
            <a:r>
              <a:rPr sz="1900"/>
              <a:t> – the empty edge no type should cross</a:t>
            </a:r>
          </a:p>
          <a:p>
            <a:pPr>
              <a:spcAft>
                <a:spcPts val="600"/>
              </a:spcAft>
            </a:pPr>
            <a:r>
              <a:rPr b="1" sz="1900"/>
              <a:t>Legibility</a:t>
            </a:r>
            <a:r>
              <a:rPr sz="1900"/>
              <a:t> – can it be read, at the size it's seen</a:t>
            </a:r>
          </a:p>
          <a:p>
            <a:pPr>
              <a:spcAft>
                <a:spcPts val="600"/>
              </a:spcAft>
            </a:pPr>
            <a:r>
              <a:rPr b="1" sz="1900"/>
              <a:t>Thumbnail test</a:t>
            </a:r>
            <a:r>
              <a:rPr sz="1900"/>
              <a:t> – zoom out until it's tiny; still readable?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Add type to one image of your set</a:t>
            </a:r>
          </a:p>
          <a:p>
            <a:pPr/>
            <a:r>
              <a:t>from the provided layout template.</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Design your own layout</a:t>
            </a:r>
          </a:p>
          <a:p>
            <a:pPr/>
            <a:r>
              <a:t>for one image of your set,</a:t>
            </a:r>
          </a:p>
          <a:p>
            <a:pPr/>
            <a:r>
              <a:t>with a note on the hierarchy.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 the type yourself.</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Biggest thing first, in a quiet place, readable at thumbnail size.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