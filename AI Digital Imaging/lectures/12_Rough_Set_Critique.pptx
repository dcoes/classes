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8"/>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64678" autoAdjust="0"/>
  </p:normalViewPr>
  <p:slideViewPr>
    <p:cSldViewPr snapToGrid="0">
      <p:cViewPr varScale="1">
        <p:scale>
          <a:sx n="36" d="100"/>
          <a:sy n="36" d="100"/>
        </p:scale>
        <p:origin x="1430" y="24"/>
      </p:cViewPr>
      <p:guideLst/>
    </p:cSldViewPr>
  </p:slideViewPr>
  <p:notesTextViewPr>
    <p:cViewPr>
      <p:scale>
        <a:sx n="125" d="100"/>
        <a:sy n="125"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9EE8B73-20FE-4169-9595-E55E7D4C6C8A}" type="datetimeFigureOut">
              <a:rPr lang="en-US" smtClean="0"/>
              <a:t>8/10/2026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C7FDB04-D1AC-46DB-9592-CA12D78D404F}" type="slidenum">
              <a:rPr lang="en-US" smtClean="0"/>
              <a:t>‹#›</a:t>
            </a:fld>
            <a:endParaRPr lang="en-US"/>
          </a:p>
        </p:txBody>
      </p:sp>
    </p:spTree>
    <p:extLst>
      <p:ext uri="{BB962C8B-B14F-4D97-AF65-F5344CB8AC3E}">
        <p14:creationId xmlns:p14="http://schemas.microsoft.com/office/powerpoint/2010/main" val="18440064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rPr b="1"/>
              <a:t>Running time.</a:t>
            </a:r>
            <a:r>
              <a:t> A critique day, so the lecture is shorter, about 30 minutes, and the rest is critique. Spot it (3). Milestone 2 check-in and the Option B outputs handed back (4). Critiquing a series rather than an image (10). The weakest image (5). Rejections as evidence (4). How today runs (4). Then critique, with a room-wide look partway through.</a:t>
            </a:r>
          </a:p>
          <a:p>
            <a:pPr>
              <a:spcAft>
                <a:spcPts val="800"/>
              </a:spcAft>
            </a:pPr>
            <a:r>
              <a:rPr b="1"/>
              <a:t>Prep before class.</a:t>
            </a:r>
            <a:r>
              <a:t> Collect Milestone 2 (the rough set). Hand back the outputs from Option B sketches run on your machine. One rough set of your own, three or four images for a brief, with one image clearly weaker and one consistency break, for the practice round. Note sheets with an added column for the must and must-not list.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rPr b="1"/>
              <a:t>Spot it, about four minutes.</a:t>
            </a:r>
            <a:r>
              <a:t> Put the image up and say nothing for a few seconds. Then: what's wrong with it? Hands up, one error per person, and make them say where it is and what kind of error it is, in the checklist words once we have them (anatomy, perspective, light, lettering, repeated texture, sheen). Count the errors out loud as they come in. Don't confirm or correct until the room stops finding things, then add the one they missed, if there is one.</a:t>
            </a:r>
          </a:p>
          <a:p>
            <a:pPr>
              <a:spcAft>
                <a:spcPts val="800"/>
              </a:spcAft>
            </a:pPr>
            <a:r>
              <a:t>This opener runs every class. The point is repetition: by week four the room finds the shadow problem before the hand problem, which is the right order.</a:t>
            </a:r>
          </a:p>
          <a:p>
            <a:pPr>
              <a:spcAft>
                <a:spcPts val="800"/>
              </a:spcAft>
            </a:pPr>
            <a:r>
              <a:t>Short today, two minutes.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Milestone 2: your rough set, all images, unfinished. [Check submissions.]</a:t>
            </a:r>
          </a:p>
          <a:p>
            <a:pPr>
              <a:spcAft>
                <a:spcPts val="800"/>
              </a:spcAft>
            </a:pPr>
            <a:r>
              <a:t>For those who did Option B last night, here are the outputs from your sketches. [Hand them back.] Take one minute to look at them. Notice which parts of your sketch held and which parts the generator reinterpreted. That's useful information about your drawing, too.</a:t>
            </a:r>
          </a:p>
          <a:p>
            <a:pPr>
              <a:spcAft>
                <a:spcPts val="800"/>
              </a:spcAft>
            </a:pPr>
            <a:r>
              <a:t>Today's critique is different from Project 1 in one important way. We're not just asking whether each image works. We're asking whether the images work **together."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Here's the idea for today. A series is judged as one thing.</a:t>
            </a:r>
          </a:p>
          <a:p>
            <a:pPr>
              <a:spcAft>
                <a:spcPts val="800"/>
              </a:spcAft>
            </a:pPr>
            <a:r>
              <a:t>Someone looking at your three posters, or your book's chapter headers, or a store page with your key art, sees them together. If one of them is from a different world, a different light, a different version of the character, the whole set reads as unfinished, even if each image is good on its own.</a:t>
            </a:r>
          </a:p>
          <a:p>
            <a:pPr>
              <a:spcAft>
                <a:spcPts val="800"/>
              </a:spcAft>
            </a:pPr>
            <a:r>
              <a:t>That's harsh, and it's also how it works in practice. An art director will throw out a beautiful image because it doesn't match the other three.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So the critique has a different order today.</a:t>
            </a:r>
          </a:p>
          <a:p>
            <a:pPr>
              <a:spcAft>
                <a:spcPts val="800"/>
              </a:spcAft>
            </a:pPr>
            <a:r>
              <a:rPr b="1"/>
              <a:t>The brief</a:t>
            </a:r>
            <a:r>
              <a:t> first: does the set, as a whole, answer it? </a:t>
            </a:r>
            <a:r>
              <a:rPr b="1"/>
              <a:t>The musts and must-nots</a:t>
            </a:r>
            <a:r>
              <a:t>: go down your list, image by image. Every must in every image, no must-not anywhere. </a:t>
            </a:r>
            <a:r>
              <a:rPr b="1"/>
              <a:t>Consistency</a:t>
            </a:r>
            <a:r>
              <a:t>: character, place and light across the set, using the side-by-side and flipping methods from session 6. And only then </a:t>
            </a:r>
            <a:r>
              <a:rPr b="1"/>
              <a:t>each image</a:t>
            </a:r>
            <a:r>
              <a:t> on its own, with the checklist.</a:t>
            </a:r>
          </a:p>
          <a:p>
            <a:pPr>
              <a:spcAft>
                <a:spcPts val="800"/>
              </a:spcAft>
            </a:pPr>
            <a:r>
              <a:t>Most of you will want to start with the last one, because it's familiar. Resist that. If the set doesn't hold together, polishing one image is time spent in the wrong place.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How to actually look at a set, as a reader in your group.</a:t>
            </a:r>
          </a:p>
          <a:p>
            <a:pPr>
              <a:spcAft>
                <a:spcPts val="800"/>
              </a:spcAft>
            </a:pPr>
            <a:r>
              <a:t>Ask the presenter to show all the images </a:t>
            </a:r>
            <a:r>
              <a:rPr b="1"/>
              <a:t>side by side, the same size</a:t>
            </a:r>
            <a:r>
              <a:t>, on one screen. </a:t>
            </a:r>
            <a:r>
              <a:rPr b="1"/>
              <a:t>Squint</a:t>
            </a:r>
            <a:r>
              <a:t>, so you see the silhouettes and the big color shapes. If one has a different palette or a different light, it'll jump out. Then </a:t>
            </a:r>
            <a:r>
              <a:rPr b="1"/>
              <a:t>flip through</a:t>
            </a:r>
            <a:r>
              <a:t> them one at a time, quickly, which catches a character whose face or hair changed.</a:t>
            </a:r>
          </a:p>
          <a:p>
            <a:pPr>
              <a:spcAft>
                <a:spcPts val="800"/>
              </a:spcAft>
            </a:pPr>
            <a:r>
              <a:t>Then, and only then, look closely.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Every set has a weakest image. Yours does, mine does. A useful note in a series critique is: "this one is the weakest, and here's why."</a:t>
            </a:r>
          </a:p>
          <a:p>
            <a:pPr>
              <a:spcAft>
                <a:spcPts val="800"/>
              </a:spcAft>
            </a:pPr>
            <a:r>
              <a:t>It might be weakest because it misses the brief, because it breaks consistency, because the composition is muddier than the others, or because it's simply the one you liked least and kept anyway.</a:t>
            </a:r>
          </a:p>
          <a:p>
            <a:pPr>
              <a:spcAft>
                <a:spcPts val="800"/>
              </a:spcAft>
            </a:pPr>
            <a:r>
              <a:t>That's tonight's Option A: replace the weakest image in your set and explain why it was the weakest. Option B is the other common fix: correct the most visible consistency break. Either one improves the whole set more than polishing your favorite.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A reminder about rejected images, since you'll make more of them this week than any other.</a:t>
            </a:r>
          </a:p>
          <a:p>
            <a:pPr>
              <a:spcAft>
                <a:spcPts val="800"/>
              </a:spcAft>
            </a:pPr>
            <a:r>
              <a:t>Keep them. Put them in a folder or a hidden layer group called REJECTS, and add a line in your log saying why each one was rejected: "breaks the must on the scarf," "light from the right," "pose too static for chapter 3."</a:t>
            </a:r>
          </a:p>
          <a:p>
            <a:pPr>
              <a:spcAft>
                <a:spcPts val="800"/>
              </a:spcAft>
            </a:pPr>
            <a:r>
              <a:t>The final asks for rejected selections because they show your judgment better than the keeps do. Anybody can show a good image. Showing the four you didn't use, and why, shows that you know the difference.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[About eight minutes.] As before, you critique me first. Here's a rough set of mine and its brief, with the must and must-not list. [Read them aloud.]</a:t>
            </a:r>
          </a:p>
          <a:p>
            <a:pPr>
              <a:spcAft>
                <a:spcPts val="800"/>
              </a:spcAft>
            </a:pPr>
            <a:r>
              <a:t>In order: does the set answer the brief? Go down the musts. Consistency across the set. Then individual images. And then, which is the weakest one, and why?</a:t>
            </a:r>
          </a:p>
          <a:p>
            <a:pPr>
              <a:spcAft>
                <a:spcPts val="800"/>
              </a:spcAft>
            </a:pPr>
            <a:r>
              <a:t>[Take notes in the columns on the board. Model taking notes without defending. If the room goes straight to individual errors, redirect them to the order.]</a:t>
            </a:r>
          </a:p>
          <a:p>
            <a:pPr>
              <a:spcAft>
                <a:spcPts val="800"/>
              </a:spcAft>
            </a:pPr>
            <a:r>
              <a:t>Thank you. Now you know what's coming for you.</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Same structure as Project 1 critique, with two additions.</a:t>
            </a:r>
          </a:p>
          <a:p>
            <a:pPr>
              <a:spcAft>
                <a:spcPts val="800"/>
              </a:spcAft>
            </a:pPr>
            <a:r>
              <a:t>Groups of three or four, about six minutes per person. Show the set </a:t>
            </a:r>
            <a:r>
              <a:rPr b="1"/>
              <a:t>side by side first</a:t>
            </a:r>
            <a:r>
              <a:t>, then read your brief and must and must-not list aloud. Notes in the format: brief says, image does, one change. Written down. And each reader names </a:t>
            </a:r>
            <a:r>
              <a:rPr b="1"/>
              <a:t>which image is weakest and why</a:t>
            </a:r>
            <a:r>
              <a:t>, even if it's uncomfortable.</a:t>
            </a:r>
          </a:p>
          <a:p>
            <a:pPr>
              <a:spcAft>
                <a:spcPts val="800"/>
              </a:spcAft>
            </a:pPr>
            <a:r>
              <a:t>I'll rotate. Halfway through we stop and look across the room.</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[Use at the halfway point, filled in live from what you saw.]</a:t>
            </a:r>
          </a:p>
          <a:p>
            <a:pPr>
              <a:spcAft>
                <a:spcPts val="800"/>
              </a:spcAft>
            </a:pPr>
            <a:r>
              <a:t>What held across most sets? [Often the palette.] What broke most often? [Usually the character's face or costume details, or the light direction in one image.] What should everyone fix first this week? [Usually the consistency break, before any polish.]</a:t>
            </a:r>
          </a:p>
          <a:p>
            <a:pPr>
              <a:spcAft>
                <a:spcPts val="800"/>
              </a:spcAft>
            </a:pPr>
            <a:r>
              <a:t>[Name patterns, not people.]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Thirty seconds. Read the terms aloud and ask the room for any they can't explain yet. These are on Canvas as a running glossary, which helps everyone and helps accommodated students most, on a schedule where the next class is often tomorrow.</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Tonight, due next class.</a:t>
            </a:r>
          </a:p>
          <a:p>
            <a:pPr>
              <a:spcAft>
                <a:spcPts val="800"/>
              </a:spcAft>
            </a:pPr>
            <a:r>
              <a:rPr b="1"/>
              <a:t>Option A</a:t>
            </a:r>
            <a:r>
              <a:t>: replace the weakest image in your set, and write two or three sentences on why it was the weakest. Keep the old one in REJECTS.</a:t>
            </a:r>
          </a:p>
          <a:p>
            <a:pPr>
              <a:spcAft>
                <a:spcPts val="800"/>
              </a:spcAft>
            </a:pPr>
            <a:r>
              <a:rPr b="1"/>
              <a:t>Option B</a:t>
            </a:r>
            <a:r>
              <a:t>: correct the most visible consistency break across the set, by hand, on named FIX_ layers.</a:t>
            </a:r>
          </a:p>
          <a:p>
            <a:pPr>
              <a:spcAft>
                <a:spcPts val="800"/>
              </a:spcAft>
            </a:pPr>
            <a:r>
              <a:t>Milestone 3, the corrected set, is due at session 14. Next class is type and layout, which you'll be adding to your images.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Fix the set before you polish an image. [Into the groups.]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7" name="Picture 6" descr="HD-PanelTitle-GrommetsCombine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a:xfrm>
            <a:off x="2692397" y="5037663"/>
            <a:ext cx="5214635" cy="279400"/>
          </a:xfrm>
        </p:spPr>
        <p:txBody>
          <a:bodyPr/>
          <a:lstStyle/>
          <a:p>
            <a:endParaRPr lang="en-US"/>
          </a:p>
        </p:txBody>
      </p:sp>
      <p:sp>
        <p:nvSpPr>
          <p:cNvPr id="6" name="Slide Number Placeholder 5"/>
          <p:cNvSpPr>
            <a:spLocks noGrp="1"/>
          </p:cNvSpPr>
          <p:nvPr>
            <p:ph type="sldNum" sz="quarter" idx="12"/>
          </p:nvPr>
        </p:nvSpPr>
        <p:spPr>
          <a:xfrm>
            <a:off x="8956900" y="5037663"/>
            <a:ext cx="551167" cy="279400"/>
          </a:xfrm>
        </p:spPr>
        <p:txBody>
          <a:bodyPr/>
          <a:lstStyle/>
          <a:p>
            <a:fld id="{783C7E8E-FD18-4999-BA7E-E42594F7B785}" type="slidenum">
              <a:rPr lang="en-US" smtClean="0"/>
              <a:t>‹#›</a:t>
            </a:fld>
            <a:endParaRPr lang="en-US"/>
          </a:p>
        </p:txBody>
      </p:sp>
      <p:cxnSp>
        <p:nvCxnSpPr>
          <p:cNvPr id="15" name="Straight Connector 14"/>
          <p:cNvCxnSpPr/>
          <p:nvPr/>
        </p:nvCxnSpPr>
        <p:spPr>
          <a:xfrm>
            <a:off x="2692399" y="3522131"/>
            <a:ext cx="6815668" cy="0"/>
          </a:xfrm>
          <a:prstGeom prst="line">
            <a:avLst/>
          </a:prstGeom>
          <a:ln>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939532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23284976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cxnSp>
        <p:nvCxnSpPr>
          <p:cNvPr id="16" name="Straight Connector 15"/>
          <p:cNvCxnSpPr/>
          <p:nvPr/>
        </p:nvCxnSpPr>
        <p:spPr>
          <a:xfrm>
            <a:off x="2012723" y="3710585"/>
            <a:ext cx="8163380"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014564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92E33A7-84C6-449C-AE67-6E7B8B6855DE}" type="datetimeFigureOut">
              <a:rPr lang="en-US" smtClean="0"/>
              <a:t>8/10/2026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23526212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1" y="2658533"/>
            <a:ext cx="4718304" cy="576262"/>
          </a:xfrm>
        </p:spPr>
        <p:txBody>
          <a:bodyPr anchor="b">
            <a:noAutofit/>
          </a:bodyPr>
          <a:lstStyle>
            <a:lvl1pPr marL="0" indent="0">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80671" y="3243262"/>
            <a:ext cx="4718304" cy="2632605"/>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92E33A7-84C6-449C-AE67-6E7B8B6855DE}" type="datetimeFigureOut">
              <a:rPr lang="en-US" smtClean="0"/>
              <a:t>8/10/2026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83C7E8E-FD18-4999-BA7E-E42594F7B785}" type="slidenum">
              <a:rPr lang="en-US" smtClean="0"/>
              <a:t>‹#›</a:t>
            </a:fld>
            <a:endParaRPr lang="en-US"/>
          </a:p>
        </p:txBody>
      </p:sp>
      <p:cxnSp>
        <p:nvCxnSpPr>
          <p:cNvPr id="18" name="Straight Connector 17"/>
          <p:cNvCxnSpPr/>
          <p:nvPr/>
        </p:nvCxnSpPr>
        <p:spPr>
          <a:xfrm>
            <a:off x="1396169" y="2421466"/>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668395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92E33A7-84C6-449C-AE67-6E7B8B6855DE}" type="datetimeFigureOut">
              <a:rPr lang="en-US" smtClean="0"/>
              <a:t>8/10/2026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83C7E8E-FD18-4999-BA7E-E42594F7B785}" type="slidenum">
              <a:rPr lang="en-US" smtClean="0"/>
              <a:t>‹#›</a:t>
            </a:fld>
            <a:endParaRPr lang="en-US"/>
          </a:p>
        </p:txBody>
      </p:sp>
      <p:cxnSp>
        <p:nvCxnSpPr>
          <p:cNvPr id="14" name="Straight Connector 13"/>
          <p:cNvCxnSpPr/>
          <p:nvPr/>
        </p:nvCxnSpPr>
        <p:spPr>
          <a:xfrm>
            <a:off x="1396169" y="2421466"/>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213248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92E33A7-84C6-449C-AE67-6E7B8B6855DE}" type="datetimeFigureOut">
              <a:rPr lang="en-US" smtClean="0"/>
              <a:t>8/10/2026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2699410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592E33A7-84C6-449C-AE67-6E7B8B6855DE}" type="datetimeFigureOut">
              <a:rPr lang="en-US" smtClean="0"/>
              <a:t>8/10/2026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3C7E8E-FD18-4999-BA7E-E42594F7B785}" type="slidenum">
              <a:rPr lang="en-US" smtClean="0"/>
              <a:t>‹#›</a:t>
            </a:fld>
            <a:endParaRPr lang="en-US"/>
          </a:p>
        </p:txBody>
      </p:sp>
      <p:cxnSp>
        <p:nvCxnSpPr>
          <p:cNvPr id="16" name="Straight Connector 15"/>
          <p:cNvCxnSpPr/>
          <p:nvPr/>
        </p:nvCxnSpPr>
        <p:spPr>
          <a:xfrm>
            <a:off x="1396169" y="2912533"/>
            <a:ext cx="35144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000149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592E33A7-84C6-449C-AE67-6E7B8B6855DE}" type="datetimeFigureOut">
              <a:rPr lang="en-US" smtClean="0"/>
              <a:t>8/10/2026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33869325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592E33A7-84C6-449C-AE67-6E7B8B6855DE}" type="datetimeFigureOut">
              <a:rPr lang="en-US" smtClean="0"/>
              <a:t>8/10/2026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25789411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cxnSp>
        <p:nvCxnSpPr>
          <p:cNvPr id="15" name="Straight Connector 14"/>
          <p:cNvCxnSpPr/>
          <p:nvPr/>
        </p:nvCxnSpPr>
        <p:spPr>
          <a:xfrm>
            <a:off x="1396169" y="4140199"/>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817206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a:solidFill>
                  <a:schemeClr val="tx1"/>
                </a:solidFill>
                <a:effectLst/>
              </a:rPr>
              <a:t>”</a:t>
            </a:r>
          </a:p>
        </p:txBody>
      </p:sp>
      <p:cxnSp>
        <p:nvCxnSpPr>
          <p:cNvPr id="19" name="Straight Connector 18"/>
          <p:cNvCxnSpPr/>
          <p:nvPr/>
        </p:nvCxnSpPr>
        <p:spPr>
          <a:xfrm>
            <a:off x="1396169" y="4140199"/>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2967931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296585080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4"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a:solidFill>
                  <a:schemeClr val="tx1"/>
                </a:solidFill>
                <a:effectLst/>
              </a:rPr>
              <a:t>”</a:t>
            </a:r>
          </a:p>
        </p:txBody>
      </p:sp>
      <p:cxnSp>
        <p:nvCxnSpPr>
          <p:cNvPr id="26" name="Straight Connector 25"/>
          <p:cNvCxnSpPr/>
          <p:nvPr/>
        </p:nvCxnSpPr>
        <p:spPr>
          <a:xfrm>
            <a:off x="1396169" y="3429000"/>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8362201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1"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cxnSp>
        <p:nvCxnSpPr>
          <p:cNvPr id="15" name="Straight Connector 14"/>
          <p:cNvCxnSpPr/>
          <p:nvPr/>
        </p:nvCxnSpPr>
        <p:spPr>
          <a:xfrm>
            <a:off x="1396169" y="3429000"/>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8154296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cxnSp>
        <p:nvCxnSpPr>
          <p:cNvPr id="14" name="Straight Connector 13"/>
          <p:cNvCxnSpPr/>
          <p:nvPr/>
        </p:nvCxnSpPr>
        <p:spPr>
          <a:xfrm>
            <a:off x="1396169" y="2421466"/>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0466294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cxnSp>
        <p:nvCxnSpPr>
          <p:cNvPr id="14" name="Straight Connector 13"/>
          <p:cNvCxnSpPr/>
          <p:nvPr/>
        </p:nvCxnSpPr>
        <p:spPr>
          <a:xfrm>
            <a:off x="8863890" y="990600"/>
            <a:ext cx="0" cy="487680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0857335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 Id="rId19"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7" name="Picture 6" descr="HD-PanelContent-GrommetsCombined.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592E33A7-84C6-449C-AE67-6E7B8B6855DE}" type="datetimeFigureOut">
              <a:rPr lang="en-US" smtClean="0"/>
              <a:t>8/10/2026</a:t>
            </a:fld>
            <a:endParaRPr lang="en-US"/>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783C7E8E-FD18-4999-BA7E-E42594F7B785}" type="slidenum">
              <a:rPr lang="en-US" smtClean="0"/>
              <a:t>‹#›</a:t>
            </a:fld>
            <a:endParaRPr lang="en-US"/>
          </a:p>
        </p:txBody>
      </p:sp>
    </p:spTree>
    <p:extLst>
      <p:ext uri="{BB962C8B-B14F-4D97-AF65-F5344CB8AC3E}">
        <p14:creationId xmlns:p14="http://schemas.microsoft.com/office/powerpoint/2010/main" val="369268416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Rough Set Critique</a:t>
            </a:r>
          </a:p>
        </p:txBody>
      </p:sp>
      <p:sp>
        <p:nvSpPr>
          <p:cNvPr id="3" name="Subtitle 2"/>
          <p:cNvSpPr>
            <a:spLocks noGrp="1"/>
          </p:cNvSpPr>
          <p:nvPr>
            <p:ph type="subTitle" idx="1"/>
          </p:nvPr>
        </p:nvSpPr>
        <p:spPr/>
        <p:txBody>
          <a:bodyPr/>
          <a:lstStyle/>
          <a:p>
            <a:r>
              <a:t>AI Digital Imaging  |  Session 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Spot it</a:t>
            </a:r>
          </a:p>
        </p:txBody>
      </p:sp>
      <p:sp>
        <p:nvSpPr>
          <p:cNvPr id="3" name="Content Placeholder 2"/>
          <p:cNvSpPr>
            <a:spLocks noGrp="1"/>
          </p:cNvSpPr>
          <p:nvPr>
            <p:ph idx="1"/>
          </p:nvPr>
        </p:nvSpPr>
        <p:spPr>
          <a:xfrm>
            <a:off x="1298448" y="2560320"/>
            <a:ext cx="5349240" cy="3383280"/>
          </a:xfrm>
        </p:spPr>
        <p:txBody>
          <a:bodyPr/>
          <a:lstStyle/>
          <a:p>
            <a:pPr/>
            <a:r>
              <a:t>One image. Ninety seconds.</a:t>
            </a:r>
          </a:p>
          <a:p>
            <a:pPr/>
            <a:r>
              <a:t>What's wrong with it?</a:t>
            </a:r>
          </a:p>
          <a:p>
            <a:pPr/>
            <a:r>
              <a:t>Say where, and what kind.</a:t>
            </a:r>
          </a:p>
        </p:txBody>
      </p:sp>
      <p:sp>
        <p:nvSpPr>
          <p:cNvPr id="4" name="IMAGE SLOT"/>
          <p:cNvSpPr/>
          <p:nvPr/>
        </p:nvSpPr>
        <p:spPr>
          <a:xfrm>
            <a:off x="6949440" y="2468880"/>
            <a:ext cx="4471416" cy="3429000"/>
          </a:xfrm>
          <a:prstGeom prst="rect">
            <a:avLst/>
          </a:prstGeom>
          <a:solidFill>
            <a:srgbClr val="F2F0EA"/>
          </a:solidFill>
          <a:ln w="15875">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i="1">
                <a:solidFill>
                  <a:srgbClr val="8A8A8A"/>
                </a:solidFill>
              </a:rPr>
              <a:t>image: two images from one generated series, with a consistency break between them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Milestone 2 is in</a:t>
            </a:r>
          </a:p>
        </p:txBody>
      </p:sp>
      <p:sp>
        <p:nvSpPr>
          <p:cNvPr id="3" name="Content Placeholder 2"/>
          <p:cNvSpPr>
            <a:spLocks noGrp="1"/>
          </p:cNvSpPr>
          <p:nvPr>
            <p:ph idx="1"/>
          </p:nvPr>
        </p:nvSpPr>
        <p:spPr/>
        <p:txBody>
          <a:bodyPr/>
          <a:lstStyle/>
          <a:p>
            <a:pPr/>
            <a:r>
              <a:t>All three or four images, rough.</a:t>
            </a:r>
          </a:p>
          <a:p>
            <a:pPr/>
            <a:r>
              <a:t>Option B outputs: back to you now.</a:t>
            </a:r>
          </a:p>
          <a:p>
            <a:pPr/>
            <a:r>
              <a:t>Today: does it read as a series?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 series is judged as one thing.</a:t>
            </a:r>
          </a:p>
        </p:txBody>
      </p:sp>
      <p:sp>
        <p:nvSpPr>
          <p:cNvPr id="3" name="Text Placeholder 2"/>
          <p:cNvSpPr>
            <a:spLocks noGrp="1"/>
          </p:cNvSpPr>
          <p:nvPr>
            <p:ph type="body" idx="13" sz="quarter"/>
          </p:nvPr>
        </p:nvSpPr>
        <p:spPr/>
        <p:txBody>
          <a:bodyPr/>
          <a:lstStyle/>
          <a:p>
            <a:r>
              <a:t>Today's idea</a:t>
            </a:r>
          </a:p>
        </p:txBody>
      </p:sp>
      <p:sp>
        <p:nvSpPr>
          <p:cNvPr id="4" name="Text Placeholder 3"/>
          <p:cNvSpPr>
            <a:spLocks noGrp="1"/>
          </p:cNvSpPr>
          <p:nvPr>
            <p:ph type="body" idx="1"/>
          </p:nvPr>
        </p:nvSpPr>
        <p:spPr/>
        <p:txBody>
          <a:bodyPr/>
          <a:lstStyle/>
          <a:p>
            <a:r>
              <a:t>One image that breaks the set breaks the set.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Critiquing a series</a:t>
            </a:r>
          </a:p>
        </p:txBody>
      </p:sp>
      <p:sp>
        <p:nvSpPr>
          <p:cNvPr id="3" name="Rounded Rectangle 2"/>
          <p:cNvSpPr/>
          <p:nvPr/>
        </p:nvSpPr>
        <p:spPr>
          <a:xfrm>
            <a:off x="1298448" y="2697480"/>
            <a:ext cx="2180844" cy="1691640"/>
          </a:xfrm>
          <a:prstGeom prst="roundRect">
            <a:avLst/>
          </a:prstGeom>
          <a:solidFill>
            <a:srgbClr val="F2F0EA"/>
          </a:solid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2B2B2B"/>
                </a:solidFill>
              </a:rPr>
              <a:t>Brief</a:t>
            </a:r>
          </a:p>
          <a:p>
            <a:pPr algn="ctr"/>
            <a:r>
              <a:rPr sz="1400">
                <a:solidFill>
                  <a:srgbClr val="2B2B2B"/>
                </a:solidFill>
              </a:rPr>
              <a:t>does the set answer it?</a:t>
            </a:r>
          </a:p>
        </p:txBody>
      </p:sp>
      <p:sp>
        <p:nvSpPr>
          <p:cNvPr id="4" name="Rounded Rectangle 3"/>
          <p:cNvSpPr/>
          <p:nvPr/>
        </p:nvSpPr>
        <p:spPr>
          <a:xfrm>
            <a:off x="3771900" y="2697480"/>
            <a:ext cx="2180844" cy="1691640"/>
          </a:xfrm>
          <a:prstGeom prst="roundRect">
            <a:avLst/>
          </a:prstGeom>
          <a:solidFill>
            <a:srgbClr val="F2F0EA"/>
          </a:solid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2B2B2B"/>
                </a:solidFill>
              </a:rPr>
              <a:t>Musts</a:t>
            </a:r>
          </a:p>
          <a:p>
            <a:pPr algn="ctr"/>
            <a:r>
              <a:rPr sz="1400">
                <a:solidFill>
                  <a:srgbClr val="2B2B2B"/>
                </a:solidFill>
              </a:rPr>
              <a:t>held in every image?</a:t>
            </a:r>
          </a:p>
        </p:txBody>
      </p:sp>
      <p:sp>
        <p:nvSpPr>
          <p:cNvPr id="5" name="Rounded Rectangle 4"/>
          <p:cNvSpPr/>
          <p:nvPr/>
        </p:nvSpPr>
        <p:spPr>
          <a:xfrm>
            <a:off x="6245351" y="2697480"/>
            <a:ext cx="2180844" cy="1691640"/>
          </a:xfrm>
          <a:prstGeom prst="roundRect">
            <a:avLst/>
          </a:prstGeom>
          <a:solidFill>
            <a:srgbClr val="F2F0EA"/>
          </a:solid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2B2B2B"/>
                </a:solidFill>
              </a:rPr>
              <a:t>Consistency</a:t>
            </a:r>
          </a:p>
          <a:p>
            <a:pPr algn="ctr"/>
            <a:r>
              <a:rPr sz="1400">
                <a:solidFill>
                  <a:srgbClr val="2B2B2B"/>
                </a:solidFill>
              </a:rPr>
              <a:t>character, place, light</a:t>
            </a:r>
          </a:p>
        </p:txBody>
      </p:sp>
      <p:sp>
        <p:nvSpPr>
          <p:cNvPr id="6" name="Rounded Rectangle 5"/>
          <p:cNvSpPr/>
          <p:nvPr/>
        </p:nvSpPr>
        <p:spPr>
          <a:xfrm>
            <a:off x="8718803" y="2697480"/>
            <a:ext cx="2180844" cy="1691640"/>
          </a:xfrm>
          <a:prstGeom prst="roundRect">
            <a:avLst/>
          </a:prstGeom>
          <a:solidFill>
            <a:srgbClr val="F2F0EA"/>
          </a:solid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2B2B2B"/>
                </a:solidFill>
              </a:rPr>
              <a:t>Each image</a:t>
            </a:r>
          </a:p>
          <a:p>
            <a:pPr algn="ctr"/>
            <a:r>
              <a:rPr sz="1400">
                <a:solidFill>
                  <a:srgbClr val="2B2B2B"/>
                </a:solidFill>
              </a:rPr>
              <a:t>the usual checks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Reading a set, practically</a:t>
            </a:r>
          </a:p>
        </p:txBody>
      </p:sp>
      <p:sp>
        <p:nvSpPr>
          <p:cNvPr id="3" name="Content Placeholder 2"/>
          <p:cNvSpPr>
            <a:spLocks noGrp="1"/>
          </p:cNvSpPr>
          <p:nvPr>
            <p:ph idx="1"/>
          </p:nvPr>
        </p:nvSpPr>
        <p:spPr/>
        <p:txBody>
          <a:bodyPr/>
          <a:lstStyle/>
          <a:p>
            <a:pPr/>
            <a:r>
              <a:t>All images, same size, side by side.</a:t>
            </a:r>
          </a:p>
          <a:p>
            <a:pPr/>
            <a:r>
              <a:t>Squint: silhouettes and color.</a:t>
            </a:r>
          </a:p>
          <a:p>
            <a:pPr/>
            <a:r>
              <a:t>Flip through them quickly.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weakest image</a:t>
            </a:r>
          </a:p>
        </p:txBody>
      </p:sp>
      <p:sp>
        <p:nvSpPr>
          <p:cNvPr id="3" name="Content Placeholder 2"/>
          <p:cNvSpPr>
            <a:spLocks noGrp="1"/>
          </p:cNvSpPr>
          <p:nvPr>
            <p:ph idx="1"/>
          </p:nvPr>
        </p:nvSpPr>
        <p:spPr/>
        <p:txBody>
          <a:bodyPr/>
          <a:lstStyle/>
          <a:p>
            <a:pPr/>
            <a:r>
              <a:t>Every set has one.</a:t>
            </a:r>
          </a:p>
          <a:p>
            <a:pPr/>
            <a:r>
              <a:t>Name it, and say why.</a:t>
            </a:r>
          </a:p>
          <a:p>
            <a:pPr/>
            <a:r>
              <a:t>Replace it, or fix the break.</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Rejections are evidence</a:t>
            </a:r>
          </a:p>
        </p:txBody>
      </p:sp>
      <p:sp>
        <p:nvSpPr>
          <p:cNvPr id="3" name="Content Placeholder 2"/>
          <p:cNvSpPr>
            <a:spLocks noGrp="1"/>
          </p:cNvSpPr>
          <p:nvPr>
            <p:ph idx="1"/>
          </p:nvPr>
        </p:nvSpPr>
        <p:spPr/>
        <p:txBody>
          <a:bodyPr/>
          <a:lstStyle/>
          <a:p>
            <a:pPr/>
            <a:r>
              <a:t>Keep what you threw away.</a:t>
            </a:r>
          </a:p>
          <a:p>
            <a:pPr/>
            <a:r>
              <a:t>Note why, in a line.</a:t>
            </a:r>
          </a:p>
          <a:p>
            <a:pPr/>
            <a:r>
              <a:t>It shows your judgment.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Practice round: my set</a:t>
            </a:r>
          </a:p>
        </p:txBody>
      </p:sp>
      <p:sp>
        <p:nvSpPr>
          <p:cNvPr id="3" name="IMAGE SLOT"/>
          <p:cNvSpPr/>
          <p:nvPr/>
        </p:nvSpPr>
        <p:spPr>
          <a:xfrm>
            <a:off x="1298448" y="2377440"/>
            <a:ext cx="9601200" cy="3246120"/>
          </a:xfrm>
          <a:prstGeom prst="rect">
            <a:avLst/>
          </a:prstGeom>
          <a:solidFill>
            <a:srgbClr val="F2F0EA"/>
          </a:solidFill>
          <a:ln w="15875">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i="1">
                <a:solidFill>
                  <a:srgbClr val="8A8A8A"/>
                </a:solidFill>
              </a:rPr>
              <a:t>image: your own rough set, three or four images side by side, with its brief and must/must-not list</a:t>
            </a:r>
          </a:p>
        </p:txBody>
      </p:sp>
      <p:sp>
        <p:nvSpPr>
          <p:cNvPr id="4" name="TextBox 3"/>
          <p:cNvSpPr txBox="1"/>
          <p:nvPr/>
        </p:nvSpPr>
        <p:spPr>
          <a:xfrm>
            <a:off x="1298448" y="5650992"/>
            <a:ext cx="9601200" cy="411480"/>
          </a:xfrm>
          <a:prstGeom prst="rect">
            <a:avLst/>
          </a:prstGeom>
          <a:noFill/>
        </p:spPr>
        <p:txBody>
          <a:bodyPr wrap="square">
            <a:spAutoFit/>
          </a:bodyPr>
          <a:lstStyle/>
          <a:p>
            <a:pPr algn="ctr"/>
            <a:r>
              <a:rPr sz="1500">
                <a:solidFill>
                  <a:srgbClr val="2B2B2B"/>
                </a:solidFill>
              </a:rPr>
              <a:t>Brief, then musts, then consistency, then each image.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How today runs</a:t>
            </a:r>
          </a:p>
        </p:txBody>
      </p:sp>
      <p:sp>
        <p:nvSpPr>
          <p:cNvPr id="3" name="Rectangle 2"/>
          <p:cNvSpPr/>
          <p:nvPr/>
        </p:nvSpPr>
        <p:spPr>
          <a:xfrm>
            <a:off x="1298448" y="2606040"/>
            <a:ext cx="274320" cy="274320"/>
          </a:xfrm>
          <a:prstGeom prst="rect">
            <a:avLst/>
          </a:prstGeom>
          <a:no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664207" y="2514600"/>
            <a:ext cx="9144000" cy="411480"/>
          </a:xfrm>
          <a:prstGeom prst="rect">
            <a:avLst/>
          </a:prstGeom>
          <a:noFill/>
        </p:spPr>
        <p:txBody>
          <a:bodyPr wrap="square">
            <a:spAutoFit/>
          </a:bodyPr>
          <a:lstStyle/>
          <a:p>
            <a:r>
              <a:rPr sz="2100">
                <a:solidFill>
                  <a:srgbClr val="2B2B2B"/>
                </a:solidFill>
              </a:rPr>
              <a:t>Groups of three or four</a:t>
            </a:r>
          </a:p>
        </p:txBody>
      </p:sp>
      <p:sp>
        <p:nvSpPr>
          <p:cNvPr id="5" name="Rectangle 4"/>
          <p:cNvSpPr/>
          <p:nvPr/>
        </p:nvSpPr>
        <p:spPr>
          <a:xfrm>
            <a:off x="1298448" y="3172968"/>
            <a:ext cx="274320" cy="274320"/>
          </a:xfrm>
          <a:prstGeom prst="rect">
            <a:avLst/>
          </a:prstGeom>
          <a:no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664207" y="3081528"/>
            <a:ext cx="9144000" cy="411480"/>
          </a:xfrm>
          <a:prstGeom prst="rect">
            <a:avLst/>
          </a:prstGeom>
          <a:noFill/>
        </p:spPr>
        <p:txBody>
          <a:bodyPr wrap="square">
            <a:spAutoFit/>
          </a:bodyPr>
          <a:lstStyle/>
          <a:p>
            <a:r>
              <a:rPr sz="2100">
                <a:solidFill>
                  <a:srgbClr val="2B2B2B"/>
                </a:solidFill>
              </a:rPr>
              <a:t>Set shown side by side first</a:t>
            </a:r>
          </a:p>
        </p:txBody>
      </p:sp>
      <p:sp>
        <p:nvSpPr>
          <p:cNvPr id="7" name="Rectangle 6"/>
          <p:cNvSpPr/>
          <p:nvPr/>
        </p:nvSpPr>
        <p:spPr>
          <a:xfrm>
            <a:off x="1298448" y="3739896"/>
            <a:ext cx="274320" cy="274320"/>
          </a:xfrm>
          <a:prstGeom prst="rect">
            <a:avLst/>
          </a:prstGeom>
          <a:no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664207" y="3648456"/>
            <a:ext cx="9144000" cy="411480"/>
          </a:xfrm>
          <a:prstGeom prst="rect">
            <a:avLst/>
          </a:prstGeom>
          <a:noFill/>
        </p:spPr>
        <p:txBody>
          <a:bodyPr wrap="square">
            <a:spAutoFit/>
          </a:bodyPr>
          <a:lstStyle/>
          <a:p>
            <a:r>
              <a:rPr sz="2100">
                <a:solidFill>
                  <a:srgbClr val="2B2B2B"/>
                </a:solidFill>
              </a:rPr>
              <a:t>Brief and musts read aloud</a:t>
            </a:r>
          </a:p>
        </p:txBody>
      </p:sp>
      <p:sp>
        <p:nvSpPr>
          <p:cNvPr id="9" name="Rectangle 8"/>
          <p:cNvSpPr/>
          <p:nvPr/>
        </p:nvSpPr>
        <p:spPr>
          <a:xfrm>
            <a:off x="1298448" y="4306823"/>
            <a:ext cx="274320" cy="274320"/>
          </a:xfrm>
          <a:prstGeom prst="rect">
            <a:avLst/>
          </a:prstGeom>
          <a:no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4207" y="4215383"/>
            <a:ext cx="9144000" cy="411480"/>
          </a:xfrm>
          <a:prstGeom prst="rect">
            <a:avLst/>
          </a:prstGeom>
          <a:noFill/>
        </p:spPr>
        <p:txBody>
          <a:bodyPr wrap="square">
            <a:spAutoFit/>
          </a:bodyPr>
          <a:lstStyle/>
          <a:p>
            <a:r>
              <a:rPr sz="2100">
                <a:solidFill>
                  <a:srgbClr val="2B2B2B"/>
                </a:solidFill>
              </a:rPr>
              <a:t>Notes in the format, written down</a:t>
            </a:r>
          </a:p>
        </p:txBody>
      </p:sp>
      <p:sp>
        <p:nvSpPr>
          <p:cNvPr id="11" name="Rectangle 10"/>
          <p:cNvSpPr/>
          <p:nvPr/>
        </p:nvSpPr>
        <p:spPr>
          <a:xfrm>
            <a:off x="1298448" y="4873752"/>
            <a:ext cx="274320" cy="274320"/>
          </a:xfrm>
          <a:prstGeom prst="rect">
            <a:avLst/>
          </a:prstGeom>
          <a:no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664207" y="4782312"/>
            <a:ext cx="9144000" cy="411480"/>
          </a:xfrm>
          <a:prstGeom prst="rect">
            <a:avLst/>
          </a:prstGeom>
          <a:noFill/>
        </p:spPr>
        <p:txBody>
          <a:bodyPr wrap="square">
            <a:spAutoFit/>
          </a:bodyPr>
          <a:lstStyle/>
          <a:p>
            <a:r>
              <a:rPr sz="2100">
                <a:solidFill>
                  <a:srgbClr val="2B2B2B"/>
                </a:solidFill>
              </a:rPr>
              <a:t>Each reader names the weakest image</a:t>
            </a:r>
          </a:p>
        </p:txBody>
      </p:sp>
      <p:sp>
        <p:nvSpPr>
          <p:cNvPr id="13" name="Rectangle 12"/>
          <p:cNvSpPr/>
          <p:nvPr/>
        </p:nvSpPr>
        <p:spPr>
          <a:xfrm>
            <a:off x="1298448" y="5440679"/>
            <a:ext cx="274320" cy="274320"/>
          </a:xfrm>
          <a:prstGeom prst="rect">
            <a:avLst/>
          </a:prstGeom>
          <a:no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664207" y="5349240"/>
            <a:ext cx="9144000" cy="411480"/>
          </a:xfrm>
          <a:prstGeom prst="rect">
            <a:avLst/>
          </a:prstGeom>
          <a:noFill/>
        </p:spPr>
        <p:txBody>
          <a:bodyPr wrap="square">
            <a:spAutoFit/>
          </a:bodyPr>
          <a:lstStyle/>
          <a:p>
            <a:r>
              <a:rPr sz="2100">
                <a:solidFill>
                  <a:srgbClr val="2B2B2B"/>
                </a:solidFill>
              </a:rPr>
              <a:t>I rotate between groups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Across the room</a:t>
            </a:r>
          </a:p>
        </p:txBody>
      </p:sp>
      <p:sp>
        <p:nvSpPr>
          <p:cNvPr id="3" name="Content Placeholder 2"/>
          <p:cNvSpPr>
            <a:spLocks noGrp="1"/>
          </p:cNvSpPr>
          <p:nvPr>
            <p:ph idx="1"/>
          </p:nvPr>
        </p:nvSpPr>
        <p:spPr/>
        <p:txBody>
          <a:bodyPr/>
          <a:lstStyle/>
          <a:p>
            <a:pPr/>
            <a:r>
              <a:t>What held across most sets?</a:t>
            </a:r>
          </a:p>
          <a:p>
            <a:pPr/>
            <a:r>
              <a:t>What broke most often?</a:t>
            </a:r>
          </a:p>
          <a:p>
            <a:pPr/>
            <a:r>
              <a:t>What to fix first this week.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Words from today</a:t>
            </a:r>
          </a:p>
        </p:txBody>
      </p:sp>
      <p:sp>
        <p:nvSpPr>
          <p:cNvPr id="3" name="Content Placeholder 2"/>
          <p:cNvSpPr>
            <a:spLocks noGrp="1"/>
          </p:cNvSpPr>
          <p:nvPr>
            <p:ph idx="1" sz="half"/>
          </p:nvPr>
        </p:nvSpPr>
        <p:spPr/>
        <p:txBody>
          <a:bodyPr/>
          <a:lstStyle/>
          <a:p>
            <a:pPr>
              <a:spcAft>
                <a:spcPts val="600"/>
              </a:spcAft>
            </a:pPr>
            <a:r>
              <a:rPr b="1" sz="1900"/>
              <a:t>Series</a:t>
            </a:r>
            <a:r>
              <a:rPr sz="1900"/>
              <a:t> – images judged as one thing</a:t>
            </a:r>
          </a:p>
          <a:p>
            <a:pPr>
              <a:spcAft>
                <a:spcPts val="600"/>
              </a:spcAft>
            </a:pPr>
            <a:r>
              <a:rPr b="1" sz="1900"/>
              <a:t>Weakest image</a:t>
            </a:r>
            <a:r>
              <a:rPr sz="1900"/>
              <a:t> – the one that most weakens the set</a:t>
            </a:r>
          </a:p>
        </p:txBody>
      </p:sp>
      <p:sp>
        <p:nvSpPr>
          <p:cNvPr id="4" name="Content Placeholder 3"/>
          <p:cNvSpPr>
            <a:spLocks noGrp="1"/>
          </p:cNvSpPr>
          <p:nvPr>
            <p:ph idx="2" sz="half"/>
          </p:nvPr>
        </p:nvSpPr>
        <p:spPr/>
        <p:txBody>
          <a:bodyPr/>
          <a:lstStyle/>
          <a:p>
            <a:pPr>
              <a:spcAft>
                <a:spcPts val="600"/>
              </a:spcAft>
            </a:pPr>
            <a:r>
              <a:rPr b="1" sz="1900"/>
              <a:t>Consistency break</a:t>
            </a:r>
            <a:r>
              <a:rPr sz="1900"/>
              <a:t> – a feature that changed between images</a:t>
            </a:r>
          </a:p>
          <a:p>
            <a:pPr>
              <a:spcAft>
                <a:spcPts val="600"/>
              </a:spcAft>
            </a:pPr>
            <a:r>
              <a:rPr b="1" sz="1900"/>
              <a:t>REJECTS</a:t>
            </a:r>
            <a:r>
              <a:rPr sz="1900"/>
              <a:t> – kept, with a reason, as evidence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Before next class: pick one</a:t>
            </a:r>
          </a:p>
        </p:txBody>
      </p:sp>
      <p:sp>
        <p:nvSpPr>
          <p:cNvPr id="3" name="Text Placeholder 2"/>
          <p:cNvSpPr>
            <a:spLocks noGrp="1"/>
          </p:cNvSpPr>
          <p:nvPr>
            <p:ph type="body" idx="1"/>
          </p:nvPr>
        </p:nvSpPr>
        <p:spPr/>
        <p:txBody>
          <a:bodyPr/>
          <a:lstStyle/>
          <a:p>
            <a:r>
              <a:t>Option A, guided</a:t>
            </a:r>
          </a:p>
        </p:txBody>
      </p:sp>
      <p:sp>
        <p:nvSpPr>
          <p:cNvPr id="4" name="Content Placeholder 3"/>
          <p:cNvSpPr>
            <a:spLocks noGrp="1"/>
          </p:cNvSpPr>
          <p:nvPr>
            <p:ph idx="2" sz="half"/>
          </p:nvPr>
        </p:nvSpPr>
        <p:spPr/>
        <p:txBody>
          <a:bodyPr/>
          <a:lstStyle/>
          <a:p>
            <a:pPr/>
            <a:r>
              <a:t>Replace the weakest image</a:t>
            </a:r>
          </a:p>
          <a:p>
            <a:pPr/>
            <a:r>
              <a:t>in your set.</a:t>
            </a:r>
          </a:p>
          <a:p>
            <a:pPr/>
            <a:r>
              <a:t>Explain why it was weakest.</a:t>
            </a:r>
          </a:p>
        </p:txBody>
      </p:sp>
      <p:sp>
        <p:nvSpPr>
          <p:cNvPr id="5" name="Text Placeholder 4"/>
          <p:cNvSpPr>
            <a:spLocks noGrp="1"/>
          </p:cNvSpPr>
          <p:nvPr>
            <p:ph type="body" idx="3" sz="quarter"/>
          </p:nvPr>
        </p:nvSpPr>
        <p:spPr/>
        <p:txBody>
          <a:bodyPr/>
          <a:lstStyle/>
          <a:p>
            <a:r>
              <a:t>Option B, own material</a:t>
            </a:r>
          </a:p>
        </p:txBody>
      </p:sp>
      <p:sp>
        <p:nvSpPr>
          <p:cNvPr id="6" name="Content Placeholder 5"/>
          <p:cNvSpPr>
            <a:spLocks noGrp="1"/>
          </p:cNvSpPr>
          <p:nvPr>
            <p:ph idx="4" sz="quarter"/>
          </p:nvPr>
        </p:nvSpPr>
        <p:spPr/>
        <p:txBody>
          <a:bodyPr/>
          <a:lstStyle/>
          <a:p>
            <a:pPr/>
            <a:r>
              <a:t>Correct the most visible</a:t>
            </a:r>
          </a:p>
          <a:p>
            <a:pPr/>
            <a:r>
              <a:t>consistency break</a:t>
            </a:r>
          </a:p>
          <a:p>
            <a:pPr/>
            <a:r>
              <a:t>across the set.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Fix the set before you polish an image.</a:t>
            </a:r>
          </a:p>
        </p:txBody>
      </p:sp>
      <p:sp>
        <p:nvSpPr>
          <p:cNvPr id="3" name="Text Placeholder 2"/>
          <p:cNvSpPr>
            <a:spLocks noGrp="1"/>
          </p:cNvSpPr>
          <p:nvPr>
            <p:ph type="body" idx="13" sz="quarter"/>
          </p:nvPr>
        </p:nvSpPr>
        <p:spPr/>
        <p:txBody>
          <a:bodyPr/>
          <a:lstStyle/>
          <a:p>
            <a:r>
              <a:t>One line to take home</a:t>
            </a:r>
          </a:p>
        </p:txBody>
      </p:sp>
      <p:sp>
        <p:nvSpPr>
          <p:cNvPr id="4" name="Text Placeholder 3"/>
          <p:cNvSpPr>
            <a:spLocks noGrp="1"/>
          </p:cNvSpPr>
          <p:nvPr>
            <p:ph type="body" idx="1"/>
          </p:nvPr>
        </p:nvSpPr>
        <p:spPr/>
        <p:txBody>
          <a:bodyPr/>
          <a:lstStyle/>
          <a:p>
            <a:r>
              <a:t>An art director sees all of them at once.</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2.jpeg"/></Relationships>
</file>

<file path=ppt/theme/theme1.xml><?xml version="1.0" encoding="utf-8"?>
<a:theme xmlns:a="http://schemas.openxmlformats.org/drawingml/2006/main" name="Game Design Theme">
  <a:themeElements>
    <a:clrScheme name="Organic">
      <a:dk1>
        <a:sysClr val="windowText" lastClr="000000"/>
      </a:dk1>
      <a:lt1>
        <a:sysClr val="window" lastClr="FFFFFF"/>
      </a:lt1>
      <a:dk2>
        <a:srgbClr val="212121"/>
      </a:dk2>
      <a:lt2>
        <a:srgbClr val="DADADA"/>
      </a:lt2>
      <a:accent1>
        <a:srgbClr val="D9B247"/>
      </a:accent1>
      <a:accent2>
        <a:srgbClr val="CC702D"/>
      </a:accent2>
      <a:accent3>
        <a:srgbClr val="B53A31"/>
      </a:accent3>
      <a:accent4>
        <a:srgbClr val="815F56"/>
      </a:accent4>
      <a:accent5>
        <a:srgbClr val="AE9E7C"/>
      </a:accent5>
      <a:accent6>
        <a:srgbClr val="7B8865"/>
      </a:accent6>
      <a:hlink>
        <a:srgbClr val="BB7826"/>
      </a:hlink>
      <a:folHlink>
        <a:srgbClr val="CF9C5F"/>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Game Design Theme" id="{FDF2760C-01FA-4CD6-92F4-89C50AE1AED8}" vid="{701598FD-A452-4D8B-8848-C96AAD2A0DD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Game Design Theme</Template>
  <TotalTime>8078</TotalTime>
  <Words>4258</Words>
  <Application>Microsoft Office PowerPoint</Application>
  <PresentationFormat>Widescreen</PresentationFormat>
  <Paragraphs>228</Paragraphs>
  <Slides>36</Slides>
  <Notes>36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36</vt:i4>
      </vt:variant>
    </vt:vector>
  </HeadingPairs>
  <TitlesOfParts>
    <vt:vector size="40" baseType="lpstr">
      <vt:lpstr>Arial</vt:lpstr>
      <vt:lpstr>Calibri</vt:lpstr>
      <vt:lpstr>Garamond</vt:lpstr>
      <vt:lpstr>Game Design Theme</vt:lpstr>
      <vt:lpstr>Storytelling Through Lighting</vt:lpstr>
      <vt:lpstr>Nothing Is Accidental</vt:lpstr>
      <vt:lpstr>Where This Comes From</vt:lpstr>
      <vt:lpstr>Film vs. 3D</vt:lpstr>
      <vt:lpstr>The Standard Setup</vt:lpstr>
      <vt:lpstr>Key Light</vt:lpstr>
      <vt:lpstr>Fill Light</vt:lpstr>
      <vt:lpstr>Backlight</vt:lpstr>
      <vt:lpstr>The Two Families</vt:lpstr>
      <vt:lpstr>High-Key Lighting</vt:lpstr>
      <vt:lpstr>Low-Key Lighting</vt:lpstr>
      <vt:lpstr>What Contrast Does</vt:lpstr>
      <vt:lpstr>High Contrast</vt:lpstr>
      <vt:lpstr>Low Contrast</vt:lpstr>
      <vt:lpstr>Hard vs. Soft, Explained by the Sun</vt:lpstr>
      <vt:lpstr>Hard Light</vt:lpstr>
      <vt:lpstr>Soft Light</vt:lpstr>
      <vt:lpstr>Drawing Light in a Storyboard Panel</vt:lpstr>
      <vt:lpstr>Direction Changes the Mood</vt:lpstr>
      <vt:lpstr>Frontal Lighting</vt:lpstr>
      <vt:lpstr>Side Lighting</vt:lpstr>
      <vt:lpstr>Backlighting</vt:lpstr>
      <vt:lpstr>Underlighting</vt:lpstr>
      <vt:lpstr>Exercise: Light the Same Pose Four Ways</vt:lpstr>
      <vt:lpstr>Train Your Eye</vt:lpstr>
      <vt:lpstr>Realistic Lighting</vt:lpstr>
      <vt:lpstr>Dramatic / Stylized Lighting</vt:lpstr>
      <vt:lpstr>What Color Does in a Story</vt:lpstr>
      <vt:lpstr>Contrast Is the Real Tool</vt:lpstr>
      <vt:lpstr>Making Something Stand Out — Or Getting Out of Its Way</vt:lpstr>
      <vt:lpstr>The Wheel, Once</vt:lpstr>
      <vt:lpstr>Warm</vt:lpstr>
      <vt:lpstr>Cool</vt:lpstr>
      <vt:lpstr>Color Meaning Is Cultural</vt:lpstr>
      <vt:lpstr>Apply It: Light and Color, One Panel</vt:lpstr>
      <vt:lpstr>A Language Still Being Written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Acting for Animation</dc:title>
  <dc:creator>Daniel</dc:creator>
  <cp:lastModifiedBy>Daniel Coes</cp:lastModifiedBy>
  <cp:revision>372</cp:revision>
  <dcterms:created xsi:type="dcterms:W3CDTF">2016-05-07T19:16:27Z</dcterms:created>
  <dcterms:modified xsi:type="dcterms:W3CDTF">2026-08-11T01:20:15Z</dcterms:modified>
</cp:coreProperties>
</file>