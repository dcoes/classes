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(6). Why by hand (5). The kit: paint-over, clone and heal, Liquify, photo patch (16). Worked example and cold reversal (8). Matching so the fix disappears (8). Order of operations and when to stop (5). Options (2).</a:t>
            </a:r>
          </a:p>
          <a:p>
            <a:pPr>
              <a:spcAft>
                <a:spcPts val="800"/>
              </a:spcAft>
            </a:pPr>
            <a:r>
              <a:rPr b="1"/>
              <a:t>Prep before class.</a:t>
            </a:r>
            <a:r>
              <a:t> A generated image with a hand error for the worked example, and a second one, unfixed, for the cold reversal. The Option A image with two marked errors, on Canvas. Rehearse the demo's deliberate mistake: regenerate the hand five or six times on screen, let it get worse rather than better, then stop and fix it by hand in about two minutes.</a:t>
            </a:r>
          </a:p>
          <a:p>
            <a:pPr>
              <a:spcAft>
                <a:spcPts val="800"/>
              </a:spcAft>
            </a:pPr>
            <a:r>
              <a:t>Remind students to bring a phone. The best reference for a generated hand is the student's own hand.</a:t>
            </a:r>
          </a:p>
          <a:p>
            <a:pPr>
              <a:spcAft>
                <a:spcPts val="800"/>
              </a:spcAft>
            </a:pPr>
            <a:r>
              <a:t>Boundary note: this course assumes Photoshop basics and doesn't re-teach painting. If the room is weak on clipping masks or adjustment layers, show them in the demo rather than adding lecture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call, thirty seconds.] Give me the six checks. [Anatomy, perspective, light, lettering, repeated texture, sheen.] And which one did the room miss the most in the find-them-all exercise? [Almost always light.]</a:t>
            </a:r>
          </a:p>
          <a:p>
            <a:pPr>
              <a:spcAft>
                <a:spcPts val="800"/>
              </a:spcAft>
            </a:pPr>
            <a:r>
              <a:t>And from Option B: was the cleanest image your top pick? [Ask a few people. Some will have ranked a clean but off-brief image first. That's the lesson landing.]</a:t>
            </a:r>
          </a:p>
          <a:p>
            <a:pPr>
              <a:spcAft>
                <a:spcPts val="800"/>
              </a:spcAft>
            </a:pPr>
            <a:r>
              <a:t>Last session was about seeing. Today is about doing something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shape of the whole workflow, and it's been true of every image-making tool I've used.</a:t>
            </a:r>
          </a:p>
          <a:p>
            <a:pPr>
              <a:spcAft>
                <a:spcPts val="800"/>
              </a:spcAft>
            </a:pPr>
            <a:r>
              <a:t>The generator gets you somewhere. Often somewhere quite good, quite fast. The hand work is what gets you from "somewhere" to "what the brief actually asked for." That last stretch is usually the smaller part of the time and the larger part of the value.</a:t>
            </a:r>
          </a:p>
          <a:p>
            <a:pPr>
              <a:spcAft>
                <a:spcPts val="800"/>
              </a:spcAft>
            </a:pPr>
            <a:r>
              <a:t>Most people who are unhappy with generated images are stuck at "somewhere," trying to get the rest of the way by asking the machine again.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Which brings us to the most common habit, and the most expensive one: rerolling. The hand is wrong, so you select it and generate again. Still wrong. Again. Now it's wrong differently. Twenty minutes later you have forty hands and none of them are right.</a:t>
            </a:r>
          </a:p>
          <a:p>
            <a:pPr>
              <a:spcAft>
                <a:spcPts val="800"/>
              </a:spcAft>
            </a:pPr>
            <a:r>
              <a:t>That's a </a:t>
            </a:r>
            <a:r>
              <a:rPr b="1"/>
              <a:t>slot machine.</a:t>
            </a:r>
            <a:r>
              <a:t> Each pull is random, and each pull can break something that was fine before. It feels like work because you're busy, but you aren't making any decisions.</a:t>
            </a:r>
          </a:p>
          <a:p>
            <a:pPr>
              <a:spcAft>
                <a:spcPts val="800"/>
              </a:spcAft>
            </a:pPr>
            <a:r>
              <a:t>A fix by hand is different: you decide what's wrong, you change exactly that, and it stays changed. It's often faster, too, once you're used to it. That's what the demo will show, including me making the rerolling mistake on purpose so you can watch it fail.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tools, and you know most of them already from earlier Photoshop work.</a:t>
            </a:r>
          </a:p>
          <a:p>
            <a:pPr>
              <a:spcAft>
                <a:spcPts val="800"/>
              </a:spcAft>
            </a:pPr>
            <a:r>
              <a:rPr b="1"/>
              <a:t>Paint-over</a:t>
            </a:r>
            <a:r>
              <a:t>: painting on a new layer above the image. </a:t>
            </a:r>
            <a:r>
              <a:rPr b="1"/>
              <a:t>Clone Stamp and Healing</a:t>
            </a:r>
            <a:r>
              <a:t>: copying parts of the image that are already right over the parts that are wrong. </a:t>
            </a:r>
            <a:r>
              <a:rPr b="1"/>
              <a:t>Liquify</a:t>
            </a:r>
            <a:r>
              <a:t>: pushing shapes, like a finger that's too long or a jaw that drifted. </a:t>
            </a:r>
            <a:r>
              <a:rPr b="1"/>
              <a:t>Photo patch</a:t>
            </a:r>
            <a:r>
              <a:t>: bringing in a real photograph, often one you take yourself, and blending it in.</a:t>
            </a:r>
          </a:p>
          <a:p>
            <a:pPr>
              <a:spcAft>
                <a:spcPts val="800"/>
              </a:spcAft>
            </a:pPr>
            <a:r>
              <a:t>Most real fixes use two or three of these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Paint-over. Always on a new layer above the image, never on the image itself, named FIX_ for what it fixes.</a:t>
            </a:r>
          </a:p>
          <a:p>
            <a:pPr>
              <a:spcAft>
                <a:spcPts val="800"/>
              </a:spcAft>
            </a:pPr>
            <a:r>
              <a:t>Sample your colors from the image with the eyedropper (hold Alt with the brush), so you're painting in the image's own palette, not one you invented.</a:t>
            </a:r>
          </a:p>
          <a:p>
            <a:pPr>
              <a:spcAft>
                <a:spcPts val="800"/>
              </a:spcAft>
            </a:pPr>
            <a:r>
              <a:t>And do it in the order painters do: get the </a:t>
            </a:r>
            <a:r>
              <a:rPr b="1"/>
              <a:t>value</a:t>
            </a:r>
            <a:r>
              <a:t> right first, the lights and darks, then worry about color. If the value is right, a slightly off color usually passes. If the value is wrong, a perfect color still sticks out. This is the same idea from the gray check last session.</a:t>
            </a:r>
          </a:p>
          <a:p>
            <a:pPr>
              <a:spcAft>
                <a:spcPts val="800"/>
              </a:spcAft>
            </a:pPr>
            <a:r>
              <a:t>I'm not going to teach painting here, there's a whole course for that. You don't need to be a strong painter to fix a shadow or simplify a background. You need to be careful and to check your work in gray.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Clone Stamp and the Healing Brush. The difference matters.</a:t>
            </a:r>
          </a:p>
          <a:p>
            <a:pPr>
              <a:spcAft>
                <a:spcPts val="800"/>
              </a:spcAft>
            </a:pPr>
            <a:r>
              <a:rPr b="1"/>
              <a:t>Clone Stamp</a:t>
            </a:r>
            <a:r>
              <a:t> copies pixels exactly from one place to another. Good for edges, straight lines, and anything where you need the exact structure. </a:t>
            </a:r>
            <a:r>
              <a:rPr b="1"/>
              <a:t>Healing Brush</a:t>
            </a:r>
            <a:r>
              <a:t> copies the texture from one place but blends the tone and color with where you paint. Good for skin, sky, walls, anything soft. The Spot Healing Brush and the Remove tool guess the source for you, which is quick but less controlled.</a:t>
            </a:r>
          </a:p>
          <a:p>
            <a:pPr>
              <a:spcAft>
                <a:spcPts val="800"/>
              </a:spcAft>
            </a:pPr>
            <a:r>
              <a:t>The habit that keeps this non-destructive: make an empty layer, set the tool's Sample option to </a:t>
            </a:r>
            <a:r>
              <a:rPr b="1"/>
              <a:t>Current &amp; Below</a:t>
            </a:r>
            <a:r>
              <a:t>, and paint there. Your fixes live on their own layer and the original stays clean underneath.</a:t>
            </a:r>
          </a:p>
          <a:p>
            <a:pPr>
              <a:spcAft>
                <a:spcPts val="800"/>
              </a:spcAft>
            </a:pPr>
            <a:r>
              <a:t>And remember the repeated-texture check from last session. Clone carelessly and you create exactly the error you were removing.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Liquify, under the Filter menu. It doesn't add anything, it moves what's there, like pushing wet paint around with a finger.</a:t>
            </a:r>
          </a:p>
          <a:p>
            <a:pPr>
              <a:spcAft>
                <a:spcPts val="800"/>
              </a:spcAft>
            </a:pPr>
            <a:r>
              <a:t>It's the right tool for proportion problems: a finger that's too long, a neck that's slightly too thin, an eye that's a bit higher than the other, a jaw that drifted, a building that leans. It's the wrong tool for missing parts or wrong details.</a:t>
            </a:r>
          </a:p>
          <a:p>
            <a:pPr>
              <a:spcAft>
                <a:spcPts val="800"/>
              </a:spcAft>
            </a:pPr>
            <a:r>
              <a:t>Two habits. Convert the layer to a Smart Object first, so the Liquify stays editable. And use a small brush and small moves. Big Liquify pushes are how you get the stretched, melted look, which is ironically very close to the generator's own mistakes.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Photo patch, and this is the one I'd push hardest.</a:t>
            </a:r>
          </a:p>
          <a:p>
            <a:pPr>
              <a:spcAft>
                <a:spcPts val="800"/>
              </a:spcAft>
            </a:pPr>
            <a:r>
              <a:t>When a generated hand is wrong, the best reference in the world is at the end of your arm. Put your hand in the same pose, light it roughly the same way (a window or your phone's light from the same side as the image), and take a picture.</a:t>
            </a:r>
          </a:p>
          <a:p>
            <a:pPr>
              <a:spcAft>
                <a:spcPts val="800"/>
              </a:spcAft>
            </a:pPr>
            <a:r>
              <a:t>Then bring it in as a REF_ layer, scale and rotate it into place, mask away everything but the part you need, and match it to the image (which we're about to talk about). Sometimes you'll paint over it rather than use it directly. Either way, now you know exactly what the hand should look like.</a:t>
            </a:r>
          </a:p>
          <a:p>
            <a:pPr>
              <a:spcAft>
                <a:spcPts val="800"/>
              </a:spcAft>
            </a:pPr>
            <a:r>
              <a:t>Artists have used mirrors and their own hands as reference for centuries. This is that, with a phone.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worked example, one bad hand, and I'll do it live in the demo.</a:t>
            </a:r>
          </a:p>
          <a:p>
            <a:pPr>
              <a:spcAft>
                <a:spcPts val="800"/>
              </a:spcAft>
            </a:pPr>
            <a:r>
              <a:rPr b="1"/>
              <a:t>Callout</a:t>
            </a:r>
            <a:r>
              <a:t>: circle it, number it, write what's wrong ("six fingers, thumb on the wrong side"). </a:t>
            </a:r>
            <a:r>
              <a:rPr b="1"/>
              <a:t>Reference</a:t>
            </a:r>
            <a:r>
              <a:t>: shoot your own hand in the pose. </a:t>
            </a:r>
            <a:r>
              <a:rPr b="1"/>
              <a:t>Block</a:t>
            </a:r>
            <a:r>
              <a:t>: on a FIX_ layer, paint the correct silhouette of the hand over the wrong one, flat color, just the shape. If the silhouette reads, the hand will read. </a:t>
            </a:r>
            <a:r>
              <a:rPr b="1"/>
              <a:t>Patch</a:t>
            </a:r>
            <a:r>
              <a:t>: either mask your photo in or paint the forms over your block-in. </a:t>
            </a:r>
            <a:r>
              <a:rPr b="1"/>
              <a:t>Match</a:t>
            </a:r>
            <a:r>
              <a:t>: value, grain, color, until it disappears.</a:t>
            </a:r>
          </a:p>
          <a:p>
            <a:pPr>
              <a:spcAft>
                <a:spcPts val="800"/>
              </a:spcAft>
            </a:pPr>
            <a:r>
              <a:t>Five steps. Notice that the silhouette comes before any detail. Same as in drawing.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Here's a different problem, unfixed.</a:t>
            </a:r>
          </a:p>
          <a:p>
            <a:pPr>
              <a:spcAft>
                <a:spcPts val="800"/>
              </a:spcAft>
            </a:pPr>
            <a:r>
              <a:t>In pairs, two minutes: what's wrong, which tools would you use, and in what order? Don't do it, plan it. Write it as steps.</a:t>
            </a:r>
          </a:p>
          <a:p>
            <a:pPr>
              <a:spcAft>
                <a:spcPts val="800"/>
              </a:spcAft>
            </a:pPr>
            <a:r>
              <a:t>[Take two or three plans. Compare them. Don't pick a winner. Point out where plans differ: someone wants to regenerate, someone wants Liquify, someone wants a photo patch. Ask each one what could go wrong with their plan.]</a:t>
            </a:r>
          </a:p>
          <a:p>
            <a:pPr>
              <a:spcAft>
                <a:spcPts val="800"/>
              </a:spcAft>
            </a:pPr>
            <a:r>
              <a:t>There's rarely one correct fix. There are fixes you can explain and fixes you can't.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part that separates a fix from a patch. A good fix is invisible.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things to match, and the order matters.</a:t>
            </a:r>
          </a:p>
          <a:p>
            <a:pPr>
              <a:spcAft>
                <a:spcPts val="800"/>
              </a:spcAft>
            </a:pPr>
            <a:r>
              <a:rPr b="1"/>
              <a:t>Value</a:t>
            </a:r>
            <a:r>
              <a:t>: does your fix have the same lights and darks as the area around it? Check with the gray layer. </a:t>
            </a:r>
            <a:r>
              <a:rPr b="1"/>
              <a:t>Edge softness</a:t>
            </a:r>
            <a:r>
              <a:t>: the image has soft edges in some places and sharp ones in others, and your fix needs to match its neighborhood. A razor-sharp hand on a softly focused figure looks pasted on. </a:t>
            </a:r>
            <a:r>
              <a:rPr b="1"/>
              <a:t>Noise and grain</a:t>
            </a:r>
            <a:r>
              <a:t>: next slide. </a:t>
            </a:r>
            <a:r>
              <a:rPr b="1"/>
              <a:t>Color temperature</a:t>
            </a:r>
            <a:r>
              <a:t>: is your patch slightly cooler or warmer than the area around it? Phone photos usually are.</a:t>
            </a:r>
          </a:p>
          <a:p>
            <a:pPr>
              <a:spcAft>
                <a:spcPts val="800"/>
              </a:spcAft>
            </a:pPr>
            <a:r>
              <a:t>A funny thing happens here. Sometimes your fix is better drawn than the rest of the image, sharper and more detailed, and that makes it stick out just as much as an error would. The fix has to match the image, not be better than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Zoomed way in. On the left, a clean, hard edge with no grain, the way a painted fix or a generated patch often comes out. On the right, grain matched and the edge softened to match the image.</a:t>
            </a:r>
          </a:p>
          <a:p>
            <a:pPr>
              <a:spcAft>
                <a:spcPts val="800"/>
              </a:spcAft>
            </a:pPr>
            <a:r>
              <a:t>At normal size you might not see the difference consciously, but you feel it: the left one looks stuck on.</a:t>
            </a:r>
          </a:p>
          <a:p>
            <a:pPr>
              <a:spcAft>
                <a:spcPts val="800"/>
              </a:spcAft>
            </a:pPr>
            <a:r>
              <a:t>The fix: on your FIX_ layer, or a layer clipped to it, add noise (Filter, Noise, Add Noise, monochromatic, a small amount) until it matches the area around it at 100% zoom. And if the image is slightly soft, blur your fix slightly to match. We'll go deeper on this when we composite in session 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Can you use Generative Fill inside your own fixes? Yes, and honestly it can be a good workflow, as long as it stays your decision.</a:t>
            </a:r>
          </a:p>
          <a:p>
            <a:pPr>
              <a:spcAft>
                <a:spcPts val="800"/>
              </a:spcAft>
            </a:pPr>
            <a:r>
              <a:t>The one that works best is the one from session 3: </a:t>
            </a:r>
            <a:r>
              <a:rPr b="1"/>
              <a:t>paint rough, then fill.</a:t>
            </a:r>
            <a:r>
              <a:t> Paint the corrected shape, badly, in the right colors. Select over it and generate. The generator uses your painting as a guide, and you get something that follows your decision rather than inventing its own.</a:t>
            </a:r>
          </a:p>
          <a:p>
            <a:pPr>
              <a:spcAft>
                <a:spcPts val="800"/>
              </a:spcAft>
            </a:pPr>
            <a:r>
              <a:t>The rules are the same as always. It's on its own layer, named GEN_. You picked it from the variations for a reason you can say. And you check it with the six checks, because a fill inside a fix can bring its own new errors with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Order of operations, and it's the same order a painter works in.</a:t>
            </a:r>
          </a:p>
          <a:p>
            <a:pPr>
              <a:spcAft>
                <a:spcPts val="800"/>
              </a:spcAft>
            </a:pPr>
            <a:r>
              <a:rPr b="1"/>
              <a:t>Structure</a:t>
            </a:r>
            <a:r>
              <a:t> first: anatomy, perspective, proportion. If the hand has six fingers, there's no point fixing its shadow. </a:t>
            </a:r>
            <a:r>
              <a:rPr b="1"/>
              <a:t>Light</a:t>
            </a:r>
            <a:r>
              <a:t> second: shadows and highlights that agree with one source. </a:t>
            </a:r>
            <a:r>
              <a:rPr b="1"/>
              <a:t>Surface</a:t>
            </a:r>
            <a:r>
              <a:t> third: textures, repeated patterns, lettering. </a:t>
            </a:r>
            <a:r>
              <a:rPr b="1"/>
              <a:t>Edges and grain</a:t>
            </a:r>
            <a:r>
              <a:t> last, because every fix you made above changes them.</a:t>
            </a:r>
          </a:p>
          <a:p>
            <a:pPr>
              <a:spcAft>
                <a:spcPts val="800"/>
              </a:spcAft>
            </a:pPr>
            <a:r>
              <a:t>Doing it in the wrong order means doing some of it twice.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And when to stop, which is the hardest part for some of you and too easy for others.</a:t>
            </a:r>
          </a:p>
          <a:p>
            <a:pPr>
              <a:spcAft>
                <a:spcPts val="800"/>
              </a:spcAft>
            </a:pPr>
            <a:r>
              <a:t>You stop when the </a:t>
            </a:r>
            <a:r>
              <a:rPr b="1"/>
              <a:t>callout list is empty</a:t>
            </a:r>
            <a:r>
              <a:t> and the image does what the brief asks. Not when it's perfect, because it never will be, and not when you're tired of it.</a:t>
            </a:r>
          </a:p>
          <a:p>
            <a:pPr>
              <a:spcAft>
                <a:spcPts val="800"/>
              </a:spcAft>
            </a:pPr>
            <a:r>
              <a:t>If you find yourself adding new problems to the list as you go, that's fine, that's your eye getting better. Add them, fix them, and then stop.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quick question to end on, four minutes, no answer from me today.</a:t>
            </a:r>
          </a:p>
          <a:p>
            <a:pPr>
              <a:spcAft>
                <a:spcPts val="800"/>
              </a:spcAft>
            </a:pPr>
            <a:r>
              <a:t>If you generate an image and then spend an hour fixing it by hand, is it yours? Partly yours? What would you call it?</a:t>
            </a:r>
          </a:p>
          <a:p>
            <a:pPr>
              <a:spcAft>
                <a:spcPts val="800"/>
              </a:spcAft>
            </a:pPr>
            <a:r>
              <a:t>[Let a few people answer. Push gently on easy answers in either direction.]</a:t>
            </a:r>
          </a:p>
          <a:p>
            <a:pPr>
              <a:spcAft>
                <a:spcPts val="800"/>
              </a:spcAft>
            </a:pPr>
            <a:r>
              <a:t>We're going to spend a whole session on this in week three, including where copyright law currently stands, which is more interesting than most people expect. For now, the practical answer is the one we already have: you say what was generated and what you made, and your layers prove it.</a:t>
            </a:r>
          </a:p>
          <a:p>
            <a:pPr>
              <a:spcAft>
                <a:spcPts val="800"/>
              </a:spcAft>
            </a:pPr>
            <a:r>
              <a:t>[Into the demo, including the rerolling mistake.]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four minutes.] Something worth knowing: the workflow we're learning today isn't new to the industry, it just has a new source.</a:t>
            </a:r>
          </a:p>
          <a:p>
            <a:pPr>
              <a:spcAft>
                <a:spcPts val="800"/>
              </a:spcAft>
            </a:pPr>
            <a:r>
              <a:t>Concept artists and matte painters have worked like this for a long time. Some of these include painting over a rough 3D blockout, over a "photobash" made of chopped-up stock photos, over a frame from a previous film, or over another artist's sketch. The source gets you composition and perspective fast. The paint-over is where the decisions happen: the light, the focal point, the story.</a:t>
            </a:r>
          </a:p>
          <a:p>
            <a:pPr>
              <a:spcAft>
                <a:spcPts val="800"/>
              </a:spcAft>
            </a:pPr>
            <a:r>
              <a:t>[Show a breakdown, blockout or photobash on one side, painted final on the other. Ask: what changed between the two? Make them list it.]</a:t>
            </a:r>
          </a:p>
          <a:p>
            <a:pPr>
              <a:spcAft>
                <a:spcPts val="800"/>
              </a:spcAft>
            </a:pPr>
            <a:r>
              <a:t>Usually what changed is exactly our order: structure fixed, light unified, surfaces simplified, edges controlled. The generator is one more kind of blockout. The paint-over is still the job.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more judgment call, because it saves a lot of time.</a:t>
            </a:r>
          </a:p>
          <a:p>
            <a:pPr>
              <a:spcAft>
                <a:spcPts val="800"/>
              </a:spcAft>
            </a:pPr>
            <a:r>
              <a:t>Before you start fixing, ask: is the </a:t>
            </a:r>
            <a:r>
              <a:rPr b="1"/>
              <a:t>idea</a:t>
            </a:r>
            <a:r>
              <a:t> right? If the composition, the pose and the light basically work and the problems are hands and textures, fix it. That's an hour well spent.</a:t>
            </a:r>
          </a:p>
          <a:p>
            <a:pPr>
              <a:spcAft>
                <a:spcPts val="800"/>
              </a:spcAft>
            </a:pPr>
            <a:r>
              <a:t>If the composition is wrong, or the light comes from the wrong place for the whole scene, or the image misses the brief, don't fix it. Start over, with a better brief or a rough sketch underneath. No amount of perfect hand work rescues the wrong picture.</a:t>
            </a:r>
          </a:p>
          <a:p>
            <a:pPr>
              <a:spcAft>
                <a:spcPts val="800"/>
              </a:spcAft>
            </a:pPr>
            <a:r>
              <a:t>[Ask the room: who has ever spent ages fixing something that should have been started over? Hands up. Mine's up too.] This is the same lesson every painter learns about a bad drawing underneath a nice rendering.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the image on Canvas has two errors marked. Fix both by hand, on FIX_ layers, so I can toggle before and after.</a:t>
            </a:r>
          </a:p>
          <a:p>
            <a:pPr>
              <a:spcAft>
                <a:spcPts val="800"/>
              </a:spcAft>
            </a:pPr>
            <a:r>
              <a:rPr b="1"/>
              <a:t>Option B</a:t>
            </a:r>
            <a:r>
              <a:t>: take one of your own generated images, from Option A in session 1 or 2 if you like, run the six checks, call out what you find, fix it, and list what you changed and why.</a:t>
            </a:r>
          </a:p>
          <a:p>
            <a:pPr>
              <a:spcAft>
                <a:spcPts val="800"/>
              </a:spcAft>
            </a:pPr>
            <a:r>
              <a:t>Project 1 is due in two classes. Option A tonight is good practice for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Stop rerolling. Start painting. A fix you decided on stays fixed.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Fixing by Hand</a:t>
            </a:r>
          </a:p>
        </p:txBody>
      </p:sp>
      <p:sp>
        <p:nvSpPr>
          <p:cNvPr id="3" name="Subtitle 2"/>
          <p:cNvSpPr>
            <a:spLocks noGrp="1"/>
          </p:cNvSpPr>
          <p:nvPr>
            <p:ph type="subTitle" idx="1"/>
          </p:nvPr>
        </p:nvSpPr>
        <p:spPr/>
        <p:txBody>
          <a:bodyPr/>
          <a:lstStyle/>
          <a:p>
            <a:r>
              <a:t>AI Digital Imaging  |  Session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with a hand or face problem that's fixable in a few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Six checks, in order.</a:t>
            </a:r>
          </a:p>
          <a:p>
            <a:pPr/>
            <a:r>
              <a:t>Brief first, errors second.</a:t>
            </a:r>
          </a:p>
          <a:p>
            <a:pPr/>
            <a:r>
              <a:t>CALLOUT layer, numbered.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generator gets you somewhere.</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The hand work gets you to the brief.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not just regenerate?</a:t>
            </a:r>
          </a:p>
        </p:txBody>
      </p:sp>
      <p:sp>
        <p:nvSpPr>
          <p:cNvPr id="3" name="Content Placeholder 2"/>
          <p:cNvSpPr>
            <a:spLocks noGrp="1"/>
          </p:cNvSpPr>
          <p:nvPr>
            <p:ph idx="1"/>
          </p:nvPr>
        </p:nvSpPr>
        <p:spPr/>
        <p:txBody>
          <a:bodyPr/>
          <a:lstStyle/>
          <a:p>
            <a:pPr/>
            <a:r>
              <a:t>Rerolling is a slot machine.</a:t>
            </a:r>
          </a:p>
          <a:p>
            <a:pPr/>
            <a:r>
              <a:t>Each pull can break something new.</a:t>
            </a:r>
          </a:p>
          <a:p>
            <a:pPr/>
            <a:r>
              <a:t>A fix by hand stays fixed.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kit</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2B2B2B"/>
                </a:solidFill>
              </a:rPr>
              <a:t>Paint-over</a:t>
            </a:r>
          </a:p>
          <a:p>
            <a:pPr algn="ctr"/>
            <a:r>
              <a:rPr sz="1600">
                <a:solidFill>
                  <a:srgbClr val="2B2B2B"/>
                </a:solidFill>
              </a:rPr>
              <a:t>new layer, sampled color</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2B2B2B"/>
                </a:solidFill>
              </a:rPr>
              <a:t>Clone and Heal</a:t>
            </a:r>
          </a:p>
          <a:p>
            <a:pPr algn="ctr"/>
            <a:r>
              <a:rPr sz="1600">
                <a:solidFill>
                  <a:srgbClr val="2B2B2B"/>
                </a:solidFill>
              </a:rPr>
              <a:t>copy what's already there</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2B2B2B"/>
                </a:solidFill>
              </a:rPr>
              <a:t>Liquify</a:t>
            </a:r>
          </a:p>
          <a:p>
            <a:pPr algn="ctr"/>
            <a:r>
              <a:rPr sz="1600">
                <a:solidFill>
                  <a:srgbClr val="2B2B2B"/>
                </a:solidFill>
              </a:rPr>
              <a:t>push shapes into place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2B2B2B"/>
                </a:solidFill>
              </a:rPr>
              <a:t>Photo patch</a:t>
            </a:r>
          </a:p>
          <a:p>
            <a:pPr algn="ctr"/>
            <a:r>
              <a:rPr sz="1600">
                <a:solidFill>
                  <a:srgbClr val="2B2B2B"/>
                </a:solidFill>
              </a:rPr>
              <a:t>your own 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Paint-over</a:t>
            </a:r>
          </a:p>
        </p:txBody>
      </p:sp>
      <p:sp>
        <p:nvSpPr>
          <p:cNvPr id="3" name="Content Placeholder 2"/>
          <p:cNvSpPr>
            <a:spLocks noGrp="1"/>
          </p:cNvSpPr>
          <p:nvPr>
            <p:ph idx="1"/>
          </p:nvPr>
        </p:nvSpPr>
        <p:spPr/>
        <p:txBody>
          <a:bodyPr/>
          <a:lstStyle/>
          <a:p>
            <a:pPr/>
            <a:r>
              <a:t>A new layer, above, named FIX_.</a:t>
            </a:r>
          </a:p>
          <a:p>
            <a:pPr/>
            <a:r>
              <a:t>Sample color from the image.</a:t>
            </a:r>
          </a:p>
          <a:p>
            <a:pPr/>
            <a:r>
              <a:t>Value first, then color.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Clone and Heal</a:t>
            </a:r>
          </a:p>
        </p:txBody>
      </p:sp>
      <p:sp>
        <p:nvSpPr>
          <p:cNvPr id="3" name="Content Placeholder 2"/>
          <p:cNvSpPr>
            <a:spLocks noGrp="1"/>
          </p:cNvSpPr>
          <p:nvPr>
            <p:ph idx="1"/>
          </p:nvPr>
        </p:nvSpPr>
        <p:spPr/>
        <p:txBody>
          <a:bodyPr/>
          <a:lstStyle/>
          <a:p>
            <a:pPr/>
            <a:r>
              <a:t>Clone: copies exactly.</a:t>
            </a:r>
          </a:p>
          <a:p>
            <a:pPr/>
            <a:r>
              <a:t>Heal: copies texture, matches tone.</a:t>
            </a:r>
          </a:p>
          <a:p>
            <a:pPr/>
            <a:r>
              <a:t>Empty layer, sample "Current &amp; Below."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Liquify</a:t>
            </a:r>
          </a:p>
        </p:txBody>
      </p:sp>
      <p:sp>
        <p:nvSpPr>
          <p:cNvPr id="3" name="Content Placeholder 2"/>
          <p:cNvSpPr>
            <a:spLocks noGrp="1"/>
          </p:cNvSpPr>
          <p:nvPr>
            <p:ph idx="1"/>
          </p:nvPr>
        </p:nvSpPr>
        <p:spPr/>
        <p:txBody>
          <a:bodyPr/>
          <a:lstStyle/>
          <a:p>
            <a:pPr/>
            <a:r>
              <a:t>Push, don't paint.</a:t>
            </a:r>
          </a:p>
          <a:p>
            <a:pPr/>
            <a:r>
              <a:t>Small brush, small moves.</a:t>
            </a:r>
          </a:p>
          <a:p>
            <a:pPr/>
            <a:r>
              <a:t>Fix proportion, not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 patch</a:t>
            </a:r>
          </a:p>
        </p:txBody>
      </p:sp>
      <p:sp>
        <p:nvSpPr>
          <p:cNvPr id="3" name="Content Placeholder 2"/>
          <p:cNvSpPr>
            <a:spLocks noGrp="1"/>
          </p:cNvSpPr>
          <p:nvPr>
            <p:ph idx="1"/>
          </p:nvPr>
        </p:nvSpPr>
        <p:spPr>
          <a:xfrm>
            <a:off x="1298448" y="2560320"/>
            <a:ext cx="5349240" cy="3383280"/>
          </a:xfrm>
        </p:spPr>
        <p:txBody>
          <a:bodyPr/>
          <a:lstStyle/>
          <a:p>
            <a:pPr/>
            <a:r>
              <a:t>Shoot your own reference.</a:t>
            </a:r>
          </a:p>
          <a:p>
            <a:pPr/>
            <a:r>
              <a:t>Your hand, your phone, same pose.</a:t>
            </a:r>
          </a:p>
          <a:p>
            <a:pPr/>
            <a:r>
              <a:t>Mask it in, then match it.</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phone photo of a hand in the pose of the generated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one bad hand</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Callout</a:t>
            </a:r>
          </a:p>
          <a:p>
            <a:pPr algn="ctr"/>
            <a:r>
              <a:rPr sz="1200">
                <a:solidFill>
                  <a:srgbClr val="2B2B2B"/>
                </a:solidFill>
              </a:rPr>
              <a:t>number the error</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Reference</a:t>
            </a:r>
          </a:p>
          <a:p>
            <a:pPr algn="ctr"/>
            <a:r>
              <a:rPr sz="1200">
                <a:solidFill>
                  <a:srgbClr val="2B2B2B"/>
                </a:solidFill>
              </a:rPr>
              <a:t>shoot your hand</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Block</a:t>
            </a:r>
          </a:p>
          <a:p>
            <a:pPr algn="ctr"/>
            <a:r>
              <a:rPr sz="1200">
                <a:solidFill>
                  <a:srgbClr val="2B2B2B"/>
                </a:solidFill>
              </a:rPr>
              <a:t>paint the silhouette</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Patch</a:t>
            </a:r>
          </a:p>
          <a:p>
            <a:pPr algn="ctr"/>
            <a:r>
              <a:rPr sz="1200">
                <a:solidFill>
                  <a:srgbClr val="2B2B2B"/>
                </a:solidFill>
              </a:rPr>
              <a:t>mask in, or paint over</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Match</a:t>
            </a:r>
          </a:p>
          <a:p>
            <a:pPr algn="ctr"/>
            <a:r>
              <a:rPr sz="1200">
                <a:solidFill>
                  <a:srgbClr val="2B2B2B"/>
                </a:solidFill>
              </a:rPr>
              <a:t>value, grain, color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plan this fix</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second generated image with a hand or limb error, unfixed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Making the fix disappear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Match these four</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1700">
                <a:solidFill>
                  <a:srgbClr val="2B2B2B"/>
                </a:solidFill>
              </a:rPr>
              <a:t>Value: squint, check in gray</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1700">
                <a:solidFill>
                  <a:srgbClr val="2B2B2B"/>
                </a:solidFill>
              </a:rPr>
              <a:t>Edge softness</a:t>
            </a:r>
          </a:p>
        </p:txBody>
      </p:sp>
      <p:sp>
        <p:nvSpPr>
          <p:cNvPr id="7" name="Rectangle 6"/>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2514600"/>
            <a:ext cx="4343400" cy="411480"/>
          </a:xfrm>
          <a:prstGeom prst="rect">
            <a:avLst/>
          </a:prstGeom>
          <a:noFill/>
        </p:spPr>
        <p:txBody>
          <a:bodyPr wrap="square">
            <a:spAutoFit/>
          </a:bodyPr>
          <a:lstStyle/>
          <a:p>
            <a:r>
              <a:rPr sz="1700">
                <a:solidFill>
                  <a:srgbClr val="2B2B2B"/>
                </a:solidFill>
              </a:rPr>
              <a:t>Noise and grain</a:t>
            </a:r>
          </a:p>
        </p:txBody>
      </p:sp>
      <p:sp>
        <p:nvSpPr>
          <p:cNvPr id="9" name="Rectangle 8"/>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3081528"/>
            <a:ext cx="4343400" cy="411480"/>
          </a:xfrm>
          <a:prstGeom prst="rect">
            <a:avLst/>
          </a:prstGeom>
          <a:noFill/>
        </p:spPr>
        <p:txBody>
          <a:bodyPr wrap="square">
            <a:spAutoFit/>
          </a:bodyPr>
          <a:lstStyle/>
          <a:p>
            <a:r>
              <a:rPr sz="1700">
                <a:solidFill>
                  <a:srgbClr val="2B2B2B"/>
                </a:solidFill>
              </a:rPr>
              <a:t>Color temperature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Grain is part of the image</a:t>
            </a:r>
          </a:p>
        </p:txBody>
      </p:sp>
      <p:pic>
        <p:nvPicPr>
          <p:cNvPr id="3" name="Picture 2" descr="composite_zoom.png"/>
          <p:cNvPicPr>
            <a:picLocks noChangeAspect="1"/>
          </p:cNvPicPr>
          <p:nvPr/>
        </p:nvPicPr>
        <p:blipFill>
          <a:blip r:embed="rId2"/>
          <a:stretch>
            <a:fillRect/>
          </a:stretch>
        </p:blipFill>
        <p:spPr>
          <a:xfrm>
            <a:off x="3425772" y="2377440"/>
            <a:ext cx="534655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Add noise to the patch until it matches. Match softness, too.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Generating inside your fix</a:t>
            </a:r>
          </a:p>
        </p:txBody>
      </p:sp>
      <p:sp>
        <p:nvSpPr>
          <p:cNvPr id="3" name="Content Placeholder 2"/>
          <p:cNvSpPr>
            <a:spLocks noGrp="1"/>
          </p:cNvSpPr>
          <p:nvPr>
            <p:ph idx="1"/>
          </p:nvPr>
        </p:nvSpPr>
        <p:spPr/>
        <p:txBody>
          <a:bodyPr/>
          <a:lstStyle/>
          <a:p>
            <a:pPr/>
            <a:r>
              <a:t>Allowed: small fills inside your work.</a:t>
            </a:r>
          </a:p>
          <a:p>
            <a:pPr/>
            <a:r>
              <a:t>Paint rough, then fill over it.</a:t>
            </a:r>
          </a:p>
          <a:p>
            <a:pPr/>
            <a:r>
              <a:t>Named GEN_, decided by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order of fixes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1. Structure: anatomy, perspective</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2. Light: direction and shadows</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3. Surface: texture, repeats, text</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4. Edges and grain, last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stop</a:t>
            </a:r>
          </a:p>
        </p:txBody>
      </p:sp>
      <p:sp>
        <p:nvSpPr>
          <p:cNvPr id="3" name="Content Placeholder 2"/>
          <p:cNvSpPr>
            <a:spLocks noGrp="1"/>
          </p:cNvSpPr>
          <p:nvPr>
            <p:ph idx="1"/>
          </p:nvPr>
        </p:nvSpPr>
        <p:spPr/>
        <p:txBody>
          <a:bodyPr/>
          <a:lstStyle/>
          <a:p>
            <a:pPr/>
            <a:r>
              <a:t>Fixed to the brief, not perfect.</a:t>
            </a:r>
          </a:p>
          <a:p>
            <a:pPr/>
            <a:r>
              <a:t>Stop when the callout list is empty.</a:t>
            </a:r>
          </a:p>
          <a:p>
            <a:pPr/>
            <a:r>
              <a:t>Ten minutes fixing beats an hour rerolling.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a fixed image "yours"?</a:t>
            </a:r>
          </a:p>
        </p:txBody>
      </p:sp>
      <p:sp>
        <p:nvSpPr>
          <p:cNvPr id="3" name="Content Placeholder 2"/>
          <p:cNvSpPr>
            <a:spLocks noGrp="1"/>
          </p:cNvSpPr>
          <p:nvPr>
            <p:ph idx="1"/>
          </p:nvPr>
        </p:nvSpPr>
        <p:spPr/>
        <p:txBody>
          <a:bodyPr/>
          <a:lstStyle/>
          <a:p>
            <a:pPr/>
            <a:r>
              <a:t>You fixed it by hand.</a:t>
            </a:r>
          </a:p>
          <a:p>
            <a:pPr/>
            <a:r>
              <a:t>You didn't make the rest.</a:t>
            </a:r>
          </a:p>
          <a:p>
            <a:pPr/>
            <a:r>
              <a:t>So what is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industry has always done this</a:t>
            </a:r>
          </a:p>
        </p:txBody>
      </p:sp>
      <p:sp>
        <p:nvSpPr>
          <p:cNvPr id="3" name="Content Placeholder 2"/>
          <p:cNvSpPr>
            <a:spLocks noGrp="1"/>
          </p:cNvSpPr>
          <p:nvPr>
            <p:ph idx="1"/>
          </p:nvPr>
        </p:nvSpPr>
        <p:spPr>
          <a:xfrm>
            <a:off x="1298448" y="2560320"/>
            <a:ext cx="5349240" cy="3383280"/>
          </a:xfrm>
        </p:spPr>
        <p:txBody>
          <a:bodyPr/>
          <a:lstStyle/>
          <a:p>
            <a:pPr/>
            <a:r>
              <a:t>Concept artists paint over.</a:t>
            </a:r>
          </a:p>
          <a:p>
            <a:pPr/>
            <a:r>
              <a:t>Over photos, 3D blockouts, each other.</a:t>
            </a:r>
          </a:p>
          <a:p>
            <a:pPr/>
            <a:r>
              <a:t>The paint-over is the job.</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concept art paint-over breakdown: 3D blockout or photobash, then the painted final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 or start over?</a:t>
            </a:r>
          </a:p>
        </p:txBody>
      </p:sp>
      <p:sp>
        <p:nvSpPr>
          <p:cNvPr id="3" name="Content Placeholder 2"/>
          <p:cNvSpPr>
            <a:spLocks noGrp="1"/>
          </p:cNvSpPr>
          <p:nvPr>
            <p:ph idx="1"/>
          </p:nvPr>
        </p:nvSpPr>
        <p:spPr/>
        <p:txBody>
          <a:bodyPr/>
          <a:lstStyle/>
          <a:p>
            <a:pPr/>
            <a:r>
              <a:t>Fix: the idea is right.</a:t>
            </a:r>
          </a:p>
          <a:p>
            <a:pPr/>
            <a:r>
              <a:t>Start over: the idea is wrong.</a:t>
            </a:r>
          </a:p>
          <a:p>
            <a:pPr/>
            <a:r>
              <a:t>Decide before you spend the hour.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Paint-over</a:t>
            </a:r>
            <a:r>
              <a:rPr sz="1900"/>
              <a:t> – painting on a new layer above the image</a:t>
            </a:r>
          </a:p>
          <a:p>
            <a:pPr>
              <a:spcAft>
                <a:spcPts val="600"/>
              </a:spcAft>
            </a:pPr>
            <a:r>
              <a:rPr b="1" sz="1900"/>
              <a:t>Clone Stamp</a:t>
            </a:r>
            <a:r>
              <a:rPr sz="1900"/>
              <a:t> – copies pixels exactly</a:t>
            </a:r>
          </a:p>
          <a:p>
            <a:pPr>
              <a:spcAft>
                <a:spcPts val="600"/>
              </a:spcAft>
            </a:pPr>
            <a:r>
              <a:rPr b="1" sz="1900"/>
              <a:t>Healing Brush</a:t>
            </a:r>
            <a:r>
              <a:rPr sz="1900"/>
              <a:t> – copies texture, matches tone</a:t>
            </a:r>
          </a:p>
        </p:txBody>
      </p:sp>
      <p:sp>
        <p:nvSpPr>
          <p:cNvPr id="4" name="Content Placeholder 3"/>
          <p:cNvSpPr>
            <a:spLocks noGrp="1"/>
          </p:cNvSpPr>
          <p:nvPr>
            <p:ph idx="2" sz="half"/>
          </p:nvPr>
        </p:nvSpPr>
        <p:spPr/>
        <p:txBody>
          <a:bodyPr/>
          <a:lstStyle/>
          <a:p>
            <a:pPr>
              <a:spcAft>
                <a:spcPts val="600"/>
              </a:spcAft>
            </a:pPr>
            <a:r>
              <a:rPr b="1" sz="1900"/>
              <a:t>Current &amp; Below</a:t>
            </a:r>
            <a:r>
              <a:rPr sz="1900"/>
              <a:t> – sample setting for fixing on an empty layer</a:t>
            </a:r>
          </a:p>
          <a:p>
            <a:pPr>
              <a:spcAft>
                <a:spcPts val="600"/>
              </a:spcAft>
            </a:pPr>
            <a:r>
              <a:rPr b="1" sz="1900"/>
              <a:t>Liquify</a:t>
            </a:r>
            <a:r>
              <a:rPr sz="1900"/>
              <a:t> – pushes shapes, adds nothing</a:t>
            </a:r>
          </a:p>
          <a:p>
            <a:pPr>
              <a:spcAft>
                <a:spcPts val="600"/>
              </a:spcAft>
            </a:pPr>
            <a:r>
              <a:rPr b="1" sz="1900"/>
              <a:t>Grain</a:t>
            </a:r>
            <a:r>
              <a:rPr sz="1900"/>
              <a:t> – noise that belongs to the image; match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Fix two marked errors</a:t>
            </a:r>
          </a:p>
          <a:p>
            <a:pPr/>
            <a:r>
              <a:t>on a provided image.</a:t>
            </a:r>
          </a:p>
          <a:p>
            <a:pPr/>
            <a:r>
              <a:t>Before and after on named layers.</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Fix one of your own</a:t>
            </a:r>
          </a:p>
          <a:p>
            <a:pPr/>
            <a:r>
              <a:t>generated images.</a:t>
            </a:r>
          </a:p>
          <a:p>
            <a:pPr/>
            <a:r>
              <a:t>List what you changed, and why.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Stop rerolling. Start painting.</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A fix you decided stays fixed.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