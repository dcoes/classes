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a:t>
            </a:r>
            <a:r>
              <a:t> The opening is about 15 minutes, presentations take most of the session, and the closing reflection is about 15 minutes at the end. Opening: what today is, the three-minute format, how notes work today (15). Presentations, about three minutes each plus two for notes. Closing: what the month was for, what's durable, what to keep doing (15).</a:t>
            </a:r>
          </a:p>
          <a:p>
            <a:pPr>
              <a:spcAft>
                <a:spcPts val="800"/>
              </a:spcAft>
            </a:pPr>
            <a:r>
              <a:rPr b="1"/>
              <a:t>Prep before class.</a:t>
            </a:r>
            <a:r>
              <a:t> Collect finals with everything on the checklist. Set up the projector so each presenter can open their sheet quickly; a shared folder in presentation order saves a lot of time. Note cards for written notes. A timer that the room can see.</a:t>
            </a:r>
          </a:p>
          <a:p>
            <a:pPr>
              <a:spcAft>
                <a:spcPts val="800"/>
              </a:spcAft>
            </a:pPr>
            <a:r>
              <a:t>For the closing, look back at the room poll from session 1 if you noted the numbers. It's a nice thing to ask again.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Finals are in. [Check that everyone has submitted the full set: final images, sheet, brief, board, log, rejects, layered files, disclosure.]</a:t>
            </a:r>
          </a:p>
          <a:p>
            <a:pPr>
              <a:spcAft>
                <a:spcPts val="800"/>
              </a:spcAft>
            </a:pPr>
            <a:r>
              <a:t>Today is mostly you. Each person presents for about three minutes, the room writes notes, and at the end we spend a little time on what this month was actually for.</a:t>
            </a:r>
          </a:p>
          <a:p>
            <a:pPr>
              <a:spcAft>
                <a:spcPts val="800"/>
              </a:spcAft>
            </a:pPr>
            <a:r>
              <a:t>No Spot it today. Today, the images on the screen are yours, and the eye you've been training all month gets to look at work that's already been looked at very carefully.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format, for each presenter.</a:t>
            </a:r>
          </a:p>
          <a:p>
            <a:pPr>
              <a:spcAft>
                <a:spcPts val="800"/>
              </a:spcAft>
            </a:pPr>
            <a:r>
              <a:rPr b="1"/>
              <a:t>The brief</a:t>
            </a:r>
            <a:r>
              <a:t>, in thirty seconds: what it's for and what it should feel like. </a:t>
            </a:r>
            <a:r>
              <a:rPr b="1"/>
              <a:t>The set</a:t>
            </a:r>
            <a:r>
              <a:t>, side by side on your sheet, and then give the room a few seconds of quiet just to look. </a:t>
            </a:r>
            <a:r>
              <a:rPr b="1"/>
              <a:t>One decision</a:t>
            </a:r>
            <a:r>
              <a:t>: the hardest decision you made, a rejection, a fix, a must you fought to keep. And </a:t>
            </a:r>
            <a:r>
              <a:rPr b="1"/>
              <a:t>what you wouldn't use a generator for next time</a:t>
            </a:r>
            <a:r>
              <a:t>, and why.</a:t>
            </a:r>
          </a:p>
          <a:p>
            <a:pPr>
              <a:spcAft>
                <a:spcPts val="800"/>
              </a:spcAft>
            </a:pPr>
            <a:r>
              <a:t>That last question is the one I'm most interested in. It's also part of Option A's process statement tonight.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Notes are a little different today. The work is done, so there's no point in a "one change." Instead, each note card gets two lines: </a:t>
            </a:r>
            <a:r>
              <a:rPr b="1"/>
              <a:t>brief says, image does</a:t>
            </a:r>
            <a:r>
              <a:t>, as always, and </a:t>
            </a:r>
            <a:r>
              <a:rPr b="1"/>
              <a:t>one thing that works</a:t>
            </a:r>
            <a:r>
              <a:t>, described specifically.</a:t>
            </a:r>
          </a:p>
          <a:p>
            <a:pPr>
              <a:spcAft>
                <a:spcPts val="800"/>
              </a:spcAft>
            </a:pPr>
            <a:r>
              <a:t>Remember, praise by describing what the work does, not by rating it. "The light from the left holds in all four, and the scarf reads at thumbnail size" is a much better compliment than "great job," and the presenter will actually keep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[Run the presentations. Keep time. After every four or five, take a minute to name something the room is seeing across several sets, good or bad.]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[After the last presenter. About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 the first day I asked three questions. Let's ask them again, with one changed. [Ask the three questions.]</a:t>
            </a:r>
          </a:p>
          <a:p>
            <a:pPr>
              <a:spcAft>
                <a:spcPts val="800"/>
              </a:spcAft>
            </a:pPr>
            <a:r>
              <a:t>[Whatever the numbers are, say them out loud. Then ask one or two people who changed their mind, in either direction, what changed it. Also ask someone who didn't change their mind what they'd now say to someone who disagrees with them.]</a:t>
            </a:r>
          </a:p>
          <a:p>
            <a:pPr>
              <a:spcAft>
                <a:spcPts val="800"/>
              </a:spcAft>
            </a:pPr>
            <a:r>
              <a:t>All of those answers are fine. What I hoped for was that whatever you think about these tools now, you think it with more evidence than you had four weeks ago.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 the first day I put up a list called "what still costs money." Here it is again, as a list of things you've now done, each one more than once.</a:t>
            </a:r>
          </a:p>
          <a:p>
            <a:pPr>
              <a:spcAft>
                <a:spcPts val="800"/>
              </a:spcAft>
            </a:pPr>
            <a:r>
              <a:t>You've written a brief someone else could follow, and tested it on a partner. You've seen what's wrong in an image and named it in words: anatomy, perspective, light, lettering, texture, sheen. You've fixed it by hand, in a layered file anyone can read. And you've said what you made, in a disclosure statement that would stand up in front of a client.</a:t>
            </a:r>
          </a:p>
          <a:p>
            <a:pPr>
              <a:spcAft>
                <a:spcPts val="800"/>
              </a:spcAft>
            </a:pPr>
            <a:r>
              <a:t>None of those depend on which tool you used, or on which tool exists next year. That's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What will change, and I want to be straight about it.</a:t>
            </a:r>
          </a:p>
          <a:p>
            <a:pPr>
              <a:spcAft>
                <a:spcPts val="800"/>
              </a:spcAft>
            </a:pPr>
            <a:r>
              <a:rPr b="1"/>
              <a:t>The tools</a:t>
            </a:r>
            <a:r>
              <a:t> change every few months. Some of what I showed you in the menus this month will have moved or been renamed by the time you use it again. </a:t>
            </a:r>
            <a:r>
              <a:rPr b="1"/>
              <a:t>The law</a:t>
            </a:r>
            <a:r>
              <a:t> is still being decided, in courts and in other countries, and it might go in directions none of us expect. And </a:t>
            </a:r>
            <a:r>
              <a:rPr b="1"/>
              <a:t>the jobs</a:t>
            </a:r>
            <a:r>
              <a:t> are changing too, as we saw in that survey on the first day. I don't know exactly how, and anybody who says they do is guessing.</a:t>
            </a:r>
          </a:p>
          <a:p>
            <a:pPr>
              <a:spcAft>
                <a:spcPts val="800"/>
              </a:spcAft>
            </a:pPr>
            <a:r>
              <a:t>That's exactly why the course spent its time on the parts that don't depend on the menu.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Three things I'd keep doing, after this course, whatever you decide about these tools.</a:t>
            </a:r>
          </a:p>
          <a:p>
            <a:pPr>
              <a:spcAft>
                <a:spcPts val="800"/>
              </a:spcAft>
            </a:pPr>
            <a:r>
              <a:rPr b="1"/>
              <a:t>Keep drawing.</a:t>
            </a:r>
            <a:r>
              <a:t> It's the input only you have, and it's the clearest way to tell any tool, or any person, what you mean. </a:t>
            </a:r>
            <a:r>
              <a:rPr b="1"/>
              <a:t>Keep the checklist in your head</a:t>
            </a:r>
            <a:r>
              <a:t>: light, perspective, anatomy, lettering, texture, sheen. It works on photographs, paintings, films and your own work, not only on generated images. And </a:t>
            </a:r>
            <a:r>
              <a:rPr b="1"/>
              <a:t>keep your layers, and keep saying what you made.</a:t>
            </a:r>
            <a:r>
              <a:t> It's a professional habit that will matter more each year, not less.</a:t>
            </a:r>
          </a:p>
          <a:p>
            <a:pPr>
              <a:spcAft>
                <a:spcPts val="800"/>
              </a:spcAft>
            </a:pPr>
            <a:r>
              <a:t>The tool is a means of expression, and the person using it is not an operator.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whole month in four lines. Leave this up while people pack up.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last options, due by the deadline on Canvas.</a:t>
            </a:r>
          </a:p>
          <a:p>
            <a:pPr>
              <a:spcAft>
                <a:spcPts val="800"/>
              </a:spcAft>
            </a:pPr>
            <a:r>
              <a:rPr b="1"/>
              <a:t>Option A</a:t>
            </a:r>
            <a:r>
              <a:t>: a written process statement, about 250 words. What you set out to do, the hardest decision, and what you would not use a generator for next time, and why.</a:t>
            </a:r>
          </a:p>
          <a:p>
            <a:pPr>
              <a:spcAft>
                <a:spcPts val="800"/>
              </a:spcAft>
            </a:pPr>
            <a:r>
              <a:rPr b="1"/>
              <a:t>Option B</a:t>
            </a:r>
            <a:r>
              <a:t>: a recorded walkthrough of your layered process file, about three minutes: open the file, turn layers on and off, and talk through the decisions.</a:t>
            </a:r>
          </a:p>
          <a:p>
            <a:pPr>
              <a:spcAft>
                <a:spcPts val="800"/>
              </a:spcAft>
            </a:pPr>
            <a:r>
              <a:t>Thank you for this month. [Say something specific you saw someone in the room do over the month, without naming them if they'd rather not be named. Then let them go.]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On the first day the line was "the machine makes candidates, somebody still has to decide." Four weeks later, that somebody was you, in every one of those files.</a:t>
            </a:r>
          </a:p>
          <a:p>
            <a:pPr>
              <a:spcAft>
                <a:spcPts val="800"/>
              </a:spcAft>
            </a:pPr>
            <a:r>
              <a:t>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Final Critique</a:t>
            </a:r>
          </a:p>
        </p:txBody>
      </p:sp>
      <p:sp>
        <p:nvSpPr>
          <p:cNvPr id="3" name="Subtitle 2"/>
          <p:cNvSpPr>
            <a:spLocks noGrp="1"/>
          </p:cNvSpPr>
          <p:nvPr>
            <p:ph type="subTitle" idx="1"/>
          </p:nvPr>
        </p:nvSpPr>
        <p:spPr/>
        <p:txBody>
          <a:bodyPr/>
          <a:lstStyle/>
          <a:p>
            <a:r>
              <a:t>AI Digital Imaging  |  Session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Today</a:t>
            </a:r>
          </a:p>
        </p:txBody>
      </p:sp>
      <p:sp>
        <p:nvSpPr>
          <p:cNvPr id="3" name="Content Placeholder 2"/>
          <p:cNvSpPr>
            <a:spLocks noGrp="1"/>
          </p:cNvSpPr>
          <p:nvPr>
            <p:ph idx="1"/>
          </p:nvPr>
        </p:nvSpPr>
        <p:spPr/>
        <p:txBody>
          <a:bodyPr/>
          <a:lstStyle/>
          <a:p>
            <a:pPr/>
            <a:r>
              <a:t>Finals are in.</a:t>
            </a:r>
          </a:p>
          <a:p>
            <a:pPr/>
            <a:r>
              <a:t>About three minutes each.</a:t>
            </a:r>
          </a:p>
          <a:p>
            <a:pPr/>
            <a:r>
              <a:t>Then we talk about the month.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three minutes</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The brief</a:t>
            </a:r>
          </a:p>
          <a:p>
            <a:pPr algn="ctr"/>
            <a:r>
              <a:rPr sz="1600">
                <a:solidFill>
                  <a:srgbClr val="2B2B2B"/>
                </a:solidFill>
              </a:rPr>
              <a:t>thirty seconds</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The set</a:t>
            </a:r>
          </a:p>
          <a:p>
            <a:pPr algn="ctr"/>
            <a:r>
              <a:rPr sz="1600">
                <a:solidFill>
                  <a:srgbClr val="2B2B2B"/>
                </a:solidFill>
              </a:rPr>
              <a:t>side by side, a moment of quiet</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One decision</a:t>
            </a:r>
          </a:p>
          <a:p>
            <a:pPr algn="ctr"/>
            <a:r>
              <a:rPr sz="1600">
                <a:solidFill>
                  <a:srgbClr val="2B2B2B"/>
                </a:solidFill>
              </a:rPr>
              <a:t>the hardest one</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What you wouldn't generate</a:t>
            </a:r>
          </a:p>
          <a:p>
            <a:pPr algn="ctr"/>
            <a:r>
              <a:rPr sz="1600">
                <a:solidFill>
                  <a:srgbClr val="2B2B2B"/>
                </a:solidFill>
              </a:rPr>
              <a:t>next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today</a:t>
            </a:r>
          </a:p>
        </p:txBody>
      </p:sp>
      <p:sp>
        <p:nvSpPr>
          <p:cNvPr id="3" name="Content Placeholder 2"/>
          <p:cNvSpPr>
            <a:spLocks noGrp="1"/>
          </p:cNvSpPr>
          <p:nvPr>
            <p:ph idx="1"/>
          </p:nvPr>
        </p:nvSpPr>
        <p:spPr/>
        <p:txBody>
          <a:bodyPr/>
          <a:lstStyle/>
          <a:p>
            <a:pPr/>
            <a:r>
              <a:t>Brief says, image does.</a:t>
            </a:r>
          </a:p>
          <a:p>
            <a:pPr/>
            <a:r>
              <a:t>One thing that works, specifically.</a:t>
            </a:r>
          </a:p>
          <a:p>
            <a:pPr/>
            <a:r>
              <a:t>No "one change" today.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Presentations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month was for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 up, again</a:t>
            </a:r>
          </a:p>
        </p:txBody>
      </p:sp>
      <p:sp>
        <p:nvSpPr>
          <p:cNvPr id="3" name="Content Placeholder 2"/>
          <p:cNvSpPr>
            <a:spLocks noGrp="1"/>
          </p:cNvSpPr>
          <p:nvPr>
            <p:ph idx="1"/>
          </p:nvPr>
        </p:nvSpPr>
        <p:spPr/>
        <p:txBody>
          <a:bodyPr/>
          <a:lstStyle/>
          <a:p>
            <a:pPr/>
            <a:r>
              <a:t>Used one before this month?</a:t>
            </a:r>
          </a:p>
          <a:p>
            <a:pPr/>
            <a:r>
              <a:t>Avoid them on purpose?</a:t>
            </a:r>
          </a:p>
          <a:p>
            <a:pPr/>
            <a:r>
              <a:t>Changed your mind about anything?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can do now</a:t>
            </a:r>
          </a:p>
        </p:txBody>
      </p:sp>
      <p:sp>
        <p:nvSpPr>
          <p:cNvPr id="3" name="Content Placeholder 2"/>
          <p:cNvSpPr>
            <a:spLocks noGrp="1"/>
          </p:cNvSpPr>
          <p:nvPr>
            <p:ph idx="1"/>
          </p:nvPr>
        </p:nvSpPr>
        <p:spPr/>
        <p:txBody>
          <a:bodyPr/>
          <a:lstStyle/>
          <a:p>
            <a:pPr/>
            <a:r>
              <a:t>Write a brief someone else can follow.</a:t>
            </a:r>
          </a:p>
          <a:p>
            <a:pPr/>
            <a:r>
              <a:t>See what's wrong, in words.</a:t>
            </a:r>
          </a:p>
          <a:p>
            <a:pPr/>
            <a:r>
              <a:t>Fix it by hand.</a:t>
            </a:r>
          </a:p>
          <a:p>
            <a:pPr/>
            <a:r>
              <a:t>Say what you made.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will change</a:t>
            </a:r>
          </a:p>
        </p:txBody>
      </p:sp>
      <p:sp>
        <p:nvSpPr>
          <p:cNvPr id="3" name="Content Placeholder 2"/>
          <p:cNvSpPr>
            <a:spLocks noGrp="1"/>
          </p:cNvSpPr>
          <p:nvPr>
            <p:ph idx="1"/>
          </p:nvPr>
        </p:nvSpPr>
        <p:spPr/>
        <p:txBody>
          <a:bodyPr/>
          <a:lstStyle/>
          <a:p>
            <a:pPr/>
            <a:r>
              <a:t>The tools, every few months.</a:t>
            </a:r>
          </a:p>
          <a:p>
            <a:pPr/>
            <a:r>
              <a:t>The law, still being decided.</a:t>
            </a:r>
          </a:p>
          <a:p>
            <a:pPr/>
            <a:r>
              <a:t>The jobs, honestly, too.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to keep doing</a:t>
            </a:r>
          </a:p>
        </p:txBody>
      </p:sp>
      <p:sp>
        <p:nvSpPr>
          <p:cNvPr id="3" name="Content Placeholder 2"/>
          <p:cNvSpPr>
            <a:spLocks noGrp="1"/>
          </p:cNvSpPr>
          <p:nvPr>
            <p:ph idx="1"/>
          </p:nvPr>
        </p:nvSpPr>
        <p:spPr/>
        <p:txBody>
          <a:bodyPr/>
          <a:lstStyle/>
          <a:p>
            <a:pPr/>
            <a:r>
              <a:t>Keep drawing. It's the best input.</a:t>
            </a:r>
          </a:p>
          <a:p>
            <a:pPr/>
            <a:r>
              <a:t>Keep the checklist in your head.</a:t>
            </a:r>
          </a:p>
          <a:p>
            <a:pPr/>
            <a:r>
              <a:t>Keep your layers. Keep saying what you made.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Brief</a:t>
            </a:r>
            <a:r>
              <a:rPr sz="1900"/>
              <a:t> – the first image, in words</a:t>
            </a:r>
          </a:p>
          <a:p>
            <a:pPr>
              <a:spcAft>
                <a:spcPts val="600"/>
              </a:spcAft>
            </a:pPr>
            <a:r>
              <a:rPr b="1" sz="1900"/>
              <a:t>Checklist</a:t>
            </a:r>
            <a:r>
              <a:rPr sz="1900"/>
              <a:t> – anatomy, perspective, light, lettering, texture, sheen</a:t>
            </a:r>
          </a:p>
        </p:txBody>
      </p:sp>
      <p:sp>
        <p:nvSpPr>
          <p:cNvPr id="4" name="Content Placeholder 3"/>
          <p:cNvSpPr>
            <a:spLocks noGrp="1"/>
          </p:cNvSpPr>
          <p:nvPr>
            <p:ph idx="2" sz="half"/>
          </p:nvPr>
        </p:nvSpPr>
        <p:spPr/>
        <p:txBody>
          <a:bodyPr/>
          <a:lstStyle/>
          <a:p>
            <a:pPr>
              <a:spcAft>
                <a:spcPts val="600"/>
              </a:spcAft>
            </a:pPr>
            <a:r>
              <a:rPr b="1" sz="1900"/>
              <a:t>Process record</a:t>
            </a:r>
            <a:r>
              <a:rPr sz="1900"/>
              <a:t> – the chain of work that proves the decisions</a:t>
            </a:r>
          </a:p>
          <a:p>
            <a:pPr>
              <a:spcAft>
                <a:spcPts val="600"/>
              </a:spcAft>
            </a:pPr>
            <a:r>
              <a:rPr b="1" sz="1900"/>
              <a:t>Disclosure</a:t>
            </a:r>
            <a:r>
              <a:rPr sz="1900"/>
              <a:t> – what was generated, what you made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Process statement, about 250 words,</a:t>
            </a:r>
          </a:p>
          <a:p>
            <a:pPr/>
            <a:r>
              <a:t>including what you would not</a:t>
            </a:r>
          </a:p>
          <a:p>
            <a:pPr/>
            <a:r>
              <a:t>use a generator for next time.</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Recorded walkthrough of your</a:t>
            </a:r>
          </a:p>
          <a:p>
            <a:pPr/>
            <a:r>
              <a:t>process file, about 3 minutes.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machine made candidates.</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You made the decisions.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