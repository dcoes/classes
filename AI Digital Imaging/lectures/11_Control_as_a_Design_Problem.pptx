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(5). The ladder of control (5). Four kinds of structure input (12). What a node workflow is, and why it isn't in the lab (8). Too much control (3). The version you can do in the lab (4). Worked example and cold reversal (6). Does drawing matter more now (5). Options (2).</a:t>
            </a:r>
          </a:p>
          <a:p>
            <a:pPr>
              <a:spcAft>
                <a:spcPts val="800"/>
              </a:spcAft>
            </a:pPr>
            <a:r>
              <a:rPr b="1"/>
              <a:t>Prep before class, at home.</a:t>
            </a:r>
            <a:r>
              <a:t> This session depends on work you do on your own machine. Run one simple scene through a node-based workflow (ComfyUI or similar) with each structure input: a rough sketch, a pose skeleton, a depth map and an edge map, same prompt each time. Save the inputs and outputs side by side. Screenshot the node graph. Make the Option A set: several outputs from one pose and one depth input, so students can pick and composite.</a:t>
            </a:r>
          </a:p>
          <a:p>
            <a:pPr>
              <a:spcAft>
                <a:spcPts val="800"/>
              </a:spcAft>
            </a:pPr>
            <a:r>
              <a:t>Tell students tonight that Option B sketches need to be submitted by a set time (say 8 p.m.) so you can run them before the next class. Keep that promise; it's the whole option.</a:t>
            </a:r>
          </a:p>
          <a:p>
            <a:pPr>
              <a:spcAft>
                <a:spcPts val="800"/>
              </a:spcAft>
            </a:pPr>
            <a:r>
              <a:t>The demo today is you showing the workflow running, live if your laptop can do it, or a screen recording if it can't.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The point of today's image: nothing is 'wrong' on the checklist, it's just not the pose anyone asked for. That's a control problem, not an error.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[Cold call.] What are the five parts of the brief? What did the swap exercise tell you about yours?</a:t>
            </a:r>
          </a:p>
          <a:p>
            <a:pPr>
              <a:spcAft>
                <a:spcPts val="800"/>
              </a:spcAft>
            </a:pPr>
            <a:r>
              <a:t>Today's Spot it image had no errors on our checklist. The anatomy was fine, the light was fine. It just wasn't the pose the brief asked for. And no amount of rewording fixed it, because words, as we found in session 2, are bad at "where."</a:t>
            </a:r>
          </a:p>
          <a:p>
            <a:pPr>
              <a:spcAft>
                <a:spcPts val="800"/>
              </a:spcAft>
            </a:pPr>
            <a:r>
              <a:t>Today is about the inputs that are good at "where."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today's argument, and it's the one I'd most like you to take out of this course.</a:t>
            </a:r>
          </a:p>
          <a:p>
            <a:pPr>
              <a:spcAft>
                <a:spcPts val="800"/>
              </a:spcAft>
            </a:pPr>
            <a:r>
              <a:t>When people want more control over a generator, they usually write longer prompts. That mostly doesn't work. What works is </a:t>
            </a:r>
            <a:r>
              <a:rPr b="1"/>
              <a:t>better input</a:t>
            </a:r>
            <a:r>
              <a:t>: giving the machine more of the decision before it starts.</a:t>
            </a:r>
          </a:p>
          <a:p>
            <a:pPr>
              <a:spcAft>
                <a:spcPts val="800"/>
              </a:spcAft>
            </a:pPr>
            <a:r>
              <a:t>And the best input there is, still, is a drawing. Not a good drawing. A clear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ladder, from least control to most.</a:t>
            </a:r>
          </a:p>
          <a:p>
            <a:pPr>
              <a:spcAft>
                <a:spcPts val="800"/>
              </a:spcAft>
            </a:pPr>
            <a:r>
              <a:rPr b="1"/>
              <a:t>Words</a:t>
            </a:r>
            <a:r>
              <a:t> tell it what. </a:t>
            </a:r>
            <a:r>
              <a:rPr b="1"/>
              <a:t>A reference image</a:t>
            </a:r>
            <a:r>
              <a:t> tells it how it looks. </a:t>
            </a:r>
            <a:r>
              <a:rPr b="1"/>
              <a:t>Your rough paint</a:t>
            </a:r>
            <a:r>
              <a:t> under a fill, from sessions 3 and 5, tells it roughly where. And </a:t>
            </a:r>
            <a:r>
              <a:rPr b="1"/>
              <a:t>structure input</a:t>
            </a:r>
            <a:r>
              <a:t>, today's topic, tells it exactly where: the pose, the layout, the depth of the scene.</a:t>
            </a:r>
          </a:p>
          <a:p>
            <a:pPr>
              <a:spcAft>
                <a:spcPts val="800"/>
              </a:spcAft>
            </a:pPr>
            <a:r>
              <a:t>Each step up, you supply more of the decision, and less of it gets made for you. That's the same sentence I've been saying since week one, and today it gets its most literal 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kinds of structure input. All of these were made on a computer for this slide, the last one from an old NASA photo.</a:t>
            </a:r>
          </a:p>
          <a:p>
            <a:pPr>
              <a:spcAft>
                <a:spcPts val="800"/>
              </a:spcAft>
            </a:pPr>
            <a:r>
              <a:t>A </a:t>
            </a:r>
            <a:r>
              <a:rPr b="1"/>
              <a:t>sketch</a:t>
            </a:r>
            <a:r>
              <a:t>: your layout and shapes, in lines. A </a:t>
            </a:r>
            <a:r>
              <a:rPr b="1"/>
              <a:t>pose</a:t>
            </a:r>
            <a:r>
              <a:t>: a stick-figure skeleton, the colored lines are a convention these tools use to tell the left arm from the right. A </a:t>
            </a:r>
            <a:r>
              <a:rPr b="1"/>
              <a:t>depth map</a:t>
            </a:r>
            <a:r>
              <a:t>: a gray image where near things are light and far things are dark. An </a:t>
            </a:r>
            <a:r>
              <a:rPr b="1"/>
              <a:t>edge map</a:t>
            </a:r>
            <a:r>
              <a:t>: the outlines of a photo or drawing, traced automatically.</a:t>
            </a:r>
          </a:p>
          <a:p>
            <a:pPr>
              <a:spcAft>
                <a:spcPts val="800"/>
              </a:spcAft>
            </a:pPr>
            <a:r>
              <a:t>The tool that reads these is often called a "ControlNet," a name from a research paper in 2023 or so. I put it in quotes because you'll see the word online, and it's really just "structure guidance." Each input locks something different, and each one leaves the rest to the generator.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sketch locks the layout: where the horizon is, where the figure stands, the big shapes. It's the cheapest kind of control in the world. You need a pencil and two minutes.</a:t>
            </a:r>
          </a:p>
          <a:p>
            <a:pPr>
              <a:spcAft>
                <a:spcPts val="800"/>
              </a:spcAft>
            </a:pPr>
            <a:r>
              <a:t>And it doesn't need to be good. A wobbly drawing with a </a:t>
            </a:r>
            <a:r>
              <a:rPr b="1"/>
              <a:t>clear layout</a:t>
            </a:r>
            <a:r>
              <a:t> works better than a beautiful drawing with a confused one. The generator reads the big shapes, not your line quality.</a:t>
            </a:r>
          </a:p>
          <a:p>
            <a:pPr>
              <a:spcAft>
                <a:spcPts val="800"/>
              </a:spcAft>
            </a:pPr>
            <a:r>
              <a:t>This is the thumbnail from storyboarding and from painting, in a new job. Same drawing, new reader.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pose input locks the gesture: where the head is, the angle of the spine, where the arms and legs go. It doesn't lock body type, costume, or face. That's still words and references.</a:t>
            </a:r>
          </a:p>
          <a:p>
            <a:pPr>
              <a:spcAft>
                <a:spcPts val="800"/>
              </a:spcAft>
            </a:pPr>
            <a:r>
              <a:t>You can get a pose skeleton by drawing it, by posing a 3D mannequin, or by having the tool extract it from a photo, including a photo of you acting out the pose. Animation students, you've done this: shoot your own reference.</a:t>
            </a:r>
          </a:p>
          <a:p>
            <a:pPr>
              <a:spcAft>
                <a:spcPts val="800"/>
              </a:spcAft>
            </a:pPr>
            <a:r>
              <a:t>Hands still drift, by the way. The skeleton has a dot for the wrist and maybe a few for fingers, and the generator fills in the rest, so the checklist still applies.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Depth and edges, together, because they're both mostly about places.</a:t>
            </a:r>
          </a:p>
          <a:p>
            <a:pPr>
              <a:spcAft>
                <a:spcPts val="800"/>
              </a:spcAft>
            </a:pPr>
            <a:r>
              <a:t>A </a:t>
            </a:r>
            <a:r>
              <a:rPr b="1"/>
              <a:t>depth map</a:t>
            </a:r>
            <a:r>
              <a:t> locks the space: what's near, what's far, how the room or landscape recedes. It's very good at keeping a place consistent across a series, which is session 6's problem.</a:t>
            </a:r>
          </a:p>
          <a:p>
            <a:pPr>
              <a:spcAft>
                <a:spcPts val="800"/>
              </a:spcAft>
            </a:pPr>
            <a:r>
              <a:t>An </a:t>
            </a:r>
            <a:r>
              <a:rPr b="1"/>
              <a:t>edge map</a:t>
            </a:r>
            <a:r>
              <a:t> locks the outlines of everything. It's the strongest of the four, and the most dangerous, which is two slides from now.</a:t>
            </a:r>
          </a:p>
          <a:p>
            <a:pPr>
              <a:spcAft>
                <a:spcPts val="800"/>
              </a:spcAft>
            </a:pPr>
            <a:r>
              <a:t>3D students: a depth map is the same thing as the depth pass you'd render out of Maya. You can block a scene with primitives in 3D, render the depth, and use it as input. That's a very powerful pairing, and it's where a lot of studios are actually using this.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what's actually running on my machine at home.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your node graph.]</a:t>
            </a:r>
          </a:p>
          <a:p>
            <a:pPr>
              <a:spcAft>
                <a:spcPts val="800"/>
              </a:spcAft>
            </a:pPr>
            <a:r>
              <a:t>This is a node-based workflow. Each box does one step: load the model, read the prompt, load the pose, apply the structure guidance, run the denoising steps, decode the image, save it. The wires carry the data from one box to the next, like pipes in a plumbing diagram.</a:t>
            </a:r>
          </a:p>
          <a:p>
            <a:pPr>
              <a:spcAft>
                <a:spcPts val="800"/>
              </a:spcAft>
            </a:pPr>
            <a:r>
              <a:t>3D students, this will look familiar: it's the same idea as the node editor in Maya, or a shading network. And it's the opposite of Photoshop's generative features, which hide every step behind one button. Here, every step is visible and every setting can be changed.</a:t>
            </a:r>
          </a:p>
          <a:p>
            <a:pPr>
              <a:spcAft>
                <a:spcPts val="800"/>
              </a:spcAft>
            </a:pPr>
            <a:r>
              <a:t>That's both its strength and why we're not doing it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 said in session 1 that we wouldn't install anything, and here's the specific reason.</a:t>
            </a:r>
          </a:p>
          <a:p>
            <a:pPr>
              <a:spcAft>
                <a:spcPts val="800"/>
              </a:spcAft>
            </a:pPr>
            <a:r>
              <a:t>Running these workflows needs a strong graphics card, several gigabytes of model files, a set of installs that break when something updates, and at least an afternoon of setup before you make a single image. On lab machines, under IT restrictions, with fifteen people, that's a week of the course gone, and the lesson would become software troubleshooting.</a:t>
            </a:r>
          </a:p>
          <a:p>
            <a:pPr>
              <a:spcAft>
                <a:spcPts val="800"/>
              </a:spcAft>
            </a:pPr>
            <a:r>
              <a:t>So I run it, you get the output. The decisions about what goes in, the sketch, the pose, the choice of output, stay with you, and those are the parts worth learning.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where my other job shows up a bit. Outside teaching, I build rigs, the controls that animators use to move characters. And the main lesson of rigging is this one: you don't ask the animator to be careful not to bend the elbow backward. You build the control so the elbow can't bend backward.</a:t>
            </a:r>
          </a:p>
          <a:p>
            <a:pPr>
              <a:spcAft>
                <a:spcPts val="800"/>
              </a:spcAft>
            </a:pPr>
            <a:r>
              <a:t>Structure input is that idea applied to the generator. You don't ask it nicely to put the figure on the left in a crouch, in a longer prompt. You hand it a pose where the figure is on the left in a crouch, and now it can't do anything else.</a:t>
            </a:r>
          </a:p>
          <a:p>
            <a:pPr>
              <a:spcAft>
                <a:spcPts val="800"/>
              </a:spcAft>
            </a:pPr>
            <a:r>
              <a:t>In a sense, the whole course has been moving toward this: less asking, more building the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warning, because control has a cost.</a:t>
            </a:r>
          </a:p>
          <a:p>
            <a:pPr>
              <a:spcAft>
                <a:spcPts val="800"/>
              </a:spcAft>
            </a:pPr>
            <a:r>
              <a:t>An edge map traced from a photo copies </a:t>
            </a:r>
            <a:r>
              <a:rPr b="1"/>
              <a:t>everything</a:t>
            </a:r>
            <a:r>
              <a:t>: the shapes, the clutter, the mistakes, the bad crop. Lock too much and the generator can't help you with anything; you've just made an expensive filter.</a:t>
            </a:r>
          </a:p>
          <a:p>
            <a:pPr>
              <a:spcAft>
                <a:spcPts val="800"/>
              </a:spcAft>
            </a:pPr>
            <a:r>
              <a:t>These tools usually have a strength setting, a dial for how strictly to follow the input. Lower strength gives the generator room. Higher strength locks it down.</a:t>
            </a:r>
          </a:p>
          <a:p>
            <a:pPr>
              <a:spcAft>
                <a:spcPts val="800"/>
              </a:spcAft>
            </a:pPr>
            <a:r>
              <a:t>The design question is: </a:t>
            </a:r>
            <a:r>
              <a:rPr b="1"/>
              <a:t>what must be locked, and what can be left open?</a:t>
            </a:r>
            <a:r>
              <a:t> It's the must and must-not list again. Lock the musts. Leave the rest for the generator to try things.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what can you do in the lab, without nodes? More than people think.</a:t>
            </a:r>
          </a:p>
          <a:p>
            <a:pPr>
              <a:spcAft>
                <a:spcPts val="800"/>
              </a:spcAft>
            </a:pPr>
            <a:r>
              <a:rPr b="1"/>
              <a:t>Rough paint, then fill</a:t>
            </a:r>
            <a:r>
              <a:t>: paint your layout and big shapes in flat color, then generate over it with a fill. That's structure input, the low-tech version, and you've been doing it since session 3. A </a:t>
            </a:r>
            <a:r>
              <a:rPr b="1"/>
              <a:t>reference image</a:t>
            </a:r>
            <a:r>
              <a:t> for the look. And where the tools offer it (Firefly has had a structure reference option, check what's there this term), you can hand it a sketch or a photo for layout directly.</a:t>
            </a:r>
          </a:p>
          <a:p>
            <a:pPr>
              <a:spcAft>
                <a:spcPts val="800"/>
              </a:spcAft>
            </a:pPr>
            <a:r>
              <a:t>Between those, you can get most of the way there. The node workflow is more precise, and it's what a lot of studios use. The thinking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worked example, which I'll show from my machine in the demo.</a:t>
            </a:r>
          </a:p>
          <a:p>
            <a:pPr>
              <a:spcAft>
                <a:spcPts val="800"/>
              </a:spcAft>
            </a:pPr>
            <a:r>
              <a:t>A </a:t>
            </a:r>
            <a:r>
              <a:rPr b="1"/>
              <a:t>thumbnail</a:t>
            </a:r>
            <a:r>
              <a:t>, values only, three tones, the same exercise as in painting. A </a:t>
            </a:r>
            <a:r>
              <a:rPr b="1"/>
              <a:t>clean layout</a:t>
            </a:r>
            <a:r>
              <a:t> from it: horizon, figure placement, big shapes. Turn that into an </a:t>
            </a:r>
            <a:r>
              <a:rPr b="1"/>
              <a:t>input</a:t>
            </a:r>
            <a:r>
              <a:t>, a sketch or a pose. </a:t>
            </a:r>
            <a:r>
              <a:rPr b="1"/>
              <a:t>Generate</a:t>
            </a:r>
            <a:r>
              <a:t> several outputs from the same input, so the layout holds and everything else varies. Then </a:t>
            </a:r>
            <a:r>
              <a:rPr b="1"/>
              <a:t>pick and fix</a:t>
            </a:r>
            <a:r>
              <a:t>, the session 4 and 5 work, by hand.</a:t>
            </a:r>
          </a:p>
          <a:p>
            <a:pPr>
              <a:spcAft>
                <a:spcPts val="800"/>
              </a:spcAft>
            </a:pPr>
            <a:r>
              <a:t>Notice where the decisions happen: almost all of them are in the first two steps, on paper.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Here's a target image. If you wanted to make something with this exact layout, which input would you use: a sketch, a pose, a depth map, an edge map? And what would you lock and what would you leave open? In pairs, two minutes.</a:t>
            </a:r>
          </a:p>
          <a:p>
            <a:pPr>
              <a:spcAft>
                <a:spcPts val="800"/>
              </a:spcAft>
            </a:pPr>
            <a:r>
              <a:t>[Take answers. Don't resolve. Different answers can all be defensible. Ask each pair what their choice would fail to control.]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question, five minutes of discussion. Does drawing matter more now, or less?</a:t>
            </a:r>
          </a:p>
          <a:p>
            <a:pPr>
              <a:spcAft>
                <a:spcPts val="800"/>
              </a:spcAft>
            </a:pPr>
            <a:r>
              <a:t>[Let them argue. The animation and storyboarding students usually have opinions.]</a:t>
            </a:r>
          </a:p>
          <a:p>
            <a:pPr>
              <a:spcAft>
                <a:spcPts val="800"/>
              </a:spcAft>
            </a:pPr>
            <a:r>
              <a:t>I'll say what I believe, and mark it as a belief. I think it matters more, but differently. A drawing used to be valuable as a finished picture. Increasingly it's valuable as </a:t>
            </a:r>
            <a:r>
              <a:rPr b="1"/>
              <a:t>the input</a:t>
            </a:r>
            <a:r>
              <a:t>: the place where your decisions about composition, pose, space and story live, which the machine then renders.</a:t>
            </a:r>
          </a:p>
          <a:p>
            <a:pPr>
              <a:spcAft>
                <a:spcPts val="800"/>
              </a:spcAft>
            </a:pPr>
            <a:r>
              <a:t>It's also the one input that only you have. Anybody can type a prompt. A clear thumbnail of exactly what you mean is still a human skill, and I don't see that changing soon. The tool is a means of expression, and the person using it is not an operator.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the pose and depth set on Canvas, generated on my machine. Pick the strongest images for the brief that comes with the set, composite the best parts together, and fix by hand. Say why you picked what you picked.</a:t>
            </a:r>
          </a:p>
          <a:p>
            <a:pPr>
              <a:spcAft>
                <a:spcPts val="800"/>
              </a:spcAft>
            </a:pPr>
            <a:r>
              <a:rPr b="1"/>
              <a:t>Option B</a:t>
            </a:r>
            <a:r>
              <a:t>: draw a layout or pose sketch for one image in your final, clear and simple, and upload it by eight tonight. I'll run it through the workflow and you'll have the outputs at the start of next class, to use in your rough set.</a:t>
            </a:r>
          </a:p>
          <a:p>
            <a:pPr>
              <a:spcAft>
                <a:spcPts val="800"/>
              </a:spcAft>
            </a:pPr>
            <a:r>
              <a:t>Next class is Milestone 2, your rough set. All three or four images, rough, critiqued against your brief and your must and must-not list.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Don't ask it nicely. Hand it the drawing. [Demo, from the home machine or the recording.]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Control as a Design Problem</a:t>
            </a:r>
          </a:p>
        </p:txBody>
      </p:sp>
      <p:sp>
        <p:nvSpPr>
          <p:cNvPr id="3" name="Subtitle 2"/>
          <p:cNvSpPr>
            <a:spLocks noGrp="1"/>
          </p:cNvSpPr>
          <p:nvPr>
            <p:ph type="subTitle" idx="1"/>
          </p:nvPr>
        </p:nvSpPr>
        <p:spPr/>
        <p:txBody>
          <a:bodyPr/>
          <a:lstStyle/>
          <a:p>
            <a:r>
              <a:t>AI Digital Imaging  |  Session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figure whose pose is wrong for the brief, though nothing is anatomically broken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The brief is the first image.</a:t>
            </a:r>
          </a:p>
          <a:p>
            <a:pPr/>
            <a:r>
              <a:t>A board carries what words can't.</a:t>
            </a:r>
          </a:p>
          <a:p>
            <a:pPr/>
            <a:r>
              <a:t>Musts and must-nots.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More control comes from better input.</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And the best input is still a drawing.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ladder of control</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Words</a:t>
            </a:r>
          </a:p>
          <a:p>
            <a:pPr algn="ctr"/>
            <a:r>
              <a:rPr sz="1600">
                <a:solidFill>
                  <a:srgbClr val="2B2B2B"/>
                </a:solidFill>
              </a:rPr>
              <a:t>what it is</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Reference image</a:t>
            </a:r>
          </a:p>
          <a:p>
            <a:pPr algn="ctr"/>
            <a:r>
              <a:rPr sz="1600">
                <a:solidFill>
                  <a:srgbClr val="2B2B2B"/>
                </a:solidFill>
              </a:rPr>
              <a:t>how it looks</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Your rough paint</a:t>
            </a:r>
          </a:p>
          <a:p>
            <a:pPr algn="ctr"/>
            <a:r>
              <a:rPr sz="1600">
                <a:solidFill>
                  <a:srgbClr val="2B2B2B"/>
                </a:solidFill>
              </a:rPr>
              <a:t>roughly where</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Structure input</a:t>
            </a:r>
          </a:p>
          <a:p>
            <a:pPr algn="ctr"/>
            <a:r>
              <a:rPr sz="1600">
                <a:solidFill>
                  <a:srgbClr val="2B2B2B"/>
                </a:solidFill>
              </a:rPr>
              <a:t>exactly where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kinds of structure input</a:t>
            </a:r>
          </a:p>
        </p:txBody>
      </p:sp>
      <p:pic>
        <p:nvPicPr>
          <p:cNvPr id="3" name="Picture 2" descr="control_inputs.png"/>
          <p:cNvPicPr>
            <a:picLocks noChangeAspect="1"/>
          </p:cNvPicPr>
          <p:nvPr/>
        </p:nvPicPr>
        <p:blipFill>
          <a:blip r:embed="rId2"/>
          <a:stretch>
            <a:fillRect/>
          </a:stretch>
        </p:blipFill>
        <p:spPr>
          <a:xfrm>
            <a:off x="1298448" y="2516678"/>
            <a:ext cx="9601200" cy="2967643"/>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Each one locks something different. None of them is a finished picture.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sketch</a:t>
            </a:r>
          </a:p>
        </p:txBody>
      </p:sp>
      <p:sp>
        <p:nvSpPr>
          <p:cNvPr id="3" name="Content Placeholder 2"/>
          <p:cNvSpPr>
            <a:spLocks noGrp="1"/>
          </p:cNvSpPr>
          <p:nvPr>
            <p:ph idx="1"/>
          </p:nvPr>
        </p:nvSpPr>
        <p:spPr/>
        <p:txBody>
          <a:bodyPr/>
          <a:lstStyle/>
          <a:p>
            <a:pPr/>
            <a:r>
              <a:t>Your layout and shapes.</a:t>
            </a:r>
          </a:p>
          <a:p>
            <a:pPr/>
            <a:r>
              <a:t>The cheapest control there is.</a:t>
            </a:r>
          </a:p>
          <a:p>
            <a:pPr/>
            <a:r>
              <a:t>A bad drawing with a clear layout is fine.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pose</a:t>
            </a:r>
          </a:p>
        </p:txBody>
      </p:sp>
      <p:sp>
        <p:nvSpPr>
          <p:cNvPr id="3" name="Content Placeholder 2"/>
          <p:cNvSpPr>
            <a:spLocks noGrp="1"/>
          </p:cNvSpPr>
          <p:nvPr>
            <p:ph idx="1"/>
          </p:nvPr>
        </p:nvSpPr>
        <p:spPr/>
        <p:txBody>
          <a:bodyPr/>
          <a:lstStyle/>
          <a:p>
            <a:pPr/>
            <a:r>
              <a:t>A skeleton locks the pose.</a:t>
            </a:r>
          </a:p>
          <a:p>
            <a:pPr/>
            <a:r>
              <a:t>Not the body, not the costume.</a:t>
            </a:r>
          </a:p>
          <a:p>
            <a:pPr/>
            <a:r>
              <a:t>Hands still drift.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Depth and edges</a:t>
            </a:r>
          </a:p>
        </p:txBody>
      </p:sp>
      <p:sp>
        <p:nvSpPr>
          <p:cNvPr id="3" name="Content Placeholder 2"/>
          <p:cNvSpPr>
            <a:spLocks noGrp="1"/>
          </p:cNvSpPr>
          <p:nvPr>
            <p:ph idx="1"/>
          </p:nvPr>
        </p:nvSpPr>
        <p:spPr/>
        <p:txBody>
          <a:bodyPr/>
          <a:lstStyle/>
          <a:p>
            <a:pPr/>
            <a:r>
              <a:t>Depth locks the space.</a:t>
            </a:r>
          </a:p>
          <a:p>
            <a:pPr/>
            <a:r>
              <a:t>Edges lock the outlines.</a:t>
            </a:r>
          </a:p>
          <a:p>
            <a:pPr/>
            <a:r>
              <a:t>Both are good for keeping a place the same.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node workflow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Nodes: a visible recipe</a:t>
            </a:r>
          </a:p>
        </p:txBody>
      </p:sp>
      <p:sp>
        <p:nvSpPr>
          <p:cNvPr id="3" name="Content Placeholder 2"/>
          <p:cNvSpPr>
            <a:spLocks noGrp="1"/>
          </p:cNvSpPr>
          <p:nvPr>
            <p:ph idx="1"/>
          </p:nvPr>
        </p:nvSpPr>
        <p:spPr>
          <a:xfrm>
            <a:off x="1298448" y="2560320"/>
            <a:ext cx="5349240" cy="3383280"/>
          </a:xfrm>
        </p:spPr>
        <p:txBody>
          <a:bodyPr/>
          <a:lstStyle/>
          <a:p>
            <a:pPr/>
            <a:r>
              <a:t>Each box does one step.</a:t>
            </a:r>
          </a:p>
          <a:p>
            <a:pPr/>
            <a:r>
              <a:t>Wires carry the image along.</a:t>
            </a:r>
          </a:p>
          <a:p>
            <a:pPr/>
            <a:r>
              <a:t>You can see, and change, every step.</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screenshot of your node graph (ComfyUI or similar)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isn't in the lab</a:t>
            </a:r>
          </a:p>
        </p:txBody>
      </p:sp>
      <p:sp>
        <p:nvSpPr>
          <p:cNvPr id="3" name="Content Placeholder 2"/>
          <p:cNvSpPr>
            <a:spLocks noGrp="1"/>
          </p:cNvSpPr>
          <p:nvPr>
            <p:ph idx="1"/>
          </p:nvPr>
        </p:nvSpPr>
        <p:spPr/>
        <p:txBody>
          <a:bodyPr/>
          <a:lstStyle/>
          <a:p>
            <a:pPr/>
            <a:r>
              <a:t>A strong graphics card.</a:t>
            </a:r>
          </a:p>
          <a:p>
            <a:pPr/>
            <a:r>
              <a:t>Installs, model files, updates.</a:t>
            </a:r>
          </a:p>
          <a:p>
            <a:pPr/>
            <a:r>
              <a:t>An afternoon of setup, at least.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Don't ask it to be careful.</a:t>
            </a:r>
          </a:p>
        </p:txBody>
      </p:sp>
      <p:sp>
        <p:nvSpPr>
          <p:cNvPr id="3" name="Text Placeholder 2"/>
          <p:cNvSpPr>
            <a:spLocks noGrp="1"/>
          </p:cNvSpPr>
          <p:nvPr>
            <p:ph type="body" idx="13" sz="quarter"/>
          </p:nvPr>
        </p:nvSpPr>
        <p:spPr/>
        <p:txBody>
          <a:bodyPr/>
          <a:lstStyle/>
          <a:p>
            <a:r>
              <a:t>A rigging idea</a:t>
            </a:r>
          </a:p>
        </p:txBody>
      </p:sp>
      <p:sp>
        <p:nvSpPr>
          <p:cNvPr id="4" name="Text Placeholder 3"/>
          <p:cNvSpPr>
            <a:spLocks noGrp="1"/>
          </p:cNvSpPr>
          <p:nvPr>
            <p:ph type="body" idx="1"/>
          </p:nvPr>
        </p:nvSpPr>
        <p:spPr/>
        <p:txBody>
          <a:bodyPr/>
          <a:lstStyle/>
          <a:p>
            <a:r>
              <a:t>Build the control so the wrong thing can't happen.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 much control</a:t>
            </a:r>
          </a:p>
        </p:txBody>
      </p:sp>
      <p:sp>
        <p:nvSpPr>
          <p:cNvPr id="3" name="Content Placeholder 2"/>
          <p:cNvSpPr>
            <a:spLocks noGrp="1"/>
          </p:cNvSpPr>
          <p:nvPr>
            <p:ph idx="1"/>
          </p:nvPr>
        </p:nvSpPr>
        <p:spPr/>
        <p:txBody>
          <a:bodyPr/>
          <a:lstStyle/>
          <a:p>
            <a:pPr/>
            <a:r>
              <a:t>Edge maps copy everything.</a:t>
            </a:r>
          </a:p>
          <a:p>
            <a:pPr/>
            <a:r>
              <a:t>Including the mistakes.</a:t>
            </a:r>
          </a:p>
          <a:p>
            <a:pPr/>
            <a:r>
              <a:t>Lock what matters. Leave the rest.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lab version</a:t>
            </a:r>
          </a:p>
        </p:txBody>
      </p:sp>
      <p:sp>
        <p:nvSpPr>
          <p:cNvPr id="3" name="Content Placeholder 2"/>
          <p:cNvSpPr>
            <a:spLocks noGrp="1"/>
          </p:cNvSpPr>
          <p:nvPr>
            <p:ph idx="1"/>
          </p:nvPr>
        </p:nvSpPr>
        <p:spPr/>
        <p:txBody>
          <a:bodyPr/>
          <a:lstStyle/>
          <a:p>
            <a:pPr/>
            <a:r>
              <a:t>Rough paint, then fill.</a:t>
            </a:r>
          </a:p>
          <a:p>
            <a:pPr/>
            <a:r>
              <a:t>A reference image for the look.</a:t>
            </a:r>
          </a:p>
          <a:p>
            <a:pPr/>
            <a:r>
              <a:t>Structure reference, where available.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from thumbnail to image</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Thumbnail</a:t>
            </a:r>
          </a:p>
          <a:p>
            <a:pPr algn="ctr"/>
            <a:r>
              <a:rPr sz="1200">
                <a:solidFill>
                  <a:srgbClr val="2B2B2B"/>
                </a:solidFill>
              </a:rPr>
              <a:t>values only</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Clean layout</a:t>
            </a:r>
          </a:p>
          <a:p>
            <a:pPr algn="ctr"/>
            <a:r>
              <a:rPr sz="1200">
                <a:solidFill>
                  <a:srgbClr val="2B2B2B"/>
                </a:solidFill>
              </a:rPr>
              <a:t>horizon, shapes</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Input</a:t>
            </a:r>
          </a:p>
          <a:p>
            <a:pPr algn="ctr"/>
            <a:r>
              <a:rPr sz="1200">
                <a:solidFill>
                  <a:srgbClr val="2B2B2B"/>
                </a:solidFill>
              </a:rPr>
              <a:t>sketch or pose</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Generate</a:t>
            </a:r>
          </a:p>
          <a:p>
            <a:pPr algn="ctr"/>
            <a:r>
              <a:rPr sz="1200">
                <a:solidFill>
                  <a:srgbClr val="2B2B2B"/>
                </a:solidFill>
              </a:rPr>
              <a:t>several, same input</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2B2B2B"/>
                </a:solidFill>
              </a:rPr>
              <a:t>Pick and fix</a:t>
            </a:r>
          </a:p>
          <a:p>
            <a:pPr algn="ctr"/>
            <a:r>
              <a:rPr sz="1200">
                <a:solidFill>
                  <a:srgbClr val="2B2B2B"/>
                </a:solidFill>
              </a:rPr>
              <a:t>by hand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which input would you use?</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target image for one of the three brief types, no input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Does drawing matter more now, or less?</a:t>
            </a:r>
          </a:p>
        </p:txBody>
      </p:sp>
      <p:sp>
        <p:nvSpPr>
          <p:cNvPr id="3" name="Content Placeholder 2"/>
          <p:cNvSpPr>
            <a:spLocks noGrp="1"/>
          </p:cNvSpPr>
          <p:nvPr>
            <p:ph idx="1"/>
          </p:nvPr>
        </p:nvSpPr>
        <p:spPr/>
        <p:txBody>
          <a:bodyPr/>
          <a:lstStyle/>
          <a:p>
            <a:pPr/>
            <a:r>
              <a:t>It carries your decisions.</a:t>
            </a:r>
          </a:p>
          <a:p>
            <a:pPr/>
            <a:r>
              <a:t>Nobody else has it.</a:t>
            </a:r>
          </a:p>
          <a:p>
            <a:pPr/>
            <a:r>
              <a:t>It's the input the machine can't make.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Structure input</a:t>
            </a:r>
            <a:r>
              <a:rPr sz="1900"/>
              <a:t> – a sketch, pose, depth or edge map that locks layout</a:t>
            </a:r>
          </a:p>
          <a:p>
            <a:pPr>
              <a:spcAft>
                <a:spcPts val="600"/>
              </a:spcAft>
            </a:pPr>
            <a:r>
              <a:rPr b="1" sz="1900"/>
              <a:t>"ControlNet"</a:t>
            </a:r>
            <a:r>
              <a:rPr sz="1900"/>
              <a:t> – the common name for structure guidance</a:t>
            </a:r>
          </a:p>
          <a:p>
            <a:pPr>
              <a:spcAft>
                <a:spcPts val="600"/>
              </a:spcAft>
            </a:pPr>
            <a:r>
              <a:rPr b="1" sz="1900"/>
              <a:t>Depth map</a:t>
            </a:r>
            <a:r>
              <a:rPr sz="1900"/>
              <a:t> – near is light, far is dark</a:t>
            </a:r>
          </a:p>
        </p:txBody>
      </p:sp>
      <p:sp>
        <p:nvSpPr>
          <p:cNvPr id="4" name="Content Placeholder 3"/>
          <p:cNvSpPr>
            <a:spLocks noGrp="1"/>
          </p:cNvSpPr>
          <p:nvPr>
            <p:ph idx="2" sz="half"/>
          </p:nvPr>
        </p:nvSpPr>
        <p:spPr/>
        <p:txBody>
          <a:bodyPr/>
          <a:lstStyle/>
          <a:p>
            <a:pPr>
              <a:spcAft>
                <a:spcPts val="600"/>
              </a:spcAft>
            </a:pPr>
            <a:r>
              <a:rPr b="1" sz="1900"/>
              <a:t>Edge map</a:t>
            </a:r>
            <a:r>
              <a:rPr sz="1900"/>
              <a:t> – traced outlines; the strictest input</a:t>
            </a:r>
          </a:p>
          <a:p>
            <a:pPr>
              <a:spcAft>
                <a:spcPts val="600"/>
              </a:spcAft>
            </a:pPr>
            <a:r>
              <a:rPr b="1" sz="1900"/>
              <a:t>Node workflow</a:t>
            </a:r>
            <a:r>
              <a:rPr sz="1900"/>
              <a:t> – every step visible, wired together</a:t>
            </a:r>
          </a:p>
          <a:p>
            <a:pPr>
              <a:spcAft>
                <a:spcPts val="600"/>
              </a:spcAft>
            </a:pPr>
            <a:r>
              <a:rPr b="1" sz="1900"/>
              <a:t>Strength</a:t>
            </a:r>
            <a:r>
              <a:rPr sz="1900"/>
              <a:t> – how strictly it follows the input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Pick and composite the strongest</a:t>
            </a:r>
          </a:p>
          <a:p>
            <a:pPr/>
            <a:r>
              <a:t>images from the provided</a:t>
            </a:r>
          </a:p>
          <a:p>
            <a:pPr/>
            <a:r>
              <a:t>pose and depth set.</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Draw a layout or pose sketch</a:t>
            </a:r>
          </a:p>
          <a:p>
            <a:pPr/>
            <a:r>
              <a:t>to be used as structure input.</a:t>
            </a:r>
          </a:p>
          <a:p>
            <a:pPr/>
            <a:r>
              <a:t>I'll run it before next class.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Don't ask it nicely. Hand it the drawing.</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More control comes from better input.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