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Running time, about 50 minutes.</a:t>
            </a:r>
            <a:r>
              <a:t> Spot it and recall (6). The selection is the instruction (10). Remove, replace, extend (14). How generated layers behave, and naming (8). Worked example and cold reversal (6). When is removing something a lie (4). Options (2).</a:t>
            </a:r>
          </a:p>
          <a:p>
            <a:pPr>
              <a:spcAft>
                <a:spcPts val="800"/>
              </a:spcAft>
            </a:pPr>
            <a:r>
              <a:rPr b="1"/>
              <a:t>Prep before class.</a:t>
            </a:r>
            <a:r>
              <a:t> The three provided photos for Option A (one with something to remove, one with something to replace, one to extend), posted on Canvas. One photo of your own with an object removed by Fill where a tell is still visible (a leftover shadow is ideal), for the cold reversal. Check credits and sign-in on the lab machines.</a:t>
            </a:r>
          </a:p>
          <a:p>
            <a:pPr>
              <a:spcAft>
                <a:spcPts val="800"/>
              </a:spcAft>
            </a:pPr>
            <a:r>
              <a:t>Images for the slots: a before and after removal, and one of the "expanded famous painting" images that went around in 2022 or so (August Kamp's outpainted Girl with a Pearl Earring is the well-known one; the original painting is public domain, the expanded version is hers, so show it in class rather than redistributing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Spot it, about four minutes.</a:t>
            </a:r>
            <a:r>
              <a:t> Put the image up and say nothing for a few seconds. Then: what's wrong with it? Hands up, one error per person, and make them say where it is and what kind of error it is, in the checklist words once we have them (anatomy, perspective, light, lettering, repeated texture, sheen). Count the errors out loud as they come in. Don't confirm or correct until the room stops finding things, then add the one they missed, if there is one.</a:t>
            </a:r>
          </a:p>
          <a:p>
            <a:pPr>
              <a:spcAft>
                <a:spcPts val="800"/>
              </a:spcAft>
            </a:pPr>
            <a:r>
              <a:t>This opener runs every class. The point is repetition: by week four the room finds the shadow problem before the hand problem, which is the right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Recall, thirty seconds. [Cold call.] What are the five parts? And what did you find when you only changed the light?</a:t>
            </a:r>
          </a:p>
          <a:p>
            <a:pPr>
              <a:spcAft>
                <a:spcPts val="800"/>
              </a:spcAft>
            </a:pPr>
            <a:r>
              <a:t>[Take one or two answers from people who did Option A. Usually: changing the light also changed the color of everything, and sometimes the composition moved, which was the seed.]</a:t>
            </a:r>
          </a:p>
          <a:p>
            <a:pPr>
              <a:spcAft>
                <a:spcPts val="800"/>
              </a:spcAft>
            </a:pPr>
            <a:r>
              <a:t>And from Option B: what got through from the film still, and what didn't? [Almost always: placement and value pattern got lost.]</a:t>
            </a:r>
          </a:p>
          <a:p>
            <a:pPr>
              <a:spcAft>
                <a:spcPts val="800"/>
              </a:spcAft>
            </a:pPr>
            <a:r>
              <a:t>Good, because today's tools are the answer to the "where" problem, at least partly. Today the selection carries the "where."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Two tools today, and they're really one tool.</a:t>
            </a:r>
          </a:p>
          <a:p>
            <a:pPr>
              <a:spcAft>
                <a:spcPts val="800"/>
              </a:spcAft>
            </a:pPr>
            <a:r>
              <a:rPr b="1"/>
              <a:t>Generative Fill</a:t>
            </a:r>
            <a:r>
              <a:t> works inside a selection. You make a selection on an image, click Generative Fill in the contextual bar, type something or nothing, and you get three variations on a new layer.</a:t>
            </a:r>
          </a:p>
          <a:p>
            <a:pPr>
              <a:spcAft>
                <a:spcPts val="800"/>
              </a:spcAft>
            </a:pPr>
            <a:r>
              <a:rPr b="1"/>
              <a:t>Generative Expand</a:t>
            </a:r>
            <a:r>
              <a:t> works outside the frame. You use the Crop tool to drag the canvas bigger than the image, and it fills the new area.</a:t>
            </a:r>
          </a:p>
          <a:p>
            <a:pPr>
              <a:spcAft>
                <a:spcPts val="800"/>
              </a:spcAft>
            </a:pPr>
            <a:r>
              <a:t>In both cases the most important input isn't the words. It's </a:t>
            </a:r>
            <a:r>
              <a:rPr b="1"/>
              <a:t>the selection</a:t>
            </a:r>
            <a:r>
              <a:t>: where it is, how big it is, and what it includes. The words matter less than people expect. The shape you draw matters more.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So let's look at selections first.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Three selections on the same photo.</a:t>
            </a:r>
          </a:p>
          <a:p>
            <a:pPr>
              <a:spcAft>
                <a:spcPts val="800"/>
              </a:spcAft>
            </a:pPr>
            <a:r>
              <a:t>On the left, a </a:t>
            </a:r>
            <a:r>
              <a:rPr b="1"/>
              <a:t>tight</a:t>
            </a:r>
            <a:r>
              <a:t> selection around one small area. The generator has a lot of real image around it to match, and only a small hole to fill, so it behaves: it continues the textures and the light that are already there.</a:t>
            </a:r>
          </a:p>
          <a:p>
            <a:pPr>
              <a:spcAft>
                <a:spcPts val="800"/>
              </a:spcAft>
            </a:pPr>
            <a:r>
              <a:t>In the middle, a </a:t>
            </a:r>
            <a:r>
              <a:rPr b="1"/>
              <a:t>loose</a:t>
            </a:r>
            <a:r>
              <a:t> selection. Now it has room, and it'll use the room. It invents. Things appear that weren't in the photo, sometimes useful, sometimes strange.</a:t>
            </a:r>
          </a:p>
          <a:p>
            <a:pPr>
              <a:spcAft>
                <a:spcPts val="800"/>
              </a:spcAft>
            </a:pPr>
            <a:r>
              <a:t>On the right, select everything and you haven't asked for an edit at all, you've asked for a new picture that happens to be shaped like your canvas.</a:t>
            </a:r>
          </a:p>
          <a:p>
            <a:pPr>
              <a:spcAft>
                <a:spcPts val="800"/>
              </a:spcAft>
            </a:pPr>
            <a:r>
              <a:t>So the size of the selection is really a dial for how much of the decision you're keeping and how much you're handing over.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Three things the selection tells it. Where to work, which is obvious. How much to invent, which we just saw. And what to match, because the generator looks at the pixels just outside your selection to decide what goes inside.</a:t>
            </a:r>
          </a:p>
          <a:p>
            <a:pPr>
              <a:spcAft>
                <a:spcPts val="800"/>
              </a:spcAft>
            </a:pPr>
            <a:r>
              <a:t>That last one is why a selection that hugs an object too tightly gives you a bad result. If you select a person and their outline exactly, the generator sees the edge of the person and tries to continue it, and you get a ghost of them. </a:t>
            </a:r>
            <a:r>
              <a:rPr b="1"/>
              <a:t>Select a little past the object</a:t>
            </a:r>
            <a:r>
              <a:t>, into the background, so it can see what's behind.</a:t>
            </a:r>
          </a:p>
          <a:p>
            <a:pPr>
              <a:spcAft>
                <a:spcPts val="800"/>
              </a:spcAft>
            </a:pPr>
            <a:r>
              <a:t>And it's why feathering matters. A soft-edged selection blends; a hard edge leaves a seam.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Three jobs, and almost everything you'll do with these tools is one of them.</a:t>
            </a:r>
          </a:p>
          <a:p>
            <a:pPr>
              <a:spcAft>
                <a:spcPts val="800"/>
              </a:spcAft>
            </a:pPr>
            <a:r>
              <a:rPr b="1"/>
              <a:t>Remove</a:t>
            </a:r>
            <a:r>
              <a:t>: get something out of the picture. </a:t>
            </a:r>
            <a:r>
              <a:rPr b="1"/>
              <a:t>Replace</a:t>
            </a:r>
            <a:r>
              <a:t>: swap something for something else. </a:t>
            </a:r>
            <a:r>
              <a:rPr b="1"/>
              <a:t>Extend</a:t>
            </a:r>
            <a:r>
              <a:t>: make the picture bigger than it was.</a:t>
            </a:r>
          </a:p>
          <a:p>
            <a:pPr>
              <a:spcAft>
                <a:spcPts val="800"/>
              </a:spcAft>
            </a:pPr>
            <a:r>
              <a:t>Each one has its own habits, and I'm going to go through them quickly, because Option A tonight is one of each.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Remove. Select the thing plus a margin around it, and </a:t>
            </a:r>
            <a:r>
              <a:rPr b="1"/>
              <a:t>leave the prompt empty.</a:t>
            </a:r>
            <a:r>
              <a:t> An empty prompt tells it to fill with whatever belongs there, which is what you want. (There's also a dedicated Remove tool, a brush, that's often better for small things like wires or blemishes.)</a:t>
            </a:r>
          </a:p>
          <a:p>
            <a:pPr>
              <a:spcAft>
                <a:spcPts val="800"/>
              </a:spcAft>
            </a:pPr>
            <a:r>
              <a:t>Then check two things that it very often forgets: </a:t>
            </a:r>
            <a:r>
              <a:rPr b="1"/>
              <a:t>the shadow</a:t>
            </a:r>
            <a:r>
              <a:t> and </a:t>
            </a:r>
            <a:r>
              <a:rPr b="1"/>
              <a:t>the reflection.</a:t>
            </a:r>
            <a:r>
              <a:t> You remove a person from a beach, and their shadow is still lying on the sand with nobody attached to it. You remove a car, and it's still reflected in the shop window.</a:t>
            </a:r>
          </a:p>
          <a:p>
            <a:pPr>
              <a:spcAft>
                <a:spcPts val="800"/>
              </a:spcAft>
            </a:pPr>
            <a:r>
              <a:t>That leftover shadow is one of the most common tells in the world, and it's been a tell since long before generators. Retouchers have been missing shadows since the darkroom.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Replace. Two habits.</a:t>
            </a:r>
          </a:p>
          <a:p>
            <a:pPr>
              <a:spcAft>
                <a:spcPts val="800"/>
              </a:spcAft>
            </a:pPr>
            <a:r>
              <a:t>First, </a:t>
            </a:r>
            <a:r>
              <a:rPr b="1"/>
              <a:t>the selection is a silhouette.</a:t>
            </a:r>
            <a:r>
              <a:t> If you want a tall lamp, draw a tall thin selection. If you want a cat curled up, draw a round low one. The generator tends to fill the shape you give it, so you're drawing the silhouette of the new object with your lasso. (Silhouette again, the same idea that runs through storyboarding and painting.)</a:t>
            </a:r>
          </a:p>
          <a:p>
            <a:pPr>
              <a:spcAft>
                <a:spcPts val="800"/>
              </a:spcAft>
            </a:pPr>
            <a:r>
              <a:t>Second, describe </a:t>
            </a:r>
            <a:r>
              <a:rPr b="1"/>
              <a:t>only the new thing.</a:t>
            </a:r>
            <a:r>
              <a:t> Not "a living room with a red armchair in the corner." Just "a red leather armchair." It can already see the living room. If you describe the whole scene inside a small selection, it tries to fit the whole scene in there, and you get a tiny living room inside your living room.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Extend. Pick the Crop tool, drag the edges out past the image, and Generative Expand fills the new area. You can type something or leave it empty.</a:t>
            </a:r>
          </a:p>
          <a:p>
            <a:pPr>
              <a:spcAft>
                <a:spcPts val="800"/>
              </a:spcAft>
            </a:pPr>
            <a:r>
              <a:t>Look at the diagram. Everything grey is invented. The parts right next to the original photo are strong, because there's real image to continue. The further out you go, the less there is to go on, and the more it starts to make things up: repeated patterns, objects that don't quite make sense, perspective that wanders off.</a:t>
            </a:r>
          </a:p>
          <a:p>
            <a:pPr>
              <a:spcAft>
                <a:spcPts val="800"/>
              </a:spcAft>
            </a:pPr>
            <a:r>
              <a:t>Two habits: extend in </a:t>
            </a:r>
            <a:r>
              <a:rPr b="1"/>
              <a:t>smaller steps</a:t>
            </a:r>
            <a:r>
              <a:t>, checking each one, rather than one huge jump. And extend </a:t>
            </a:r>
            <a:r>
              <a:rPr b="1"/>
              <a:t>away from the subject</a:t>
            </a:r>
            <a:r>
              <a:t>, into sky, floor and background, where invention is less likely to be noticed.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Here's something to look at, and then argue about. Back in 2022 or so, when this first became possible, people expanded famous paintings to show "what was outside the frame." This one went around everywhere.</a:t>
            </a:r>
          </a:p>
          <a:p>
            <a:pPr>
              <a:spcAft>
                <a:spcPts val="800"/>
              </a:spcAft>
            </a:pPr>
            <a:r>
              <a:t>[Show it. Give them thirty seconds.] Does the extension add anything to the painting? What does it tell you that you didn't know?</a:t>
            </a:r>
          </a:p>
          <a:p>
            <a:pPr>
              <a:spcAft>
                <a:spcPts val="800"/>
              </a:spcAft>
            </a:pPr>
            <a:r>
              <a:t>[Let them answer.] Usually, the honest answer is: not much. It's a nice room. It's wallpaper. The original frame was a decision, and the extension mostly dilutes it.</a:t>
            </a:r>
          </a:p>
          <a:p>
            <a:pPr>
              <a:spcAft>
                <a:spcPts val="800"/>
              </a:spcAft>
            </a:pPr>
            <a:r>
              <a:t>A good extension adds </a:t>
            </a:r>
            <a:r>
              <a:rPr b="1"/>
              <a:t>a fact</a:t>
            </a:r>
            <a:r>
              <a:t>: something in the new space that changes what the image says. Who is she looking at? What's on the table? That's the difference between expanding a canvas and making a decision about it, and it's what Option B asks for: when you expand your photo, note each choice you made, and why.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Now some practical file behavior, because it affects your process record.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When Fill or Expand runs, it doesn't touch your original pixels. It makes a new </a:t>
            </a:r>
            <a:r>
              <a:rPr b="1"/>
              <a:t>generative layer</a:t>
            </a:r>
            <a:r>
              <a:t> with a mask in the shape of your selection. The original stays underneath. That's good, it means everything is reversible.</a:t>
            </a:r>
          </a:p>
          <a:p>
            <a:pPr>
              <a:spcAft>
                <a:spcPts val="800"/>
              </a:spcAft>
            </a:pPr>
            <a:r>
              <a:t>Each run gives you three variations, and you can flip between them in the Properties panel, or generate more. Pick one, and the others are still there until you delete them.</a:t>
            </a:r>
          </a:p>
          <a:p>
            <a:pPr>
              <a:spcAft>
                <a:spcPts val="800"/>
              </a:spcAft>
            </a:pPr>
            <a:r>
              <a:t>One thing to watch: the generated area can be lower resolution or softer than the photo around it, especially on big images or big selections. It can look fine zoomed out and mushy at 100%. Zoom in before you accept it. We'll fix that properly when we get to grain and sharpness in session 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Here's the naming standard for the rest of the course, and it's worth photographing.</a:t>
            </a:r>
          </a:p>
          <a:p>
            <a:pPr>
              <a:spcAft>
                <a:spcPts val="800"/>
              </a:spcAft>
            </a:pPr>
            <a:r>
              <a:rPr b="1"/>
              <a:t>GEN_</a:t>
            </a:r>
            <a:r>
              <a:t> at the start of anything generated: GEN_sky_v2. </a:t>
            </a:r>
            <a:r>
              <a:rPr b="1"/>
              <a:t>FIX_</a:t>
            </a:r>
            <a:r>
              <a:t> for any hand correction: FIX_shadow_left. </a:t>
            </a:r>
            <a:r>
              <a:rPr b="1"/>
              <a:t>REF_</a:t>
            </a:r>
            <a:r>
              <a:t> for any reference or photo you brought in. </a:t>
            </a:r>
            <a:r>
              <a:rPr b="1"/>
              <a:t>CALLOUT</a:t>
            </a:r>
            <a:r>
              <a:t> for the layer where you mark up errors. And the date in the file name.</a:t>
            </a:r>
          </a:p>
          <a:p>
            <a:pPr>
              <a:spcAft>
                <a:spcPts val="800"/>
              </a:spcAft>
            </a:pPr>
            <a:r>
              <a:t>This sounds fussy and it takes about five seconds per layer. It's also the process record: when I open your file I can see at a glance what was generated and what you made, which is exactly what the rubric asks, and exactly what a studio would ask too. Nobody should have to guess.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Three ways to get more control, from easiest to most useful.</a:t>
            </a:r>
          </a:p>
          <a:p>
            <a:pPr>
              <a:spcAft>
                <a:spcPts val="800"/>
              </a:spcAft>
            </a:pPr>
            <a:r>
              <a:t>Use </a:t>
            </a:r>
            <a:r>
              <a:rPr b="1"/>
              <a:t>smaller selections</a:t>
            </a:r>
            <a:r>
              <a:t>, so it has less room to invent. Do </a:t>
            </a:r>
            <a:r>
              <a:rPr b="1"/>
              <a:t>several small passes</a:t>
            </a:r>
            <a:r>
              <a:t> instead of one big one, accepting or rejecting each step.</a:t>
            </a:r>
          </a:p>
          <a:p>
            <a:pPr>
              <a:spcAft>
                <a:spcPts val="800"/>
              </a:spcAft>
            </a:pPr>
            <a:r>
              <a:t>And the most useful: </a:t>
            </a:r>
            <a:r>
              <a:rPr b="1"/>
              <a:t>paint something rough first.</a:t>
            </a:r>
            <a:r>
              <a:t> Block in the shape and color of what you want with a brush, badly is fine, then select over it and fill. The generator looks at what's inside the selection as well as around it, so your rough paint steers it more than words do.</a:t>
            </a:r>
          </a:p>
          <a:p>
            <a:pPr>
              <a:spcAft>
                <a:spcPts val="800"/>
              </a:spcAft>
            </a:pPr>
            <a:r>
              <a:t>This is the first appearance of an idea we'll keep coming back to: the more of the decision you supply, the less of it gets made for you.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One worked example, which I'll do live in the demo, but here's the order.</a:t>
            </a:r>
          </a:p>
          <a:p>
            <a:pPr>
              <a:spcAft>
                <a:spcPts val="800"/>
              </a:spcAft>
            </a:pPr>
            <a:r>
              <a:rPr b="1"/>
              <a:t>Select</a:t>
            </a:r>
            <a:r>
              <a:t> the object with the lasso, including a margin of background. </a:t>
            </a:r>
            <a:r>
              <a:rPr b="1"/>
              <a:t>Prompt</a:t>
            </a:r>
            <a:r>
              <a:t>: nothing. Generate. </a:t>
            </a:r>
            <a:r>
              <a:rPr b="1"/>
              <a:t>Pick</a:t>
            </a:r>
            <a:r>
              <a:t> one of the three variations, and say out loud why that one: "the brick lines continue in this one," not "it looks better." </a:t>
            </a:r>
            <a:r>
              <a:rPr b="1"/>
              <a:t>Check</a:t>
            </a:r>
            <a:r>
              <a:t> the three tells: is there a shadow or reflection left behind, is there a seam at the edge, does the patch match the grain of the photo. </a:t>
            </a:r>
            <a:r>
              <a:rPr b="1"/>
              <a:t>Name</a:t>
            </a:r>
            <a:r>
              <a:t> the layer.</a:t>
            </a:r>
          </a:p>
          <a:p>
            <a:pPr>
              <a:spcAft>
                <a:spcPts val="800"/>
              </a:spcAft>
            </a:pPr>
            <a:r>
              <a:t>Five steps, about two minutes. The thinking is in the pick and the check.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Cold reversal. Something was removed from this photo with Generative Fill. I'm not going to tell you what.</a:t>
            </a:r>
          </a:p>
          <a:p>
            <a:pPr>
              <a:spcAft>
                <a:spcPts val="800"/>
              </a:spcAft>
            </a:pPr>
            <a:r>
              <a:t>Three questions, in pairs, two minutes. What was there? Roughly what did the selection look like? And what gives it away?</a:t>
            </a:r>
          </a:p>
          <a:p>
            <a:pPr>
              <a:spcAft>
                <a:spcPts val="800"/>
              </a:spcAft>
            </a:pPr>
            <a:r>
              <a:t>[Take answers. Don't confirm until several pairs have answered, and then only confirm what was removed, not the whole list of tells. Let them argue about the rest.]</a:t>
            </a:r>
          </a:p>
          <a:p>
            <a:pPr>
              <a:spcAft>
                <a:spcPts val="800"/>
              </a:spcAft>
            </a:pPr>
            <a:r>
              <a:t>If you found it from a shadow, or a pattern that stops at an invisible line, or an area that's smoother than the rest, you've just done session 4 a day early.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Short discussion, four minutes or so. When is removing something from a photo fine, and when is it a lie?</a:t>
            </a:r>
          </a:p>
          <a:p>
            <a:pPr>
              <a:spcAft>
                <a:spcPts val="800"/>
              </a:spcAft>
            </a:pPr>
            <a:r>
              <a:t>[Let them work it out. Usually they get there: it depends on what the picture claims to be.]</a:t>
            </a:r>
          </a:p>
          <a:p>
            <a:pPr>
              <a:spcAft>
                <a:spcPts val="800"/>
              </a:spcAft>
            </a:pPr>
            <a:r>
              <a:t>News agencies have had firm rules on this for a long time: in a news photo you don't add or remove anything, because the photo is a claim about what happened. An ad is understood by most people to be constructed, though even there, removing something about the product itself can get a company in trouble. Concept art makes no claim to be true at all.</a:t>
            </a:r>
          </a:p>
          <a:p>
            <a:pPr>
              <a:spcAft>
                <a:spcPts val="800"/>
              </a:spcAft>
            </a:pPr>
            <a:r>
              <a:t>So it isn't the tool that makes it a lie. It's </a:t>
            </a:r>
            <a:r>
              <a:rPr b="1"/>
              <a:t>what the image says it is.</a:t>
            </a:r>
            <a:r>
              <a:t> Keep that, because it's the whole basis of disclosure in week three.</a:t>
            </a:r>
          </a:p>
          <a:p>
            <a:pPr>
              <a:spcAft>
                <a:spcPts val="800"/>
              </a:spcAft>
            </a:pPr>
            <a:r>
              <a:t>[Into the demo.]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[About five minutes.] A real case, and a useful one exactly because no generator was involved.</a:t>
            </a:r>
          </a:p>
          <a:p>
            <a:pPr>
              <a:spcAft>
                <a:spcPts val="800"/>
              </a:spcAft>
            </a:pPr>
            <a:r>
              <a:t>In March of 2024, the Princess of Wales released a family photo for Mother's Day. Within hours, several of the big news agencies withdrew it and told their clients not to use it, a "kill notice," because people had spotted signs of editing: a sleeve that didn't line up, a zipper, bits of background that didn't continue. She later said she had been experimenting with editing, and apologized for the confusion.</a:t>
            </a:r>
          </a:p>
          <a:p>
            <a:pPr>
              <a:spcAft>
                <a:spcPts val="800"/>
              </a:spcAft>
            </a:pPr>
            <a:r>
              <a:t>[Ask: why did the agencies care so much about a sleeve?] Because a news agency's whole value is that its photos are what happened. One edited photo, even a harmless one, makes people question every other one.</a:t>
            </a:r>
          </a:p>
          <a:p>
            <a:pPr>
              <a:spcAft>
                <a:spcPts val="800"/>
              </a:spcAft>
            </a:pPr>
            <a:r>
              <a:t>Notice the tells, too. They're the same ones we're learning for generated images: edges that don't line up, patterns that stop at an invisible line. A careless edit and a careless fill leave the same fingerprints.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Thirty seconds. Read the terms aloud and ask the room for any they can't explain yet. These are on Canvas as a running glossary, which helps everyone and helps accommodated students most, on a schedule where the next class is often tomorrow.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Tonight, due at the start of next class.</a:t>
            </a:r>
          </a:p>
          <a:p>
            <a:pPr>
              <a:spcAft>
                <a:spcPts val="800"/>
              </a:spcAft>
            </a:pPr>
            <a:r>
              <a:rPr b="1"/>
              <a:t>Option A</a:t>
            </a:r>
            <a:r>
              <a:t>: three photos on Canvas, three jobs. Remove something from the first, replace something in the second, extend the third. Layers named to the standard: GEN_, FIX_ if you touched it up, and so on.</a:t>
            </a:r>
          </a:p>
          <a:p>
            <a:pPr>
              <a:spcAft>
                <a:spcPts val="800"/>
              </a:spcAft>
            </a:pPr>
            <a:r>
              <a:rPr b="1"/>
              <a:t>Option B</a:t>
            </a:r>
            <a:r>
              <a:t>: one of your own photos, expanded to a new aspect ratio, for example a horizontal photo made vertical for a phone screen. Write down each choice you made: what you let it invent, what you rejected, what the new space adds to the image (or doesn't).</a:t>
            </a:r>
          </a:p>
          <a:p>
            <a:pPr>
              <a:spcAft>
                <a:spcPts val="800"/>
              </a:spcAft>
            </a:pPr>
            <a:r>
              <a:t>Same rubric, either way.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selection is the instruction. The words matter less than the shape you draw.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Generative Fill and Expand</a:t>
            </a:r>
          </a:p>
        </p:txBody>
      </p:sp>
      <p:sp>
        <p:nvSpPr>
          <p:cNvPr id="3" name="Subtitle 2"/>
          <p:cNvSpPr>
            <a:spLocks noGrp="1"/>
          </p:cNvSpPr>
          <p:nvPr>
            <p:ph type="subTitle" idx="1"/>
          </p:nvPr>
        </p:nvSpPr>
        <p:spPr/>
        <p:txBody>
          <a:bodyPr/>
          <a:lstStyle/>
          <a:p>
            <a:r>
              <a:t>AI Digital Imaging  |  Session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Spot it</a:t>
            </a:r>
          </a:p>
        </p:txBody>
      </p:sp>
      <p:sp>
        <p:nvSpPr>
          <p:cNvPr id="3" name="Content Placeholder 2"/>
          <p:cNvSpPr>
            <a:spLocks noGrp="1"/>
          </p:cNvSpPr>
          <p:nvPr>
            <p:ph idx="1"/>
          </p:nvPr>
        </p:nvSpPr>
        <p:spPr>
          <a:xfrm>
            <a:off x="1298448" y="2560320"/>
            <a:ext cx="5349240" cy="3383280"/>
          </a:xfrm>
        </p:spPr>
        <p:txBody>
          <a:bodyPr/>
          <a:lstStyle/>
          <a:p>
            <a:pPr/>
            <a:r>
              <a:t>One image. Ninety seconds.</a:t>
            </a:r>
          </a:p>
          <a:p>
            <a:pPr/>
            <a:r>
              <a:t>What's wrong with it?</a:t>
            </a:r>
          </a:p>
          <a:p>
            <a:pPr/>
            <a:r>
              <a:t>Say where, and what kind.</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generated image with a problem the room hasn't seen yet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 time</a:t>
            </a:r>
          </a:p>
        </p:txBody>
      </p:sp>
      <p:sp>
        <p:nvSpPr>
          <p:cNvPr id="3" name="Content Placeholder 2"/>
          <p:cNvSpPr>
            <a:spLocks noGrp="1"/>
          </p:cNvSpPr>
          <p:nvPr>
            <p:ph idx="1"/>
          </p:nvPr>
        </p:nvSpPr>
        <p:spPr/>
        <p:txBody>
          <a:bodyPr/>
          <a:lstStyle/>
          <a:p>
            <a:pPr/>
            <a:r>
              <a:t>Subject, composition, lens, light, style.</a:t>
            </a:r>
          </a:p>
          <a:p>
            <a:pPr/>
            <a:r>
              <a:t>One variable at a time.</a:t>
            </a:r>
          </a:p>
          <a:p>
            <a:pPr/>
            <a:r>
              <a:t>Words can't carry "where."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tools, one idea</a:t>
            </a:r>
          </a:p>
        </p:txBody>
      </p:sp>
      <p:sp>
        <p:nvSpPr>
          <p:cNvPr id="3" name="Content Placeholder 2"/>
          <p:cNvSpPr>
            <a:spLocks noGrp="1"/>
          </p:cNvSpPr>
          <p:nvPr>
            <p:ph idx="1"/>
          </p:nvPr>
        </p:nvSpPr>
        <p:spPr/>
        <p:txBody>
          <a:bodyPr/>
          <a:lstStyle/>
          <a:p>
            <a:pPr/>
            <a:r>
              <a:rPr b="1"/>
              <a:t>Fill</a:t>
            </a:r>
            <a:r>
              <a:t> – inside a selection.</a:t>
            </a:r>
          </a:p>
          <a:p>
            <a:pPr/>
            <a:r>
              <a:rPr b="1"/>
              <a:t>Expand</a:t>
            </a:r>
            <a:r>
              <a:t> – outside the frame.</a:t>
            </a:r>
          </a:p>
          <a:p>
            <a:pPr/>
            <a:r>
              <a:t>In both, the selection is the instruction.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selection is the instruction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much you hand over</a:t>
            </a:r>
          </a:p>
        </p:txBody>
      </p:sp>
      <p:pic>
        <p:nvPicPr>
          <p:cNvPr id="3" name="Picture 2" descr="selection_panels.png"/>
          <p:cNvPicPr>
            <a:picLocks noChangeAspect="1"/>
          </p:cNvPicPr>
          <p:nvPr/>
        </p:nvPicPr>
        <p:blipFill>
          <a:blip r:embed="rId2"/>
          <a:stretch>
            <a:fillRect/>
          </a:stretch>
        </p:blipFill>
        <p:spPr>
          <a:xfrm>
            <a:off x="1298448" y="2626876"/>
            <a:ext cx="9601200" cy="2747246"/>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A tight selection fills a gap. A loose one invites invention. Everything is a new picture.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the selection tells it</a:t>
            </a:r>
          </a:p>
        </p:txBody>
      </p:sp>
      <p:sp>
        <p:nvSpPr>
          <p:cNvPr id="3" name="Content Placeholder 2"/>
          <p:cNvSpPr>
            <a:spLocks noGrp="1"/>
          </p:cNvSpPr>
          <p:nvPr>
            <p:ph idx="1"/>
          </p:nvPr>
        </p:nvSpPr>
        <p:spPr/>
        <p:txBody>
          <a:bodyPr/>
          <a:lstStyle/>
          <a:p>
            <a:pPr/>
            <a:r>
              <a:t>Where to work.</a:t>
            </a:r>
          </a:p>
          <a:p>
            <a:pPr/>
            <a:r>
              <a:t>How much to invent.</a:t>
            </a:r>
          </a:p>
          <a:p>
            <a:pPr/>
            <a:r>
              <a:t>What to match at the edges.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jobs</a:t>
            </a:r>
          </a:p>
        </p:txBody>
      </p:sp>
      <p:sp>
        <p:nvSpPr>
          <p:cNvPr id="3" name="Rounded Rectangle 2"/>
          <p:cNvSpPr/>
          <p:nvPr/>
        </p:nvSpPr>
        <p:spPr>
          <a:xfrm>
            <a:off x="1298448" y="2697480"/>
            <a:ext cx="3005328"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Remove</a:t>
            </a:r>
          </a:p>
          <a:p>
            <a:pPr algn="ctr"/>
            <a:r>
              <a:rPr sz="1600">
                <a:solidFill>
                  <a:srgbClr val="2B2B2B"/>
                </a:solidFill>
              </a:rPr>
              <a:t>leave the prompt empty</a:t>
            </a:r>
          </a:p>
        </p:txBody>
      </p:sp>
      <p:sp>
        <p:nvSpPr>
          <p:cNvPr id="4" name="Rounded Rectangle 3"/>
          <p:cNvSpPr/>
          <p:nvPr/>
        </p:nvSpPr>
        <p:spPr>
          <a:xfrm>
            <a:off x="4596384" y="2697480"/>
            <a:ext cx="3005328"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Replace</a:t>
            </a:r>
          </a:p>
          <a:p>
            <a:pPr algn="ctr"/>
            <a:r>
              <a:rPr sz="1600">
                <a:solidFill>
                  <a:srgbClr val="2B2B2B"/>
                </a:solidFill>
              </a:rPr>
              <a:t>describe only the new thing</a:t>
            </a:r>
          </a:p>
        </p:txBody>
      </p:sp>
      <p:sp>
        <p:nvSpPr>
          <p:cNvPr id="5" name="Rounded Rectangle 4"/>
          <p:cNvSpPr/>
          <p:nvPr/>
        </p:nvSpPr>
        <p:spPr>
          <a:xfrm>
            <a:off x="7894320" y="2697480"/>
            <a:ext cx="3005328"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Extend</a:t>
            </a:r>
          </a:p>
          <a:p>
            <a:pPr algn="ctr"/>
            <a:r>
              <a:rPr sz="1600">
                <a:solidFill>
                  <a:srgbClr val="2B2B2B"/>
                </a:solidFill>
              </a:rPr>
              <a:t>grow the canvas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Remove</a:t>
            </a:r>
          </a:p>
        </p:txBody>
      </p:sp>
      <p:sp>
        <p:nvSpPr>
          <p:cNvPr id="3" name="Content Placeholder 2"/>
          <p:cNvSpPr>
            <a:spLocks noGrp="1"/>
          </p:cNvSpPr>
          <p:nvPr>
            <p:ph idx="1"/>
          </p:nvPr>
        </p:nvSpPr>
        <p:spPr>
          <a:xfrm>
            <a:off x="1298448" y="2560320"/>
            <a:ext cx="5349240" cy="3383280"/>
          </a:xfrm>
        </p:spPr>
        <p:txBody>
          <a:bodyPr/>
          <a:lstStyle/>
          <a:p>
            <a:pPr/>
            <a:r>
              <a:t>Leave the prompt empty.</a:t>
            </a:r>
          </a:p>
          <a:p>
            <a:pPr/>
            <a:r>
              <a:t>Select a little past the object.</a:t>
            </a:r>
          </a:p>
          <a:p>
            <a:pPr/>
            <a:r>
              <a:t>Check the shadow and the reflection.</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photo before and after Generative Fill removed an object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Replace</a:t>
            </a:r>
          </a:p>
        </p:txBody>
      </p:sp>
      <p:sp>
        <p:nvSpPr>
          <p:cNvPr id="3" name="Content Placeholder 2"/>
          <p:cNvSpPr>
            <a:spLocks noGrp="1"/>
          </p:cNvSpPr>
          <p:nvPr>
            <p:ph idx="1"/>
          </p:nvPr>
        </p:nvSpPr>
        <p:spPr/>
        <p:txBody>
          <a:bodyPr/>
          <a:lstStyle/>
          <a:p>
            <a:pPr/>
            <a:r>
              <a:t>Select the shape of the new thing.</a:t>
            </a:r>
          </a:p>
          <a:p>
            <a:pPr/>
            <a:r>
              <a:t>Describe only the new thing.</a:t>
            </a:r>
          </a:p>
          <a:p>
            <a:pPr/>
            <a:r>
              <a:t>Not the whole scene.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Extend</a:t>
            </a:r>
          </a:p>
        </p:txBody>
      </p:sp>
      <p:sp>
        <p:nvSpPr>
          <p:cNvPr id="3" name="Content Placeholder 2"/>
          <p:cNvSpPr>
            <a:spLocks noGrp="1"/>
          </p:cNvSpPr>
          <p:nvPr>
            <p:ph idx="1"/>
          </p:nvPr>
        </p:nvSpPr>
        <p:spPr>
          <a:xfrm>
            <a:off x="1298448" y="2560320"/>
            <a:ext cx="5349240" cy="3383280"/>
          </a:xfrm>
        </p:spPr>
        <p:txBody>
          <a:bodyPr/>
          <a:lstStyle/>
          <a:p>
            <a:pPr/>
            <a:r>
              <a:t>Crop tool, past the edge.</a:t>
            </a:r>
          </a:p>
          <a:p>
            <a:pPr/>
            <a:r>
              <a:t>Everything outside gets invented.</a:t>
            </a:r>
          </a:p>
          <a:p>
            <a:pPr/>
            <a:r>
              <a:t>The further out, the weaker it gets.</a:t>
            </a:r>
          </a:p>
        </p:txBody>
      </p:sp>
      <p:pic>
        <p:nvPicPr>
          <p:cNvPr id="4" name="Picture 3" descr="expand_diagram.png"/>
          <p:cNvPicPr>
            <a:picLocks noChangeAspect="1"/>
          </p:cNvPicPr>
          <p:nvPr/>
        </p:nvPicPr>
        <p:blipFill>
          <a:blip r:embed="rId2"/>
          <a:stretch>
            <a:fillRect/>
          </a:stretch>
        </p:blipFill>
        <p:spPr>
          <a:xfrm>
            <a:off x="6949440" y="2924323"/>
            <a:ext cx="4471416" cy="2518113"/>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Expanding changes what it means</a:t>
            </a:r>
          </a:p>
        </p:txBody>
      </p:sp>
      <p:sp>
        <p:nvSpPr>
          <p:cNvPr id="3" name="Content Placeholder 2"/>
          <p:cNvSpPr>
            <a:spLocks noGrp="1"/>
          </p:cNvSpPr>
          <p:nvPr>
            <p:ph idx="1"/>
          </p:nvPr>
        </p:nvSpPr>
        <p:spPr>
          <a:xfrm>
            <a:off x="1298448" y="2560320"/>
            <a:ext cx="5349240" cy="3383280"/>
          </a:xfrm>
        </p:spPr>
        <p:txBody>
          <a:bodyPr/>
          <a:lstStyle/>
          <a:p>
            <a:pPr/>
            <a:r>
              <a:t>What's outside the frame matters.</a:t>
            </a:r>
          </a:p>
          <a:p>
            <a:pPr/>
            <a:r>
              <a:t>Most extensions add wallpaper.</a:t>
            </a:r>
          </a:p>
          <a:p>
            <a:pPr/>
            <a:r>
              <a:t>A good one adds a fact.</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an outpainted famous painting from 2022 or so (e.g. the expanded Girl with a Pearl Earring)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generated layers behave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you get back</a:t>
            </a:r>
          </a:p>
        </p:txBody>
      </p:sp>
      <p:sp>
        <p:nvSpPr>
          <p:cNvPr id="3" name="Content Placeholder 2"/>
          <p:cNvSpPr>
            <a:spLocks noGrp="1"/>
          </p:cNvSpPr>
          <p:nvPr>
            <p:ph idx="1"/>
          </p:nvPr>
        </p:nvSpPr>
        <p:spPr/>
        <p:txBody>
          <a:bodyPr/>
          <a:lstStyle/>
          <a:p>
            <a:pPr/>
            <a:r>
              <a:t>A new layer, with a mask.</a:t>
            </a:r>
          </a:p>
          <a:p>
            <a:pPr/>
            <a:r>
              <a:t>Three variations each time.</a:t>
            </a:r>
          </a:p>
          <a:p>
            <a:pPr/>
            <a:r>
              <a:t>Regenerate, or pick in Properties.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Naming, for this course</a:t>
            </a:r>
          </a:p>
        </p:txBody>
      </p:sp>
      <p:sp>
        <p:nvSpPr>
          <p:cNvPr id="3" name="Rectangle 2"/>
          <p:cNvSpPr/>
          <p:nvPr/>
        </p:nvSpPr>
        <p:spPr>
          <a:xfrm>
            <a:off x="12984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64207" y="2514600"/>
            <a:ext cx="9144000" cy="411480"/>
          </a:xfrm>
          <a:prstGeom prst="rect">
            <a:avLst/>
          </a:prstGeom>
          <a:noFill/>
        </p:spPr>
        <p:txBody>
          <a:bodyPr wrap="square">
            <a:spAutoFit/>
          </a:bodyPr>
          <a:lstStyle/>
          <a:p>
            <a:r>
              <a:rPr sz="2100">
                <a:solidFill>
                  <a:srgbClr val="2B2B2B"/>
                </a:solidFill>
              </a:rPr>
              <a:t>GEN_ for anything generated</a:t>
            </a:r>
          </a:p>
        </p:txBody>
      </p:sp>
      <p:sp>
        <p:nvSpPr>
          <p:cNvPr id="5" name="Rectangle 4"/>
          <p:cNvSpPr/>
          <p:nvPr/>
        </p:nvSpPr>
        <p:spPr>
          <a:xfrm>
            <a:off x="12984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64207" y="3081528"/>
            <a:ext cx="9144000" cy="411480"/>
          </a:xfrm>
          <a:prstGeom prst="rect">
            <a:avLst/>
          </a:prstGeom>
          <a:noFill/>
        </p:spPr>
        <p:txBody>
          <a:bodyPr wrap="square">
            <a:spAutoFit/>
          </a:bodyPr>
          <a:lstStyle/>
          <a:p>
            <a:r>
              <a:rPr sz="2100">
                <a:solidFill>
                  <a:srgbClr val="2B2B2B"/>
                </a:solidFill>
              </a:rPr>
              <a:t>FIX_ for a hand correction</a:t>
            </a:r>
          </a:p>
        </p:txBody>
      </p:sp>
      <p:sp>
        <p:nvSpPr>
          <p:cNvPr id="7" name="Rectangle 6"/>
          <p:cNvSpPr/>
          <p:nvPr/>
        </p:nvSpPr>
        <p:spPr>
          <a:xfrm>
            <a:off x="1298448" y="3739896"/>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7" y="3648456"/>
            <a:ext cx="9144000" cy="411480"/>
          </a:xfrm>
          <a:prstGeom prst="rect">
            <a:avLst/>
          </a:prstGeom>
          <a:noFill/>
        </p:spPr>
        <p:txBody>
          <a:bodyPr wrap="square">
            <a:spAutoFit/>
          </a:bodyPr>
          <a:lstStyle/>
          <a:p>
            <a:r>
              <a:rPr sz="2100">
                <a:solidFill>
                  <a:srgbClr val="2B2B2B"/>
                </a:solidFill>
              </a:rPr>
              <a:t>REF_ for reference you brought in</a:t>
            </a:r>
          </a:p>
        </p:txBody>
      </p:sp>
      <p:sp>
        <p:nvSpPr>
          <p:cNvPr id="9" name="Rectangle 8"/>
          <p:cNvSpPr/>
          <p:nvPr/>
        </p:nvSpPr>
        <p:spPr>
          <a:xfrm>
            <a:off x="1298448" y="4306823"/>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4207" y="4215383"/>
            <a:ext cx="9144000" cy="411480"/>
          </a:xfrm>
          <a:prstGeom prst="rect">
            <a:avLst/>
          </a:prstGeom>
          <a:noFill/>
        </p:spPr>
        <p:txBody>
          <a:bodyPr wrap="square">
            <a:spAutoFit/>
          </a:bodyPr>
          <a:lstStyle/>
          <a:p>
            <a:r>
              <a:rPr sz="2100">
                <a:solidFill>
                  <a:srgbClr val="2B2B2B"/>
                </a:solidFill>
              </a:rPr>
              <a:t>CALLOUT for error markup</a:t>
            </a:r>
          </a:p>
        </p:txBody>
      </p:sp>
      <p:sp>
        <p:nvSpPr>
          <p:cNvPr id="11" name="Rectangle 10"/>
          <p:cNvSpPr/>
          <p:nvPr/>
        </p:nvSpPr>
        <p:spPr>
          <a:xfrm>
            <a:off x="1298448" y="4873752"/>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64207" y="4782312"/>
            <a:ext cx="9144000" cy="411480"/>
          </a:xfrm>
          <a:prstGeom prst="rect">
            <a:avLst/>
          </a:prstGeom>
          <a:noFill/>
        </p:spPr>
        <p:txBody>
          <a:bodyPr wrap="square">
            <a:spAutoFit/>
          </a:bodyPr>
          <a:lstStyle/>
          <a:p>
            <a:r>
              <a:rPr sz="2100">
                <a:solidFill>
                  <a:srgbClr val="2B2B2B"/>
                </a:solidFill>
              </a:rPr>
              <a:t>Date in the file name</a:t>
            </a:r>
          </a:p>
        </p:txBody>
      </p:sp>
      <p:sp>
        <p:nvSpPr>
          <p:cNvPr id="13" name="Rectangle 12"/>
          <p:cNvSpPr/>
          <p:nvPr/>
        </p:nvSpPr>
        <p:spPr>
          <a:xfrm>
            <a:off x="1298448" y="5440679"/>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64207" y="5349240"/>
            <a:ext cx="9144000" cy="411480"/>
          </a:xfrm>
          <a:prstGeom prst="rect">
            <a:avLst/>
          </a:prstGeom>
          <a:noFill/>
        </p:spPr>
        <p:txBody>
          <a:bodyPr wrap="square">
            <a:spAutoFit/>
          </a:bodyPr>
          <a:lstStyle/>
          <a:p>
            <a:r>
              <a:rPr sz="2100">
                <a:solidFill>
                  <a:srgbClr val="2B2B2B"/>
                </a:solidFill>
              </a:rPr>
              <a:t>Never "Layer 12 copy 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Getting more control</a:t>
            </a:r>
          </a:p>
        </p:txBody>
      </p:sp>
      <p:sp>
        <p:nvSpPr>
          <p:cNvPr id="3" name="Content Placeholder 2"/>
          <p:cNvSpPr>
            <a:spLocks noGrp="1"/>
          </p:cNvSpPr>
          <p:nvPr>
            <p:ph idx="1"/>
          </p:nvPr>
        </p:nvSpPr>
        <p:spPr/>
        <p:txBody>
          <a:bodyPr/>
          <a:lstStyle/>
          <a:p>
            <a:pPr/>
            <a:r>
              <a:t>Smaller selections.</a:t>
            </a:r>
          </a:p>
          <a:p>
            <a:pPr/>
            <a:r>
              <a:t>Several small passes.</a:t>
            </a:r>
          </a:p>
          <a:p>
            <a:pPr/>
            <a:r>
              <a:t>Paint rough first, then fill.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Worked example: one removal</a:t>
            </a:r>
          </a:p>
        </p:txBody>
      </p:sp>
      <p:sp>
        <p:nvSpPr>
          <p:cNvPr id="3" name="Rounded Rectangle 2"/>
          <p:cNvSpPr/>
          <p:nvPr/>
        </p:nvSpPr>
        <p:spPr>
          <a:xfrm>
            <a:off x="1298448"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Select</a:t>
            </a:r>
          </a:p>
          <a:p>
            <a:pPr algn="ctr"/>
            <a:r>
              <a:rPr sz="1400">
                <a:solidFill>
                  <a:srgbClr val="2B2B2B"/>
                </a:solidFill>
              </a:rPr>
              <a:t>lasso, past the edge</a:t>
            </a:r>
          </a:p>
        </p:txBody>
      </p:sp>
      <p:sp>
        <p:nvSpPr>
          <p:cNvPr id="4" name="Rounded Rectangle 3"/>
          <p:cNvSpPr/>
          <p:nvPr/>
        </p:nvSpPr>
        <p:spPr>
          <a:xfrm>
            <a:off x="3277209"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Prompt</a:t>
            </a:r>
          </a:p>
          <a:p>
            <a:pPr algn="ctr"/>
            <a:r>
              <a:rPr sz="1400">
                <a:solidFill>
                  <a:srgbClr val="2B2B2B"/>
                </a:solidFill>
              </a:rPr>
              <a:t>leave it empty</a:t>
            </a:r>
          </a:p>
        </p:txBody>
      </p:sp>
      <p:sp>
        <p:nvSpPr>
          <p:cNvPr id="5" name="Rounded Rectangle 4"/>
          <p:cNvSpPr/>
          <p:nvPr/>
        </p:nvSpPr>
        <p:spPr>
          <a:xfrm>
            <a:off x="5255971"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Pick</a:t>
            </a:r>
          </a:p>
          <a:p>
            <a:pPr algn="ctr"/>
            <a:r>
              <a:rPr sz="1400">
                <a:solidFill>
                  <a:srgbClr val="2B2B2B"/>
                </a:solidFill>
              </a:rPr>
              <a:t>one of three, say why</a:t>
            </a:r>
          </a:p>
        </p:txBody>
      </p:sp>
      <p:sp>
        <p:nvSpPr>
          <p:cNvPr id="6" name="Rounded Rectangle 5"/>
          <p:cNvSpPr/>
          <p:nvPr/>
        </p:nvSpPr>
        <p:spPr>
          <a:xfrm>
            <a:off x="7234732"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Check</a:t>
            </a:r>
          </a:p>
          <a:p>
            <a:pPr algn="ctr"/>
            <a:r>
              <a:rPr sz="1400">
                <a:solidFill>
                  <a:srgbClr val="2B2B2B"/>
                </a:solidFill>
              </a:rPr>
              <a:t>shadow, edge, grain</a:t>
            </a:r>
          </a:p>
        </p:txBody>
      </p:sp>
      <p:sp>
        <p:nvSpPr>
          <p:cNvPr id="7" name="Rounded Rectangle 6"/>
          <p:cNvSpPr/>
          <p:nvPr/>
        </p:nvSpPr>
        <p:spPr>
          <a:xfrm>
            <a:off x="9213494"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Name</a:t>
            </a:r>
          </a:p>
          <a:p>
            <a:pPr algn="ctr"/>
            <a:r>
              <a:rPr sz="1400">
                <a:solidFill>
                  <a:srgbClr val="2B2B2B"/>
                </a:solidFill>
              </a:rPr>
              <a:t>GEN_remove_sign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Now you: what was the selection?</a:t>
            </a:r>
          </a:p>
        </p:txBody>
      </p:sp>
      <p:sp>
        <p:nvSpPr>
          <p:cNvPr id="3" name="IMAGE SLOT"/>
          <p:cNvSpPr/>
          <p:nvPr/>
        </p:nvSpPr>
        <p:spPr>
          <a:xfrm>
            <a:off x="1298448" y="2395728"/>
            <a:ext cx="9601200" cy="347472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photo of yours where an object was removed with Fill, one tell left visible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When is removing something a lie?</a:t>
            </a:r>
          </a:p>
        </p:txBody>
      </p:sp>
      <p:sp>
        <p:nvSpPr>
          <p:cNvPr id="3" name="Content Placeholder 2"/>
          <p:cNvSpPr>
            <a:spLocks noGrp="1"/>
          </p:cNvSpPr>
          <p:nvPr>
            <p:ph idx="1"/>
          </p:nvPr>
        </p:nvSpPr>
        <p:spPr/>
        <p:txBody>
          <a:bodyPr/>
          <a:lstStyle/>
          <a:p>
            <a:pPr/>
            <a:r>
              <a:t>A news photo?</a:t>
            </a:r>
          </a:p>
          <a:p>
            <a:pPr/>
            <a:r>
              <a:t>An ad?</a:t>
            </a:r>
          </a:p>
          <a:p>
            <a:pPr/>
            <a:r>
              <a:t>Concept art?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 the wild: a family photo</a:t>
            </a:r>
          </a:p>
        </p:txBody>
      </p:sp>
      <p:sp>
        <p:nvSpPr>
          <p:cNvPr id="3" name="Content Placeholder 2"/>
          <p:cNvSpPr>
            <a:spLocks noGrp="1"/>
          </p:cNvSpPr>
          <p:nvPr>
            <p:ph idx="1"/>
          </p:nvPr>
        </p:nvSpPr>
        <p:spPr>
          <a:xfrm>
            <a:off x="1298448" y="2560320"/>
            <a:ext cx="5349240" cy="3383280"/>
          </a:xfrm>
        </p:spPr>
        <p:txBody>
          <a:bodyPr/>
          <a:lstStyle/>
          <a:p>
            <a:pPr/>
            <a:r>
              <a:t>A royal family photo, 2024.</a:t>
            </a:r>
          </a:p>
          <a:p>
            <a:pPr/>
            <a:r>
              <a:t>Agencies pulled it within hours.</a:t>
            </a:r>
          </a:p>
          <a:p>
            <a:pPr/>
            <a:r>
              <a:t>Nothing generated. Still a problem.</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the 2024 Princess of Wales Mother's Day photo, with the agency notice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from today</a:t>
            </a:r>
          </a:p>
        </p:txBody>
      </p:sp>
      <p:sp>
        <p:nvSpPr>
          <p:cNvPr id="3" name="Content Placeholder 2"/>
          <p:cNvSpPr>
            <a:spLocks noGrp="1"/>
          </p:cNvSpPr>
          <p:nvPr>
            <p:ph idx="1" sz="half"/>
          </p:nvPr>
        </p:nvSpPr>
        <p:spPr/>
        <p:txBody>
          <a:bodyPr/>
          <a:lstStyle/>
          <a:p>
            <a:pPr>
              <a:spcAft>
                <a:spcPts val="600"/>
              </a:spcAft>
            </a:pPr>
            <a:r>
              <a:rPr b="1" sz="1900"/>
              <a:t>Generative Fill</a:t>
            </a:r>
            <a:r>
              <a:rPr sz="1900"/>
              <a:t> – generates inside a selection</a:t>
            </a:r>
          </a:p>
          <a:p>
            <a:pPr>
              <a:spcAft>
                <a:spcPts val="600"/>
              </a:spcAft>
            </a:pPr>
            <a:r>
              <a:rPr b="1" sz="1900"/>
              <a:t>Generative Expand</a:t>
            </a:r>
            <a:r>
              <a:rPr sz="1900"/>
              <a:t> – generates past the canvas edge</a:t>
            </a:r>
          </a:p>
          <a:p>
            <a:pPr>
              <a:spcAft>
                <a:spcPts val="600"/>
              </a:spcAft>
            </a:pPr>
            <a:r>
              <a:rPr b="1" sz="1900"/>
              <a:t>Generative layer</a:t>
            </a:r>
            <a:r>
              <a:rPr sz="1900"/>
              <a:t> – its own layer, with a mask, three variations</a:t>
            </a:r>
          </a:p>
        </p:txBody>
      </p:sp>
      <p:sp>
        <p:nvSpPr>
          <p:cNvPr id="4" name="Content Placeholder 3"/>
          <p:cNvSpPr>
            <a:spLocks noGrp="1"/>
          </p:cNvSpPr>
          <p:nvPr>
            <p:ph idx="2" sz="half"/>
          </p:nvPr>
        </p:nvSpPr>
        <p:spPr/>
        <p:txBody>
          <a:bodyPr/>
          <a:lstStyle/>
          <a:p>
            <a:pPr>
              <a:spcAft>
                <a:spcPts val="600"/>
              </a:spcAft>
            </a:pPr>
            <a:r>
              <a:rPr b="1" sz="1900"/>
              <a:t>Feather</a:t>
            </a:r>
            <a:r>
              <a:rPr sz="1900"/>
              <a:t> – a soft selection edge</a:t>
            </a:r>
          </a:p>
          <a:p>
            <a:pPr>
              <a:spcAft>
                <a:spcPts val="600"/>
              </a:spcAft>
            </a:pPr>
            <a:r>
              <a:rPr b="1" sz="1900"/>
              <a:t>Aspect ratio</a:t>
            </a:r>
            <a:r>
              <a:rPr sz="1900"/>
              <a:t> – the shape of the frame, like 16:9</a:t>
            </a:r>
          </a:p>
          <a:p>
            <a:pPr>
              <a:spcAft>
                <a:spcPts val="600"/>
              </a:spcAft>
            </a:pPr>
            <a:r>
              <a:rPr b="1" sz="1900"/>
              <a:t>GEN_ / FIX_ / REF_</a:t>
            </a:r>
            <a:r>
              <a:rPr sz="1900"/>
              <a:t> – the naming standard for every file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next class: pick one</a:t>
            </a:r>
          </a:p>
        </p:txBody>
      </p:sp>
      <p:sp>
        <p:nvSpPr>
          <p:cNvPr id="3" name="Text Placeholder 2"/>
          <p:cNvSpPr>
            <a:spLocks noGrp="1"/>
          </p:cNvSpPr>
          <p:nvPr>
            <p:ph type="body" idx="1"/>
          </p:nvPr>
        </p:nvSpPr>
        <p:spPr/>
        <p:txBody>
          <a:bodyPr/>
          <a:lstStyle/>
          <a:p>
            <a:r>
              <a:t>Option A, guided</a:t>
            </a:r>
          </a:p>
        </p:txBody>
      </p:sp>
      <p:sp>
        <p:nvSpPr>
          <p:cNvPr id="4" name="Content Placeholder 3"/>
          <p:cNvSpPr>
            <a:spLocks noGrp="1"/>
          </p:cNvSpPr>
          <p:nvPr>
            <p:ph idx="2" sz="half"/>
          </p:nvPr>
        </p:nvSpPr>
        <p:spPr/>
        <p:txBody>
          <a:bodyPr/>
          <a:lstStyle/>
          <a:p>
            <a:pPr/>
            <a:r>
              <a:t>Three provided photos.</a:t>
            </a:r>
          </a:p>
          <a:p>
            <a:pPr/>
            <a:r>
              <a:t>Remove, replace, extend.</a:t>
            </a:r>
          </a:p>
          <a:p>
            <a:pPr/>
            <a:r>
              <a:t>One each, layers named.</a:t>
            </a:r>
          </a:p>
        </p:txBody>
      </p:sp>
      <p:sp>
        <p:nvSpPr>
          <p:cNvPr id="5" name="Text Placeholder 4"/>
          <p:cNvSpPr>
            <a:spLocks noGrp="1"/>
          </p:cNvSpPr>
          <p:nvPr>
            <p:ph type="body" idx="3" sz="quarter"/>
          </p:nvPr>
        </p:nvSpPr>
        <p:spPr/>
        <p:txBody>
          <a:bodyPr/>
          <a:lstStyle/>
          <a:p>
            <a:r>
              <a:t>Option B, own material</a:t>
            </a:r>
          </a:p>
        </p:txBody>
      </p:sp>
      <p:sp>
        <p:nvSpPr>
          <p:cNvPr id="6" name="Content Placeholder 5"/>
          <p:cNvSpPr>
            <a:spLocks noGrp="1"/>
          </p:cNvSpPr>
          <p:nvPr>
            <p:ph idx="4" sz="quarter"/>
          </p:nvPr>
        </p:nvSpPr>
        <p:spPr/>
        <p:txBody>
          <a:bodyPr/>
          <a:lstStyle/>
          <a:p>
            <a:pPr/>
            <a:r>
              <a:t>Expand your own photo</a:t>
            </a:r>
          </a:p>
          <a:p>
            <a:pPr/>
            <a:r>
              <a:t>to a new aspect ratio.</a:t>
            </a:r>
          </a:p>
          <a:p>
            <a:pPr/>
            <a:r>
              <a:t>Note each choice you made.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selection is the instruction.</a:t>
            </a:r>
          </a:p>
        </p:txBody>
      </p:sp>
      <p:sp>
        <p:nvSpPr>
          <p:cNvPr id="3" name="Text Placeholder 2"/>
          <p:cNvSpPr>
            <a:spLocks noGrp="1"/>
          </p:cNvSpPr>
          <p:nvPr>
            <p:ph type="body" idx="13" sz="quarter"/>
          </p:nvPr>
        </p:nvSpPr>
        <p:spPr/>
        <p:txBody>
          <a:bodyPr/>
          <a:lstStyle/>
          <a:p>
            <a:r>
              <a:t>One line to take home</a:t>
            </a:r>
          </a:p>
        </p:txBody>
      </p:sp>
      <p:sp>
        <p:nvSpPr>
          <p:cNvPr id="4" name="Text Placeholder 3"/>
          <p:cNvSpPr>
            <a:spLocks noGrp="1"/>
          </p:cNvSpPr>
          <p:nvPr>
            <p:ph type="body" idx="1"/>
          </p:nvPr>
        </p:nvSpPr>
        <p:spPr/>
        <p:txBody>
          <a:bodyPr/>
          <a:lstStyle/>
          <a:p>
            <a:r>
              <a:t>The words matter less than the shape you draw.</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8078</TotalTime>
  <Words>4258</Words>
  <Application>Microsoft Office PowerPoint</Application>
  <PresentationFormat>Widescreen</PresentationFormat>
  <Paragraphs>228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Garamond</vt:lpstr>
      <vt:lpstr>Game Design Theme</vt:lpstr>
      <vt:lpstr>Storytelling Through Lighting</vt:lpstr>
      <vt:lpstr>Nothing Is Accidental</vt:lpstr>
      <vt:lpstr>Where This Comes From</vt:lpstr>
      <vt:lpstr>Film vs. 3D</vt:lpstr>
      <vt:lpstr>The Standard Setup</vt:lpstr>
      <vt:lpstr>Key Light</vt:lpstr>
      <vt:lpstr>Fill Light</vt:lpstr>
      <vt:lpstr>Backlight</vt:lpstr>
      <vt:lpstr>The Two Families</vt:lpstr>
      <vt:lpstr>High-Key Lighting</vt:lpstr>
      <vt:lpstr>Low-Key Lighting</vt:lpstr>
      <vt:lpstr>What Contrast Does</vt:lpstr>
      <vt:lpstr>High Contrast</vt:lpstr>
      <vt:lpstr>Low Contrast</vt:lpstr>
      <vt:lpstr>Hard vs. Soft, Explained by the Sun</vt:lpstr>
      <vt:lpstr>Hard Light</vt:lpstr>
      <vt:lpstr>Soft Light</vt:lpstr>
      <vt:lpstr>Drawing Light in a Storyboard Panel</vt:lpstr>
      <vt:lpstr>Direction Changes the Mood</vt:lpstr>
      <vt:lpstr>Frontal Lighting</vt:lpstr>
      <vt:lpstr>Side Lighting</vt:lpstr>
      <vt:lpstr>Backlighting</vt:lpstr>
      <vt:lpstr>Underlighting</vt:lpstr>
      <vt:lpstr>Exercise: Light the Same Pose Four Ways</vt:lpstr>
      <vt:lpstr>Train Your Eye</vt:lpstr>
      <vt:lpstr>Realistic Lighting</vt:lpstr>
      <vt:lpstr>Dramatic / Stylized Lighting</vt:lpstr>
      <vt:lpstr>What Color Does in a Story</vt:lpstr>
      <vt:lpstr>Contrast Is the Real Tool</vt:lpstr>
      <vt:lpstr>Making Something Stand Out — Or Getting Out of Its Way</vt:lpstr>
      <vt:lpstr>The Wheel, Once</vt:lpstr>
      <vt:lpstr>Warm</vt:lpstr>
      <vt:lpstr>Cool</vt:lpstr>
      <vt:lpstr>Color Meaning Is Cultural</vt:lpstr>
      <vt:lpstr>Apply It: Light and Color, One Panel</vt:lpstr>
      <vt:lpstr>A Language Still Being Written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372</cp:revision>
  <dcterms:created xsi:type="dcterms:W3CDTF">2016-05-07T19:16:27Z</dcterms:created>
  <dcterms:modified xsi:type="dcterms:W3CDTF">2026-08-11T01:20:15Z</dcterms:modified>
</cp:coreProperties>
</file>