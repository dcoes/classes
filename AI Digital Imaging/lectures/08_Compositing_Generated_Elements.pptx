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(5). Compositing is older than all of this (6). Pasted on or sitting in (4). The four matches: light, color, grain, edges (20). Depth and atmosphere (4). Harmonize, and generating for the plate (4). Worked example and cold reversal (6). Options (1).</a:t>
            </a:r>
          </a:p>
          <a:p>
            <a:pPr>
              <a:spcAft>
                <a:spcPts val="800"/>
              </a:spcAft>
            </a:pPr>
            <a:r>
              <a:rPr b="1"/>
              <a:t>Prep before class.</a:t>
            </a:r>
            <a:r>
              <a:t> The Option A set: a background plate (a photo you took, with a clear light direction) and two generated elements made for it, one of which is lit from the wrong side, on Canvas. One composite of your own with three deliberate mismatches for the cold reversal. Check whether Harmonize is available on the lab version.</a:t>
            </a:r>
          </a:p>
          <a:p>
            <a:pPr>
              <a:spcAft>
                <a:spcPts val="800"/>
              </a:spcAft>
            </a:pPr>
            <a:r>
              <a:t>Slot image: Oscar Rejlander's "The Two Ways of Life" (1857), a combination print from roughly thirty negatives,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A composite rather than a pure generation, so the room starts thinking about today's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quickly. [Cold call.] What's the critique format? [Brief says, image does, one change.] What did the room miss most in Project 1? [Remind them of the pattern you named at the halfway point.]</a:t>
            </a:r>
          </a:p>
          <a:p>
            <a:pPr>
              <a:spcAft>
                <a:spcPts val="800"/>
              </a:spcAft>
            </a:pPr>
            <a:r>
              <a:t>Today's subject is where a lot of those misses came from: a generated thing sitting in an image without agreeing with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Before anything else: compositing is old, older than Photoshop, older than film.</a:t>
            </a:r>
          </a:p>
          <a:p>
            <a:pPr>
              <a:spcAft>
                <a:spcPts val="800"/>
              </a:spcAft>
            </a:pPr>
            <a:r>
              <a:t>This is Oscar Rejlander's "The Two Ways of Life" from 1857, give or take. It's one photographic print, made by combining something like thirty separate negatives in the darkroom, because the cameras of the time couldn't capture a scene like this in one exposure. People at the time argued about whether it was cheating. Sound familiar?</a:t>
            </a:r>
          </a:p>
          <a:p>
            <a:pPr>
              <a:spcAft>
                <a:spcPts val="800"/>
              </a:spcAft>
            </a:pPr>
            <a:r>
              <a:t>After that come matte paintings on glass for films, photomontage in the 1920s or so, and essentially every visual effects shot you've ever seen. The skills we're doing today, matching light and color and grain, are the same skills compositors have used the whole time.</a:t>
            </a:r>
          </a:p>
          <a:p>
            <a:pPr>
              <a:spcAft>
                <a:spcPts val="800"/>
              </a:spcAft>
            </a:pPr>
            <a:r>
              <a:t>The generator just gives you a new source of pieces. Putting pieces together so they agree is still a craft.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Same brick floor, same sphere, two composites.</a:t>
            </a:r>
          </a:p>
          <a:p>
            <a:pPr>
              <a:spcAft>
                <a:spcPts val="800"/>
              </a:spcAft>
            </a:pPr>
            <a:r>
              <a:t>On the left, it's </a:t>
            </a:r>
            <a:r>
              <a:rPr b="1"/>
              <a:t>pasted on.</a:t>
            </a:r>
            <a:r>
              <a:t> You can feel it without being able to say why. On the right, it's </a:t>
            </a:r>
            <a:r>
              <a:rPr b="1"/>
              <a:t>sitting in</a:t>
            </a:r>
            <a:r>
              <a:t> the scene.</a:t>
            </a:r>
          </a:p>
          <a:p>
            <a:pPr>
              <a:spcAft>
                <a:spcPts val="800"/>
              </a:spcAft>
            </a:pPr>
            <a:r>
              <a:t>[Ask the room: what's different? Take answers until they've named most of it.]</a:t>
            </a:r>
          </a:p>
          <a:p>
            <a:pPr>
              <a:spcAft>
                <a:spcPts val="800"/>
              </a:spcAft>
            </a:pPr>
            <a:r>
              <a:t>On the left: lit from the wrong side, the light is cool while the scene is warm, it's perfectly clean while the floor has grain, the edge is razor sharp, and there's no shadow where it touches the ground. On the right, all of those match. That's the whole session, in two pictures.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matches, and it's worth checking them in this order, because each one affects the next.</a:t>
            </a:r>
          </a:p>
          <a:p>
            <a:pPr>
              <a:spcAft>
                <a:spcPts val="800"/>
              </a:spcAft>
            </a:pPr>
            <a:r>
              <a:rPr b="1"/>
              <a:t>Light</a:t>
            </a:r>
            <a:r>
              <a:t>: direction and softness. </a:t>
            </a:r>
            <a:r>
              <a:rPr b="1"/>
              <a:t>Color</a:t>
            </a:r>
            <a:r>
              <a:t>: temperature, saturation, and where the darkest dark and brightest bright sit. </a:t>
            </a:r>
            <a:r>
              <a:rPr b="1"/>
              <a:t>Grain</a:t>
            </a:r>
            <a:r>
              <a:t>: noise and sharpness. </a:t>
            </a:r>
            <a:r>
              <a:rPr b="1"/>
              <a:t>Edges</a:t>
            </a:r>
            <a:r>
              <a:t>: how soft the outline is, whether there's a contact shadow, and whether the background's light wraps around the edge.</a:t>
            </a:r>
          </a:p>
          <a:p>
            <a:pPr>
              <a:spcAft>
                <a:spcPts val="800"/>
              </a:spcAft>
            </a:pPr>
            <a:r>
              <a:t>Let's do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Light first, because if it's wrong, nothing else will save it.</a:t>
            </a:r>
          </a:p>
          <a:p>
            <a:pPr>
              <a:spcAft>
                <a:spcPts val="800"/>
              </a:spcAft>
            </a:pPr>
            <a:r>
              <a:t>Look at the </a:t>
            </a:r>
            <a:r>
              <a:rPr b="1"/>
              <a:t>plate</a:t>
            </a:r>
            <a:r>
              <a:t>, the background photograph, before you look at the element. Where's the light coming from? Hard or soft? How long are the shadows? Write it down, literally, in a note layer: "sun high, camera left, hard."</a:t>
            </a:r>
          </a:p>
          <a:p>
            <a:pPr>
              <a:spcAft>
                <a:spcPts val="800"/>
              </a:spcAft>
            </a:pPr>
            <a:r>
              <a:t>Then check the element. If the light comes from the wrong side, you have three options, from fastest to slowest. </a:t>
            </a:r>
            <a:r>
              <a:rPr b="1"/>
              <a:t>Flip it</a:t>
            </a:r>
            <a:r>
              <a:t> horizontally, if the element doesn't have text or anything else that would give away the flip. </a:t>
            </a:r>
            <a:r>
              <a:rPr b="1"/>
              <a:t>Repaint</a:t>
            </a:r>
            <a:r>
              <a:t> the light and shadow sides on a FIX_ layer. Or </a:t>
            </a:r>
            <a:r>
              <a:rPr b="1"/>
              <a:t>generate it again</a:t>
            </a:r>
            <a:r>
              <a:t> with the plate's light written into the prompt, which is often the right call when the error is large.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Color second. The classic method, and it's been the classic for a long time:</a:t>
            </a:r>
          </a:p>
          <a:p>
            <a:pPr>
              <a:spcAft>
                <a:spcPts val="800"/>
              </a:spcAft>
            </a:pPr>
            <a:r>
              <a:t>Put a </a:t>
            </a:r>
            <a:r>
              <a:rPr b="1"/>
              <a:t>Curves</a:t>
            </a:r>
            <a:r>
              <a:t> adjustment layer above the element and </a:t>
            </a:r>
            <a:r>
              <a:rPr b="1"/>
              <a:t>clip</a:t>
            </a:r>
            <a:r>
              <a:t> it to the element (Alt-click between the layers), so it only affects that one layer. Then, channel by channel, red, green, blue, match the element's darkest dark to the plate's darkest dark, and its brightest bright to the plate's brightest bright. Then adjust the midtones until the overall temperature matches.</a:t>
            </a:r>
          </a:p>
          <a:p>
            <a:pPr>
              <a:spcAft>
                <a:spcPts val="800"/>
              </a:spcAft>
            </a:pPr>
            <a:r>
              <a:t>And check it in gray, the same check as always. If the element is brighter or darker in value than things at the same distance in the plate, it'll pop out no matter how good the color is.</a:t>
            </a:r>
          </a:p>
          <a:p>
            <a:pPr>
              <a:spcAft>
                <a:spcPts val="800"/>
              </a:spcAft>
            </a:pPr>
            <a:r>
              <a:t>There's also Image, Adjustments, Match Color, which can give you a rough first pass.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Third, grain and sharpness, at 100% zoom.</a:t>
            </a:r>
          </a:p>
          <a:p>
            <a:pPr>
              <a:spcAft>
                <a:spcPts val="800"/>
              </a:spcAft>
            </a:pPr>
            <a:r>
              <a:t>Generated elements are usually </a:t>
            </a:r>
            <a:r>
              <a:rPr b="1"/>
              <a:t>too clean</a:t>
            </a:r>
            <a:r>
              <a:t>: smooth gradients, no noise, sharpness that's perfectly even. Real photographs have grain, compression, slight softness, and the sharpness changes with focus.</a:t>
            </a:r>
          </a:p>
          <a:p>
            <a:pPr>
              <a:spcAft>
                <a:spcPts val="800"/>
              </a:spcAft>
            </a:pPr>
            <a:r>
              <a:t>So: clip a layer to the element, fill with 50% gray, set it to Overlay, and add noise to that until it matches the plate. Then, if the plate is slightly soft, blur the element very slightly. Compare at 100% by toggling.</a:t>
            </a:r>
          </a:p>
          <a:p>
            <a:pPr>
              <a:spcAft>
                <a:spcPts val="800"/>
              </a:spcAft>
            </a:pPr>
            <a:r>
              <a:t>This is the step people skip because they're working zoomed out. It's also the step that makes the biggest difference when someone looks closely.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Fourth, edges.</a:t>
            </a:r>
          </a:p>
          <a:p>
            <a:pPr>
              <a:spcAft>
                <a:spcPts val="800"/>
              </a:spcAft>
            </a:pPr>
            <a:r>
              <a:rPr b="1"/>
              <a:t>Softness</a:t>
            </a:r>
            <a:r>
              <a:t>: zoom into the edges of things in the plate at the same distance. Are they razor sharp or a little soft? Match that with a slightly feathered mask on the element. Hair and fur need extra care: Select and Mask, and sometimes painting stray hairs back in by hand.</a:t>
            </a:r>
          </a:p>
          <a:p>
            <a:pPr>
              <a:spcAft>
                <a:spcPts val="800"/>
              </a:spcAft>
            </a:pPr>
            <a:r>
              <a:rPr b="1"/>
              <a:t>Contact shadow</a:t>
            </a:r>
            <a:r>
              <a:t>: wherever the element touches the ground or another surface, there's a small, dark, soft shadow right at the contact point, even in soft light. Without it, things float. Paint it on its own layer, set to Multiply.</a:t>
            </a:r>
          </a:p>
          <a:p>
            <a:pPr>
              <a:spcAft>
                <a:spcPts val="800"/>
              </a:spcAft>
            </a:pPr>
            <a:r>
              <a:rPr b="1"/>
              <a:t>Light wrap</a:t>
            </a:r>
            <a:r>
              <a:t>: when there's a bright background behind something, a little of that light bleeds around its edges. A thin, soft edge of the background's color on the element's outline sells it. Subtle, but it's in every good composite.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more thing if your element sits at a distance.</a:t>
            </a:r>
          </a:p>
          <a:p>
            <a:pPr>
              <a:spcAft>
                <a:spcPts val="800"/>
              </a:spcAft>
            </a:pPr>
            <a:r>
              <a:t>Far things are </a:t>
            </a:r>
            <a:r>
              <a:rPr b="1"/>
              <a:t>lower contrast</a:t>
            </a:r>
            <a:r>
              <a:t> and shift toward the color of the sky, usually lighter and bluer, because of the air in between. Painters call it atmospheric perspective. An element placed far away with full contrast and saturation will jump forward, even if the size is right.</a:t>
            </a:r>
          </a:p>
          <a:p>
            <a:pPr>
              <a:spcAft>
                <a:spcPts val="800"/>
              </a:spcAft>
            </a:pPr>
            <a:r>
              <a:t>And check </a:t>
            </a:r>
            <a:r>
              <a:rPr b="1"/>
              <a:t>scale</a:t>
            </a:r>
            <a:r>
              <a:t> against the horizon, the perspective check from session 4. In a photo from standing height, a standing person's head sits more or less on the horizon wherever they are. Use that to size people and most other things.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more matches that sit underneath the four, and they're the ones that make a composite feel wrong when you can't say why.</a:t>
            </a:r>
          </a:p>
          <a:p>
            <a:pPr>
              <a:spcAft>
                <a:spcPts val="800"/>
              </a:spcAft>
            </a:pPr>
            <a:r>
              <a:rPr b="1"/>
              <a:t>Camera height.</a:t>
            </a:r>
            <a:r>
              <a:t> If the plate was shot from standing height and the element was generated looking down from above, you'll see the top of the element when you should be seeing its side. No amount of color matching fixes that. Check where the horizon would be in the element, and make sure it agrees with the plate's horizon. If it doesn't, regenerate with the camera height in the prompt ("eye level," "shot from low") or pick a different variation.</a:t>
            </a:r>
          </a:p>
          <a:p>
            <a:pPr>
              <a:spcAft>
                <a:spcPts val="800"/>
              </a:spcAft>
            </a:pPr>
            <a:r>
              <a:rPr b="1"/>
              <a:t>Lens and focus.</a:t>
            </a:r>
            <a:r>
              <a:t> A wide-lens element in a long-lens plate looks subtly stretched. And if the plate's background is out of focus, an element placed back there has to be equally out of focus, with a Lens Blur or Gaussian Blur to match. A perfectly sharp thing in a blurry zone jumps straight to the front.</a:t>
            </a:r>
          </a:p>
          <a:p>
            <a:pPr>
              <a:spcAft>
                <a:spcPts val="800"/>
              </a:spcAft>
            </a:pPr>
            <a:r>
              <a:t>[Ask: has anyone seen a movie poster where a face looks pasted on? Usually it's one of these two.]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Eight checks, a photo-friendly slide for your phone. Go down it before you call any composite done, including tonight's option.</a:t>
            </a:r>
          </a:p>
          <a:p>
            <a:pPr>
              <a:spcAft>
                <a:spcPts val="800"/>
              </a:spcAft>
            </a:pPr>
            <a:r>
              <a:t>It's long on purpose. Notice that only the last one asks how it looks overall. Everything above it is a specific thing you can check and either pass or fail, which is much easier to do honestly at one in the morning than "does it look good?"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Recent versions of Photoshop have a feature called Harmonize that tries to do some of this automatically: it adjusts an element's color and lighting to the background, and sometimes adds shadows. [Check whether it's on the lab version and show it in the demo if it is.]</a:t>
            </a:r>
          </a:p>
          <a:p>
            <a:pPr>
              <a:spcAft>
                <a:spcPts val="800"/>
              </a:spcAft>
            </a:pPr>
            <a:r>
              <a:t>It can be quite good, and it's worth trying. Treat it like any generated output: as a </a:t>
            </a:r>
            <a:r>
              <a:rPr b="1"/>
              <a:t>first pass</a:t>
            </a:r>
            <a:r>
              <a:t>, which you then check against the four matches and fix by hand. In my experience these tools are better at color than at light direction, and least reliable on shadows. Check those first.</a:t>
            </a:r>
          </a:p>
          <a:p>
            <a:pPr>
              <a:spcAft>
                <a:spcPts val="800"/>
              </a:spcAft>
            </a:pPr>
            <a:r>
              <a:t>And name the layer so the record shows what it did.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You can make your life a lot easier before compositing, by generating with the plate in mind.</a:t>
            </a:r>
          </a:p>
          <a:p>
            <a:pPr>
              <a:spcAft>
                <a:spcPts val="800"/>
              </a:spcAft>
            </a:pPr>
            <a:r>
              <a:t>If you generate an element separately, write the plate's light into the prompt: "lit from camera left, late afternoon sun, hard shadows." You wrote it down in step one, so use it.</a:t>
            </a:r>
          </a:p>
          <a:p>
            <a:pPr>
              <a:spcAft>
                <a:spcPts val="800"/>
              </a:spcAft>
            </a:pPr>
            <a:r>
              <a:t>Or skip the separate generation and </a:t>
            </a:r>
            <a:r>
              <a:rPr b="1"/>
              <a:t>fill in place</a:t>
            </a:r>
            <a:r>
              <a:t>: select an area inside the plate itself and generate the element there, so the generator can see the surrounding light and color. That usually matches better from the start. It's not always possible (the element might need to come from somewhere specific), but when it is, start there.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whole thing in order, which I'll do live in the demo.</a:t>
            </a:r>
          </a:p>
          <a:p>
            <a:pPr>
              <a:spcAft>
                <a:spcPts val="800"/>
              </a:spcAft>
            </a:pPr>
            <a:r>
              <a:rPr b="1"/>
              <a:t>Place</a:t>
            </a:r>
            <a:r>
              <a:t> and scale it against the horizon. </a:t>
            </a:r>
            <a:r>
              <a:rPr b="1"/>
              <a:t>Light</a:t>
            </a:r>
            <a:r>
              <a:t>: flip or repaint until it agrees. </a:t>
            </a:r>
            <a:r>
              <a:rPr b="1"/>
              <a:t>Color</a:t>
            </a:r>
            <a:r>
              <a:t>: clipped Curves, channel by channel. </a:t>
            </a:r>
            <a:r>
              <a:rPr b="1"/>
              <a:t>Grain</a:t>
            </a:r>
            <a:r>
              <a:t>: noise and softness, at 100%. </a:t>
            </a:r>
            <a:r>
              <a:rPr b="1"/>
              <a:t>Edges</a:t>
            </a:r>
            <a:r>
              <a:t>: soft mask, contact shadow, a touch of light wrap. </a:t>
            </a:r>
            <a:r>
              <a:rPr b="1"/>
              <a:t>Check</a:t>
            </a:r>
            <a:r>
              <a:t> in gray and at 100%, then zoomed all the way out, which is how most people will actually see it.</a:t>
            </a:r>
          </a:p>
          <a:p>
            <a:pPr>
              <a:spcAft>
                <a:spcPts val="800"/>
              </a:spcAft>
            </a:pPr>
            <a:r>
              <a:t>Each step on its own named layer, clipped to the element where it makes sense, so the whole composite can be adjusted later.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This composite has three mismatches. In pairs: name them, using the four matches, and put them in the order you'd fix them. Two minutes.</a:t>
            </a:r>
          </a:p>
          <a:p>
            <a:pPr>
              <a:spcAft>
                <a:spcPts val="800"/>
              </a:spcAft>
            </a:pPr>
            <a:r>
              <a:t>[Take answers. Don't confirm. Ask the pairs who disagree about the order to defend it. The right instinct is light before color before grain before edges, but a pair who argues for something else with a reason is doing the thinking.]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four minutes.] A historical one, and it's my favorite example of compositing done well and disclosed badly.</a:t>
            </a:r>
          </a:p>
          <a:p>
            <a:pPr>
              <a:spcAft>
                <a:spcPts val="800"/>
              </a:spcAft>
            </a:pPr>
            <a:r>
              <a:t>There's a well-known portrait of Abraham Lincoln from the 1860s or so, standing heroically next to a desk. It's Lincoln's head on someone else's body, a portrait of the politician John C. Calhoun, with the head swapped. The light on the head and the body roughly agree, the scale is right, the edges are handled. It fooled people for about a century.</a:t>
            </a:r>
          </a:p>
          <a:p>
            <a:pPr>
              <a:spcAft>
                <a:spcPts val="800"/>
              </a:spcAft>
            </a:pPr>
            <a:r>
              <a:t>[Ask: why did the printmaker do it?] Probably because there wasn't a suitably grand full-length photograph of Lincoln to work from. A practical reason, not a sinister one.</a:t>
            </a:r>
          </a:p>
          <a:p>
            <a:pPr>
              <a:spcAft>
                <a:spcPts val="800"/>
              </a:spcAft>
            </a:pPr>
            <a:r>
              <a:t>So: excellent compositing, and no disclosure. Which is a preview of next week, when we talk about why the second part matters as much as the first.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the plate and two generated elements on Canvas. Composite both. One of them is lit from the wrong side, on purpose. Every match on its own named layer.</a:t>
            </a:r>
          </a:p>
          <a:p>
            <a:pPr>
              <a:spcAft>
                <a:spcPts val="800"/>
              </a:spcAft>
            </a:pPr>
            <a:r>
              <a:rPr b="1"/>
              <a:t>Option B</a:t>
            </a:r>
            <a:r>
              <a:t>: take a photo yourself, with a clear light direction, and composite one generated element into it. Write down the plate's light before you generate, and put it in the prompt.</a:t>
            </a:r>
          </a:p>
          <a:p>
            <a:pPr>
              <a:spcAft>
                <a:spcPts val="800"/>
              </a:spcAft>
            </a:pPr>
            <a:r>
              <a:t>Same rubric. Next class starts week three: ownership, copyright and disclosure, and the final project brief.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Nothing generated should float. Light, color, grain, edges.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Compositing Generated Elements</a:t>
            </a:r>
          </a:p>
        </p:txBody>
      </p:sp>
      <p:sp>
        <p:nvSpPr>
          <p:cNvPr id="3" name="Subtitle 2"/>
          <p:cNvSpPr>
            <a:spLocks noGrp="1"/>
          </p:cNvSpPr>
          <p:nvPr>
            <p:ph type="subTitle" idx="1"/>
          </p:nvPr>
        </p:nvSpPr>
        <p:spPr/>
        <p:txBody>
          <a:bodyPr/>
          <a:lstStyle/>
          <a:p>
            <a:r>
              <a:t>AI Digital Imaging  |  Session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element badly composited into a photo (yours)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The note is data.</a:t>
            </a:r>
          </a:p>
          <a:p>
            <a:pPr/>
            <a:r>
              <a:t>Against the brief.</a:t>
            </a:r>
          </a:p>
          <a:p>
            <a:pPr/>
            <a:r>
              <a:t>One change at a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is old</a:t>
            </a:r>
          </a:p>
        </p:txBody>
      </p:sp>
      <p:sp>
        <p:nvSpPr>
          <p:cNvPr id="3" name="Content Placeholder 2"/>
          <p:cNvSpPr>
            <a:spLocks noGrp="1"/>
          </p:cNvSpPr>
          <p:nvPr>
            <p:ph idx="1"/>
          </p:nvPr>
        </p:nvSpPr>
        <p:spPr>
          <a:xfrm>
            <a:off x="1298448" y="2560320"/>
            <a:ext cx="5349240" cy="3383280"/>
          </a:xfrm>
        </p:spPr>
        <p:txBody>
          <a:bodyPr/>
          <a:lstStyle/>
          <a:p>
            <a:pPr/>
            <a:r>
              <a:t>1857: one print, about thirty negatives.</a:t>
            </a:r>
          </a:p>
          <a:p>
            <a:pPr/>
            <a:r>
              <a:t>Matte paintings on glass.</a:t>
            </a:r>
          </a:p>
          <a:p>
            <a:pPr/>
            <a:r>
              <a:t>Every visual effects shot since.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Oscar Rejlander, The Two Ways of Life (1857), public domain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Pasted on, or sitting in?</a:t>
            </a:r>
          </a:p>
        </p:txBody>
      </p:sp>
      <p:pic>
        <p:nvPicPr>
          <p:cNvPr id="3" name="Picture 2" descr="composite_demo.png"/>
          <p:cNvPicPr>
            <a:picLocks noChangeAspect="1"/>
          </p:cNvPicPr>
          <p:nvPr/>
        </p:nvPicPr>
        <p:blipFill>
          <a:blip r:embed="rId2"/>
          <a:stretch>
            <a:fillRect/>
          </a:stretch>
        </p:blipFill>
        <p:spPr>
          <a:xfrm>
            <a:off x="2519992" y="2377440"/>
            <a:ext cx="715811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background, same sphere. One floats. One belongs.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four matches</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Light</a:t>
            </a:r>
          </a:p>
          <a:p>
            <a:pPr algn="ctr"/>
            <a:r>
              <a:rPr sz="1600">
                <a:solidFill>
                  <a:srgbClr val="2B2B2B"/>
                </a:solidFill>
              </a:rPr>
              <a:t>direction, softness</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Color</a:t>
            </a:r>
          </a:p>
          <a:p>
            <a:pPr algn="ctr"/>
            <a:r>
              <a:rPr sz="1600">
                <a:solidFill>
                  <a:srgbClr val="2B2B2B"/>
                </a:solidFill>
              </a:rPr>
              <a:t>temperature, black and white points</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Grain</a:t>
            </a:r>
          </a:p>
          <a:p>
            <a:pPr algn="ctr"/>
            <a:r>
              <a:rPr sz="1600">
                <a:solidFill>
                  <a:srgbClr val="2B2B2B"/>
                </a:solidFill>
              </a:rPr>
              <a:t>noise and sharpness</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Edges</a:t>
            </a:r>
          </a:p>
          <a:p>
            <a:pPr algn="ctr"/>
            <a:r>
              <a:rPr sz="1600">
                <a:solidFill>
                  <a:srgbClr val="2B2B2B"/>
                </a:solidFill>
              </a:rPr>
              <a:t>softness, contact, wrap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Light</a:t>
            </a:r>
          </a:p>
        </p:txBody>
      </p:sp>
      <p:sp>
        <p:nvSpPr>
          <p:cNvPr id="3" name="Content Placeholder 2"/>
          <p:cNvSpPr>
            <a:spLocks noGrp="1"/>
          </p:cNvSpPr>
          <p:nvPr>
            <p:ph idx="1"/>
          </p:nvPr>
        </p:nvSpPr>
        <p:spPr>
          <a:xfrm>
            <a:off x="1298448" y="2560320"/>
            <a:ext cx="5349240" cy="3383280"/>
          </a:xfrm>
        </p:spPr>
        <p:txBody>
          <a:bodyPr/>
          <a:lstStyle/>
          <a:p>
            <a:pPr/>
            <a:r>
              <a:t>Find the plate's light first.</a:t>
            </a:r>
          </a:p>
          <a:p>
            <a:pPr/>
            <a:r>
              <a:t>Match direction, then softness.</a:t>
            </a:r>
          </a:p>
          <a:p>
            <a:pPr/>
            <a:r>
              <a:t>Wrong side: flip it, repaint it, or redo it.</a:t>
            </a:r>
          </a:p>
        </p:txBody>
      </p:sp>
      <p:pic>
        <p:nvPicPr>
          <p:cNvPr id="4" name="Picture 3" descr="error_light.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Color</a:t>
            </a:r>
          </a:p>
        </p:txBody>
      </p:sp>
      <p:sp>
        <p:nvSpPr>
          <p:cNvPr id="3" name="Content Placeholder 2"/>
          <p:cNvSpPr>
            <a:spLocks noGrp="1"/>
          </p:cNvSpPr>
          <p:nvPr>
            <p:ph idx="1"/>
          </p:nvPr>
        </p:nvSpPr>
        <p:spPr>
          <a:xfrm>
            <a:off x="1298448" y="2560320"/>
            <a:ext cx="5349240" cy="3383280"/>
          </a:xfrm>
        </p:spPr>
        <p:txBody>
          <a:bodyPr/>
          <a:lstStyle/>
          <a:p>
            <a:pPr/>
            <a:r>
              <a:t>Match the darkest dark and brightest bright.</a:t>
            </a:r>
          </a:p>
          <a:p>
            <a:pPr/>
            <a:r>
              <a:t>Then the midtones.</a:t>
            </a:r>
          </a:p>
          <a:p>
            <a:pPr/>
            <a:r>
              <a:t>Clipped Curves, per channel.</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screenshot of a Curves adjustment clipped to an element, red channel showing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Grain and sharpness</a:t>
            </a:r>
          </a:p>
        </p:txBody>
      </p:sp>
      <p:pic>
        <p:nvPicPr>
          <p:cNvPr id="3" name="Picture 2" descr="composite_zoom.png"/>
          <p:cNvPicPr>
            <a:picLocks noChangeAspect="1"/>
          </p:cNvPicPr>
          <p:nvPr/>
        </p:nvPicPr>
        <p:blipFill>
          <a:blip r:embed="rId2"/>
          <a:stretch>
            <a:fillRect/>
          </a:stretch>
        </p:blipFill>
        <p:spPr>
          <a:xfrm>
            <a:off x="3425772" y="2377440"/>
            <a:ext cx="534655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Generated pieces are too clean. Add noise, match the softness.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Edges</a:t>
            </a:r>
          </a:p>
        </p:txBody>
      </p:sp>
      <p:sp>
        <p:nvSpPr>
          <p:cNvPr id="3" name="Content Placeholder 2"/>
          <p:cNvSpPr>
            <a:spLocks noGrp="1"/>
          </p:cNvSpPr>
          <p:nvPr>
            <p:ph idx="1"/>
          </p:nvPr>
        </p:nvSpPr>
        <p:spPr/>
        <p:txBody>
          <a:bodyPr/>
          <a:lstStyle/>
          <a:p>
            <a:pPr/>
            <a:r>
              <a:t>Match the plate's edge softness.</a:t>
            </a:r>
          </a:p>
          <a:p>
            <a:pPr/>
            <a:r>
              <a:t>A contact shadow, where it touches.</a:t>
            </a:r>
          </a:p>
          <a:p>
            <a:pPr/>
            <a:r>
              <a:t>Light "wrap" from behind.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Depth and atmosphere</a:t>
            </a:r>
          </a:p>
        </p:txBody>
      </p:sp>
      <p:sp>
        <p:nvSpPr>
          <p:cNvPr id="3" name="Content Placeholder 2"/>
          <p:cNvSpPr>
            <a:spLocks noGrp="1"/>
          </p:cNvSpPr>
          <p:nvPr>
            <p:ph idx="1"/>
          </p:nvPr>
        </p:nvSpPr>
        <p:spPr/>
        <p:txBody>
          <a:bodyPr/>
          <a:lstStyle/>
          <a:p>
            <a:pPr/>
            <a:r>
              <a:t>Far things are lower contrast.</a:t>
            </a:r>
          </a:p>
          <a:p>
            <a:pPr/>
            <a:r>
              <a:t>Far things shift toward the sky's color.</a:t>
            </a:r>
          </a:p>
          <a:p>
            <a:pPr/>
            <a:r>
              <a:t>Check scale against the horizon.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Camera height and focus</a:t>
            </a:r>
          </a:p>
        </p:txBody>
      </p:sp>
      <p:sp>
        <p:nvSpPr>
          <p:cNvPr id="3" name="Content Placeholder 2"/>
          <p:cNvSpPr>
            <a:spLocks noGrp="1"/>
          </p:cNvSpPr>
          <p:nvPr>
            <p:ph idx="1"/>
          </p:nvPr>
        </p:nvSpPr>
        <p:spPr/>
        <p:txBody>
          <a:bodyPr/>
          <a:lstStyle/>
          <a:p>
            <a:pPr/>
            <a:r>
              <a:t>Same camera height as the plate.</a:t>
            </a:r>
          </a:p>
          <a:p>
            <a:pPr/>
            <a:r>
              <a:t>Same lens, same distortion.</a:t>
            </a:r>
          </a:p>
          <a:p>
            <a:pPr/>
            <a:r>
              <a:t>Same focus: sharp where the plate is sharp.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call it done</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1700">
                <a:solidFill>
                  <a:srgbClr val="2B2B2B"/>
                </a:solidFill>
              </a:rPr>
              <a:t>Light from the same side</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1700">
                <a:solidFill>
                  <a:srgbClr val="2B2B2B"/>
                </a:solidFill>
              </a:rPr>
              <a:t>Blacks and whites match</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1700">
                <a:solidFill>
                  <a:srgbClr val="2B2B2B"/>
                </a:solidFill>
              </a:rPr>
              <a:t>Grain matches at 100%</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4343400" cy="411480"/>
          </a:xfrm>
          <a:prstGeom prst="rect">
            <a:avLst/>
          </a:prstGeom>
          <a:noFill/>
        </p:spPr>
        <p:txBody>
          <a:bodyPr wrap="square">
            <a:spAutoFit/>
          </a:bodyPr>
          <a:lstStyle/>
          <a:p>
            <a:r>
              <a:rPr sz="1700">
                <a:solidFill>
                  <a:srgbClr val="2B2B2B"/>
                </a:solidFill>
              </a:rPr>
              <a:t>Edges as soft as the plate's</a:t>
            </a:r>
          </a:p>
        </p:txBody>
      </p:sp>
      <p:sp>
        <p:nvSpPr>
          <p:cNvPr id="11" name="Rectangle 10"/>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2514600"/>
            <a:ext cx="4343400" cy="411480"/>
          </a:xfrm>
          <a:prstGeom prst="rect">
            <a:avLst/>
          </a:prstGeom>
          <a:noFill/>
        </p:spPr>
        <p:txBody>
          <a:bodyPr wrap="square">
            <a:spAutoFit/>
          </a:bodyPr>
          <a:lstStyle/>
          <a:p>
            <a:r>
              <a:rPr sz="1700">
                <a:solidFill>
                  <a:srgbClr val="2B2B2B"/>
                </a:solidFill>
              </a:rPr>
              <a:t>Contact shadow present</a:t>
            </a:r>
          </a:p>
        </p:txBody>
      </p:sp>
      <p:sp>
        <p:nvSpPr>
          <p:cNvPr id="13" name="Rectangle 12"/>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081528"/>
            <a:ext cx="4343400" cy="411480"/>
          </a:xfrm>
          <a:prstGeom prst="rect">
            <a:avLst/>
          </a:prstGeom>
          <a:noFill/>
        </p:spPr>
        <p:txBody>
          <a:bodyPr wrap="square">
            <a:spAutoFit/>
          </a:bodyPr>
          <a:lstStyle/>
          <a:p>
            <a:r>
              <a:rPr sz="1700">
                <a:solidFill>
                  <a:srgbClr val="2B2B2B"/>
                </a:solidFill>
              </a:rPr>
              <a:t>Camera height agrees</a:t>
            </a:r>
          </a:p>
        </p:txBody>
      </p:sp>
      <p:sp>
        <p:nvSpPr>
          <p:cNvPr id="15" name="Rectangle 14"/>
          <p:cNvSpPr/>
          <p:nvPr/>
        </p:nvSpPr>
        <p:spPr>
          <a:xfrm>
            <a:off x="60990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3648456"/>
            <a:ext cx="4343400" cy="411480"/>
          </a:xfrm>
          <a:prstGeom prst="rect">
            <a:avLst/>
          </a:prstGeom>
          <a:noFill/>
        </p:spPr>
        <p:txBody>
          <a:bodyPr wrap="square">
            <a:spAutoFit/>
          </a:bodyPr>
          <a:lstStyle/>
          <a:p>
            <a:r>
              <a:rPr sz="1700">
                <a:solidFill>
                  <a:srgbClr val="2B2B2B"/>
                </a:solidFill>
              </a:rPr>
              <a:t>Focus matches the distance</a:t>
            </a:r>
          </a:p>
        </p:txBody>
      </p:sp>
      <p:sp>
        <p:nvSpPr>
          <p:cNvPr id="17" name="Rectangle 16"/>
          <p:cNvSpPr/>
          <p:nvPr/>
        </p:nvSpPr>
        <p:spPr>
          <a:xfrm>
            <a:off x="60990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4215383"/>
            <a:ext cx="4343400" cy="411480"/>
          </a:xfrm>
          <a:prstGeom prst="rect">
            <a:avLst/>
          </a:prstGeom>
          <a:noFill/>
        </p:spPr>
        <p:txBody>
          <a:bodyPr wrap="square">
            <a:spAutoFit/>
          </a:bodyPr>
          <a:lstStyle/>
          <a:p>
            <a:r>
              <a:rPr sz="1700">
                <a:solidFill>
                  <a:srgbClr val="2B2B2B"/>
                </a:solidFill>
              </a:rPr>
              <a:t>Checked in gray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Harmonize, and other shortcuts</a:t>
            </a:r>
          </a:p>
        </p:txBody>
      </p:sp>
      <p:sp>
        <p:nvSpPr>
          <p:cNvPr id="3" name="Content Placeholder 2"/>
          <p:cNvSpPr>
            <a:spLocks noGrp="1"/>
          </p:cNvSpPr>
          <p:nvPr>
            <p:ph idx="1"/>
          </p:nvPr>
        </p:nvSpPr>
        <p:spPr/>
        <p:txBody>
          <a:bodyPr/>
          <a:lstStyle/>
          <a:p>
            <a:pPr/>
            <a:r>
              <a:t>Photoshop can try the match for you.</a:t>
            </a:r>
          </a:p>
          <a:p>
            <a:pPr/>
            <a:r>
              <a:t>Treat it as a first pass.</a:t>
            </a:r>
          </a:p>
          <a:p>
            <a:pPr/>
            <a:r>
              <a:t>Then check the four by hand.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 for the plate</a:t>
            </a:r>
          </a:p>
        </p:txBody>
      </p:sp>
      <p:sp>
        <p:nvSpPr>
          <p:cNvPr id="3" name="Content Placeholder 2"/>
          <p:cNvSpPr>
            <a:spLocks noGrp="1"/>
          </p:cNvSpPr>
          <p:nvPr>
            <p:ph idx="1"/>
          </p:nvPr>
        </p:nvSpPr>
        <p:spPr/>
        <p:txBody>
          <a:bodyPr/>
          <a:lstStyle/>
          <a:p>
            <a:pPr/>
            <a:r>
              <a:t>Write the plate's light into the prompt.</a:t>
            </a:r>
          </a:p>
          <a:p>
            <a:pPr/>
            <a:r>
              <a:t>Or fill it in place, inside the plate.</a:t>
            </a:r>
          </a:p>
          <a:p>
            <a:pPr/>
            <a:r>
              <a:t>In place usually matches better.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in order</a:t>
            </a:r>
          </a:p>
        </p:txBody>
      </p:sp>
      <p:sp>
        <p:nvSpPr>
          <p:cNvPr id="3" name="Rounded Rectangle 2"/>
          <p:cNvSpPr/>
          <p:nvPr/>
        </p:nvSpPr>
        <p:spPr>
          <a:xfrm>
            <a:off x="1298448" y="2697480"/>
            <a:ext cx="1356360"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Place</a:t>
            </a:r>
          </a:p>
          <a:p>
            <a:pPr algn="ctr"/>
            <a:r>
              <a:rPr sz="1400">
                <a:solidFill>
                  <a:srgbClr val="2B2B2B"/>
                </a:solidFill>
              </a:rPr>
              <a:t>scale to the horizon</a:t>
            </a:r>
          </a:p>
        </p:txBody>
      </p:sp>
      <p:sp>
        <p:nvSpPr>
          <p:cNvPr id="4" name="Rounded Rectangle 3"/>
          <p:cNvSpPr/>
          <p:nvPr/>
        </p:nvSpPr>
        <p:spPr>
          <a:xfrm>
            <a:off x="2947416" y="2697480"/>
            <a:ext cx="1356360"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Light</a:t>
            </a:r>
          </a:p>
          <a:p>
            <a:pPr algn="ctr"/>
            <a:r>
              <a:rPr sz="1400">
                <a:solidFill>
                  <a:srgbClr val="2B2B2B"/>
                </a:solidFill>
              </a:rPr>
              <a:t>flip or repaint</a:t>
            </a:r>
          </a:p>
        </p:txBody>
      </p:sp>
      <p:sp>
        <p:nvSpPr>
          <p:cNvPr id="5" name="Rounded Rectangle 4"/>
          <p:cNvSpPr/>
          <p:nvPr/>
        </p:nvSpPr>
        <p:spPr>
          <a:xfrm>
            <a:off x="4596384" y="2697480"/>
            <a:ext cx="1356360"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Color</a:t>
            </a:r>
          </a:p>
          <a:p>
            <a:pPr algn="ctr"/>
            <a:r>
              <a:rPr sz="1400">
                <a:solidFill>
                  <a:srgbClr val="2B2B2B"/>
                </a:solidFill>
              </a:rPr>
              <a:t>clipped Curves</a:t>
            </a:r>
          </a:p>
        </p:txBody>
      </p:sp>
      <p:sp>
        <p:nvSpPr>
          <p:cNvPr id="6" name="Rounded Rectangle 5"/>
          <p:cNvSpPr/>
          <p:nvPr/>
        </p:nvSpPr>
        <p:spPr>
          <a:xfrm>
            <a:off x="6245352" y="2697480"/>
            <a:ext cx="1356360"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Grain</a:t>
            </a:r>
          </a:p>
          <a:p>
            <a:pPr algn="ctr"/>
            <a:r>
              <a:rPr sz="1400">
                <a:solidFill>
                  <a:srgbClr val="2B2B2B"/>
                </a:solidFill>
              </a:rPr>
              <a:t>noise, softness</a:t>
            </a:r>
          </a:p>
        </p:txBody>
      </p:sp>
      <p:sp>
        <p:nvSpPr>
          <p:cNvPr id="7" name="Rounded Rectangle 6"/>
          <p:cNvSpPr/>
          <p:nvPr/>
        </p:nvSpPr>
        <p:spPr>
          <a:xfrm>
            <a:off x="7894320" y="2697480"/>
            <a:ext cx="1356360"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Edges</a:t>
            </a:r>
          </a:p>
          <a:p>
            <a:pPr algn="ctr"/>
            <a:r>
              <a:rPr sz="1400">
                <a:solidFill>
                  <a:srgbClr val="2B2B2B"/>
                </a:solidFill>
              </a:rPr>
              <a:t>mask, contact, wrap</a:t>
            </a:r>
          </a:p>
        </p:txBody>
      </p:sp>
      <p:sp>
        <p:nvSpPr>
          <p:cNvPr id="8" name="Rounded Rectangle 7"/>
          <p:cNvSpPr/>
          <p:nvPr/>
        </p:nvSpPr>
        <p:spPr>
          <a:xfrm>
            <a:off x="9543288" y="2697480"/>
            <a:ext cx="1356360"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Check</a:t>
            </a:r>
          </a:p>
          <a:p>
            <a:pPr algn="ctr"/>
            <a:r>
              <a:rPr sz="1400">
                <a:solidFill>
                  <a:srgbClr val="2B2B2B"/>
                </a:solidFill>
              </a:rPr>
              <a:t>in gray, at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name the mismatches</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composite with three deliberate mismatches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famous portrait</a:t>
            </a:r>
          </a:p>
        </p:txBody>
      </p:sp>
      <p:sp>
        <p:nvSpPr>
          <p:cNvPr id="3" name="Content Placeholder 2"/>
          <p:cNvSpPr>
            <a:spLocks noGrp="1"/>
          </p:cNvSpPr>
          <p:nvPr>
            <p:ph idx="1"/>
          </p:nvPr>
        </p:nvSpPr>
        <p:spPr>
          <a:xfrm>
            <a:off x="1298448" y="2560320"/>
            <a:ext cx="5349240" cy="3383280"/>
          </a:xfrm>
        </p:spPr>
        <p:txBody>
          <a:bodyPr/>
          <a:lstStyle/>
          <a:p>
            <a:pPr/>
            <a:r>
              <a:t>A head from one man,</a:t>
            </a:r>
          </a:p>
          <a:p>
            <a:pPr/>
            <a:r>
              <a:t>a body from another,</a:t>
            </a:r>
          </a:p>
          <a:p>
            <a:pPr/>
            <a:r>
              <a:t>1860s or so.</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1860s Lincoln print with Lincoln's head on John C. Calhoun's body (public domain)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Plate</a:t>
            </a:r>
            <a:r>
              <a:rPr sz="1900"/>
              <a:t> – the background photo you composite into</a:t>
            </a:r>
          </a:p>
          <a:p>
            <a:pPr>
              <a:spcAft>
                <a:spcPts val="600"/>
              </a:spcAft>
            </a:pPr>
            <a:r>
              <a:rPr b="1" sz="1900"/>
              <a:t>Clipping mask</a:t>
            </a:r>
            <a:r>
              <a:rPr sz="1900"/>
              <a:t> – an adjustment that affects one layer only</a:t>
            </a:r>
          </a:p>
          <a:p>
            <a:pPr>
              <a:spcAft>
                <a:spcPts val="600"/>
              </a:spcAft>
            </a:pPr>
            <a:r>
              <a:rPr b="1" sz="1900"/>
              <a:t>Contact shadow</a:t>
            </a:r>
            <a:r>
              <a:rPr sz="1900"/>
              <a:t> – the dark shadow where things touch</a:t>
            </a:r>
          </a:p>
        </p:txBody>
      </p:sp>
      <p:sp>
        <p:nvSpPr>
          <p:cNvPr id="4" name="Content Placeholder 3"/>
          <p:cNvSpPr>
            <a:spLocks noGrp="1"/>
          </p:cNvSpPr>
          <p:nvPr>
            <p:ph idx="2" sz="half"/>
          </p:nvPr>
        </p:nvSpPr>
        <p:spPr/>
        <p:txBody>
          <a:bodyPr/>
          <a:lstStyle/>
          <a:p>
            <a:pPr>
              <a:spcAft>
                <a:spcPts val="600"/>
              </a:spcAft>
            </a:pPr>
            <a:r>
              <a:rPr b="1" sz="1900"/>
              <a:t>Light wrap</a:t>
            </a:r>
            <a:r>
              <a:rPr sz="1900"/>
              <a:t> – background light bleeding onto an edge</a:t>
            </a:r>
          </a:p>
          <a:p>
            <a:pPr>
              <a:spcAft>
                <a:spcPts val="600"/>
              </a:spcAft>
            </a:pPr>
            <a:r>
              <a:rPr b="1" sz="1900"/>
              <a:t>Atmospheric perspective</a:t>
            </a:r>
            <a:r>
              <a:rPr sz="1900"/>
              <a:t> – far things fade and turn toward the sky</a:t>
            </a:r>
          </a:p>
          <a:p>
            <a:pPr>
              <a:spcAft>
                <a:spcPts val="600"/>
              </a:spcAft>
            </a:pPr>
            <a:r>
              <a:rPr b="1" sz="1900"/>
              <a:t>Combination print</a:t>
            </a:r>
            <a:r>
              <a:rPr sz="1900"/>
              <a:t> – one photo built from many negatives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Composite two provided elements</a:t>
            </a:r>
          </a:p>
          <a:p>
            <a:pPr/>
            <a:r>
              <a:t>into the provided plate.</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Composite one generated element</a:t>
            </a:r>
          </a:p>
          <a:p>
            <a:pPr/>
            <a:r>
              <a:t>into a photo you took.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Nothing generated should float.</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Light, color, grain, edges. In that order.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