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(6). Why a checklist (4). The six checks, one at a time (18). Beyond the checklist: the brief and the value check (7). How to mark up, and the find-them-all exercise (9). Project 1 introduced (5). Options (1).</a:t>
            </a:r>
          </a:p>
          <a:p>
            <a:pPr>
              <a:spcAft>
                <a:spcPts val="800"/>
              </a:spcAft>
            </a:pPr>
            <a:r>
              <a:rPr b="1"/>
              <a:t>Prep before class.</a:t>
            </a:r>
            <a:r>
              <a:t> One "find them all" image with at least six errors across the checklist (mix them: one anatomy, one light, one perspective, one lettering, one repeated texture, plus general sheen). Four marked-up practice images for Option A, and six outputs for one short brief for Option B (include one that's technically clean but misses the brief, and one with a visible error that fits the brief well). The Project 1 packet: three flawed images, a short written brief for each.</a:t>
            </a:r>
          </a:p>
          <a:p>
            <a:pPr>
              <a:spcAft>
                <a:spcPts val="800"/>
              </a:spcAft>
            </a:pPr>
            <a:r>
              <a:t>Slot images: one of your generated hands with an anatomy problem, and one glossy over-smoothed generated portrait for the "sheen."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Pick one where the obvious-looking problem is not the biggest one. It sets up the order of today's checklist.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[Cold call.] What were the three tells we checked after a fill? [Shadow or reflection left behind, a seam at the edge, a patch that doesn't match the grain.]</a:t>
            </a:r>
          </a:p>
          <a:p>
            <a:pPr>
              <a:spcAft>
                <a:spcPts val="800"/>
              </a:spcAft>
            </a:pPr>
            <a:r>
              <a:t>Those three are a small checklist already. Today we make the full one, and it's the most practical session in the course, because everything after this uses it. Project 1 is built on it, and so is every critique.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 believe this is the most valuable thing you'll learn this month, and I want to say why before we start.</a:t>
            </a:r>
          </a:p>
          <a:p>
            <a:pPr>
              <a:spcAft>
                <a:spcPts val="800"/>
              </a:spcAft>
            </a:pPr>
            <a:r>
              <a:t>Generating an image is now cheap and fast, and getting cheaper. </a:t>
            </a:r>
            <a:r>
              <a:rPr b="1"/>
              <a:t>Seeing what's wrong with it</a:t>
            </a:r>
            <a:r>
              <a:t> is not. A client, a lead, an art director, a hiring manager, they can all generate images. What they need is someone who looks at one and says "the light is coming from two directions and the horizon is tilted on the left," and then fixes it.</a:t>
            </a:r>
          </a:p>
          <a:p>
            <a:pPr>
              <a:spcAft>
                <a:spcPts val="800"/>
              </a:spcAft>
            </a:pPr>
            <a:r>
              <a:t>That's an eye, and an eye gets trained like anything else, by looking carefully, many times, with words for what you're seeing.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Why a checklist rather than just "look carefully"?</a:t>
            </a:r>
          </a:p>
          <a:p>
            <a:pPr>
              <a:spcAft>
                <a:spcPts val="800"/>
              </a:spcAft>
            </a:pPr>
            <a:r>
              <a:t>Because the longer you look at an image, the more your eye forgives it. You stare at a generated picture for five minutes and the sixth finger stops looking strange. It becomes part of the picture. Anyone who has painted for a few hours and then looked at their work the next morning knows this feeling.</a:t>
            </a:r>
          </a:p>
          <a:p>
            <a:pPr>
              <a:spcAft>
                <a:spcPts val="800"/>
              </a:spcAft>
            </a:pPr>
            <a:r>
              <a:t>A list doesn't get used to anything. That's why pilots and surgeons use them, and they're not less skilled for it. They know that a skilled person looking at something familiar is exactly the person who misses the obvious.</a:t>
            </a:r>
          </a:p>
          <a:p>
            <a:pPr>
              <a:spcAft>
                <a:spcPts val="800"/>
              </a:spcAft>
            </a:pPr>
            <a:r>
              <a:t>So: you go down the list, every time, in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 are the six. Take a photo of this slide, it's the checklist for the rest of the course and it's on Canvas too.</a:t>
            </a:r>
          </a:p>
          <a:p>
            <a:pPr>
              <a:spcAft>
                <a:spcPts val="800"/>
              </a:spcAft>
            </a:pPr>
            <a:r>
              <a:t>Anatomy and hands. Perspective. Light direction. Lettering. Repeated texture. And the general "AI sheen," which is the hardest one to define and we'll get to it last.</a:t>
            </a:r>
          </a:p>
          <a:p>
            <a:pPr>
              <a:spcAft>
                <a:spcPts val="800"/>
              </a:spcAft>
            </a:pPr>
            <a:r>
              <a:t>Notice what we said in the first session: the generator is good at surface and bad at rules. Five of these six are </a:t>
            </a:r>
            <a:r>
              <a:rPr b="1"/>
              <a:t>rules</a:t>
            </a:r>
            <a:r>
              <a:t>. The sixth is a surface problem, the surface being too good, which is its own kind of tell.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anatomy. Hands are the famous one, and you should still actually count the fingers, out loud if you have to, because your eye will tell you there are five.</a:t>
            </a:r>
          </a:p>
          <a:p>
            <a:pPr>
              <a:spcAft>
                <a:spcPts val="800"/>
              </a:spcAft>
            </a:pPr>
            <a:r>
              <a:t>Newer models are much better at hands than they were two or three years ago, which means the errors have moved somewhere subtler. Some of the places they hide now include: hands holding objects (where fingers merge into the handle), two people's hands touching, earrings that don't match left to right, pupils that point in slightly different directions, teeth that turn into one long tooth, and limbs that join the body in a place no skeleton would allow.</a:t>
            </a:r>
          </a:p>
          <a:p>
            <a:pPr>
              <a:spcAft>
                <a:spcPts val="800"/>
              </a:spcAft>
            </a:pPr>
            <a:r>
              <a:t>If you're an animation student, this is where your anatomy and figure drawing pays off directly. You know how an arm works. The generator only knows what arms usually look like.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perspective. Find the horizon line first, then check whether the receding lines of buildings, tables, floors and roads all head toward vanishing points on that horizon.</a:t>
            </a:r>
          </a:p>
          <a:p>
            <a:pPr>
              <a:spcAft>
                <a:spcPts val="800"/>
              </a:spcAft>
            </a:pPr>
            <a:r>
              <a:t>In this diagram, the box on the left agrees with the floor. The red box on the right has its own private horizon somewhere up in the sky. Generated images do this constantly, especially in rooms and streets, because each object was "painted" to look right on its own, without any shared rule.</a:t>
            </a:r>
          </a:p>
          <a:p>
            <a:pPr>
              <a:spcAft>
                <a:spcPts val="800"/>
              </a:spcAft>
            </a:pPr>
            <a:r>
              <a:t>Then scale. Are the people in the background the right size for where they're standing? A quick check: in a photo taken from standing height, the heads of standing people on flat ground all sit roughly on the horizon line, whatever their distance. Generators get this wrong all the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light, and if I could only keep one check, it would be this one, because untrained eyes almost never catch it and trained eyes always do.</a:t>
            </a:r>
          </a:p>
          <a:p>
            <a:pPr>
              <a:spcAft>
                <a:spcPts val="800"/>
              </a:spcAft>
            </a:pPr>
            <a:r>
              <a:t>Ask: </a:t>
            </a:r>
            <a:r>
              <a:rPr b="1"/>
              <a:t>where is the light coming from?</a:t>
            </a:r>
            <a:r>
              <a:t> Point at it. Then check that every shadow in the image falls away from that point, and that every highlight faces toward it.</a:t>
            </a:r>
          </a:p>
          <a:p>
            <a:pPr>
              <a:spcAft>
                <a:spcPts val="800"/>
              </a:spcAft>
            </a:pPr>
            <a:r>
              <a:t>Here, two spheres in the same scene, lit from opposite sides. Your eye accepts it at first, because each sphere is lit correctly on its own. That's exactly the generator's mistake: every object locally convincing, the scene as a whole impossible.</a:t>
            </a:r>
          </a:p>
          <a:p>
            <a:pPr>
              <a:spcAft>
                <a:spcPts val="800"/>
              </a:spcAft>
            </a:pPr>
            <a:r>
              <a:t>Painting students, this is the form and light material from your other course: light side, core shadow, cast shadow. The same thinking, used as a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lettering. Text in generated images has historically come out as marks that look like letters from across the room and fall apart up close: backwards letters, letters that don't exist, words that are almost words.</a:t>
            </a:r>
          </a:p>
          <a:p>
            <a:pPr>
              <a:spcAft>
                <a:spcPts val="800"/>
              </a:spcAft>
            </a:pPr>
            <a:r>
              <a:t>Some newer models are quite a lot better at this, and a few are good at short headlines. So check every letter anyway, especially small text in the background: signs, labels, book spines, screens, license plates, T-shirts.</a:t>
            </a:r>
          </a:p>
          <a:p>
            <a:pPr>
              <a:spcAft>
                <a:spcPts val="800"/>
              </a:spcAft>
            </a:pPr>
            <a:r>
              <a:t>The professional fix is usually not to regenerate. It's to remove the fake text and set real type by hand, which is what we'll do in session 13. Real type is sharp, spelled right, and you chose the font.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Five, repeated texture. Look for the same thing appearing twice. Here, the same clump in the grass shows up five times, which is easy to see once it's circled and easy to miss when it isn't.</a:t>
            </a:r>
          </a:p>
          <a:p>
            <a:pPr>
              <a:spcAft>
                <a:spcPts val="800"/>
              </a:spcAft>
            </a:pPr>
            <a:r>
              <a:t>It happens in grass, leaves, gravel, brick, windows on a building, clouds, waves, and in crowds, where the same face or the same jacket appears in several places.</a:t>
            </a:r>
          </a:p>
          <a:p>
            <a:pPr>
              <a:spcAft>
                <a:spcPts val="800"/>
              </a:spcAft>
            </a:pPr>
            <a:r>
              <a:t>This is also, for what it's worth, the oldest Clone Stamp mistake there is. People have been leaving repeating clone patterns in retouched photos since the tool existed. The fix is the same as it always was: break the repetition by hand.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Six, the "sheen." I put it in quotes because it isn't a technical term and I'm not sure there is one.</a:t>
            </a:r>
          </a:p>
          <a:p>
            <a:pPr>
              <a:spcAft>
                <a:spcPts val="800"/>
              </a:spcAft>
            </a:pPr>
            <a:r>
              <a:t>Some of what people mean by it includes: skin like plastic, no pores, no blemishes; everything at the same level of detail; a glossy rim light on everything; very saturated, very "cinematic" orange and teal color; perfect symmetry; and a general feeling of an advertisement for nothing in particular.</a:t>
            </a:r>
          </a:p>
          <a:p>
            <a:pPr>
              <a:spcAft>
                <a:spcPts val="800"/>
              </a:spcAft>
            </a:pPr>
            <a:r>
              <a:t>I'll be honest that this one is closer to taste than to a rule, and that it moves as the tools change. But clients and audiences have learned to spot it, and many react badly to it, so it's worth being able to name it. Usually the fix is to take some of the polish back out: grain, texture, imperfection, less saturation, a real focal 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checklist catches errors. But an image can pass all six checks and still be the wrong image.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where people go wrong in critique, and it's what Option B tonight practices.</a:t>
            </a:r>
          </a:p>
          <a:p>
            <a:pPr>
              <a:spcAft>
                <a:spcPts val="800"/>
              </a:spcAft>
            </a:pPr>
            <a:r>
              <a:t>A technically perfect image of the wrong thing is a failed image. If the brief says "a quiet, rainy evening" and you bring a perfect sunny afternoon, it doesn't matter how good the hands are.</a:t>
            </a:r>
          </a:p>
          <a:p>
            <a:pPr>
              <a:spcAft>
                <a:spcPts val="800"/>
              </a:spcAft>
            </a:pPr>
            <a:r>
              <a:t>And an image with one fixable error that nails the brief is a better starting point than a clean one that misses it. You can fix a hand. You can't easily fix the wrong idea.</a:t>
            </a:r>
          </a:p>
          <a:p>
            <a:pPr>
              <a:spcAft>
                <a:spcPts val="800"/>
              </a:spcAft>
            </a:pPr>
            <a:r>
              <a:t>So: </a:t>
            </a:r>
            <a:r>
              <a:rPr b="1"/>
              <a:t>brief first, errors second.</a:t>
            </a:r>
            <a:r>
              <a:t> And when you rank images, rank them against the brief, not against what you personally like. That's the same rule we'll use in every critique this month.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more check, and it's a painter's check. Put a black and white adjustment layer on top, or just desaturate a copy, and squint.</a:t>
            </a:r>
          </a:p>
          <a:p>
            <a:pPr>
              <a:spcAft>
                <a:spcPts val="800"/>
              </a:spcAft>
            </a:pPr>
            <a:r>
              <a:t>Does the image have a structure in gray: a clear light area, a clear dark area, something your eye goes to first? Or is everything a medium gray fighting with every other medium gray?</a:t>
            </a:r>
          </a:p>
          <a:p>
            <a:pPr>
              <a:spcAft>
                <a:spcPts val="800"/>
              </a:spcAft>
            </a:pPr>
            <a:r>
              <a:t>Generated images very often fail this. They're full of detail and full of color, and when you take the color away, there's nothing underneath, just mush. That's the "detail everywhere, focus nowhere" problem, and no amount of extra prompting fixes it. Paint fixes it, by darkening the parts that don't matter and keeping the light where the eye should 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how to put all this on the file, because looking isn't enough. You have to show what you saw.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steps.</a:t>
            </a:r>
          </a:p>
          <a:p>
            <a:pPr>
              <a:spcAft>
                <a:spcPts val="800"/>
              </a:spcAft>
            </a:pPr>
            <a:r>
              <a:rPr b="1"/>
              <a:t>Duplicate</a:t>
            </a:r>
            <a:r>
              <a:t> the original image layer and lock the original, so it's never touched. Make a </a:t>
            </a:r>
            <a:r>
              <a:rPr b="1"/>
              <a:t>new layer</a:t>
            </a:r>
            <a:r>
              <a:t> above it called CALLOUT. On that layer, </a:t>
            </a:r>
            <a:r>
              <a:rPr b="1"/>
              <a:t>circle and number</a:t>
            </a:r>
            <a:r>
              <a:t> each error in a bright color. Then, in a text layer or in your submission, </a:t>
            </a:r>
            <a:r>
              <a:rPr b="1"/>
              <a:t>list</a:t>
            </a:r>
            <a:r>
              <a:t> them: the number, which of the six checks it fails, and what you'd do to fix it.</a:t>
            </a:r>
          </a:p>
          <a:p>
            <a:pPr>
              <a:spcAft>
                <a:spcPts val="800"/>
              </a:spcAft>
            </a:pPr>
            <a:r>
              <a:t>"3. Light: shadow under the cup falls left, sun is on the left. Fix: repaint shadow to the right." That's one line, and it's worth more than a page of "the image has some issues."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whole sequence on a simple example. As generated, the saucer's rim and the spoon melt into the table. The callout layer circles it and numbers it. Then the fix is on its own FIX_ layer, so you can switch it off and see the before and after.</a:t>
            </a:r>
          </a:p>
          <a:p>
            <a:pPr>
              <a:spcAft>
                <a:spcPts val="800"/>
              </a:spcAft>
            </a:pPr>
            <a:r>
              <a:t>That's exactly what Project 1 asks for, three times. And it's exactly what you'll practice tonight.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six minutes.] Here's an image with several errors in it. In pairs, go down the checklist and find as many as you can. Write them down as numbered callouts, the way we just described: number, which check, where. Four minutes.</a:t>
            </a:r>
          </a:p>
          <a:p>
            <a:pPr>
              <a:spcAft>
                <a:spcPts val="800"/>
              </a:spcAft>
            </a:pPr>
            <a:r>
              <a:t>[Then go around the room, one error per pair, until nobody has anything new. Keep a count on the board.]</a:t>
            </a:r>
          </a:p>
          <a:p>
            <a:pPr>
              <a:spcAft>
                <a:spcPts val="800"/>
              </a:spcAft>
            </a:pPr>
            <a:r>
              <a:t>I'm not going to put an answer key up. You'll notice the room found the hands and the lettering first, because they're loud, and found the light and the perspective late, if at all. That's normal for week one, and it's why we do Spot it every single class.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Project 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Project 1, the Fix-It Set, due at the start of session 7.</a:t>
            </a:r>
          </a:p>
          <a:p>
            <a:pPr>
              <a:spcAft>
                <a:spcPts val="800"/>
              </a:spcAft>
            </a:pPr>
            <a:r>
              <a:t>I'm giving you three generated images, and each one comes with a short written brief, a few sentences describing what the image is supposed to be. Each image has problems, some that the checklist catches and some that are about the brief.</a:t>
            </a:r>
          </a:p>
          <a:p>
            <a:pPr>
              <a:spcAft>
                <a:spcPts val="800"/>
              </a:spcAft>
            </a:pPr>
            <a:r>
              <a:t>For each image: a CALLOUT layer with every significant error numbered. Then fix them by hand, which is what session 5 is all about, with every fix on its own named FIX_ layer, so the before and after can be compared.</a:t>
            </a:r>
          </a:p>
          <a:p>
            <a:pPr>
              <a:spcAft>
                <a:spcPts val="800"/>
              </a:spcAft>
            </a:pPr>
            <a:r>
              <a:t>You can use small generative fills inside your own fixes if you want, as long as they're named GEN_ and the result is yours to defend. But the fixes are hand work, and that's what's being graded.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rubric, so there are no surprises. It's on Canvas.</a:t>
            </a:r>
          </a:p>
          <a:p>
            <a:pPr>
              <a:spcAft>
                <a:spcPts val="800"/>
              </a:spcAft>
            </a:pPr>
            <a:r>
              <a:rPr b="1"/>
              <a:t>Errors found</a:t>
            </a:r>
            <a:r>
              <a:t>, 25 points: and to get the top level, you have to catch light and perspective, not only anatomy. </a:t>
            </a:r>
            <a:r>
              <a:rPr b="1"/>
              <a:t>Hand corrections</a:t>
            </a:r>
            <a:r>
              <a:t>, 30: corrections that sit naturally in the image without creating new errors. </a:t>
            </a:r>
            <a:r>
              <a:rPr b="1"/>
              <a:t>Meets the brief</a:t>
            </a:r>
            <a:r>
              <a:t>, 25: each fixed image does what its brief asks. </a:t>
            </a:r>
            <a:r>
              <a:rPr b="1"/>
              <a:t>Process record</a:t>
            </a:r>
            <a:r>
              <a:t>, 20: every correction on its own named layer, before and after easy to compare.</a:t>
            </a:r>
          </a:p>
          <a:p>
            <a:pPr>
              <a:spcAft>
                <a:spcPts val="800"/>
              </a:spcAft>
            </a:pPr>
            <a:r>
              <a:t>Notice that more than half the points are about seeing and deciding. The fixes matter, but a beautiful fix of the wrong problem doesn't get you far.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and the room usually enjoys this one.] In early 2024, an event in Glasgow sold tickets to a family "chocolate experience" using generated posters: candy landscapes, giant lollipops, glowing rainbow arches. The posters had lettering like "a pasadise of sweet teats" and "cartchy tuns." Families arrived to find a nearly empty warehouse with a few props, and the police were eventually called.</a:t>
            </a:r>
          </a:p>
          <a:p>
            <a:pPr>
              <a:spcAft>
                <a:spcPts val="800"/>
              </a:spcAft>
            </a:pPr>
            <a:r>
              <a:t>[Show the posters. Ask: run the checklist. What do you find?] Lettering, obviously. Repeated textures. The sheen. And then the big one, which isn't on the checklist at all: the image promised something nobody could deliver.</a:t>
            </a:r>
          </a:p>
          <a:p>
            <a:pPr>
              <a:spcAft>
                <a:spcPts val="800"/>
              </a:spcAft>
            </a:pPr>
            <a:r>
              <a:t>That's the brief failure in its purest form. The posters weren't checked against what was actually going to happen. A generated image can be a lie even when nobody meant it to be, simply because nobody looked.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Another one you've probably seen. In 2023 or so, a generated image of the Pope in a huge white designer puffer jacket went around the world, and a lot of people, including people who work with images, believed it for a while.</a:t>
            </a:r>
          </a:p>
          <a:p>
            <a:pPr>
              <a:spcAft>
                <a:spcPts val="800"/>
              </a:spcAft>
            </a:pPr>
            <a:r>
              <a:t>[Show it. Thirty seconds. Ask: what gives it away?] The hand holding the cup doesn't quite close around it. The glasses melt into the cheek. The crucifix chain does something no chain does. The light on the face is a bit too perfect.</a:t>
            </a:r>
          </a:p>
          <a:p>
            <a:pPr>
              <a:spcAft>
                <a:spcPts val="800"/>
              </a:spcAft>
            </a:pPr>
            <a:r>
              <a:t>All checklist items. Nobody needed special software to catch it, just somebody who looked at the hands and the light for ten seconds instead of one. The person who made it said he hadn't meant to fool anyone. That's a disclosure question, and we'll come back to it in week three.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a:t>
            </a:r>
          </a:p>
          <a:p>
            <a:pPr>
              <a:spcAft>
                <a:spcPts val="800"/>
              </a:spcAft>
            </a:pPr>
            <a:r>
              <a:rPr b="1"/>
              <a:t>Option A</a:t>
            </a:r>
            <a:r>
              <a:t>: four images on Canvas. Mark up every error on a CALLOUT layer, numbered, with the one-line list.</a:t>
            </a:r>
          </a:p>
          <a:p>
            <a:pPr>
              <a:spcAft>
                <a:spcPts val="800"/>
              </a:spcAft>
            </a:pPr>
            <a:r>
              <a:rPr b="1"/>
              <a:t>Option B</a:t>
            </a:r>
            <a:r>
              <a:t>: six outputs, all made for one short brief, also on Canvas. Rank them first to sixth against the brief, and write a short justification for your top pick and your bottom pick. Watch out: the cleanest image is not necessarily the best fit.</a:t>
            </a:r>
          </a:p>
          <a:p>
            <a:pPr>
              <a:spcAft>
                <a:spcPts val="800"/>
              </a:spcAft>
            </a:pPr>
            <a:r>
              <a:t>Same rubric. About an hour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Your eye forgives. The checklist doesn't. [Demo: mark up one image live, out loud, going down the 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Judging the Output</a:t>
            </a:r>
          </a:p>
        </p:txBody>
      </p:sp>
      <p:sp>
        <p:nvSpPr>
          <p:cNvPr id="3" name="Subtitle 2"/>
          <p:cNvSpPr>
            <a:spLocks noGrp="1"/>
          </p:cNvSpPr>
          <p:nvPr>
            <p:ph type="subTitle" idx="1"/>
          </p:nvPr>
        </p:nvSpPr>
        <p:spPr/>
        <p:txBody>
          <a:bodyPr/>
          <a:lstStyle/>
          <a:p>
            <a:r>
              <a:t>AI Digital Imaging  |  Session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whose main error is light direction, not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The selection is the instruction.</a:t>
            </a:r>
          </a:p>
          <a:p>
            <a:pPr/>
            <a:r>
              <a:t>Remove, replace, extend.</a:t>
            </a:r>
          </a:p>
          <a:p>
            <a:pPr/>
            <a:r>
              <a:t>GEN_, FIX_, REF_, CALLOUT.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Looking is a skill.</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And it's the one that gets paid.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 checklist</a:t>
            </a:r>
          </a:p>
        </p:txBody>
      </p:sp>
      <p:sp>
        <p:nvSpPr>
          <p:cNvPr id="3" name="Content Placeholder 2"/>
          <p:cNvSpPr>
            <a:spLocks noGrp="1"/>
          </p:cNvSpPr>
          <p:nvPr>
            <p:ph idx="1"/>
          </p:nvPr>
        </p:nvSpPr>
        <p:spPr/>
        <p:txBody>
          <a:bodyPr/>
          <a:lstStyle/>
          <a:p>
            <a:pPr/>
            <a:r>
              <a:t>Your eye gets used to the mistake.</a:t>
            </a:r>
          </a:p>
          <a:p>
            <a:pPr/>
            <a:r>
              <a:t>A list doesn't.</a:t>
            </a:r>
          </a:p>
          <a:p>
            <a:pPr/>
            <a:r>
              <a:t>Pilots use them. So do surgeons.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six checks</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2100">
                <a:solidFill>
                  <a:srgbClr val="2B2B2B"/>
                </a:solidFill>
              </a:rPr>
              <a:t>1. Anatomy and hands</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2100">
                <a:solidFill>
                  <a:srgbClr val="2B2B2B"/>
                </a:solidFill>
              </a:rPr>
              <a:t>2. Perspective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2100">
                <a:solidFill>
                  <a:srgbClr val="2B2B2B"/>
                </a:solidFill>
              </a:rPr>
              <a:t>3. Light direction</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2100">
                <a:solidFill>
                  <a:srgbClr val="2B2B2B"/>
                </a:solidFill>
              </a:rPr>
              <a:t>4. Lettering</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2100">
                <a:solidFill>
                  <a:srgbClr val="2B2B2B"/>
                </a:solidFill>
              </a:rPr>
              <a:t>5. Repeated texture</a:t>
            </a:r>
          </a:p>
        </p:txBody>
      </p:sp>
      <p:sp>
        <p:nvSpPr>
          <p:cNvPr id="13" name="Rectangle 12"/>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648456"/>
            <a:ext cx="4343400" cy="411480"/>
          </a:xfrm>
          <a:prstGeom prst="rect">
            <a:avLst/>
          </a:prstGeom>
          <a:noFill/>
        </p:spPr>
        <p:txBody>
          <a:bodyPr wrap="square">
            <a:spAutoFit/>
          </a:bodyPr>
          <a:lstStyle/>
          <a:p>
            <a:r>
              <a:rPr sz="2100">
                <a:solidFill>
                  <a:srgbClr val="2B2B2B"/>
                </a:solidFill>
              </a:rPr>
              <a:t>6. The "sheen"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Anatomy and hands</a:t>
            </a:r>
          </a:p>
        </p:txBody>
      </p:sp>
      <p:sp>
        <p:nvSpPr>
          <p:cNvPr id="3" name="Content Placeholder 2"/>
          <p:cNvSpPr>
            <a:spLocks noGrp="1"/>
          </p:cNvSpPr>
          <p:nvPr>
            <p:ph idx="1"/>
          </p:nvPr>
        </p:nvSpPr>
        <p:spPr>
          <a:xfrm>
            <a:off x="1298448" y="2560320"/>
            <a:ext cx="5349240" cy="3383280"/>
          </a:xfrm>
        </p:spPr>
        <p:txBody>
          <a:bodyPr/>
          <a:lstStyle/>
          <a:p>
            <a:pPr/>
            <a:r>
              <a:t>Count the fingers. Actually count.</a:t>
            </a:r>
          </a:p>
          <a:p>
            <a:pPr/>
            <a:r>
              <a:t>Joints bend one way.</a:t>
            </a:r>
          </a:p>
          <a:p>
            <a:pPr/>
            <a:r>
              <a:t>Ears, eyes, teeth: do they match?</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of your generated hands with an anatomy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Perspective</a:t>
            </a:r>
          </a:p>
        </p:txBody>
      </p:sp>
      <p:sp>
        <p:nvSpPr>
          <p:cNvPr id="3" name="Content Placeholder 2"/>
          <p:cNvSpPr>
            <a:spLocks noGrp="1"/>
          </p:cNvSpPr>
          <p:nvPr>
            <p:ph idx="1"/>
          </p:nvPr>
        </p:nvSpPr>
        <p:spPr>
          <a:xfrm>
            <a:off x="1298448" y="2560320"/>
            <a:ext cx="5349240" cy="3383280"/>
          </a:xfrm>
        </p:spPr>
        <p:txBody>
          <a:bodyPr/>
          <a:lstStyle/>
          <a:p>
            <a:pPr/>
            <a:r>
              <a:t>Find the horizon.</a:t>
            </a:r>
          </a:p>
          <a:p>
            <a:pPr/>
            <a:r>
              <a:t>Do all the lines agree?</a:t>
            </a:r>
          </a:p>
          <a:p>
            <a:pPr/>
            <a:r>
              <a:t>Is everything the right size?</a:t>
            </a:r>
          </a:p>
        </p:txBody>
      </p:sp>
      <p:pic>
        <p:nvPicPr>
          <p:cNvPr id="4" name="Picture 3" descr="error_perspective.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Light direction</a:t>
            </a:r>
          </a:p>
        </p:txBody>
      </p:sp>
      <p:sp>
        <p:nvSpPr>
          <p:cNvPr id="3" name="Content Placeholder 2"/>
          <p:cNvSpPr>
            <a:spLocks noGrp="1"/>
          </p:cNvSpPr>
          <p:nvPr>
            <p:ph idx="1"/>
          </p:nvPr>
        </p:nvSpPr>
        <p:spPr>
          <a:xfrm>
            <a:off x="1298448" y="2560320"/>
            <a:ext cx="5349240" cy="3383280"/>
          </a:xfrm>
        </p:spPr>
        <p:txBody>
          <a:bodyPr/>
          <a:lstStyle/>
          <a:p>
            <a:pPr/>
            <a:r>
              <a:t>Where is the sun?</a:t>
            </a:r>
          </a:p>
          <a:p>
            <a:pPr/>
            <a:r>
              <a:t>Every shadow has to agree.</a:t>
            </a:r>
          </a:p>
          <a:p>
            <a:pPr/>
            <a:r>
              <a:t>Highlights and reflections too.</a:t>
            </a:r>
          </a:p>
        </p:txBody>
      </p:sp>
      <p:pic>
        <p:nvPicPr>
          <p:cNvPr id="4" name="Picture 3" descr="error_light.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Lettering</a:t>
            </a:r>
          </a:p>
        </p:txBody>
      </p:sp>
      <p:sp>
        <p:nvSpPr>
          <p:cNvPr id="3" name="Content Placeholder 2"/>
          <p:cNvSpPr>
            <a:spLocks noGrp="1"/>
          </p:cNvSpPr>
          <p:nvPr>
            <p:ph idx="1"/>
          </p:nvPr>
        </p:nvSpPr>
        <p:spPr>
          <a:xfrm>
            <a:off x="1298448" y="2560320"/>
            <a:ext cx="5349240" cy="3383280"/>
          </a:xfrm>
        </p:spPr>
        <p:txBody>
          <a:bodyPr/>
          <a:lstStyle/>
          <a:p>
            <a:pPr/>
            <a:r>
              <a:t>Letter-shaped, not letters.</a:t>
            </a:r>
          </a:p>
          <a:p>
            <a:pPr/>
            <a:r>
              <a:t>Signs, labels, book spines.</a:t>
            </a:r>
          </a:p>
          <a:p>
            <a:pPr/>
            <a:r>
              <a:t>Usually: replace by hand.</a:t>
            </a:r>
          </a:p>
        </p:txBody>
      </p:sp>
      <p:pic>
        <p:nvPicPr>
          <p:cNvPr id="4" name="Picture 3" descr="error_lettering.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Repeated texture</a:t>
            </a:r>
          </a:p>
        </p:txBody>
      </p:sp>
      <p:sp>
        <p:nvSpPr>
          <p:cNvPr id="3" name="Content Placeholder 2"/>
          <p:cNvSpPr>
            <a:spLocks noGrp="1"/>
          </p:cNvSpPr>
          <p:nvPr>
            <p:ph idx="1"/>
          </p:nvPr>
        </p:nvSpPr>
        <p:spPr>
          <a:xfrm>
            <a:off x="1298448" y="2560320"/>
            <a:ext cx="5349240" cy="3383280"/>
          </a:xfrm>
        </p:spPr>
        <p:txBody>
          <a:bodyPr/>
          <a:lstStyle/>
          <a:p>
            <a:pPr/>
            <a:r>
              <a:t>The same clump twice.</a:t>
            </a:r>
          </a:p>
          <a:p>
            <a:pPr/>
            <a:r>
              <a:t>Crowds of twins.</a:t>
            </a:r>
          </a:p>
          <a:p>
            <a:pPr/>
            <a:r>
              <a:t>Bricks, leaves, windows, clouds.</a:t>
            </a:r>
          </a:p>
        </p:txBody>
      </p:sp>
      <p:pic>
        <p:nvPicPr>
          <p:cNvPr id="4" name="Picture 3" descr="error_repeat.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The "sheen"</a:t>
            </a:r>
          </a:p>
        </p:txBody>
      </p:sp>
      <p:sp>
        <p:nvSpPr>
          <p:cNvPr id="3" name="Content Placeholder 2"/>
          <p:cNvSpPr>
            <a:spLocks noGrp="1"/>
          </p:cNvSpPr>
          <p:nvPr>
            <p:ph idx="1"/>
          </p:nvPr>
        </p:nvSpPr>
        <p:spPr>
          <a:xfrm>
            <a:off x="1298448" y="2560320"/>
            <a:ext cx="5349240" cy="3383280"/>
          </a:xfrm>
        </p:spPr>
        <p:txBody>
          <a:bodyPr/>
          <a:lstStyle/>
          <a:p>
            <a:pPr/>
            <a:r>
              <a:t>Too smooth, too glossy.</a:t>
            </a:r>
          </a:p>
          <a:p>
            <a:pPr/>
            <a:r>
              <a:t>Everything in focus, everything lit.</a:t>
            </a:r>
          </a:p>
          <a:p>
            <a:pPr/>
            <a:r>
              <a:t>Perfect, and about nothing.</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glossy, over-smoothed generated portrait (yours)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the checklist</a:t>
            </a:r>
          </a:p>
        </p:txBody>
      </p:sp>
      <p:sp>
        <p:nvSpPr>
          <p:cNvPr id="3" name="Text Placeholder 2"/>
          <p:cNvSpPr>
            <a:spLocks noGrp="1"/>
          </p:cNvSpPr>
          <p:nvPr>
            <p:ph type="body" idx="1"/>
          </p:nvPr>
        </p:nvSpPr>
        <p:spPr/>
        <p:txBody>
          <a:bodyPr/>
          <a:lstStyle/>
          <a:p>
            <a:r>
              <a:t>Does it do the job?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clean image can still fail</a:t>
            </a:r>
          </a:p>
        </p:txBody>
      </p:sp>
      <p:sp>
        <p:nvSpPr>
          <p:cNvPr id="3" name="Content Placeholder 2"/>
          <p:cNvSpPr>
            <a:spLocks noGrp="1"/>
          </p:cNvSpPr>
          <p:nvPr>
            <p:ph idx="1"/>
          </p:nvPr>
        </p:nvSpPr>
        <p:spPr/>
        <p:txBody>
          <a:bodyPr/>
          <a:lstStyle/>
          <a:p>
            <a:pPr/>
            <a:r>
              <a:t>Check the brief first.</a:t>
            </a:r>
          </a:p>
          <a:p>
            <a:pPr/>
            <a:r>
              <a:t>Then the errors.</a:t>
            </a:r>
          </a:p>
          <a:p>
            <a:pPr/>
            <a:r>
              <a:t>Rank against the brief, not your taste.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it in gray</a:t>
            </a:r>
          </a:p>
        </p:txBody>
      </p:sp>
      <p:pic>
        <p:nvPicPr>
          <p:cNvPr id="3" name="Picture 2" descr="value_check.png"/>
          <p:cNvPicPr>
            <a:picLocks noChangeAspect="1"/>
          </p:cNvPicPr>
          <p:nvPr/>
        </p:nvPicPr>
        <p:blipFill>
          <a:blip r:embed="rId2"/>
          <a:stretch>
            <a:fillRect/>
          </a:stretch>
        </p:blipFill>
        <p:spPr>
          <a:xfrm>
            <a:off x="1298448" y="2626876"/>
            <a:ext cx="9601200" cy="2747246"/>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Desaturate it. Squint. Does anything read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 mark it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callout layer</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Duplicate</a:t>
            </a:r>
          </a:p>
          <a:p>
            <a:pPr algn="ctr"/>
            <a:r>
              <a:rPr sz="1600">
                <a:solidFill>
                  <a:srgbClr val="2B2B2B"/>
                </a:solidFill>
              </a:rPr>
              <a:t>keep the original</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New layer</a:t>
            </a:r>
          </a:p>
          <a:p>
            <a:pPr algn="ctr"/>
            <a:r>
              <a:rPr sz="1600">
                <a:solidFill>
                  <a:srgbClr val="2B2B2B"/>
                </a:solidFill>
              </a:rPr>
              <a:t>named CALLOUT</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Circle and number</a:t>
            </a:r>
          </a:p>
          <a:p>
            <a:pPr algn="ctr"/>
            <a:r>
              <a:rPr sz="1600">
                <a:solidFill>
                  <a:srgbClr val="2B2B2B"/>
                </a:solidFill>
              </a:rPr>
              <a:t>each error</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List</a:t>
            </a:r>
          </a:p>
          <a:p>
            <a:pPr algn="ctr"/>
            <a:r>
              <a:rPr sz="1600">
                <a:solidFill>
                  <a:srgbClr val="2B2B2B"/>
                </a:solidFill>
              </a:rPr>
              <a:t>number, check, fix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that looks like</a:t>
            </a:r>
          </a:p>
        </p:txBody>
      </p:sp>
      <p:pic>
        <p:nvPicPr>
          <p:cNvPr id="3" name="Picture 2" descr="heal_demo.png"/>
          <p:cNvPicPr>
            <a:picLocks noChangeAspect="1"/>
          </p:cNvPicPr>
          <p:nvPr/>
        </p:nvPicPr>
        <p:blipFill>
          <a:blip r:embed="rId2"/>
          <a:stretch>
            <a:fillRect/>
          </a:stretch>
        </p:blipFill>
        <p:spPr>
          <a:xfrm>
            <a:off x="1298448" y="2645973"/>
            <a:ext cx="9601200" cy="2709052"/>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Generated, marked up, then fixed on its own layer.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Find them all</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'find them all' image, six or more errors, unmarked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1: The Fix-It Set</a:t>
            </a:r>
          </a:p>
        </p:txBody>
      </p:sp>
      <p:sp>
        <p:nvSpPr>
          <p:cNvPr id="3" name="Text Placeholder 2"/>
          <p:cNvSpPr>
            <a:spLocks noGrp="1"/>
          </p:cNvSpPr>
          <p:nvPr>
            <p:ph type="body" idx="1"/>
          </p:nvPr>
        </p:nvSpPr>
        <p:spPr/>
        <p:txBody>
          <a:bodyPr/>
          <a:lstStyle/>
          <a:p>
            <a:r>
              <a:t>Due session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1: The Fix-It Set</a:t>
            </a:r>
          </a:p>
        </p:txBody>
      </p:sp>
      <p:sp>
        <p:nvSpPr>
          <p:cNvPr id="3" name="Content Placeholder 2"/>
          <p:cNvSpPr>
            <a:spLocks noGrp="1"/>
          </p:cNvSpPr>
          <p:nvPr>
            <p:ph idx="1"/>
          </p:nvPr>
        </p:nvSpPr>
        <p:spPr/>
        <p:txBody>
          <a:bodyPr/>
          <a:lstStyle/>
          <a:p>
            <a:pPr/>
            <a:r>
              <a:t>Three flawed images, from me.</a:t>
            </a:r>
          </a:p>
          <a:p>
            <a:pPr/>
            <a:r>
              <a:t>A short written brief for each.</a:t>
            </a:r>
          </a:p>
          <a:p>
            <a:pPr/>
            <a:r>
              <a:t>Find, call out, fix by hand.</a:t>
            </a:r>
          </a:p>
          <a:p>
            <a:pPr/>
            <a:r>
              <a:t>Every fix on a named layer.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it's graded</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Errors found</a:t>
            </a:r>
          </a:p>
          <a:p>
            <a:pPr algn="ctr"/>
            <a:r>
              <a:rPr sz="1400">
                <a:solidFill>
                  <a:srgbClr val="2B2B2B"/>
                </a:solidFill>
              </a:rPr>
              <a:t>25</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Hand corrections</a:t>
            </a:r>
          </a:p>
          <a:p>
            <a:pPr algn="ctr"/>
            <a:r>
              <a:rPr sz="1400">
                <a:solidFill>
                  <a:srgbClr val="2B2B2B"/>
                </a:solidFill>
              </a:rPr>
              <a:t>30</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Meets the brief</a:t>
            </a:r>
          </a:p>
          <a:p>
            <a:pPr algn="ctr"/>
            <a:r>
              <a:rPr sz="1400">
                <a:solidFill>
                  <a:srgbClr val="2B2B2B"/>
                </a:solidFill>
              </a:rPr>
              <a:t>25</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Process record</a:t>
            </a:r>
          </a:p>
          <a:p>
            <a:pPr algn="ctr"/>
            <a:r>
              <a:rPr sz="1400">
                <a:solidFill>
                  <a:srgbClr val="2B2B2B"/>
                </a:solidFill>
              </a:rPr>
              <a:t>20</a:t>
            </a:r>
          </a:p>
        </p:txBody>
      </p:sp>
      <p:sp>
        <p:nvSpPr>
          <p:cNvPr id="7" name="TextBox 6"/>
          <p:cNvSpPr txBox="1"/>
          <p:nvPr/>
        </p:nvSpPr>
        <p:spPr>
          <a:xfrm>
            <a:off x="1298448" y="4937760"/>
            <a:ext cx="9601200" cy="411480"/>
          </a:xfrm>
          <a:prstGeom prst="rect">
            <a:avLst/>
          </a:prstGeom>
          <a:noFill/>
        </p:spPr>
        <p:txBody>
          <a:bodyPr wrap="square">
            <a:spAutoFit/>
          </a:bodyPr>
          <a:lstStyle/>
          <a:p>
            <a:pPr algn="ctr"/>
            <a:r>
              <a:rPr sz="1500">
                <a:solidFill>
                  <a:srgbClr val="2B2B2B"/>
                </a:solidFill>
              </a:rPr>
              <a:t>100 points. Rubric on Canvas.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the chocolate factory</a:t>
            </a:r>
          </a:p>
        </p:txBody>
      </p:sp>
      <p:sp>
        <p:nvSpPr>
          <p:cNvPr id="3" name="Content Placeholder 2"/>
          <p:cNvSpPr>
            <a:spLocks noGrp="1"/>
          </p:cNvSpPr>
          <p:nvPr>
            <p:ph idx="1"/>
          </p:nvPr>
        </p:nvSpPr>
        <p:spPr>
          <a:xfrm>
            <a:off x="1298448" y="2560320"/>
            <a:ext cx="5349240" cy="3383280"/>
          </a:xfrm>
        </p:spPr>
        <p:txBody>
          <a:bodyPr/>
          <a:lstStyle/>
          <a:p>
            <a:pPr/>
            <a:r>
              <a:t>Generated posters, 2024.</a:t>
            </a:r>
          </a:p>
          <a:p>
            <a:pPr/>
            <a:r>
              <a:t>"A pasadise of sweet teats."</a:t>
            </a:r>
          </a:p>
          <a:p>
            <a:pPr/>
            <a:r>
              <a:t>Then the real warehouse.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generated promotional posters for the 2024 Glasgow chocolate 'experience'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the white puffer jacket</a:t>
            </a:r>
          </a:p>
        </p:txBody>
      </p:sp>
      <p:sp>
        <p:nvSpPr>
          <p:cNvPr id="3" name="Content Placeholder 2"/>
          <p:cNvSpPr>
            <a:spLocks noGrp="1"/>
          </p:cNvSpPr>
          <p:nvPr>
            <p:ph idx="1"/>
          </p:nvPr>
        </p:nvSpPr>
        <p:spPr>
          <a:xfrm>
            <a:off x="1298448" y="2560320"/>
            <a:ext cx="5349240" cy="3383280"/>
          </a:xfrm>
        </p:spPr>
        <p:txBody>
          <a:bodyPr/>
          <a:lstStyle/>
          <a:p>
            <a:pPr/>
            <a:r>
              <a:t>A famous fake, 2023 or so.</a:t>
            </a:r>
          </a:p>
          <a:p>
            <a:pPr/>
            <a:r>
              <a:t>Millions believed it.</a:t>
            </a:r>
          </a:p>
          <a:p>
            <a:pPr/>
            <a:r>
              <a:t>The tells were in the hands and glasses.</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generated image of the Pope in a white puffer jacket, 2023 or so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Callout layer</a:t>
            </a:r>
            <a:r>
              <a:rPr sz="1900"/>
              <a:t> – numbered errors, marked on their own layer</a:t>
            </a:r>
          </a:p>
          <a:p>
            <a:pPr>
              <a:spcAft>
                <a:spcPts val="600"/>
              </a:spcAft>
            </a:pPr>
            <a:r>
              <a:rPr b="1" sz="1900"/>
              <a:t>Horizon line</a:t>
            </a:r>
            <a:r>
              <a:rPr sz="1900"/>
              <a:t> – the eye level of the camera</a:t>
            </a:r>
          </a:p>
          <a:p>
            <a:pPr>
              <a:spcAft>
                <a:spcPts val="600"/>
              </a:spcAft>
            </a:pPr>
            <a:r>
              <a:rPr b="1" sz="1900"/>
              <a:t>Vanishing point</a:t>
            </a:r>
            <a:r>
              <a:rPr sz="1900"/>
              <a:t> – where parallel lines meet, on the horizon</a:t>
            </a:r>
          </a:p>
        </p:txBody>
      </p:sp>
      <p:sp>
        <p:nvSpPr>
          <p:cNvPr id="4" name="Content Placeholder 3"/>
          <p:cNvSpPr>
            <a:spLocks noGrp="1"/>
          </p:cNvSpPr>
          <p:nvPr>
            <p:ph idx="2" sz="half"/>
          </p:nvPr>
        </p:nvSpPr>
        <p:spPr/>
        <p:txBody>
          <a:bodyPr/>
          <a:lstStyle/>
          <a:p>
            <a:pPr>
              <a:spcAft>
                <a:spcPts val="600"/>
              </a:spcAft>
            </a:pPr>
            <a:r>
              <a:rPr b="1" sz="1900"/>
              <a:t>Cast shadow</a:t>
            </a:r>
            <a:r>
              <a:rPr sz="1900"/>
              <a:t> – the shadow an object throws away from the light</a:t>
            </a:r>
          </a:p>
          <a:p>
            <a:pPr>
              <a:spcAft>
                <a:spcPts val="600"/>
              </a:spcAft>
            </a:pPr>
            <a:r>
              <a:rPr b="1" sz="1900"/>
              <a:t>"Sheen"</a:t>
            </a:r>
            <a:r>
              <a:rPr sz="1900"/>
              <a:t> – too smooth, too glossy, about nothing</a:t>
            </a:r>
          </a:p>
          <a:p>
            <a:pPr>
              <a:spcAft>
                <a:spcPts val="600"/>
              </a:spcAft>
            </a:pPr>
            <a:r>
              <a:rPr b="1" sz="1900"/>
              <a:t>Value structure</a:t>
            </a:r>
            <a:r>
              <a:rPr sz="1900"/>
              <a:t> – the pattern of lights and darks, seen in gray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Mark up four provided images.</a:t>
            </a:r>
          </a:p>
          <a:p>
            <a:pPr/>
            <a:r>
              <a:t>Callouts on a named layer.</a:t>
            </a:r>
          </a:p>
          <a:p>
            <a:pPr/>
            <a:r>
              <a:t>Number, check, fix for each.</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Rank six outputs against a brief.</a:t>
            </a:r>
          </a:p>
          <a:p>
            <a:pPr/>
            <a:r>
              <a:t>Justify your top pick</a:t>
            </a:r>
          </a:p>
          <a:p>
            <a:pPr/>
            <a:r>
              <a:t>and your bottom pick.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eye forgives. The checklist doesn't.</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Go down the list, every time, in order.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