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8"/>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64678" autoAdjust="0"/>
  </p:normalViewPr>
  <p:slideViewPr>
    <p:cSldViewPr snapToGrid="0">
      <p:cViewPr varScale="1">
        <p:scale>
          <a:sx n="36" d="100"/>
          <a:sy n="36" d="100"/>
        </p:scale>
        <p:origin x="1430" y="24"/>
      </p:cViewPr>
      <p:guideLst/>
    </p:cSldViewPr>
  </p:slid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EE8B73-20FE-4169-9595-E55E7D4C6C8A}" type="datetimeFigureOut">
              <a:rPr lang="en-US" smtClean="0"/>
              <a:t>8/10/2026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7FDB04-D1AC-46DB-9592-CA12D78D404F}" type="slidenum">
              <a:rPr lang="en-US" smtClean="0"/>
              <a:t>‹#›</a:t>
            </a:fld>
            <a:endParaRPr lang="en-US"/>
          </a:p>
        </p:txBody>
      </p:sp>
    </p:spTree>
    <p:extLst>
      <p:ext uri="{BB962C8B-B14F-4D97-AF65-F5344CB8AC3E}">
        <p14:creationId xmlns:p14="http://schemas.microsoft.com/office/powerpoint/2010/main" val="18440064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rPr b="1"/>
              <a:t>What this is.</a:t>
            </a:r>
            <a:r>
              <a:t> A stand-alone lecture, about 50 minutes, on how people who use generators well actually work: a brief, references, a drawing as input, and integration by hand. It suits the week the frame extension thumbnails are due (session 10), because the thumbnail is the hero of the argument. Run it as an extra meeting, or in place of a lighter lecture day, keeping that day's own options if you prefer them to the ones here.</a:t>
            </a:r>
          </a:p>
          <a:p>
            <a:pPr>
              <a:spcAft>
                <a:spcPts val="800"/>
              </a:spcAft>
            </a:pPr>
            <a:r>
              <a:rPr b="1"/>
              <a:t>Running time.</a:t>
            </a:r>
            <a:r>
              <a:t> A prompt is a brief (10). The describe-and-sketch exercise (8). The ladder of control (12). Integration is photo-and-paint again (8). Does drawing matter more now (6). Options (4) and close.</a:t>
            </a:r>
          </a:p>
          <a:p>
            <a:pPr>
              <a:spcAft>
                <a:spcPts val="800"/>
              </a:spcAft>
            </a:pPr>
            <a:r>
              <a:rPr b="1"/>
              <a:t>Prep, at home.</a:t>
            </a:r>
            <a:r>
              <a:t> Take one rough three-value thumbnail (yours, or an anonymous one from a past class, with permission) and run it through a structure-guided workflow, so you have the thumbnail and four or five outputs side by side. Make a set of six generated images for one short brief, for Option A. One film still, hidden, for the describe-and-sketch exercise.</a:t>
            </a:r>
          </a:p>
          <a:p>
            <a:pPr>
              <a:spcAft>
                <a:spcPts val="800"/>
              </a:spcAft>
            </a:pPr>
            <a:r>
              <a:rPr b="1"/>
              <a:t>Boundary.</a:t>
            </a:r>
            <a:r>
              <a:t> This names how direction works so painters can see where their skills fit. It doesn't teach prompting or Generative Fill; that's the AI Digital Imaging course.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A question to start, and I'd like a few answers. When someone makes an image with a generator, who decides what's in it?</a:t>
            </a:r>
          </a:p>
          <a:p>
            <a:pPr>
              <a:spcAft>
                <a:spcPts val="800"/>
              </a:spcAft>
            </a:pPr>
            <a:r>
              <a:t>[Let them answer. Usually it splits between "the AI does" and "the person does, with the prompt."]</a:t>
            </a:r>
          </a:p>
          <a:p>
            <a:pPr>
              <a:spcAft>
                <a:spcPts val="800"/>
              </a:spcAft>
            </a:pPr>
            <a:r>
              <a:t>The honest answer is: it depends on how much of the decision the person hands over. Someone who types four words and takes the first result has handed over almost everything. Someone who arrives with a brief, a reference and a drawing has handed over very little.</a:t>
            </a:r>
          </a:p>
          <a:p>
            <a:pPr>
              <a:spcAft>
                <a:spcPts val="800"/>
              </a:spcAft>
            </a:pPr>
            <a:r>
              <a:t>Today is about the second kind of person, because that's how the people who use these tools well actually work, and because nearly all of it is stuff this course already teaches.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Start here. A prompt is a </a:t>
            </a:r>
            <a:r>
              <a:rPr b="1"/>
              <a:t>brief</a:t>
            </a:r>
            <a:r>
              <a:t>, the same document art directors have handed illustrators and photographers for about a century: what the image is, how it should look, what must be true, and a picture of what they mean.</a:t>
            </a:r>
          </a:p>
          <a:p>
            <a:pPr>
              <a:spcAft>
                <a:spcPts val="800"/>
              </a:spcAft>
            </a:pPr>
            <a:r>
              <a:t>The only new thing is the reader. A person can ask you questions. A generator can't, so it fills every gap with the most average possible answer.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For image-making, a brief has five parts, borrowed from film and photography.</a:t>
            </a:r>
          </a:p>
          <a:p>
            <a:pPr>
              <a:spcAft>
                <a:spcPts val="800"/>
              </a:spcAft>
            </a:pPr>
            <a:r>
              <a:t>Subject, composition, lens, light, style. Every part you leave out is a decision you've handed to the average.</a:t>
            </a:r>
          </a:p>
          <a:p>
            <a:pPr>
              <a:spcAft>
                <a:spcPts val="800"/>
              </a:spcAft>
            </a:pPr>
            <a:r>
              <a:t>Notice which two parts you've spent the most time on in this course: light and composition. That's not a coincidence. They're the hardest parts to describe and the ones that matter most.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The vocabulary that works for light in a brief is the vocabulary from session 6: warm light, cool shadow, golden hour, overcast, rim light, a "practical" (a visible light source like a lamp).</a:t>
            </a:r>
          </a:p>
          <a:p>
            <a:pPr>
              <a:spcAft>
                <a:spcPts val="800"/>
              </a:spcAft>
            </a:pPr>
            <a:r>
              <a:t>"Dramatic lighting" tells anyone, person or machine, nothing. "A single warm light low from the left, cool shadows, the background falling to near black" is a decision. You've been making those decisions with a brush for three weeks. The same words, written down, are the most useful part of any brief.</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Why vagueness is the enemy. A vague request gets an average answer, because the average is the only honest answer to a vague request. "Epic," "beautiful," "dramatic," "high quality": all of them push toward the same glossy middle.</a:t>
            </a:r>
          </a:p>
          <a:p>
            <a:pPr>
              <a:spcAft>
                <a:spcPts val="800"/>
              </a:spcAft>
            </a:pPr>
            <a:r>
              <a:t>The same is true when you're the one being briefed, by the way. When a client says "make it pop," your job is to ask the questions that turn it into a decision: pop how, where, compared to what?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An exercise, about eight minutes.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[Show a hidden film still to one volunteer only.] Our volunteer has sixty seconds to describe the image, no pointing. Everyone else makes a quick three-value thumbnail of what they hear, two minutes.</a:t>
            </a:r>
          </a:p>
          <a:p>
            <a:pPr>
              <a:spcAft>
                <a:spcPts val="800"/>
              </a:spcAft>
            </a:pPr>
            <a:r>
              <a:t>[Run it. Hold up several thumbnails, then reveal the still.]</a:t>
            </a:r>
          </a:p>
          <a:p>
            <a:pPr>
              <a:spcAft>
                <a:spcPts val="800"/>
              </a:spcAft>
            </a:pPr>
            <a:r>
              <a:t>What got through? Usually the subject. What got lost? Placement, scale, and the pattern of lights and darks: the value structure, the thing you've been told is the most important part of an image.</a:t>
            </a:r>
          </a:p>
          <a:p>
            <a:pPr>
              <a:spcAft>
                <a:spcPts val="800"/>
              </a:spcAft>
            </a:pPr>
            <a:r>
              <a:t>That's exactly what happens when someone describes a picture to a generator. Words carry "what" quite well and "where" very badly.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So if words can't carry "where," what can?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A ladder. </a:t>
            </a:r>
            <a:r>
              <a:rPr b="1"/>
              <a:t>Words</a:t>
            </a:r>
            <a:r>
              <a:t> say what. A </a:t>
            </a:r>
            <a:r>
              <a:rPr b="1"/>
              <a:t>reference image</a:t>
            </a:r>
            <a:r>
              <a:t> says how it looks. </a:t>
            </a:r>
            <a:r>
              <a:rPr b="1"/>
              <a:t>Rough paint</a:t>
            </a:r>
            <a:r>
              <a:t> under a generated fill says roughly where. A </a:t>
            </a:r>
            <a:r>
              <a:rPr b="1"/>
              <a:t>drawing</a:t>
            </a:r>
            <a:r>
              <a:t> used as structure input says exactly where: the layout, the pose, the depth.</a:t>
            </a:r>
          </a:p>
          <a:p>
            <a:pPr>
              <a:spcAft>
                <a:spcPts val="800"/>
              </a:spcAft>
            </a:pPr>
            <a:r>
              <a:t>Each rung up, the person supplies more of the decision and the machine makes less of it. The people getting the best results from these tools are almost all near the top of the ladder.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Four kinds of structure input that generators can follow. A sketch, which locks the layout. A pose skeleton, which locks the gesture. A depth map, near is light and far is dark, which locks the space. And an edge map, traced outlines, which locks nearly everything.</a:t>
            </a:r>
          </a:p>
          <a:p>
            <a:pPr>
              <a:spcAft>
                <a:spcPts val="800"/>
              </a:spcAft>
            </a:pPr>
            <a:r>
              <a:t>Look at the first and third. A rough layout drawing and a value map of the space. Those are, more or less, a thumbnail and a value block-in. The two things this course asks you to make before you paint anything.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[Show your thumbnail and the outputs.] Here's a rough three-value thumbnail, and several images generated with it as structure input, on my computer at home.</a:t>
            </a:r>
          </a:p>
          <a:p>
            <a:pPr>
              <a:spcAft>
                <a:spcPts val="800"/>
              </a:spcAft>
            </a:pPr>
            <a:r>
              <a:t>Notice what held across all of them: the composition, the horizon, where the big lights and darks are. That's the thumbnail's work. What varies is everything the thumbnail didn't decide: textures, details, specific objects.</a:t>
            </a:r>
          </a:p>
          <a:p>
            <a:pPr>
              <a:spcAft>
                <a:spcPts val="800"/>
              </a:spcAft>
            </a:pPr>
            <a:r>
              <a:t>And notice which output is best. It's the one where the generator got out of the way of the thumbnail. The decisions that make the picture work were made in two minutes, with a pencil, before anything was generated.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A small confession about my other job. Outside teaching I build rigs, the controls animators use to move characters, and the main lesson of rigging is that you don't ask the animator to be careful with the elbow. You build the control so the elbow can't bend backward.</a:t>
            </a:r>
          </a:p>
          <a:p>
            <a:pPr>
              <a:spcAft>
                <a:spcPts val="800"/>
              </a:spcAft>
            </a:pPr>
            <a:r>
              <a:t>Structure input is that idea applied to a generator. You don't ask it nicely to put the horizon low and the figure on the left, in a longer and longer prompt. You hand it the drawing where the horizon is low and the figure is on the left. Then it can't do anything else.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The last part of the workflow happens after generating, and you already know it.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People who use generators professionally almost never use the output as is. They treat it as a </a:t>
            </a:r>
            <a:r>
              <a:rPr b="1"/>
              <a:t>source</a:t>
            </a:r>
            <a:r>
              <a:t>, like a photograph, and integrate it.</a:t>
            </a:r>
          </a:p>
          <a:p>
            <a:pPr>
              <a:spcAft>
                <a:spcPts val="800"/>
              </a:spcAft>
            </a:pPr>
            <a:r>
              <a:t>This is the same matching you did in session 8 with photographs: the light has to come from the same side, the color has to match the scene, the grain and sharpness have to match, the edges have to sit in the image, with a contact shadow where it touches.</a:t>
            </a:r>
          </a:p>
          <a:p>
            <a:pPr>
              <a:spcAft>
                <a:spcPts val="800"/>
              </a:spcAft>
            </a:pPr>
            <a:r>
              <a:t>On the left, pasted on. On the right, integrated. The generator can make the sphere. Making it belong is painting.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So, the whole workflow, the way people who are good at this actually work.</a:t>
            </a:r>
          </a:p>
          <a:p>
            <a:pPr>
              <a:spcAft>
                <a:spcPts val="800"/>
              </a:spcAft>
            </a:pPr>
            <a:r>
              <a:t>A </a:t>
            </a:r>
            <a:r>
              <a:rPr b="1"/>
              <a:t>brief and references</a:t>
            </a:r>
            <a:r>
              <a:t> first, decided before anything is generated. A </a:t>
            </a:r>
            <a:r>
              <a:rPr b="1"/>
              <a:t>thumbnail</a:t>
            </a:r>
            <a:r>
              <a:t> as input. Then generate, </a:t>
            </a:r>
            <a:r>
              <a:rPr b="1"/>
              <a:t>choose</a:t>
            </a:r>
            <a:r>
              <a:t> with a reason, </a:t>
            </a:r>
            <a:r>
              <a:rPr b="1"/>
              <a:t>integrate</a:t>
            </a:r>
            <a:r>
              <a:t> with the light-color-grain-edges matching, and </a:t>
            </a:r>
            <a:r>
              <a:rPr b="1"/>
              <a:t>paint</a:t>
            </a:r>
            <a:r>
              <a:t> the corrections and the focal area by hand.</a:t>
            </a:r>
          </a:p>
          <a:p>
            <a:pPr>
              <a:spcAft>
                <a:spcPts val="800"/>
              </a:spcAft>
            </a:pPr>
            <a:r>
              <a:t>Count how many of those steps are things this course teaches. Most of them. The generation is one step in the middle, and in a sense the least skilled one.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And whatever else you take from this: if a generator was involved, keep the layers and say so. Which parts were generated, which parts you made. It's how professionals handle it, clients increasingly ask, and your layered file is also, as it happens, the evidence of what's yours.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[About five minutes of discussion. Let them argue it.]</a:t>
            </a:r>
          </a:p>
          <a:p>
            <a:pPr>
              <a:spcAft>
                <a:spcPts val="800"/>
              </a:spcAft>
            </a:pPr>
            <a:r>
              <a:t>My own view, marked as a belief: drawing matters more, but in a different way. It used to matter mostly as a finished picture. Increasingly it matters as </a:t>
            </a:r>
            <a:r>
              <a:rPr b="1"/>
              <a:t>the input</a:t>
            </a:r>
            <a:r>
              <a:t>: the place your decisions about composition, value and light live, before anything renders them.</a:t>
            </a:r>
          </a:p>
          <a:p>
            <a:pPr>
              <a:spcAft>
                <a:spcPts val="800"/>
              </a:spcAft>
            </a:pPr>
            <a:r>
              <a:t>Anyone can type a prompt. A clear thumbnail of exactly what you mean is still yours alone. The tool is a means of expression, and the person using it is not an operator.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Thirty seconds. Read the terms aloud and ask the room for any they can't explain yet. These are on Canvas as a running glossary, which helps everyone and helps accommodated students most, on a schedule where the next class is often tomorrow.</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Before next class. As with the other bridge lectures, if you run this on a regular session day, you can keep that day's options instead.</a:t>
            </a:r>
          </a:p>
          <a:p>
            <a:pPr>
              <a:spcAft>
                <a:spcPts val="800"/>
              </a:spcAft>
            </a:pPr>
            <a:r>
              <a:rPr b="1"/>
              <a:t>Option A</a:t>
            </a:r>
            <a:r>
              <a:t>: six generated images on Canvas, all made for one short brief. Rank them first to sixth against the brief, and justify your top pick and your bottom pick in a few sentences each. Watch out: the cleanest image isn't necessarily the best fit.</a:t>
            </a:r>
          </a:p>
          <a:p>
            <a:pPr>
              <a:spcAft>
                <a:spcPts val="800"/>
              </a:spcAft>
            </a:pPr>
            <a:r>
              <a:rPr b="1"/>
              <a:t>Option B</a:t>
            </a:r>
            <a:r>
              <a:t>: write a five-part brief, subject, composition, lens, light, style, for the new space in your frame extension, as if you were handing it to someone else to paint. Then make the three-value thumbnail that goes with it. Nobody generates anything; the brief and the thumbnail are the point.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Whoever makes the decisions made the picture. Make them before you start, in a brief and a thumbnail, and the tool, any tool, has to follow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6" descr="HD-PanelTitle-GrommetsCombine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783C7E8E-FD18-4999-BA7E-E42594F7B785}" type="slidenum">
              <a:rPr lang="en-US" smtClean="0"/>
              <a:t>‹#›</a:t>
            </a:fld>
            <a:endParaRPr lang="en-US"/>
          </a:p>
        </p:txBody>
      </p:sp>
      <p:cxnSp>
        <p:nvCxnSpPr>
          <p:cNvPr id="15" name="Straight Connector 14"/>
          <p:cNvCxnSpPr/>
          <p:nvPr/>
        </p:nvCxnSpPr>
        <p:spPr>
          <a:xfrm>
            <a:off x="2692399" y="3522131"/>
            <a:ext cx="6815668" cy="0"/>
          </a:xfrm>
          <a:prstGeom prst="line">
            <a:avLst/>
          </a:prstGeom>
          <a:ln>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939532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3284976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6" name="Straight Connector 15"/>
          <p:cNvCxnSpPr/>
          <p:nvPr/>
        </p:nvCxnSpPr>
        <p:spPr>
          <a:xfrm>
            <a:off x="2012723" y="3710585"/>
            <a:ext cx="8163380"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014564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92E33A7-84C6-449C-AE67-6E7B8B6855DE}"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3526212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1"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80671" y="3243262"/>
            <a:ext cx="4718304" cy="2632605"/>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92E33A7-84C6-449C-AE67-6E7B8B6855DE}" type="datetimeFigureOut">
              <a:rPr lang="en-US" smtClean="0"/>
              <a:t>8/10/2026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83C7E8E-FD18-4999-BA7E-E42594F7B785}" type="slidenum">
              <a:rPr lang="en-US" smtClean="0"/>
              <a:t>‹#›</a:t>
            </a:fld>
            <a:endParaRPr lang="en-US"/>
          </a:p>
        </p:txBody>
      </p:sp>
      <p:cxnSp>
        <p:nvCxnSpPr>
          <p:cNvPr id="18" name="Straight Connector 17"/>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668395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92E33A7-84C6-449C-AE67-6E7B8B6855DE}" type="datetimeFigureOut">
              <a:rPr lang="en-US" smtClean="0"/>
              <a:t>8/10/2026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83C7E8E-FD18-4999-BA7E-E42594F7B785}" type="slidenum">
              <a:rPr lang="en-US" smtClean="0"/>
              <a:t>‹#›</a:t>
            </a:fld>
            <a:endParaRPr lang="en-US"/>
          </a:p>
        </p:txBody>
      </p:sp>
      <p:cxnSp>
        <p:nvCxnSpPr>
          <p:cNvPr id="14" name="Straight Connector 13"/>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213248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92E33A7-84C6-449C-AE67-6E7B8B6855DE}" type="datetimeFigureOut">
              <a:rPr lang="en-US" smtClean="0"/>
              <a:t>8/10/2026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699410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92E33A7-84C6-449C-AE67-6E7B8B6855DE}"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cxnSp>
        <p:nvCxnSpPr>
          <p:cNvPr id="16" name="Straight Connector 15"/>
          <p:cNvCxnSpPr/>
          <p:nvPr/>
        </p:nvCxnSpPr>
        <p:spPr>
          <a:xfrm>
            <a:off x="1396169" y="2912533"/>
            <a:ext cx="35144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000149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92E33A7-84C6-449C-AE67-6E7B8B6855DE}"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33869325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92E33A7-84C6-449C-AE67-6E7B8B6855DE}"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5789411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5" name="Straight Connector 14"/>
          <p:cNvCxnSpPr/>
          <p:nvPr/>
        </p:nvCxnSpPr>
        <p:spPr>
          <a:xfrm>
            <a:off x="1396169" y="4140199"/>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817206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a:solidFill>
                  <a:schemeClr val="tx1"/>
                </a:solidFill>
                <a:effectLst/>
              </a:rPr>
              <a:t>”</a:t>
            </a:r>
          </a:p>
        </p:txBody>
      </p:sp>
      <p:cxnSp>
        <p:nvCxnSpPr>
          <p:cNvPr id="19" name="Straight Connector 18"/>
          <p:cNvCxnSpPr/>
          <p:nvPr/>
        </p:nvCxnSpPr>
        <p:spPr>
          <a:xfrm>
            <a:off x="1396169" y="4140199"/>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296793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9658508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4"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a:solidFill>
                  <a:schemeClr val="tx1"/>
                </a:solidFill>
                <a:effectLst/>
              </a:rPr>
              <a:t>”</a:t>
            </a:r>
          </a:p>
        </p:txBody>
      </p:sp>
      <p:cxnSp>
        <p:nvCxnSpPr>
          <p:cNvPr id="26" name="Straight Connector 25"/>
          <p:cNvCxnSpPr/>
          <p:nvPr/>
        </p:nvCxnSpPr>
        <p:spPr>
          <a:xfrm>
            <a:off x="1396169" y="3429000"/>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836220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1"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5" name="Straight Connector 14"/>
          <p:cNvCxnSpPr/>
          <p:nvPr/>
        </p:nvCxnSpPr>
        <p:spPr>
          <a:xfrm>
            <a:off x="1396169" y="3429000"/>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815429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4" name="Straight Connector 13"/>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046629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4" name="Straight Connector 13"/>
          <p:cNvCxnSpPr/>
          <p:nvPr/>
        </p:nvCxnSpPr>
        <p:spPr>
          <a:xfrm>
            <a:off x="8863890" y="990600"/>
            <a:ext cx="0" cy="487680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0857335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 Id="rId1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7" name="Picture 6" descr="HD-PanelContent-GrommetsCombined.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92E33A7-84C6-449C-AE67-6E7B8B6855DE}" type="datetimeFigureOut">
              <a:rPr lang="en-US" smtClean="0"/>
              <a:t>8/10/2026</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783C7E8E-FD18-4999-BA7E-E42594F7B785}" type="slidenum">
              <a:rPr lang="en-US" smtClean="0"/>
              <a:t>‹#›</a:t>
            </a:fld>
            <a:endParaRPr lang="en-US"/>
          </a:p>
        </p:txBody>
      </p:sp>
    </p:spTree>
    <p:extLst>
      <p:ext uri="{BB962C8B-B14F-4D97-AF65-F5344CB8AC3E}">
        <p14:creationId xmlns:p14="http://schemas.microsoft.com/office/powerpoint/2010/main" val="36926841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Directing, Not Operating</a:t>
            </a:r>
          </a:p>
        </p:txBody>
      </p:sp>
      <p:sp>
        <p:nvSpPr>
          <p:cNvPr id="3" name="Subtitle 2"/>
          <p:cNvSpPr>
            <a:spLocks noGrp="1"/>
          </p:cNvSpPr>
          <p:nvPr>
            <p:ph type="subTitle" idx="1"/>
          </p:nvPr>
        </p:nvSpPr>
        <p:spPr/>
        <p:txBody>
          <a:bodyPr/>
          <a:lstStyle/>
          <a:p>
            <a:r>
              <a:t>Digital Imaging and Painting  |  The thinking behind AI workflows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question to start</a:t>
            </a:r>
          </a:p>
        </p:txBody>
      </p:sp>
      <p:sp>
        <p:nvSpPr>
          <p:cNvPr id="3" name="Content Placeholder 2"/>
          <p:cNvSpPr>
            <a:spLocks noGrp="1"/>
          </p:cNvSpPr>
          <p:nvPr>
            <p:ph idx="1"/>
          </p:nvPr>
        </p:nvSpPr>
        <p:spPr/>
        <p:txBody>
          <a:bodyPr/>
          <a:lstStyle/>
          <a:p>
            <a:pPr/>
            <a:r>
              <a:t>Who decides what's in a picture?</a:t>
            </a:r>
          </a:p>
          <a:p>
            <a:pPr/>
            <a:r>
              <a:t>The tool, or the person?</a:t>
            </a:r>
          </a:p>
          <a:p>
            <a:pPr/>
            <a:r>
              <a:t>It depends on what you hand over.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prompt is a brief.</a:t>
            </a:r>
          </a:p>
        </p:txBody>
      </p:sp>
      <p:sp>
        <p:nvSpPr>
          <p:cNvPr id="3" name="Text Placeholder 2"/>
          <p:cNvSpPr>
            <a:spLocks noGrp="1"/>
          </p:cNvSpPr>
          <p:nvPr>
            <p:ph type="body" idx="13" sz="quarter"/>
          </p:nvPr>
        </p:nvSpPr>
        <p:spPr/>
        <p:txBody>
          <a:bodyPr/>
          <a:lstStyle/>
          <a:p>
            <a:r>
              <a:t>Today's idea</a:t>
            </a:r>
          </a:p>
        </p:txBody>
      </p:sp>
      <p:sp>
        <p:nvSpPr>
          <p:cNvPr id="4" name="Text Placeholder 3"/>
          <p:cNvSpPr>
            <a:spLocks noGrp="1"/>
          </p:cNvSpPr>
          <p:nvPr>
            <p:ph type="body" idx="1"/>
          </p:nvPr>
        </p:nvSpPr>
        <p:spPr/>
        <p:txBody>
          <a:bodyPr/>
          <a:lstStyle/>
          <a:p>
            <a:r>
              <a:t>Art directors have been writing these for a century.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Five parts of a brief</a:t>
            </a:r>
          </a:p>
        </p:txBody>
      </p:sp>
      <p:sp>
        <p:nvSpPr>
          <p:cNvPr id="3" name="Rounded Rectangle 2"/>
          <p:cNvSpPr/>
          <p:nvPr/>
        </p:nvSpPr>
        <p:spPr>
          <a:xfrm>
            <a:off x="1298448" y="2697480"/>
            <a:ext cx="1686153"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2B2B2B"/>
                </a:solidFill>
              </a:rPr>
              <a:t>Subject</a:t>
            </a:r>
          </a:p>
          <a:p>
            <a:pPr algn="ctr"/>
            <a:r>
              <a:rPr sz="1100">
                <a:solidFill>
                  <a:srgbClr val="2B2B2B"/>
                </a:solidFill>
              </a:rPr>
              <a:t>who, doing what</a:t>
            </a:r>
          </a:p>
        </p:txBody>
      </p:sp>
      <p:sp>
        <p:nvSpPr>
          <p:cNvPr id="4" name="Rounded Rectangle 3"/>
          <p:cNvSpPr/>
          <p:nvPr/>
        </p:nvSpPr>
        <p:spPr>
          <a:xfrm>
            <a:off x="3277209" y="2697480"/>
            <a:ext cx="1686153"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2B2B2B"/>
                </a:solidFill>
              </a:rPr>
              <a:t>Composition</a:t>
            </a:r>
          </a:p>
          <a:p>
            <a:pPr algn="ctr"/>
            <a:r>
              <a:rPr sz="1100">
                <a:solidFill>
                  <a:srgbClr val="2B2B2B"/>
                </a:solidFill>
              </a:rPr>
              <a:t>shot and angle</a:t>
            </a:r>
          </a:p>
        </p:txBody>
      </p:sp>
      <p:sp>
        <p:nvSpPr>
          <p:cNvPr id="5" name="Rounded Rectangle 4"/>
          <p:cNvSpPr/>
          <p:nvPr/>
        </p:nvSpPr>
        <p:spPr>
          <a:xfrm>
            <a:off x="5255971" y="2697480"/>
            <a:ext cx="1686153"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2B2B2B"/>
                </a:solidFill>
              </a:rPr>
              <a:t>Lens</a:t>
            </a:r>
          </a:p>
          <a:p>
            <a:pPr algn="ctr"/>
            <a:r>
              <a:rPr sz="1100">
                <a:solidFill>
                  <a:srgbClr val="2B2B2B"/>
                </a:solidFill>
              </a:rPr>
              <a:t>wide or long</a:t>
            </a:r>
          </a:p>
        </p:txBody>
      </p:sp>
      <p:sp>
        <p:nvSpPr>
          <p:cNvPr id="6" name="Rounded Rectangle 5"/>
          <p:cNvSpPr/>
          <p:nvPr/>
        </p:nvSpPr>
        <p:spPr>
          <a:xfrm>
            <a:off x="7234732" y="2697480"/>
            <a:ext cx="1686153"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2B2B2B"/>
                </a:solidFill>
              </a:rPr>
              <a:t>Light</a:t>
            </a:r>
          </a:p>
          <a:p>
            <a:pPr algn="ctr"/>
            <a:r>
              <a:rPr sz="1100">
                <a:solidFill>
                  <a:srgbClr val="2B2B2B"/>
                </a:solidFill>
              </a:rPr>
              <a:t>source, time, softness</a:t>
            </a:r>
          </a:p>
        </p:txBody>
      </p:sp>
      <p:sp>
        <p:nvSpPr>
          <p:cNvPr id="7" name="Rounded Rectangle 6"/>
          <p:cNvSpPr/>
          <p:nvPr/>
        </p:nvSpPr>
        <p:spPr>
          <a:xfrm>
            <a:off x="9213494" y="2697480"/>
            <a:ext cx="1686153"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2B2B2B"/>
                </a:solidFill>
              </a:rPr>
              <a:t>Style</a:t>
            </a:r>
          </a:p>
          <a:p>
            <a:pPr algn="ctr"/>
            <a:r>
              <a:rPr sz="1100">
                <a:solidFill>
                  <a:srgbClr val="2B2B2B"/>
                </a:solidFill>
              </a:rPr>
              <a:t>medium and finish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Light words are painter's words</a:t>
            </a:r>
          </a:p>
        </p:txBody>
      </p:sp>
      <p:pic>
        <p:nvPicPr>
          <p:cNvPr id="3" name="Picture 2" descr="light_spheres.png"/>
          <p:cNvPicPr>
            <a:picLocks noChangeAspect="1"/>
          </p:cNvPicPr>
          <p:nvPr/>
        </p:nvPicPr>
        <p:blipFill>
          <a:blip r:embed="rId2"/>
          <a:stretch>
            <a:fillRect/>
          </a:stretch>
        </p:blipFill>
        <p:spPr>
          <a:xfrm>
            <a:off x="1298448" y="2809110"/>
            <a:ext cx="9601200" cy="2382779"/>
          </a:xfrm>
          <a:prstGeom prst="rect">
            <a:avLst/>
          </a:prstGeom>
        </p:spPr>
      </p:pic>
      <p:sp>
        <p:nvSpPr>
          <p:cNvPr id="4" name="TextBox 3"/>
          <p:cNvSpPr txBox="1"/>
          <p:nvPr/>
        </p:nvSpPr>
        <p:spPr>
          <a:xfrm>
            <a:off x="1298448" y="5650992"/>
            <a:ext cx="9601200" cy="411480"/>
          </a:xfrm>
          <a:prstGeom prst="rect">
            <a:avLst/>
          </a:prstGeom>
          <a:noFill/>
        </p:spPr>
        <p:txBody>
          <a:bodyPr wrap="square">
            <a:spAutoFit/>
          </a:bodyPr>
          <a:lstStyle/>
          <a:p>
            <a:pPr algn="ctr"/>
            <a:r>
              <a:rPr sz="1500">
                <a:solidFill>
                  <a:srgbClr val="2B2B2B"/>
                </a:solidFill>
              </a:rPr>
              <a:t>Overhead, golden hour, overcast, rim, practical.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Vague words get the average</a:t>
            </a:r>
          </a:p>
        </p:txBody>
      </p:sp>
      <p:sp>
        <p:nvSpPr>
          <p:cNvPr id="3" name="Content Placeholder 2"/>
          <p:cNvSpPr>
            <a:spLocks noGrp="1"/>
          </p:cNvSpPr>
          <p:nvPr>
            <p:ph idx="1"/>
          </p:nvPr>
        </p:nvSpPr>
        <p:spPr/>
        <p:txBody>
          <a:bodyPr/>
          <a:lstStyle/>
          <a:p>
            <a:pPr/>
            <a:r>
              <a:t>"Dramatic" is not a direction.</a:t>
            </a:r>
          </a:p>
          <a:p>
            <a:pPr/>
            <a:r>
              <a:t>The average of everything is nothing much.</a:t>
            </a:r>
          </a:p>
          <a:p>
            <a:pPr/>
            <a:r>
              <a:t>Specific words make decisions.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Words are lossy</a:t>
            </a:r>
          </a:p>
        </p:txBody>
      </p:sp>
      <p:sp>
        <p:nvSpPr>
          <p:cNvPr id="3" name="Text Placeholder 2"/>
          <p:cNvSpPr>
            <a:spLocks noGrp="1"/>
          </p:cNvSpPr>
          <p:nvPr>
            <p:ph type="body" idx="1"/>
          </p:nvPr>
        </p:nvSpPr>
        <p:spPr/>
        <p:txBody>
          <a:bodyPr/>
          <a:lstStyle/>
          <a:p>
            <a:r>
              <a:t>An exercise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Describe and sketch</a:t>
            </a:r>
          </a:p>
        </p:txBody>
      </p:sp>
      <p:sp>
        <p:nvSpPr>
          <p:cNvPr id="3" name="Content Placeholder 2"/>
          <p:cNvSpPr>
            <a:spLocks noGrp="1"/>
          </p:cNvSpPr>
          <p:nvPr>
            <p:ph idx="1"/>
          </p:nvPr>
        </p:nvSpPr>
        <p:spPr/>
        <p:txBody>
          <a:bodyPr/>
          <a:lstStyle/>
          <a:p>
            <a:pPr/>
            <a:r>
              <a:t>One person sees the image.</a:t>
            </a:r>
          </a:p>
          <a:p>
            <a:pPr/>
            <a:r>
              <a:t>Sixty seconds to describe it.</a:t>
            </a:r>
          </a:p>
          <a:p>
            <a:pPr/>
            <a:r>
              <a:t>Everyone else thumbnails it.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ladder of control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From least control to most</a:t>
            </a:r>
          </a:p>
        </p:txBody>
      </p:sp>
      <p:sp>
        <p:nvSpPr>
          <p:cNvPr id="3" name="Rounded Rectangle 2"/>
          <p:cNvSpPr/>
          <p:nvPr/>
        </p:nvSpPr>
        <p:spPr>
          <a:xfrm>
            <a:off x="1298448" y="2697480"/>
            <a:ext cx="2180844"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2B2B2B"/>
                </a:solidFill>
              </a:rPr>
              <a:t>Words</a:t>
            </a:r>
          </a:p>
          <a:p>
            <a:pPr algn="ctr"/>
            <a:r>
              <a:rPr sz="1600">
                <a:solidFill>
                  <a:srgbClr val="2B2B2B"/>
                </a:solidFill>
              </a:rPr>
              <a:t>what it is</a:t>
            </a:r>
          </a:p>
        </p:txBody>
      </p:sp>
      <p:sp>
        <p:nvSpPr>
          <p:cNvPr id="4" name="Rounded Rectangle 3"/>
          <p:cNvSpPr/>
          <p:nvPr/>
        </p:nvSpPr>
        <p:spPr>
          <a:xfrm>
            <a:off x="3771900" y="2697480"/>
            <a:ext cx="2180844"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2B2B2B"/>
                </a:solidFill>
              </a:rPr>
              <a:t>Reference</a:t>
            </a:r>
          </a:p>
          <a:p>
            <a:pPr algn="ctr"/>
            <a:r>
              <a:rPr sz="1600">
                <a:solidFill>
                  <a:srgbClr val="2B2B2B"/>
                </a:solidFill>
              </a:rPr>
              <a:t>how it looks</a:t>
            </a:r>
          </a:p>
        </p:txBody>
      </p:sp>
      <p:sp>
        <p:nvSpPr>
          <p:cNvPr id="5" name="Rounded Rectangle 4"/>
          <p:cNvSpPr/>
          <p:nvPr/>
        </p:nvSpPr>
        <p:spPr>
          <a:xfrm>
            <a:off x="6245351" y="2697480"/>
            <a:ext cx="2180844"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2B2B2B"/>
                </a:solidFill>
              </a:rPr>
              <a:t>Rough paint</a:t>
            </a:r>
          </a:p>
          <a:p>
            <a:pPr algn="ctr"/>
            <a:r>
              <a:rPr sz="1600">
                <a:solidFill>
                  <a:srgbClr val="2B2B2B"/>
                </a:solidFill>
              </a:rPr>
              <a:t>roughly where</a:t>
            </a:r>
          </a:p>
        </p:txBody>
      </p:sp>
      <p:sp>
        <p:nvSpPr>
          <p:cNvPr id="6" name="Rounded Rectangle 5"/>
          <p:cNvSpPr/>
          <p:nvPr/>
        </p:nvSpPr>
        <p:spPr>
          <a:xfrm>
            <a:off x="8718803" y="2697480"/>
            <a:ext cx="2180844"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2B2B2B"/>
                </a:solidFill>
              </a:rPr>
              <a:t>A drawing</a:t>
            </a:r>
          </a:p>
          <a:p>
            <a:pPr algn="ctr"/>
            <a:r>
              <a:rPr sz="1600">
                <a:solidFill>
                  <a:srgbClr val="2B2B2B"/>
                </a:solidFill>
              </a:rPr>
              <a:t>exactly where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Drawings, as input</a:t>
            </a:r>
          </a:p>
        </p:txBody>
      </p:sp>
      <p:pic>
        <p:nvPicPr>
          <p:cNvPr id="3" name="Picture 2" descr="control_inputs.png"/>
          <p:cNvPicPr>
            <a:picLocks noChangeAspect="1"/>
          </p:cNvPicPr>
          <p:nvPr/>
        </p:nvPicPr>
        <p:blipFill>
          <a:blip r:embed="rId2"/>
          <a:stretch>
            <a:fillRect/>
          </a:stretch>
        </p:blipFill>
        <p:spPr>
          <a:xfrm>
            <a:off x="1298448" y="2516678"/>
            <a:ext cx="9601200" cy="2967643"/>
          </a:xfrm>
          <a:prstGeom prst="rect">
            <a:avLst/>
          </a:prstGeom>
        </p:spPr>
      </p:pic>
      <p:sp>
        <p:nvSpPr>
          <p:cNvPr id="4" name="TextBox 3"/>
          <p:cNvSpPr txBox="1"/>
          <p:nvPr/>
        </p:nvSpPr>
        <p:spPr>
          <a:xfrm>
            <a:off x="1298448" y="5650992"/>
            <a:ext cx="9601200" cy="411480"/>
          </a:xfrm>
          <a:prstGeom prst="rect">
            <a:avLst/>
          </a:prstGeom>
          <a:noFill/>
        </p:spPr>
        <p:txBody>
          <a:bodyPr wrap="square">
            <a:spAutoFit/>
          </a:bodyPr>
          <a:lstStyle/>
          <a:p>
            <a:pPr algn="ctr"/>
            <a:r>
              <a:rPr sz="1500">
                <a:solidFill>
                  <a:srgbClr val="2B2B2B"/>
                </a:solidFill>
              </a:rPr>
              <a:t>A sketch, a pose, a depth map, an edge map. Each locks something different.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One thumbnail, run through a generator</a:t>
            </a:r>
          </a:p>
        </p:txBody>
      </p:sp>
      <p:sp>
        <p:nvSpPr>
          <p:cNvPr id="3" name="IMAGE SLOT"/>
          <p:cNvSpPr/>
          <p:nvPr/>
        </p:nvSpPr>
        <p:spPr>
          <a:xfrm>
            <a:off x="1298448" y="2377440"/>
            <a:ext cx="9601200" cy="3246120"/>
          </a:xfrm>
          <a:prstGeom prst="rect">
            <a:avLst/>
          </a:prstGeom>
          <a:solidFill>
            <a:srgbClr val="F2F0EA"/>
          </a:solidFill>
          <a:ln w="1587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i="1">
                <a:solidFill>
                  <a:srgbClr val="8A8A8A"/>
                </a:solidFill>
              </a:rPr>
              <a:t>image: a three-value thumbnail beside four or five outputs generated from it as structure input</a:t>
            </a:r>
          </a:p>
        </p:txBody>
      </p:sp>
      <p:sp>
        <p:nvSpPr>
          <p:cNvPr id="4" name="TextBox 3"/>
          <p:cNvSpPr txBox="1"/>
          <p:nvPr/>
        </p:nvSpPr>
        <p:spPr>
          <a:xfrm>
            <a:off x="1298448" y="5650992"/>
            <a:ext cx="9601200" cy="411480"/>
          </a:xfrm>
          <a:prstGeom prst="rect">
            <a:avLst/>
          </a:prstGeom>
          <a:noFill/>
        </p:spPr>
        <p:txBody>
          <a:bodyPr wrap="square">
            <a:spAutoFit/>
          </a:bodyPr>
          <a:lstStyle/>
          <a:p>
            <a:pPr algn="ctr"/>
            <a:r>
              <a:rPr sz="1500">
                <a:solidFill>
                  <a:srgbClr val="2B2B2B"/>
                </a:solidFill>
              </a:rPr>
              <a:t>The layout and the value plan hold. Everything else varies.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Don't ask it to be careful.</a:t>
            </a:r>
          </a:p>
        </p:txBody>
      </p:sp>
      <p:sp>
        <p:nvSpPr>
          <p:cNvPr id="3" name="Text Placeholder 2"/>
          <p:cNvSpPr>
            <a:spLocks noGrp="1"/>
          </p:cNvSpPr>
          <p:nvPr>
            <p:ph type="body" idx="13" sz="quarter"/>
          </p:nvPr>
        </p:nvSpPr>
        <p:spPr/>
        <p:txBody>
          <a:bodyPr/>
          <a:lstStyle/>
          <a:p>
            <a:r>
              <a:t>A rigging idea</a:t>
            </a:r>
          </a:p>
        </p:txBody>
      </p:sp>
      <p:sp>
        <p:nvSpPr>
          <p:cNvPr id="4" name="Text Placeholder 3"/>
          <p:cNvSpPr>
            <a:spLocks noGrp="1"/>
          </p:cNvSpPr>
          <p:nvPr>
            <p:ph type="body" idx="1"/>
          </p:nvPr>
        </p:nvSpPr>
        <p:spPr/>
        <p:txBody>
          <a:bodyPr/>
          <a:lstStyle/>
          <a:p>
            <a:r>
              <a:t>Build the control so the wrong thing can't happen.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Integration is painting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Generated material is a source</a:t>
            </a:r>
          </a:p>
        </p:txBody>
      </p:sp>
      <p:pic>
        <p:nvPicPr>
          <p:cNvPr id="3" name="Picture 2" descr="composite_demo.png"/>
          <p:cNvPicPr>
            <a:picLocks noChangeAspect="1"/>
          </p:cNvPicPr>
          <p:nvPr/>
        </p:nvPicPr>
        <p:blipFill>
          <a:blip r:embed="rId2"/>
          <a:stretch>
            <a:fillRect/>
          </a:stretch>
        </p:blipFill>
        <p:spPr>
          <a:xfrm>
            <a:off x="2519992" y="2377440"/>
            <a:ext cx="7158110" cy="3246120"/>
          </a:xfrm>
          <a:prstGeom prst="rect">
            <a:avLst/>
          </a:prstGeom>
        </p:spPr>
      </p:pic>
      <p:sp>
        <p:nvSpPr>
          <p:cNvPr id="4" name="TextBox 3"/>
          <p:cNvSpPr txBox="1"/>
          <p:nvPr/>
        </p:nvSpPr>
        <p:spPr>
          <a:xfrm>
            <a:off x="1298448" y="5650992"/>
            <a:ext cx="9601200" cy="411480"/>
          </a:xfrm>
          <a:prstGeom prst="rect">
            <a:avLst/>
          </a:prstGeom>
          <a:noFill/>
        </p:spPr>
        <p:txBody>
          <a:bodyPr wrap="square">
            <a:spAutoFit/>
          </a:bodyPr>
          <a:lstStyle/>
          <a:p>
            <a:pPr algn="ctr"/>
            <a:r>
              <a:rPr sz="1500">
                <a:solidFill>
                  <a:srgbClr val="2B2B2B"/>
                </a:solidFill>
              </a:rPr>
              <a:t>Same element, pasted on, then integrated: light, color, grain, edges.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the workflow really looks like</a:t>
            </a:r>
          </a:p>
        </p:txBody>
      </p:sp>
      <p:sp>
        <p:nvSpPr>
          <p:cNvPr id="3" name="Content Placeholder 2"/>
          <p:cNvSpPr>
            <a:spLocks noGrp="1"/>
          </p:cNvSpPr>
          <p:nvPr>
            <p:ph idx="1"/>
          </p:nvPr>
        </p:nvSpPr>
        <p:spPr/>
        <p:txBody>
          <a:bodyPr/>
          <a:lstStyle/>
          <a:p>
            <a:pPr/>
            <a:r>
              <a:t>Brief and references first.</a:t>
            </a:r>
          </a:p>
          <a:p>
            <a:pPr/>
            <a:r>
              <a:t>A thumbnail as the input.</a:t>
            </a:r>
          </a:p>
          <a:p>
            <a:pPr/>
            <a:r>
              <a:t>Generate, choose, integrate, paint.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Saying what you did</a:t>
            </a:r>
          </a:p>
        </p:txBody>
      </p:sp>
      <p:sp>
        <p:nvSpPr>
          <p:cNvPr id="3" name="Content Placeholder 2"/>
          <p:cNvSpPr>
            <a:spLocks noGrp="1"/>
          </p:cNvSpPr>
          <p:nvPr>
            <p:ph idx="1"/>
          </p:nvPr>
        </p:nvSpPr>
        <p:spPr/>
        <p:txBody>
          <a:bodyPr/>
          <a:lstStyle/>
          <a:p>
            <a:pPr/>
            <a:r>
              <a:t>Keep the layers.</a:t>
            </a:r>
          </a:p>
          <a:p>
            <a:pPr/>
            <a:r>
              <a:t>Name what was generated.</a:t>
            </a:r>
          </a:p>
          <a:p>
            <a:pPr/>
            <a:r>
              <a:t>Say it before you're asked.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Does drawing matter more now, or less?</a:t>
            </a:r>
          </a:p>
        </p:txBody>
      </p:sp>
      <p:sp>
        <p:nvSpPr>
          <p:cNvPr id="3" name="Content Placeholder 2"/>
          <p:cNvSpPr>
            <a:spLocks noGrp="1"/>
          </p:cNvSpPr>
          <p:nvPr>
            <p:ph idx="1"/>
          </p:nvPr>
        </p:nvSpPr>
        <p:spPr/>
        <p:txBody>
          <a:bodyPr/>
          <a:lstStyle/>
          <a:p>
            <a:pPr/>
            <a:r>
              <a:t>It carries your decisions.</a:t>
            </a:r>
          </a:p>
          <a:p>
            <a:pPr/>
            <a:r>
              <a:t>Nobody else has it.</a:t>
            </a:r>
          </a:p>
          <a:p>
            <a:pPr/>
            <a:r>
              <a:t>It's the input the machine can't make.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Words from today</a:t>
            </a:r>
          </a:p>
        </p:txBody>
      </p:sp>
      <p:sp>
        <p:nvSpPr>
          <p:cNvPr id="3" name="Content Placeholder 2"/>
          <p:cNvSpPr>
            <a:spLocks noGrp="1"/>
          </p:cNvSpPr>
          <p:nvPr>
            <p:ph idx="1" sz="half"/>
          </p:nvPr>
        </p:nvSpPr>
        <p:spPr/>
        <p:txBody>
          <a:bodyPr/>
          <a:lstStyle/>
          <a:p>
            <a:pPr>
              <a:spcAft>
                <a:spcPts val="600"/>
              </a:spcAft>
            </a:pPr>
            <a:r>
              <a:rPr b="1" sz="1900"/>
              <a:t>Brief</a:t>
            </a:r>
            <a:r>
              <a:rPr sz="1900"/>
              <a:t> – subject, composition, lens, light, style</a:t>
            </a:r>
          </a:p>
          <a:p>
            <a:pPr>
              <a:spcAft>
                <a:spcPts val="600"/>
              </a:spcAft>
            </a:pPr>
            <a:r>
              <a:rPr b="1" sz="1900"/>
              <a:t>Reference</a:t>
            </a:r>
            <a:r>
              <a:rPr sz="1900"/>
              <a:t> – a picture of what you mean</a:t>
            </a:r>
          </a:p>
          <a:p>
            <a:pPr>
              <a:spcAft>
                <a:spcPts val="600"/>
              </a:spcAft>
            </a:pPr>
            <a:r>
              <a:rPr b="1" sz="1900"/>
              <a:t>Structure input</a:t>
            </a:r>
            <a:r>
              <a:rPr sz="1900"/>
              <a:t> – a drawing the generator has to follow</a:t>
            </a:r>
          </a:p>
        </p:txBody>
      </p:sp>
      <p:sp>
        <p:nvSpPr>
          <p:cNvPr id="4" name="Content Placeholder 3"/>
          <p:cNvSpPr>
            <a:spLocks noGrp="1"/>
          </p:cNvSpPr>
          <p:nvPr>
            <p:ph idx="2" sz="half"/>
          </p:nvPr>
        </p:nvSpPr>
        <p:spPr/>
        <p:txBody>
          <a:bodyPr/>
          <a:lstStyle/>
          <a:p>
            <a:pPr>
              <a:spcAft>
                <a:spcPts val="600"/>
              </a:spcAft>
            </a:pPr>
            <a:r>
              <a:rPr b="1" sz="1900"/>
              <a:t>Thumbnail</a:t>
            </a:r>
            <a:r>
              <a:rPr sz="1900"/>
              <a:t> – the cheapest and best structure input there is</a:t>
            </a:r>
          </a:p>
          <a:p>
            <a:pPr>
              <a:spcAft>
                <a:spcPts val="600"/>
              </a:spcAft>
            </a:pPr>
            <a:r>
              <a:rPr b="1" sz="1900"/>
              <a:t>Integration</a:t>
            </a:r>
            <a:r>
              <a:rPr sz="1900"/>
              <a:t> – matching light, color, grain and edges</a:t>
            </a:r>
          </a:p>
          <a:p>
            <a:pPr>
              <a:spcAft>
                <a:spcPts val="600"/>
              </a:spcAft>
            </a:pPr>
            <a:r>
              <a:rPr b="1" sz="1900"/>
              <a:t>Disclosure</a:t>
            </a:r>
            <a:r>
              <a:rPr sz="1900"/>
              <a:t> – saying what was generated and what you made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Before next class: pick one</a:t>
            </a:r>
          </a:p>
        </p:txBody>
      </p:sp>
      <p:sp>
        <p:nvSpPr>
          <p:cNvPr id="3" name="Text Placeholder 2"/>
          <p:cNvSpPr>
            <a:spLocks noGrp="1"/>
          </p:cNvSpPr>
          <p:nvPr>
            <p:ph type="body" idx="1"/>
          </p:nvPr>
        </p:nvSpPr>
        <p:spPr/>
        <p:txBody>
          <a:bodyPr/>
          <a:lstStyle/>
          <a:p>
            <a:r>
              <a:t>Option A, guided</a:t>
            </a:r>
          </a:p>
        </p:txBody>
      </p:sp>
      <p:sp>
        <p:nvSpPr>
          <p:cNvPr id="4" name="Content Placeholder 3"/>
          <p:cNvSpPr>
            <a:spLocks noGrp="1"/>
          </p:cNvSpPr>
          <p:nvPr>
            <p:ph idx="2" sz="half"/>
          </p:nvPr>
        </p:nvSpPr>
        <p:spPr/>
        <p:txBody>
          <a:bodyPr/>
          <a:lstStyle/>
          <a:p>
            <a:pPr/>
            <a:r>
              <a:t>Rank six provided images</a:t>
            </a:r>
          </a:p>
          <a:p>
            <a:pPr/>
            <a:r>
              <a:t>against a short brief.</a:t>
            </a:r>
          </a:p>
          <a:p>
            <a:pPr/>
            <a:r>
              <a:t>Justify your top and bottom picks.</a:t>
            </a:r>
          </a:p>
        </p:txBody>
      </p:sp>
      <p:sp>
        <p:nvSpPr>
          <p:cNvPr id="5" name="Text Placeholder 4"/>
          <p:cNvSpPr>
            <a:spLocks noGrp="1"/>
          </p:cNvSpPr>
          <p:nvPr>
            <p:ph type="body" idx="3" sz="quarter"/>
          </p:nvPr>
        </p:nvSpPr>
        <p:spPr/>
        <p:txBody>
          <a:bodyPr/>
          <a:lstStyle/>
          <a:p>
            <a:r>
              <a:t>Option B, own material</a:t>
            </a:r>
          </a:p>
        </p:txBody>
      </p:sp>
      <p:sp>
        <p:nvSpPr>
          <p:cNvPr id="6" name="Content Placeholder 5"/>
          <p:cNvSpPr>
            <a:spLocks noGrp="1"/>
          </p:cNvSpPr>
          <p:nvPr>
            <p:ph idx="4" sz="quarter"/>
          </p:nvPr>
        </p:nvSpPr>
        <p:spPr/>
        <p:txBody>
          <a:bodyPr/>
          <a:lstStyle/>
          <a:p>
            <a:pPr/>
            <a:r>
              <a:t>Write a five-part brief</a:t>
            </a:r>
          </a:p>
          <a:p>
            <a:pPr/>
            <a:r>
              <a:t>for your frame extension's</a:t>
            </a:r>
          </a:p>
          <a:p>
            <a:pPr/>
            <a:r>
              <a:t>new space. Then thumbnail it.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Whoever makes the decisions made the picture.</a:t>
            </a:r>
          </a:p>
        </p:txBody>
      </p:sp>
      <p:sp>
        <p:nvSpPr>
          <p:cNvPr id="3" name="Text Placeholder 2"/>
          <p:cNvSpPr>
            <a:spLocks noGrp="1"/>
          </p:cNvSpPr>
          <p:nvPr>
            <p:ph type="body" idx="13" sz="quarter"/>
          </p:nvPr>
        </p:nvSpPr>
        <p:spPr/>
        <p:txBody>
          <a:bodyPr/>
          <a:lstStyle/>
          <a:p>
            <a:r>
              <a:t>One line to take home</a:t>
            </a:r>
          </a:p>
        </p:txBody>
      </p:sp>
      <p:sp>
        <p:nvSpPr>
          <p:cNvPr id="4" name="Text Placeholder 3"/>
          <p:cNvSpPr>
            <a:spLocks noGrp="1"/>
          </p:cNvSpPr>
          <p:nvPr>
            <p:ph type="body" idx="1"/>
          </p:nvPr>
        </p:nvSpPr>
        <p:spPr/>
        <p:txBody>
          <a:bodyPr/>
          <a:lstStyle/>
          <a:p>
            <a:r>
              <a:t>Make them before you start.</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jpeg"/></Relationships>
</file>

<file path=ppt/theme/theme1.xml><?xml version="1.0" encoding="utf-8"?>
<a:theme xmlns:a="http://schemas.openxmlformats.org/drawingml/2006/main" name="Game Design Theme">
  <a:themeElements>
    <a:clrScheme name="Organic">
      <a:dk1>
        <a:sysClr val="windowText" lastClr="000000"/>
      </a:dk1>
      <a:lt1>
        <a:sysClr val="window" lastClr="FFFFFF"/>
      </a:lt1>
      <a:dk2>
        <a:srgbClr val="212121"/>
      </a:dk2>
      <a:lt2>
        <a:srgbClr val="DADADA"/>
      </a:lt2>
      <a:accent1>
        <a:srgbClr val="D9B247"/>
      </a:accent1>
      <a:accent2>
        <a:srgbClr val="CC702D"/>
      </a:accent2>
      <a:accent3>
        <a:srgbClr val="B53A31"/>
      </a:accent3>
      <a:accent4>
        <a:srgbClr val="815F56"/>
      </a:accent4>
      <a:accent5>
        <a:srgbClr val="AE9E7C"/>
      </a:accent5>
      <a:accent6>
        <a:srgbClr val="7B8865"/>
      </a:accent6>
      <a:hlink>
        <a:srgbClr val="BB7826"/>
      </a:hlink>
      <a:folHlink>
        <a:srgbClr val="CF9C5F"/>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Game Design Theme" id="{FDF2760C-01FA-4CD6-92F4-89C50AE1AED8}" vid="{701598FD-A452-4D8B-8848-C96AAD2A0DD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Game Design Theme</Template>
  <TotalTime>8078</TotalTime>
  <Words>4258</Words>
  <Application>Microsoft Office PowerPoint</Application>
  <PresentationFormat>Widescreen</PresentationFormat>
  <Paragraphs>228</Paragraphs>
  <Slides>36</Slides>
  <Notes>36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36</vt:i4>
      </vt:variant>
    </vt:vector>
  </HeadingPairs>
  <TitlesOfParts>
    <vt:vector size="40" baseType="lpstr">
      <vt:lpstr>Arial</vt:lpstr>
      <vt:lpstr>Calibri</vt:lpstr>
      <vt:lpstr>Garamond</vt:lpstr>
      <vt:lpstr>Game Design Theme</vt:lpstr>
      <vt:lpstr>Storytelling Through Lighting</vt:lpstr>
      <vt:lpstr>Nothing Is Accidental</vt:lpstr>
      <vt:lpstr>Where This Comes From</vt:lpstr>
      <vt:lpstr>Film vs. 3D</vt:lpstr>
      <vt:lpstr>The Standard Setup</vt:lpstr>
      <vt:lpstr>Key Light</vt:lpstr>
      <vt:lpstr>Fill Light</vt:lpstr>
      <vt:lpstr>Backlight</vt:lpstr>
      <vt:lpstr>The Two Families</vt:lpstr>
      <vt:lpstr>High-Key Lighting</vt:lpstr>
      <vt:lpstr>Low-Key Lighting</vt:lpstr>
      <vt:lpstr>What Contrast Does</vt:lpstr>
      <vt:lpstr>High Contrast</vt:lpstr>
      <vt:lpstr>Low Contrast</vt:lpstr>
      <vt:lpstr>Hard vs. Soft, Explained by the Sun</vt:lpstr>
      <vt:lpstr>Hard Light</vt:lpstr>
      <vt:lpstr>Soft Light</vt:lpstr>
      <vt:lpstr>Drawing Light in a Storyboard Panel</vt:lpstr>
      <vt:lpstr>Direction Changes the Mood</vt:lpstr>
      <vt:lpstr>Frontal Lighting</vt:lpstr>
      <vt:lpstr>Side Lighting</vt:lpstr>
      <vt:lpstr>Backlighting</vt:lpstr>
      <vt:lpstr>Underlighting</vt:lpstr>
      <vt:lpstr>Exercise: Light the Same Pose Four Ways</vt:lpstr>
      <vt:lpstr>Train Your Eye</vt:lpstr>
      <vt:lpstr>Realistic Lighting</vt:lpstr>
      <vt:lpstr>Dramatic / Stylized Lighting</vt:lpstr>
      <vt:lpstr>What Color Does in a Story</vt:lpstr>
      <vt:lpstr>Contrast Is the Real Tool</vt:lpstr>
      <vt:lpstr>Making Something Stand Out — Or Getting Out of Its Way</vt:lpstr>
      <vt:lpstr>The Wheel, Once</vt:lpstr>
      <vt:lpstr>Warm</vt:lpstr>
      <vt:lpstr>Cool</vt:lpstr>
      <vt:lpstr>Color Meaning Is Cultural</vt:lpstr>
      <vt:lpstr>Apply It: Light and Color, One Panel</vt:lpstr>
      <vt:lpstr>A Language Still Being Written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Acting for Animation</dc:title>
  <dc:creator>Daniel</dc:creator>
  <cp:lastModifiedBy>Daniel Coes</cp:lastModifiedBy>
  <cp:revision>372</cp:revision>
  <dcterms:created xsi:type="dcterms:W3CDTF">2016-05-07T19:16:27Z</dcterms:created>
  <dcterms:modified xsi:type="dcterms:W3CDTF">2026-08-11T01:20:15Z</dcterms:modified>
</cp:coreProperties>
</file>