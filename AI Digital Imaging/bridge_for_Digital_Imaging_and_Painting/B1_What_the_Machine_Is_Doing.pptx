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What this is.</a:t>
            </a:r>
            <a:r>
              <a:t> A stand-alone lecture, about 50 minutes, that introduces generative imaging to the painting course without changing its shape. Students don't generate anything. It assumes they've had the value and form-and-light sessions, so it fits best anywhere after session 3; the strongest spot is shortly before the paint-over in session 12, either as an extra meeting or in place of a lecture on a lighter day, keeping that day's own options.</a:t>
            </a:r>
          </a:p>
          <a:p>
            <a:pPr>
              <a:spcAft>
                <a:spcPts val="800"/>
              </a:spcAft>
            </a:pPr>
            <a:r>
              <a:rPr b="1"/>
              <a:t>Running time.</a:t>
            </a:r>
            <a:r>
              <a:t> The room and a little history (8). How it works (12). Why it fails where it fails, in painting terms (14). The job market and ownership, briefly (8). Spot it together (5). Options (3).</a:t>
            </a:r>
          </a:p>
          <a:p>
            <a:pPr>
              <a:spcAft>
                <a:spcPts val="800"/>
              </a:spcAft>
            </a:pPr>
            <a:r>
              <a:rPr b="1"/>
              <a:t>Prep.</a:t>
            </a:r>
            <a:r>
              <a:t> Two or three of your own generated images with typical errors, for the Spot it exercise and for Option A. Slot images: a daguerreotype (public domain), a darkroom print in a tray.</a:t>
            </a:r>
          </a:p>
          <a:p>
            <a:pPr>
              <a:spcAft>
                <a:spcPts val="800"/>
              </a:spcAft>
            </a:pPr>
            <a:r>
              <a:rPr b="1"/>
              <a:t>Boundary.</a:t>
            </a:r>
            <a:r>
              <a:t> This course owns painting fundamentals; the AI course owns generative workflows. This lecture names how the tools work and why a painter can see their mistakes. It doesn't teach prompting or Generative Fill.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topic I'd rather raise than avoid: image generators. Some of you think they're cheating. Some of you think they're worse than that. Some of you use them every day.</a:t>
            </a:r>
          </a:p>
          <a:p>
            <a:pPr>
              <a:spcAft>
                <a:spcPts val="800"/>
              </a:spcAft>
            </a:pPr>
            <a:r>
              <a:t>All of those are allowed in this room. Nothing today asks you to use these tools, and nothing in this course will require it. What I'd like is for you to understand what they're actually doing, because it turns out that a painter is unusually well equipped to see what they get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Quick show of hands, nobody gets graded. [Ask the three. Count aloud.]</a:t>
            </a:r>
          </a:p>
          <a:p>
            <a:pPr>
              <a:spcAft>
                <a:spcPts val="800"/>
              </a:spcAft>
            </a:pPr>
            <a:r>
              <a:t>The room is always split. That's fine. By the end of today, everyone, including the people who'll never touch one, should be able to look at a generated image and say, in painting words, what's wrong with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bit of history. Around 1839 or so, photography arrives, and a painter named Paul Delaroche supposedly says "from today, painting is dead." Historians aren't sure he said it.</a:t>
            </a:r>
          </a:p>
          <a:p>
            <a:pPr>
              <a:spcAft>
                <a:spcPts val="800"/>
              </a:spcAft>
            </a:pPr>
            <a:r>
              <a:t>Painting didn't die. Portrait painters lost a lot of work, quite quickly. And painting changed: the Impressionists went after exactly what the cameras of the time couldn't do, and painters used photographs as reference almost from the start, some of them secretly.</a:t>
            </a:r>
          </a:p>
          <a:p>
            <a:pPr>
              <a:spcAft>
                <a:spcPts val="800"/>
              </a:spcAft>
            </a:pPr>
            <a:r>
              <a:t>You're doing that in this course, in session 8: photo and paint, integrated. Bringing a new kind of image source into a painting isn't new. The question of what the painter's part is gets asked every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how does a generator make a picture? I'll keep it mechanical.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common belief is that a generator keeps a library of pictures and cuts them together. It doesn't. There are no stored images inside it. There's a very large set of numbers, adjusted during training until the system got good at one job.</a:t>
            </a:r>
          </a:p>
          <a:p>
            <a:pPr>
              <a:spcAft>
                <a:spcPts val="800"/>
              </a:spcAft>
            </a:pPr>
            <a:r>
              <a:t>It "learned" what pictures with certain captions tend to look like. I put "learned" in quotes because it doesn't know what a cat is, or what light is. It knows what pictures captioned "cat" or "sunset" usually look like.</a:t>
            </a:r>
          </a:p>
          <a:p>
            <a:pPr>
              <a:spcAft>
                <a:spcPts val="800"/>
              </a:spcAft>
            </a:pPr>
            <a:r>
              <a:t>That difference, knowing how things look versus knowing how they work, explains every mistake we'll look at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the mechanism, called "diffusion." It starts from pure noise, like static, and removes a little of it, step by step, often thirty to fifty times, each step nudged by the words in the prompt toward something that matches.</a:t>
            </a:r>
          </a:p>
          <a:p>
            <a:pPr>
              <a:spcAft>
                <a:spcPts val="800"/>
              </a:spcAft>
            </a:pPr>
            <a:r>
              <a:t>To be honest about the slide: I made this strip by adding noise to an old NASA photograph and showing it backwards. A real generator starts from static with no picture underneath at all.</a:t>
            </a:r>
          </a:p>
          <a:p>
            <a:pPr>
              <a:spcAft>
                <a:spcPts val="800"/>
              </a:spcAft>
            </a:pPr>
            <a:r>
              <a:t>[Point at the early steps.] Notice what arrives first: the big value masses, the overall color, the composition. Detail comes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Which should sound familiar. It's roughly the order you paint in: block in the big values, then turn the forms, then the detail and the edges. It's why your final project has a block-in milestone before the color pass.</a:t>
            </a:r>
          </a:p>
          <a:p>
            <a:pPr>
              <a:spcAft>
                <a:spcPts val="800"/>
              </a:spcAft>
            </a:pPr>
            <a:r>
              <a:t>The analogy breaks in one important place, though. When you block in, you </a:t>
            </a:r>
            <a:r>
              <a:rPr b="1"/>
              <a:t>decide</a:t>
            </a:r>
            <a:r>
              <a:t> where the light comes from and what reads first. The generator doesn't decide anything. Its block-in is the average of what pictures with those words usually look like, so the big decisions get made by accident.</a:t>
            </a:r>
          </a:p>
          <a:p>
            <a:pPr>
              <a:spcAft>
                <a:spcPts val="800"/>
              </a:spcAft>
            </a:pPr>
            <a:r>
              <a:t>That's the part a painter can see and fix.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If you've seen a print come up in a darkroom tray, that's close to what it looks like. Dark masses first, detail last.</a:t>
            </a:r>
          </a:p>
          <a:p>
            <a:pPr>
              <a:spcAft>
                <a:spcPts val="800"/>
              </a:spcAft>
            </a:pPr>
            <a:r>
              <a:t>Except in the darkroom there's a negative: a real photograph of a real moment. Here, </a:t>
            </a:r>
            <a:r>
              <a:rPr b="1"/>
              <a:t>there is no negative.</a:t>
            </a:r>
            <a:r>
              <a:t> The picture never existed. It's invented as it develops, steered by words and by everything absorbed in training. That's why the same prompt never gives the same picture twice.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Where does the steering come from? Training. An enormous number of images with captions, billions for some well-known models, collected largely from the web. The system practices removing noise from them, over and over, and builds connections between words and how things look.</a:t>
            </a:r>
          </a:p>
          <a:p>
            <a:pPr>
              <a:spcAft>
                <a:spcPts val="800"/>
              </a:spcAft>
            </a:pPr>
            <a:r>
              <a:t>Whose pictures were they? Often, the work of living artists and photographers who were never asked. That's the center of the ethical and legal argument about these tools, and it's a fair argument. Adobe says its model was trained on licensed and public domain images instead; not everyone accepts that at face value.</a:t>
            </a:r>
          </a:p>
          <a:p>
            <a:pPr>
              <a:spcAft>
                <a:spcPts val="800"/>
              </a:spcAft>
            </a:pPr>
            <a:r>
              <a:t>I'm not going to tell you what to think about that. I'd like you to know that it's the real argument, rather than "robots bad" or "artists just mad."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part this course is uniquely good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generator is very good at </a:t>
            </a:r>
            <a:r>
              <a:rPr b="1"/>
              <a:t>surface</a:t>
            </a:r>
            <a:r>
              <a:t>: textures, materials, the general feeling of a light, what a forest or a face usually looks like.</a:t>
            </a:r>
          </a:p>
          <a:p>
            <a:pPr>
              <a:spcAft>
                <a:spcPts val="800"/>
              </a:spcAft>
            </a:pPr>
            <a:r>
              <a:t>It's much worse at things that follow </a:t>
            </a:r>
            <a:r>
              <a:rPr b="1"/>
              <a:t>rules</a:t>
            </a:r>
            <a:r>
              <a:t>. Light comes from somewhere, so every shadow in a scene must agree. A scene has one horizon. A hand has five fingers that bend one way. Averaging millions of pictures gives you convincing surfaces and unreliable rules.</a:t>
            </a:r>
          </a:p>
          <a:p>
            <a:pPr>
              <a:spcAft>
                <a:spcPts val="800"/>
              </a:spcAft>
            </a:pPr>
            <a:r>
              <a:t>And the rules are exactly what you've been studying in this course: value structure, form and light, edges,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object, five lights, the kind of exercise you did with the primitives. Noon overhead, golden hour low and warm, overcast and soft, rim light from behind, night with a warm lamp.</a:t>
            </a:r>
          </a:p>
          <a:p>
            <a:pPr>
              <a:spcAft>
                <a:spcPts val="800"/>
              </a:spcAft>
            </a:pPr>
            <a:r>
              <a:t>You know how to read these: where's the light side, the core shadow, the cast shadow, the bounce, the highlight. The generator produces images that </a:t>
            </a:r>
            <a:r>
              <a:rPr b="1"/>
              <a:t>look like</a:t>
            </a:r>
            <a:r>
              <a:t> these, but it doesn't track where the light actually is. That's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the single most common error a painter can spot in generated images. Each object, on its own, is lit convincingly. Together, they're lit from opposite sides. Two suns.</a:t>
            </a:r>
          </a:p>
          <a:p>
            <a:pPr>
              <a:spcAft>
                <a:spcPts val="800"/>
              </a:spcAft>
            </a:pPr>
            <a:r>
              <a:t>The generator makes this mistake because each part was "painted" to look right locally, without a single light source for the whole scene. You'd never do this, because you start by deciding where the light is.</a:t>
            </a:r>
          </a:p>
          <a:p>
            <a:pPr>
              <a:spcAft>
                <a:spcPts val="800"/>
              </a:spcAft>
            </a:pPr>
            <a:r>
              <a:t>Most people, looking at a generated image, see the hands. A painter sees the shadows. That's a real, marketable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squint test, from session 2. Desaturate, squint, and ask: is there a value structure? A clear light mass, a clear dark mass, something that reads first?</a:t>
            </a:r>
          </a:p>
          <a:p>
            <a:pPr>
              <a:spcAft>
                <a:spcPts val="800"/>
              </a:spcAft>
            </a:pPr>
            <a:r>
              <a:t>Generated images very often fail this. Lots of color, lots of detail, and underneath, in gray, everything is a medium tone fighting every other medium tone. Detail everywhere, focus nowhere. Some people call it "mush."</a:t>
            </a:r>
          </a:p>
          <a:p>
            <a:pPr>
              <a:spcAft>
                <a:spcPts val="800"/>
              </a:spcAft>
            </a:pPr>
            <a:r>
              <a:t>No prompt fixes this reliably. Paint does: darken what doesn't matter, keep the light where the eye should go. That's a value decision, and the generator doesn't make value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Perspective, which you'll use heavily in the frame extension. Find the horizon, then check whether every receding line agrees with it. The box on the right has its own private horizon somewhere in the sky.</a:t>
            </a:r>
          </a:p>
          <a:p>
            <a:pPr>
              <a:spcAft>
                <a:spcPts val="800"/>
              </a:spcAft>
            </a:pPr>
            <a:r>
              <a:t>Generated rooms and streets do this constantly: each object plausible, the space impossible. Same root cause as the two suns: no single rule for the whole image.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here's the summary, and I'll mark it as a belief.</a:t>
            </a:r>
          </a:p>
          <a:p>
            <a:pPr>
              <a:spcAft>
                <a:spcPts val="800"/>
              </a:spcAft>
            </a:pPr>
            <a:r>
              <a:t>A painter brings three things the generator doesn't have. A decision about </a:t>
            </a:r>
            <a:r>
              <a:rPr b="1"/>
              <a:t>where the light comes from</a:t>
            </a:r>
            <a:r>
              <a:t>, held across the whole image. A decision about </a:t>
            </a:r>
            <a:r>
              <a:rPr b="1"/>
              <a:t>what should read first</a:t>
            </a:r>
            <a:r>
              <a:t>, carried by value and edges. And an idea of </a:t>
            </a:r>
            <a:r>
              <a:rPr b="1"/>
              <a:t>what the image is for</a:t>
            </a:r>
            <a:r>
              <a:t>, which is what your frame extension is about: what the new space adds or changes.</a:t>
            </a:r>
          </a:p>
          <a:p>
            <a:pPr>
              <a:spcAft>
                <a:spcPts val="800"/>
              </a:spcAft>
            </a:pPr>
            <a:r>
              <a:t>Generators produce candidates. They don't make those decisions. In my experience these tools are most useful in the hands of people who already know what they're trying to achieve, and least useful to people who don't.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few minutes on the job market, because you deserve a straight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from the Game Developers Conference's annual survey of people working in games, a bit over 2,300 of them in the 2026 report. The share who say generative AI is having a negative impact on the industry went from 18% to 30% to 52% in three years, and it's around 64% among visual and technical artists. About a third use the tools at work anyway.</a:t>
            </a:r>
          </a:p>
          <a:p>
            <a:pPr>
              <a:spcAft>
                <a:spcPts val="800"/>
              </a:spcAft>
            </a:pPr>
            <a:r>
              <a:t>The honest picture: entry-level image-making work has contracted. I'm not going to tell you the field is fine.</a:t>
            </a:r>
          </a:p>
          <a:p>
            <a:pPr>
              <a:spcAft>
                <a:spcPts val="800"/>
              </a:spcAft>
            </a:pPr>
            <a:r>
              <a:t>What I believe holds up is the list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Knowing what you want: a brief, a light, a composition, decided before you start. Seeing what's wrong: the two suns, the mush, the private horizon. Fixing it by hand: which is painting. And saying what you made, honestly.</a:t>
            </a:r>
          </a:p>
          <a:p>
            <a:pPr>
              <a:spcAft>
                <a:spcPts val="800"/>
              </a:spcAft>
            </a:pPr>
            <a:r>
              <a:t>Three of those four are things this course already teaches. The tool is a means of expression, and the person using it is not an operator.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Briefly, because it surprises people. In the US, as of this term, copyright requires a human author. Purely generated images aren't protected, and the Supreme Court declined to revisit that in early 2026. The Copyright Office's position is that writing a prompt, even a detailed one, usually doesn't make you the author of what comes out.</a:t>
            </a:r>
          </a:p>
          <a:p>
            <a:pPr>
              <a:spcAft>
                <a:spcPts val="800"/>
              </a:spcAft>
            </a:pPr>
            <a:r>
              <a:t>What can be protected is what a person contributes: selection, arrangement, and changes made by hand. So in a sense, the painting is the part that's yours. [I'm not a lawyer, and this changes; check it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And one professional habit, whatever you think of the tools: if a generator touched something, say so. Which parts were generated, which parts you made. A sentence or two.</a:t>
            </a:r>
          </a:p>
          <a:p>
            <a:pPr>
              <a:spcAft>
                <a:spcPts val="800"/>
              </a:spcAft>
            </a:pPr>
            <a:r>
              <a:t>It's how professionals handle it now, and clients increasingly ask. In this course it applies to the one paint-over exercise, where the images come from me, and you'll say so in the layer names.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Do this one as a whole-room exercise, about five minutes, and insist on painting vocabulary: light side, cast shadow, value mass, edge, horizon.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next class. These sit in place of that day's usual options if you run this lecture on a regular session day.</a:t>
            </a:r>
          </a:p>
          <a:p>
            <a:pPr>
              <a:spcAft>
                <a:spcPts val="800"/>
              </a:spcAft>
            </a:pPr>
            <a:r>
              <a:rPr b="1"/>
              <a:t>Option A</a:t>
            </a:r>
            <a:r>
              <a:t>: two generated images on Canvas, from me. On a new layer called CALLOUT, circle and number every error you find, and write one line for each in painting terms: "2. Cast shadow falls left, light is on the left."</a:t>
            </a:r>
          </a:p>
          <a:p>
            <a:pPr>
              <a:spcAft>
                <a:spcPts val="800"/>
              </a:spcAft>
            </a:pPr>
            <a:r>
              <a:rPr b="1"/>
              <a:t>Option B</a:t>
            </a:r>
            <a:r>
              <a:t>: about 150 words. One thing a painter can see that a generator can't, with a specific example from one of the images we looked at, or from your own observation.</a:t>
            </a:r>
          </a:p>
          <a:p>
            <a:pPr>
              <a:spcAft>
                <a:spcPts val="800"/>
              </a:spcAft>
            </a:pPr>
            <a:r>
              <a:t>Same session rubric as always. Nobody needs to generate anything.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It knows how things look. You know how they work, and that's the part that's worth something.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the Machine Is Doing</a:t>
            </a:r>
          </a:p>
        </p:txBody>
      </p:sp>
      <p:sp>
        <p:nvSpPr>
          <p:cNvPr id="3" name="Subtitle 2"/>
          <p:cNvSpPr>
            <a:spLocks noGrp="1"/>
          </p:cNvSpPr>
          <p:nvPr>
            <p:ph type="subTitle" idx="1"/>
          </p:nvPr>
        </p:nvSpPr>
        <p:spPr/>
        <p:txBody>
          <a:bodyPr/>
          <a:lstStyle/>
          <a:p>
            <a:r>
              <a:t>Digital Imaging and Painting  |  A painter's look at generated images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Some of you think this is cheating.</a:t>
            </a:r>
          </a:p>
        </p:txBody>
      </p:sp>
      <p:sp>
        <p:nvSpPr>
          <p:cNvPr id="3" name="Text Placeholder 2"/>
          <p:cNvSpPr>
            <a:spLocks noGrp="1"/>
          </p:cNvSpPr>
          <p:nvPr>
            <p:ph type="body" idx="13" sz="quarter"/>
          </p:nvPr>
        </p:nvSpPr>
        <p:spPr/>
        <p:txBody>
          <a:bodyPr/>
          <a:lstStyle/>
          <a:p>
            <a:r>
              <a:t>Let's start with the room</a:t>
            </a:r>
          </a:p>
        </p:txBody>
      </p:sp>
      <p:sp>
        <p:nvSpPr>
          <p:cNvPr id="4" name="Text Placeholder 3"/>
          <p:cNvSpPr>
            <a:spLocks noGrp="1"/>
          </p:cNvSpPr>
          <p:nvPr>
            <p:ph type="body" idx="1"/>
          </p:nvPr>
        </p:nvSpPr>
        <p:spPr/>
        <p:txBody>
          <a:bodyPr/>
          <a:lstStyle/>
          <a:p>
            <a:r>
              <a:t>That's allowed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 up</a:t>
            </a:r>
          </a:p>
        </p:txBody>
      </p:sp>
      <p:sp>
        <p:nvSpPr>
          <p:cNvPr id="3" name="Content Placeholder 2"/>
          <p:cNvSpPr>
            <a:spLocks noGrp="1"/>
          </p:cNvSpPr>
          <p:nvPr>
            <p:ph idx="1"/>
          </p:nvPr>
        </p:nvSpPr>
        <p:spPr/>
        <p:txBody>
          <a:bodyPr/>
          <a:lstStyle/>
          <a:p>
            <a:pPr/>
            <a:r>
              <a:t>Used an image generator?</a:t>
            </a:r>
          </a:p>
          <a:p>
            <a:pPr/>
            <a:r>
              <a:t>Avoid them on purpose?</a:t>
            </a:r>
          </a:p>
          <a:p>
            <a:pPr/>
            <a:r>
              <a:t>Haven't decided?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1839 or so</a:t>
            </a:r>
          </a:p>
        </p:txBody>
      </p:sp>
      <p:sp>
        <p:nvSpPr>
          <p:cNvPr id="3" name="Content Placeholder 2"/>
          <p:cNvSpPr>
            <a:spLocks noGrp="1"/>
          </p:cNvSpPr>
          <p:nvPr>
            <p:ph idx="1"/>
          </p:nvPr>
        </p:nvSpPr>
        <p:spPr>
          <a:xfrm>
            <a:off x="1298448" y="2560320"/>
            <a:ext cx="5349240" cy="3383280"/>
          </a:xfrm>
        </p:spPr>
        <p:txBody>
          <a:bodyPr/>
          <a:lstStyle/>
          <a:p>
            <a:pPr/>
            <a:r>
              <a:t>Photography arrives.</a:t>
            </a:r>
          </a:p>
          <a:p>
            <a:pPr/>
            <a:r>
              <a:t>"From today, painting is dead."</a:t>
            </a:r>
          </a:p>
          <a:p>
            <a:pPr/>
            <a:r>
              <a:t>Painters used photos anyway.</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daguerreotype, e.g. Daguerre's Boulevard du Temple (public domain)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Text Placeholder 2"/>
          <p:cNvSpPr>
            <a:spLocks noGrp="1"/>
          </p:cNvSpPr>
          <p:nvPr>
            <p:ph type="body" idx="1"/>
          </p:nvPr>
        </p:nvSpPr>
        <p:spPr/>
        <p:txBody>
          <a:bodyPr/>
          <a:lstStyle/>
          <a:p>
            <a:r>
              <a:t>No magic, a lot of arithmetic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isn't a collage machine</a:t>
            </a:r>
          </a:p>
        </p:txBody>
      </p:sp>
      <p:sp>
        <p:nvSpPr>
          <p:cNvPr id="3" name="Content Placeholder 2"/>
          <p:cNvSpPr>
            <a:spLocks noGrp="1"/>
          </p:cNvSpPr>
          <p:nvPr>
            <p:ph idx="1"/>
          </p:nvPr>
        </p:nvSpPr>
        <p:spPr/>
        <p:txBody>
          <a:bodyPr/>
          <a:lstStyle/>
          <a:p>
            <a:pPr/>
            <a:r>
              <a:t>No stored pictures inside.</a:t>
            </a:r>
          </a:p>
          <a:p>
            <a:pPr/>
            <a:r>
              <a:t>It "learned" what things look like.</a:t>
            </a:r>
          </a:p>
          <a:p>
            <a:pPr/>
            <a:r>
              <a:t>It builds new pictures out of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image developed out of noise</a:t>
            </a:r>
          </a:p>
        </p:txBody>
      </p:sp>
      <p:pic>
        <p:nvPicPr>
          <p:cNvPr id="3" name="Picture 2" descr="diffusion_strip.png"/>
          <p:cNvPicPr>
            <a:picLocks noChangeAspect="1"/>
          </p:cNvPicPr>
          <p:nvPr/>
        </p:nvPicPr>
        <p:blipFill>
          <a:blip r:embed="rId2"/>
          <a:stretch>
            <a:fillRect/>
          </a:stretch>
        </p:blipFill>
        <p:spPr>
          <a:xfrm>
            <a:off x="1298448" y="3016468"/>
            <a:ext cx="9601200" cy="1968062"/>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It removes a little noise at a time, steered by the words.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Big shapes first, detail last</a:t>
            </a:r>
          </a:p>
        </p:txBody>
      </p:sp>
      <p:sp>
        <p:nvSpPr>
          <p:cNvPr id="3" name="Content Placeholder 2"/>
          <p:cNvSpPr>
            <a:spLocks noGrp="1"/>
          </p:cNvSpPr>
          <p:nvPr>
            <p:ph idx="1"/>
          </p:nvPr>
        </p:nvSpPr>
        <p:spPr/>
        <p:txBody>
          <a:bodyPr/>
          <a:lstStyle/>
          <a:p>
            <a:pPr/>
            <a:r>
              <a:t>Value masses arrive first.</a:t>
            </a:r>
          </a:p>
          <a:p>
            <a:pPr/>
            <a:r>
              <a:t>Then form. Then detail.</a:t>
            </a:r>
          </a:p>
          <a:p>
            <a:pPr/>
            <a:r>
              <a:t>Sound familiar?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print in a tray</a:t>
            </a:r>
          </a:p>
        </p:txBody>
      </p:sp>
      <p:sp>
        <p:nvSpPr>
          <p:cNvPr id="3" name="Content Placeholder 2"/>
          <p:cNvSpPr>
            <a:spLocks noGrp="1"/>
          </p:cNvSpPr>
          <p:nvPr>
            <p:ph idx="1"/>
          </p:nvPr>
        </p:nvSpPr>
        <p:spPr>
          <a:xfrm>
            <a:off x="1298448" y="2560320"/>
            <a:ext cx="5349240" cy="3383280"/>
          </a:xfrm>
        </p:spPr>
        <p:txBody>
          <a:bodyPr/>
          <a:lstStyle/>
          <a:p>
            <a:pPr/>
            <a:r>
              <a:t>It comes up slowly.</a:t>
            </a:r>
          </a:p>
          <a:p>
            <a:pPr/>
            <a:r>
              <a:t>Big shapes first.</a:t>
            </a:r>
          </a:p>
          <a:p>
            <a:pPr/>
            <a:r>
              <a:t>But there's no negative.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photographic print developing in a darkroom tray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in plain words</a:t>
            </a:r>
          </a:p>
        </p:txBody>
      </p:sp>
      <p:sp>
        <p:nvSpPr>
          <p:cNvPr id="3" name="Content Placeholder 2"/>
          <p:cNvSpPr>
            <a:spLocks noGrp="1"/>
          </p:cNvSpPr>
          <p:nvPr>
            <p:ph idx="1"/>
          </p:nvPr>
        </p:nvSpPr>
        <p:spPr/>
        <p:txBody>
          <a:bodyPr/>
          <a:lstStyle/>
          <a:p>
            <a:pPr/>
            <a:r>
              <a:t>Millions of captioned pictures.</a:t>
            </a:r>
          </a:p>
          <a:p>
            <a:pPr/>
            <a:r>
              <a:t>Noise added, then removed, over and over.</a:t>
            </a:r>
          </a:p>
          <a:p>
            <a:pPr/>
            <a:r>
              <a:t>Whose pictures? That's the argument.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fails where it fails</a:t>
            </a:r>
          </a:p>
        </p:txBody>
      </p:sp>
      <p:sp>
        <p:nvSpPr>
          <p:cNvPr id="3" name="Text Placeholder 2"/>
          <p:cNvSpPr>
            <a:spLocks noGrp="1"/>
          </p:cNvSpPr>
          <p:nvPr>
            <p:ph type="body" idx="1"/>
          </p:nvPr>
        </p:nvSpPr>
        <p:spPr/>
        <p:txBody>
          <a:bodyPr/>
          <a:lstStyle/>
          <a:p>
            <a:r>
              <a:t>In painting terms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Surfaces, not rules</a:t>
            </a:r>
          </a:p>
        </p:txBody>
      </p:sp>
      <p:sp>
        <p:nvSpPr>
          <p:cNvPr id="3" name="Content Placeholder 2"/>
          <p:cNvSpPr>
            <a:spLocks noGrp="1"/>
          </p:cNvSpPr>
          <p:nvPr>
            <p:ph idx="1"/>
          </p:nvPr>
        </p:nvSpPr>
        <p:spPr/>
        <p:txBody>
          <a:bodyPr/>
          <a:lstStyle/>
          <a:p>
            <a:pPr/>
            <a:r>
              <a:t>Good at textures and moods.</a:t>
            </a:r>
          </a:p>
          <a:p>
            <a:pPr/>
            <a:r>
              <a:t>Bad at things with rules.</a:t>
            </a:r>
          </a:p>
          <a:p>
            <a:pPr/>
            <a:r>
              <a:t>Light has rules. So does perspective.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light questions, again</a:t>
            </a:r>
          </a:p>
        </p:txBody>
      </p:sp>
      <p:pic>
        <p:nvPicPr>
          <p:cNvPr id="3" name="Picture 2" descr="light_spheres.png"/>
          <p:cNvPicPr>
            <a:picLocks noChangeAspect="1"/>
          </p:cNvPicPr>
          <p:nvPr/>
        </p:nvPicPr>
        <p:blipFill>
          <a:blip r:embed="rId2"/>
          <a:stretch>
            <a:fillRect/>
          </a:stretch>
        </p:blipFill>
        <p:spPr>
          <a:xfrm>
            <a:off x="1298448" y="2809110"/>
            <a:ext cx="9601200" cy="2382779"/>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Where it comes from, what color it is, how hard it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suns</a:t>
            </a:r>
          </a:p>
        </p:txBody>
      </p:sp>
      <p:sp>
        <p:nvSpPr>
          <p:cNvPr id="3" name="Content Placeholder 2"/>
          <p:cNvSpPr>
            <a:spLocks noGrp="1"/>
          </p:cNvSpPr>
          <p:nvPr>
            <p:ph idx="1"/>
          </p:nvPr>
        </p:nvSpPr>
        <p:spPr>
          <a:xfrm>
            <a:off x="1298448" y="2560320"/>
            <a:ext cx="5349240" cy="3383280"/>
          </a:xfrm>
        </p:spPr>
        <p:txBody>
          <a:bodyPr/>
          <a:lstStyle/>
          <a:p>
            <a:pPr/>
            <a:r>
              <a:t>Each sphere is lit correctly.</a:t>
            </a:r>
          </a:p>
          <a:p>
            <a:pPr/>
            <a:r>
              <a:t>The scene is impossible.</a:t>
            </a:r>
          </a:p>
          <a:p>
            <a:pPr/>
            <a:r>
              <a:t>A painter sees it in a second.</a:t>
            </a:r>
          </a:p>
        </p:txBody>
      </p:sp>
      <p:pic>
        <p:nvPicPr>
          <p:cNvPr id="4" name="Picture 3" descr="error_light.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it in gray</a:t>
            </a:r>
          </a:p>
        </p:txBody>
      </p:sp>
      <p:pic>
        <p:nvPicPr>
          <p:cNvPr id="3" name="Picture 2" descr="value_check.png"/>
          <p:cNvPicPr>
            <a:picLocks noChangeAspect="1"/>
          </p:cNvPicPr>
          <p:nvPr/>
        </p:nvPicPr>
        <p:blipFill>
          <a:blip r:embed="rId2"/>
          <a:stretch>
            <a:fillRect/>
          </a:stretch>
        </p:blipFill>
        <p:spPr>
          <a:xfrm>
            <a:off x="1298448" y="2626876"/>
            <a:ext cx="9601200" cy="2747246"/>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Desaturate and squint. Does anything read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horizon</a:t>
            </a:r>
          </a:p>
        </p:txBody>
      </p:sp>
      <p:sp>
        <p:nvSpPr>
          <p:cNvPr id="3" name="Content Placeholder 2"/>
          <p:cNvSpPr>
            <a:spLocks noGrp="1"/>
          </p:cNvSpPr>
          <p:nvPr>
            <p:ph idx="1"/>
          </p:nvPr>
        </p:nvSpPr>
        <p:spPr>
          <a:xfrm>
            <a:off x="1298448" y="2560320"/>
            <a:ext cx="5349240" cy="3383280"/>
          </a:xfrm>
        </p:spPr>
        <p:txBody>
          <a:bodyPr/>
          <a:lstStyle/>
          <a:p>
            <a:pPr/>
            <a:r>
              <a:t>Find the horizon.</a:t>
            </a:r>
          </a:p>
          <a:p>
            <a:pPr/>
            <a:r>
              <a:t>Do the lines agree?</a:t>
            </a:r>
          </a:p>
          <a:p>
            <a:pPr/>
            <a:r>
              <a:t>Is everything the right size?</a:t>
            </a:r>
          </a:p>
        </p:txBody>
      </p:sp>
      <p:pic>
        <p:nvPicPr>
          <p:cNvPr id="4" name="Picture 3" descr="error_perspective.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painter sees that a prompt can't</a:t>
            </a:r>
          </a:p>
        </p:txBody>
      </p:sp>
      <p:sp>
        <p:nvSpPr>
          <p:cNvPr id="3" name="Content Placeholder 2"/>
          <p:cNvSpPr>
            <a:spLocks noGrp="1"/>
          </p:cNvSpPr>
          <p:nvPr>
            <p:ph idx="1"/>
          </p:nvPr>
        </p:nvSpPr>
        <p:spPr/>
        <p:txBody>
          <a:bodyPr/>
          <a:lstStyle/>
          <a:p>
            <a:pPr/>
            <a:r>
              <a:t>Where the light comes from.</a:t>
            </a:r>
          </a:p>
          <a:p>
            <a:pPr/>
            <a:r>
              <a:t>What should read first.</a:t>
            </a:r>
          </a:p>
          <a:p>
            <a:pPr/>
            <a:r>
              <a:t>What the image is for.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Plainly, about jobs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working developers think</a:t>
            </a:r>
          </a:p>
        </p:txBody>
      </p:sp>
      <p:pic>
        <p:nvPicPr>
          <p:cNvPr id="3" name="Picture 2" descr="gdc_chart.png"/>
          <p:cNvPicPr>
            <a:picLocks noChangeAspect="1"/>
          </p:cNvPicPr>
          <p:nvPr/>
        </p:nvPicPr>
        <p:blipFill>
          <a:blip r:embed="rId2"/>
          <a:stretch>
            <a:fillRect/>
          </a:stretch>
        </p:blipFill>
        <p:spPr>
          <a:xfrm>
            <a:off x="3007505" y="2377440"/>
            <a:ext cx="6183085"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survey, three years. About a third of them use these tools at work anyway.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still costs money</a:t>
            </a:r>
          </a:p>
        </p:txBody>
      </p:sp>
      <p:sp>
        <p:nvSpPr>
          <p:cNvPr id="3" name="Content Placeholder 2"/>
          <p:cNvSpPr>
            <a:spLocks noGrp="1"/>
          </p:cNvSpPr>
          <p:nvPr>
            <p:ph idx="1"/>
          </p:nvPr>
        </p:nvSpPr>
        <p:spPr/>
        <p:txBody>
          <a:bodyPr/>
          <a:lstStyle/>
          <a:p>
            <a:pPr/>
            <a:r>
              <a:t>Knowing what you want.</a:t>
            </a:r>
          </a:p>
          <a:p>
            <a:pPr/>
            <a:r>
              <a:t>Seeing what's wrong.</a:t>
            </a:r>
          </a:p>
          <a:p>
            <a:pPr/>
            <a:r>
              <a:t>Fixing it by hand.</a:t>
            </a:r>
          </a:p>
          <a:p>
            <a:pPr/>
            <a:r>
              <a:t>Saying what you made.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owns a generated image?</a:t>
            </a:r>
          </a:p>
        </p:txBody>
      </p:sp>
      <p:sp>
        <p:nvSpPr>
          <p:cNvPr id="3" name="Content Placeholder 2"/>
          <p:cNvSpPr>
            <a:spLocks noGrp="1"/>
          </p:cNvSpPr>
          <p:nvPr>
            <p:ph idx="1"/>
          </p:nvPr>
        </p:nvSpPr>
        <p:spPr/>
        <p:txBody>
          <a:bodyPr/>
          <a:lstStyle/>
          <a:p>
            <a:pPr/>
            <a:r>
              <a:t>US: copyright needs a human author.</a:t>
            </a:r>
          </a:p>
          <a:p>
            <a:pPr/>
            <a:r>
              <a:t>A prompt alone usually isn't enough.</a:t>
            </a:r>
          </a:p>
          <a:p>
            <a:pPr/>
            <a:r>
              <a:t>Your hand work can be yours.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Say what was generated</a:t>
            </a:r>
          </a:p>
        </p:txBody>
      </p:sp>
      <p:sp>
        <p:nvSpPr>
          <p:cNvPr id="3" name="Content Placeholder 2"/>
          <p:cNvSpPr>
            <a:spLocks noGrp="1"/>
          </p:cNvSpPr>
          <p:nvPr>
            <p:ph idx="1"/>
          </p:nvPr>
        </p:nvSpPr>
        <p:spPr/>
        <p:txBody>
          <a:bodyPr/>
          <a:lstStyle/>
          <a:p>
            <a:pPr/>
            <a:r>
              <a:t>What was generated.</a:t>
            </a:r>
          </a:p>
          <a:p>
            <a:pPr/>
            <a:r>
              <a:t>What you made.</a:t>
            </a:r>
          </a:p>
          <a:p>
            <a:pPr/>
            <a:r>
              <a:t>Plainly, without being asked.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of your generated images with a light or value problem and a hand problem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Diffusion</a:t>
            </a:r>
            <a:r>
              <a:rPr sz="1900"/>
              <a:t> – an image built up out of noise, step by step</a:t>
            </a:r>
          </a:p>
          <a:p>
            <a:pPr>
              <a:spcAft>
                <a:spcPts val="600"/>
              </a:spcAft>
            </a:pPr>
            <a:r>
              <a:rPr b="1" sz="1900"/>
              <a:t>Training data</a:t>
            </a:r>
            <a:r>
              <a:rPr sz="1900"/>
              <a:t> – the captioned pictures it learned from</a:t>
            </a:r>
          </a:p>
          <a:p>
            <a:pPr>
              <a:spcAft>
                <a:spcPts val="600"/>
              </a:spcAft>
            </a:pPr>
            <a:r>
              <a:rPr b="1" sz="1900"/>
              <a:t>Surface vs rule</a:t>
            </a:r>
            <a:r>
              <a:rPr sz="1900"/>
              <a:t> – it's good at the first, bad at the second</a:t>
            </a:r>
          </a:p>
        </p:txBody>
      </p:sp>
      <p:sp>
        <p:nvSpPr>
          <p:cNvPr id="4" name="Content Placeholder 3"/>
          <p:cNvSpPr>
            <a:spLocks noGrp="1"/>
          </p:cNvSpPr>
          <p:nvPr>
            <p:ph idx="2" sz="half"/>
          </p:nvPr>
        </p:nvSpPr>
        <p:spPr/>
        <p:txBody>
          <a:bodyPr/>
          <a:lstStyle/>
          <a:p>
            <a:pPr>
              <a:spcAft>
                <a:spcPts val="600"/>
              </a:spcAft>
            </a:pPr>
            <a:r>
              <a:rPr b="1" sz="1900"/>
              <a:t>Two suns</a:t>
            </a:r>
            <a:r>
              <a:rPr sz="1900"/>
              <a:t> – objects lit from different directions</a:t>
            </a:r>
          </a:p>
          <a:p>
            <a:pPr>
              <a:spcAft>
                <a:spcPts val="600"/>
              </a:spcAft>
            </a:pPr>
            <a:r>
              <a:rPr b="1" sz="1900"/>
              <a:t>Mush</a:t>
            </a:r>
            <a:r>
              <a:rPr sz="1900"/>
              <a:t> – detail everywhere, value structure nowhere</a:t>
            </a:r>
          </a:p>
          <a:p>
            <a:pPr>
              <a:spcAft>
                <a:spcPts val="600"/>
              </a:spcAft>
            </a:pPr>
            <a:r>
              <a:rPr b="1" sz="1900"/>
              <a:t>Disclosure</a:t>
            </a:r>
            <a:r>
              <a:rPr sz="1900"/>
              <a:t> – saying what was generated and what you made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Mark up two provided generated images.</a:t>
            </a:r>
          </a:p>
          <a:p>
            <a:pPr/>
            <a:r>
              <a:t>Callouts: light, value, perspective, edges.</a:t>
            </a:r>
          </a:p>
          <a:p>
            <a:pPr/>
            <a:r>
              <a:t>One line per error.</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About 150 words: one thing a painter</a:t>
            </a:r>
          </a:p>
          <a:p>
            <a:pPr/>
            <a:r>
              <a:t>can see that a generator can't,</a:t>
            </a:r>
          </a:p>
          <a:p>
            <a:pPr/>
            <a:r>
              <a:t>with an example.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knows how things look.</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You know how they work.</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