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8"/>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64678" autoAdjust="0"/>
  </p:normalViewPr>
  <p:slideViewPr>
    <p:cSldViewPr snapToGrid="0">
      <p:cViewPr varScale="1">
        <p:scale>
          <a:sx n="36" d="100"/>
          <a:sy n="36" d="100"/>
        </p:scale>
        <p:origin x="1430" y="24"/>
      </p:cViewPr>
      <p:guideLst/>
    </p:cSldViewPr>
  </p:slideViewPr>
  <p:notesTextViewPr>
    <p:cViewPr>
      <p:scale>
        <a:sx n="125" d="100"/>
        <a:sy n="125"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9EE8B73-20FE-4169-9595-E55E7D4C6C8A}" type="datetimeFigureOut">
              <a:rPr lang="en-US" smtClean="0"/>
              <a:t>8/10/2026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C7FDB04-D1AC-46DB-9592-CA12D78D404F}" type="slidenum">
              <a:rPr lang="en-US" smtClean="0"/>
              <a:t>‹#›</a:t>
            </a:fld>
            <a:endParaRPr lang="en-US"/>
          </a:p>
        </p:txBody>
      </p:sp>
    </p:spTree>
    <p:extLst>
      <p:ext uri="{BB962C8B-B14F-4D97-AF65-F5344CB8AC3E}">
        <p14:creationId xmlns:p14="http://schemas.microsoft.com/office/powerpoint/2010/main" val="18440064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rPr b="1"/>
              <a:t>What this is.</a:t>
            </a:r>
            <a:r>
              <a:t> The lecture for session 12, the paint-over, which is the one generative exercise in this course. It fits the course as it stands: same session, same options. Milestone 2 (the value block-in for the frame extension) is collected at the start, as scheduled.</a:t>
            </a:r>
          </a:p>
          <a:p>
            <a:pPr>
              <a:spcAft>
                <a:spcPts val="800"/>
              </a:spcAft>
            </a:pPr>
            <a:r>
              <a:rPr b="1"/>
              <a:t>Running time, about 50 minutes.</a:t>
            </a:r>
            <a:r>
              <a:t> Milestone check and Spot it (6). Why this is a painting exercise (4). The painter's checklist, in painting order (18). The callout layer and the fix (10). Worked example and cold reversal (6). Your extension versus a generated one (4). Options (2).</a:t>
            </a:r>
          </a:p>
          <a:p>
            <a:pPr>
              <a:spcAft>
                <a:spcPts val="800"/>
              </a:spcAft>
            </a:pPr>
            <a:r>
              <a:rPr b="1"/>
              <a:t>Prep.</a:t>
            </a:r>
            <a:r>
              <a:t> The instructor-generated image set with typical errors (hands, light direction, perspective, mush), one per student plus spares, on Canvas, plus the second image for Option A. One image of your own, already called out and fixed, for the worked example, and one unfixed for the cold reversal. Slot images: a generated hand with errors, a generated image with even, everywhere detail, and the Pope puffer jacket image (2023 or so), shown in class.</a:t>
            </a:r>
          </a:p>
          <a:p>
            <a:pPr>
              <a:spcAft>
                <a:spcPts val="800"/>
              </a:spcAft>
            </a:pPr>
            <a:r>
              <a:t>If you also ran "What the Machine Is Doing" earlier in the course, skip the recap slide.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rPr b="1"/>
              <a:t>Spot it, about four minutes.</a:t>
            </a:r>
            <a:r>
              <a:t> Put the image up and say nothing for a few seconds. Then: what's wrong with it? Hands up, one error per person, and make them say where it is and what kind of error it is, in the checklist words once we have them (anatomy, perspective, light, lettering, repeated texture, sheen). Count the errors out loud as they come in. Don't confirm or correct until the room stops finding things, then add the one they missed, if there is one.</a:t>
            </a:r>
          </a:p>
          <a:p>
            <a:pPr>
              <a:spcAft>
                <a:spcPts val="800"/>
              </a:spcAft>
            </a:pPr>
            <a:r>
              <a:t>This opener runs every class. The point is repetition: by week four the room finds the shadow problem before the hand problem, which is the right order.</a:t>
            </a:r>
          </a:p>
          <a:p>
            <a:pPr>
              <a:spcAft>
                <a:spcPts val="800"/>
              </a:spcAft>
            </a:pPr>
            <a:r>
              <a:t>Use one of the images the students are about to work on. They get a head start, and you see what they catch on their own.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Milestone 2, your value block-in, is in. [Collect.]</a:t>
            </a:r>
          </a:p>
          <a:p>
            <a:pPr>
              <a:spcAft>
                <a:spcPts val="800"/>
              </a:spcAft>
            </a:pPr>
            <a:r>
              <a:t>Today is the one session in this course where we work on generated images. I made them at home, so nobody's generating anything. You'll be correcting them by painting, using everything from the first three weeks.</a:t>
            </a:r>
          </a:p>
          <a:p>
            <a:pPr>
              <a:spcAft>
                <a:spcPts val="800"/>
              </a:spcAft>
            </a:pPr>
            <a:r>
              <a:t>Tomorrow it's back to your own frame extension, and I think you'll find today useful for it, for a reason I'll get to at the end.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[Skip if you ran the earlier bridge lecture.]</a:t>
            </a:r>
          </a:p>
          <a:p>
            <a:pPr>
              <a:spcAft>
                <a:spcPts val="800"/>
              </a:spcAft>
            </a:pPr>
            <a:r>
              <a:t>A generator builds a picture out of noise, a little at a time, steered by words, using patterns absorbed from millions of captioned images. It's very good at surfaces: textures, materials, general mood. It's unreliable at things with rules: where the light comes from, one horizon, anatomy. And it makes no decisions about what should read first.</a:t>
            </a:r>
          </a:p>
          <a:p>
            <a:pPr>
              <a:spcAft>
                <a:spcPts val="800"/>
              </a:spcAft>
            </a:pPr>
            <a:r>
              <a:t>Which means its mistakes are painting mistakes.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Here's the point of today, and it's the only reason this exercise is in a painting course.</a:t>
            </a:r>
          </a:p>
          <a:p>
            <a:pPr>
              <a:spcAft>
                <a:spcPts val="800"/>
              </a:spcAft>
            </a:pPr>
            <a:r>
              <a:t>The generator produced something. Your job is to decide what's wrong with it, and fix it with paint. That's judgment, and judgment is what this course has been training since the first squint test.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Every error in today's images is one you already have a word for: a value structure that doesn't hold, a light that comes from two places, a cast shadow that falls the wrong way, edges that are all equally sharp, a horizon that doesn't agree with itself.</a:t>
            </a:r>
          </a:p>
          <a:p>
            <a:pPr>
              <a:spcAft>
                <a:spcPts val="800"/>
              </a:spcAft>
            </a:pPr>
            <a:r>
              <a:t>None of these are "AI problems." They're imaging problems, and the tool happens to produce a lot of them. Which means you don't need to learn anything new today. You need to look with what you already know.</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Here's the checklist for today, in painting order. Photograph it.</a:t>
            </a:r>
          </a:p>
          <a:p>
            <a:pPr>
              <a:spcAft>
                <a:spcPts val="800"/>
              </a:spcAft>
            </a:pPr>
            <a:r>
              <a:t>Value structure first, because if that's wrong, nothing else matters. Then light direction. Then form: are the core and cast shadows where the light says they should be? Then edges and material. Then perspective and scale. Then anatomy and hands.</a:t>
            </a:r>
          </a:p>
          <a:p>
            <a:pPr>
              <a:spcAft>
                <a:spcPts val="800"/>
              </a:spcAft>
            </a:pPr>
            <a:r>
              <a:t>Notice that hands are last. Everyone sees the hands first, because they're loud. A painter checks the big structure first, because that's where the image actually lives or dies.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One: value, the squint test from session 2. Desaturate the image, or put a black and white adjustment layer on top, and squint.</a:t>
            </a:r>
          </a:p>
          <a:p>
            <a:pPr>
              <a:spcAft>
                <a:spcPts val="800"/>
              </a:spcAft>
            </a:pPr>
            <a:r>
              <a:t>Is there a clear light mass and a clear dark mass? Does something read first? Or is it medium against medium everywhere? Generated images are often the latter: plenty of color and detail, and in gray, nothing holds.</a:t>
            </a:r>
          </a:p>
          <a:p>
            <a:pPr>
              <a:spcAft>
                <a:spcPts val="800"/>
              </a:spcAft>
            </a:pPr>
            <a:r>
              <a:t>If the value structure fails, your first fix isn't a hand. It's a big, soft value pass: darken what doesn't matter, so the focal area can be the lightest or highest-contrast part.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Two: light direction. Point at where the light is coming from. Literally point. Then check that every cast shadow falls away from that point and every highlight faces it.</a:t>
            </a:r>
          </a:p>
          <a:p>
            <a:pPr>
              <a:spcAft>
                <a:spcPts val="800"/>
              </a:spcAft>
            </a:pPr>
            <a:r>
              <a:t>Two suns, as here, is the classic generated error: each object lit convincingly on its own, the scene as a whole impossible. In the images today there's at least one of these. Most people never notice it. You will.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Three: form. Same as the primitives in session 3. Light side, core shadow, cast shadow, bounce light, highlight. Are they where the light says they should be, on every form?</a:t>
            </a:r>
          </a:p>
          <a:p>
            <a:pPr>
              <a:spcAft>
                <a:spcPts val="800"/>
              </a:spcAft>
            </a:pPr>
            <a:r>
              <a:t>Generated images often get the light side right and fumble the rest: the core shadow wanders, the cast shadow is missing or too soft, the bounce light is the wrong color for what it's bouncing off. Those are small paint fixes with big effects.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Four: edges and material, session 4. Generated images tend to have the same edge quality everywhere: everything equally sharp, equally detailed. There's no edge hierarchy, so there's no focus.</a:t>
            </a:r>
          </a:p>
          <a:p>
            <a:pPr>
              <a:spcAft>
                <a:spcPts val="800"/>
              </a:spcAft>
            </a:pPr>
            <a:r>
              <a:t>Your fix is to decide: hard edges at the focal point, soft edges where forms turn away, lost edges where things merge into shadow. And check materials: does the metal have a sharp highlight and a dark reflection, does the cloth have soft edges? Often the generator gets the texture of a material right and its edges wrong.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Five: perspective, which you've just been doing for your extension in session 11. Find the horizon line, check that receding lines go to vanishing points on it, check that figures are the right size for where they stand.</a:t>
            </a:r>
          </a:p>
          <a:p>
            <a:pPr>
              <a:spcAft>
                <a:spcPts val="800"/>
              </a:spcAft>
            </a:pPr>
            <a:r>
              <a:t>The fix is often not painting at all, but Transform and Warp on a part of the image, guided by a perspective grid on its own layer. Same as you'd do for your extension.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Six: anatomy and hands. Count the fingers, actually count. Check the joints. Check that two hands belong to the same person.</a:t>
            </a:r>
          </a:p>
          <a:p>
            <a:pPr>
              <a:spcAft>
                <a:spcPts val="800"/>
              </a:spcAft>
            </a:pPr>
            <a:r>
              <a:t>The best fix: put your own hand in the same pose, light it from the same side, take a photo, and use it as reference, or mask it in and paint over it. Painters have used their own hands in a mirror as reference for centuries. This is that, with a phone.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Now how the work goes in the file.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Four steps, and the grade rests on them as much as on the paint.</a:t>
            </a:r>
          </a:p>
          <a:p>
            <a:pPr>
              <a:spcAft>
                <a:spcPts val="800"/>
              </a:spcAft>
            </a:pPr>
            <a:r>
              <a:rPr b="1"/>
              <a:t>Lock the original</a:t>
            </a:r>
            <a:r>
              <a:t> image layer and never paint on it. Add a layer called </a:t>
            </a:r>
            <a:r>
              <a:rPr b="1"/>
              <a:t>CALLOUT</a:t>
            </a:r>
            <a:r>
              <a:t>, circle and number each error. </a:t>
            </a:r>
            <a:r>
              <a:rPr b="1"/>
              <a:t>List</a:t>
            </a:r>
            <a:r>
              <a:t> them: number, which check it fails, what you'll do. Then each fix on its own layer, </a:t>
            </a:r>
            <a:r>
              <a:rPr b="1"/>
              <a:t>named for what it fixes</a:t>
            </a:r>
            <a:r>
              <a:t>: FIX_cast_shadow, FIX_left_hand, FIX_value_pass.</a:t>
            </a:r>
          </a:p>
          <a:p>
            <a:pPr>
              <a:spcAft>
                <a:spcPts val="800"/>
              </a:spcAft>
            </a:pPr>
            <a:r>
              <a:t>So anyone can turn the fixes on and off and see the before and after, which is what Option A asks for.</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A simple example. As generated, the saucer's rim and the spoon melt into the table. The callout circles and numbers it. The fix is on its own layer, painted and cloned from the image's own material, and you can toggle it.</a:t>
            </a:r>
          </a:p>
          <a:p>
            <a:pPr>
              <a:spcAft>
                <a:spcPts val="800"/>
              </a:spcAft>
            </a:pPr>
            <a:r>
              <a:t>That's the whole session in three frames.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How to fix, and it's how you've been painting all month.</a:t>
            </a:r>
          </a:p>
          <a:p>
            <a:pPr>
              <a:spcAft>
                <a:spcPts val="800"/>
              </a:spcAft>
            </a:pPr>
            <a:r>
              <a:rPr b="1"/>
              <a:t>Order</a:t>
            </a:r>
            <a:r>
              <a:t>: structure first (value masses, perspective, anatomy), then light (shadows and highlights agreeing), then surface (texture, edges). Doing it out of order means doing it twice.</a:t>
            </a:r>
          </a:p>
          <a:p>
            <a:pPr>
              <a:spcAft>
                <a:spcPts val="800"/>
              </a:spcAft>
            </a:pPr>
            <a:r>
              <a:rPr b="1"/>
              <a:t>Sample</a:t>
            </a:r>
            <a:r>
              <a:t> your colors from the image itself, so the fix lives in its palette. And </a:t>
            </a:r>
            <a:r>
              <a:rPr b="1"/>
              <a:t>value first</a:t>
            </a:r>
            <a:r>
              <a:t>: get the light and dark right, then worry about the hue. A fix with the right value and a slightly wrong color usually disappears. The reverse never does.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Last thing about fixing. Your paint is often cleaner than the image around it: no grain, crisp edges. Zoom to 100% and compare.</a:t>
            </a:r>
          </a:p>
          <a:p>
            <a:pPr>
              <a:spcAft>
                <a:spcPts val="800"/>
              </a:spcAft>
            </a:pPr>
            <a:r>
              <a:t>If the image has grain, add a little noise to your fix layer (Filter, Noise, Add Noise, monochromatic, a small amount). If the image is soft, soften your edges to match. It's the same matching you did in session 8 with photographs: light, color, grain, edges.</a:t>
            </a:r>
          </a:p>
          <a:p>
            <a:pPr>
              <a:spcAft>
                <a:spcPts val="800"/>
              </a:spcAft>
            </a:pPr>
            <a:r>
              <a:t>Sometimes your fix is better painted than the rest of the image, and that makes it stick out too. Match the image.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[Show your own worked example, before, callouts, fixed.] The order I worked in: squint first, and the value structure failed, so a big soft value pass came first. Then I pointed at the light and found the second sun. Then the callouts for everything else. Then fixes in order. Then matching at 100%.</a:t>
            </a:r>
          </a:p>
          <a:p>
            <a:pPr>
              <a:spcAft>
                <a:spcPts val="800"/>
              </a:spcAft>
            </a:pPr>
            <a:r>
              <a:t>Notice how much of the time was looking rather than painting.</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Cold reversal. In pairs, two minutes. Go down the checklist on this one and plan the fixes: what's wrong, in what order would you fix it, and with what?</a:t>
            </a:r>
          </a:p>
          <a:p>
            <a:pPr>
              <a:spcAft>
                <a:spcPts val="800"/>
              </a:spcAft>
            </a:pPr>
            <a:r>
              <a:t>[Take two or three plans. Don't confirm. Ask which pair started with value and which started with the hands, and why.]</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[About three minutes.] You've probably seen this one: a generated image of the Pope in a huge white puffer jacket, which went around the world in 2023 or so, and which a lot of people believed.</a:t>
            </a:r>
          </a:p>
          <a:p>
            <a:pPr>
              <a:spcAft>
                <a:spcPts val="800"/>
              </a:spcAft>
            </a:pPr>
            <a:r>
              <a:t>[Ask: what gives it away?] The hand doesn't close around the cup. The glasses melt into the cheek. The light on the face is too even for the scene. Every one of those is on our checklist.</a:t>
            </a:r>
          </a:p>
          <a:p>
            <a:pPr>
              <a:spcAft>
                <a:spcPts val="800"/>
              </a:spcAft>
            </a:pPr>
            <a:r>
              <a:t>Nobody needed special software to catch it. They needed ten seconds of looking the way you've been taught to look in this course.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One last thing, and it's why today matters for your final.</a:t>
            </a:r>
          </a:p>
          <a:p>
            <a:pPr>
              <a:spcAft>
                <a:spcPts val="800"/>
              </a:spcAft>
            </a:pPr>
            <a:r>
              <a:t>Photoshop has a feature that extends an image past its edges automatically. It fills the new space with something plausible: more sky, more room, more wallpaper. And mostly that's all it adds.</a:t>
            </a:r>
          </a:p>
          <a:p>
            <a:pPr>
              <a:spcAft>
                <a:spcPts val="800"/>
              </a:spcAft>
            </a:pPr>
            <a:r>
              <a:t>Your frame extension is graded on something the tool doesn't do: the new space has to </a:t>
            </a:r>
            <a:r>
              <a:rPr b="1"/>
              <a:t>change or add to what the image says</a:t>
            </a:r>
            <a:r>
              <a:t>, and you have to name that decision. That's the difference between filling space and composing it. The generator can fill. Only you can decide what the space is for.</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Thirty seconds. Read the terms aloud and ask the room for any they can't explain yet. These are on Canvas as a running glossary, which helps everyone and helps accommodated students most, on a schedule where the next class is often tomorrow.</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Before next class, the same options as in the course outline for this session.</a:t>
            </a:r>
          </a:p>
          <a:p>
            <a:pPr>
              <a:spcAft>
                <a:spcPts val="800"/>
              </a:spcAft>
            </a:pPr>
            <a:r>
              <a:rPr b="1"/>
              <a:t>Option A</a:t>
            </a:r>
            <a:r>
              <a:t>: a second paint-over on the provided image, each fix on its own named layer, with the callout layer above.</a:t>
            </a:r>
          </a:p>
          <a:p>
            <a:pPr>
              <a:spcAft>
                <a:spcPts val="800"/>
              </a:spcAft>
            </a:pPr>
            <a:r>
              <a:rPr b="1"/>
              <a:t>Option B</a:t>
            </a:r>
            <a:r>
              <a:t>: a short written comparison: three things the generator got wrong in your image from today, and how you fixed each one, with the layer names. Write it in painting terms.</a:t>
            </a:r>
          </a:p>
          <a:p>
            <a:pPr>
              <a:spcAft>
                <a:spcPts val="800"/>
              </a:spcAft>
            </a:pPr>
            <a:r>
              <a:t>Same rubric. Tomorrow, back to your frame extension, color pass coming up.</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Most people see the hands. A painter sees the shadows. [Demo: one image, called out and fixed, out loud, starting with the squint.]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7" name="Picture 6" descr="HD-PanelTitle-GrommetsCombine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a:xfrm>
            <a:off x="2692397" y="5037663"/>
            <a:ext cx="5214635" cy="279400"/>
          </a:xfrm>
        </p:spPr>
        <p:txBody>
          <a:bodyPr/>
          <a:lstStyle/>
          <a:p>
            <a:endParaRPr lang="en-US"/>
          </a:p>
        </p:txBody>
      </p:sp>
      <p:sp>
        <p:nvSpPr>
          <p:cNvPr id="6" name="Slide Number Placeholder 5"/>
          <p:cNvSpPr>
            <a:spLocks noGrp="1"/>
          </p:cNvSpPr>
          <p:nvPr>
            <p:ph type="sldNum" sz="quarter" idx="12"/>
          </p:nvPr>
        </p:nvSpPr>
        <p:spPr>
          <a:xfrm>
            <a:off x="8956900" y="5037663"/>
            <a:ext cx="551167" cy="279400"/>
          </a:xfrm>
        </p:spPr>
        <p:txBody>
          <a:bodyPr/>
          <a:lstStyle/>
          <a:p>
            <a:fld id="{783C7E8E-FD18-4999-BA7E-E42594F7B785}" type="slidenum">
              <a:rPr lang="en-US" smtClean="0"/>
              <a:t>‹#›</a:t>
            </a:fld>
            <a:endParaRPr lang="en-US"/>
          </a:p>
        </p:txBody>
      </p:sp>
      <p:cxnSp>
        <p:nvCxnSpPr>
          <p:cNvPr id="15" name="Straight Connector 14"/>
          <p:cNvCxnSpPr/>
          <p:nvPr/>
        </p:nvCxnSpPr>
        <p:spPr>
          <a:xfrm>
            <a:off x="2692399" y="3522131"/>
            <a:ext cx="6815668" cy="0"/>
          </a:xfrm>
          <a:prstGeom prst="line">
            <a:avLst/>
          </a:prstGeom>
          <a:ln>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939532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23284976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cxnSp>
        <p:nvCxnSpPr>
          <p:cNvPr id="16" name="Straight Connector 15"/>
          <p:cNvCxnSpPr/>
          <p:nvPr/>
        </p:nvCxnSpPr>
        <p:spPr>
          <a:xfrm>
            <a:off x="2012723" y="3710585"/>
            <a:ext cx="8163380"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014564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92E33A7-84C6-449C-AE67-6E7B8B6855DE}" type="datetimeFigureOut">
              <a:rPr lang="en-US" smtClean="0"/>
              <a:t>8/10/2026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23526212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1" y="2658533"/>
            <a:ext cx="4718304" cy="576262"/>
          </a:xfrm>
        </p:spPr>
        <p:txBody>
          <a:bodyPr anchor="b">
            <a:noAutofit/>
          </a:bodyPr>
          <a:lstStyle>
            <a:lvl1pPr marL="0" indent="0">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80671" y="3243262"/>
            <a:ext cx="4718304" cy="2632605"/>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92E33A7-84C6-449C-AE67-6E7B8B6855DE}" type="datetimeFigureOut">
              <a:rPr lang="en-US" smtClean="0"/>
              <a:t>8/10/2026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83C7E8E-FD18-4999-BA7E-E42594F7B785}" type="slidenum">
              <a:rPr lang="en-US" smtClean="0"/>
              <a:t>‹#›</a:t>
            </a:fld>
            <a:endParaRPr lang="en-US"/>
          </a:p>
        </p:txBody>
      </p:sp>
      <p:cxnSp>
        <p:nvCxnSpPr>
          <p:cNvPr id="18" name="Straight Connector 17"/>
          <p:cNvCxnSpPr/>
          <p:nvPr/>
        </p:nvCxnSpPr>
        <p:spPr>
          <a:xfrm>
            <a:off x="1396169" y="2421466"/>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668395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92E33A7-84C6-449C-AE67-6E7B8B6855DE}" type="datetimeFigureOut">
              <a:rPr lang="en-US" smtClean="0"/>
              <a:t>8/10/2026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83C7E8E-FD18-4999-BA7E-E42594F7B785}" type="slidenum">
              <a:rPr lang="en-US" smtClean="0"/>
              <a:t>‹#›</a:t>
            </a:fld>
            <a:endParaRPr lang="en-US"/>
          </a:p>
        </p:txBody>
      </p:sp>
      <p:cxnSp>
        <p:nvCxnSpPr>
          <p:cNvPr id="14" name="Straight Connector 13"/>
          <p:cNvCxnSpPr/>
          <p:nvPr/>
        </p:nvCxnSpPr>
        <p:spPr>
          <a:xfrm>
            <a:off x="1396169" y="2421466"/>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213248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92E33A7-84C6-449C-AE67-6E7B8B6855DE}" type="datetimeFigureOut">
              <a:rPr lang="en-US" smtClean="0"/>
              <a:t>8/10/2026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2699410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592E33A7-84C6-449C-AE67-6E7B8B6855DE}" type="datetimeFigureOut">
              <a:rPr lang="en-US" smtClean="0"/>
              <a:t>8/10/2026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3C7E8E-FD18-4999-BA7E-E42594F7B785}" type="slidenum">
              <a:rPr lang="en-US" smtClean="0"/>
              <a:t>‹#›</a:t>
            </a:fld>
            <a:endParaRPr lang="en-US"/>
          </a:p>
        </p:txBody>
      </p:sp>
      <p:cxnSp>
        <p:nvCxnSpPr>
          <p:cNvPr id="16" name="Straight Connector 15"/>
          <p:cNvCxnSpPr/>
          <p:nvPr/>
        </p:nvCxnSpPr>
        <p:spPr>
          <a:xfrm>
            <a:off x="1396169" y="2912533"/>
            <a:ext cx="35144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000149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592E33A7-84C6-449C-AE67-6E7B8B6855DE}" type="datetimeFigureOut">
              <a:rPr lang="en-US" smtClean="0"/>
              <a:t>8/10/2026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33869325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592E33A7-84C6-449C-AE67-6E7B8B6855DE}" type="datetimeFigureOut">
              <a:rPr lang="en-US" smtClean="0"/>
              <a:t>8/10/2026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25789411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cxnSp>
        <p:nvCxnSpPr>
          <p:cNvPr id="15" name="Straight Connector 14"/>
          <p:cNvCxnSpPr/>
          <p:nvPr/>
        </p:nvCxnSpPr>
        <p:spPr>
          <a:xfrm>
            <a:off x="1396169" y="4140199"/>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817206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a:solidFill>
                  <a:schemeClr val="tx1"/>
                </a:solidFill>
                <a:effectLst/>
              </a:rPr>
              <a:t>”</a:t>
            </a:r>
          </a:p>
        </p:txBody>
      </p:sp>
      <p:cxnSp>
        <p:nvCxnSpPr>
          <p:cNvPr id="19" name="Straight Connector 18"/>
          <p:cNvCxnSpPr/>
          <p:nvPr/>
        </p:nvCxnSpPr>
        <p:spPr>
          <a:xfrm>
            <a:off x="1396169" y="4140199"/>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2967931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296585080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4"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a:solidFill>
                  <a:schemeClr val="tx1"/>
                </a:solidFill>
                <a:effectLst/>
              </a:rPr>
              <a:t>”</a:t>
            </a:r>
          </a:p>
        </p:txBody>
      </p:sp>
      <p:cxnSp>
        <p:nvCxnSpPr>
          <p:cNvPr id="26" name="Straight Connector 25"/>
          <p:cNvCxnSpPr/>
          <p:nvPr/>
        </p:nvCxnSpPr>
        <p:spPr>
          <a:xfrm>
            <a:off x="1396169" y="3429000"/>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8362201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1"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cxnSp>
        <p:nvCxnSpPr>
          <p:cNvPr id="15" name="Straight Connector 14"/>
          <p:cNvCxnSpPr/>
          <p:nvPr/>
        </p:nvCxnSpPr>
        <p:spPr>
          <a:xfrm>
            <a:off x="1396169" y="3429000"/>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8154296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cxnSp>
        <p:nvCxnSpPr>
          <p:cNvPr id="14" name="Straight Connector 13"/>
          <p:cNvCxnSpPr/>
          <p:nvPr/>
        </p:nvCxnSpPr>
        <p:spPr>
          <a:xfrm>
            <a:off x="1396169" y="2421466"/>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046629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cxnSp>
        <p:nvCxnSpPr>
          <p:cNvPr id="14" name="Straight Connector 13"/>
          <p:cNvCxnSpPr/>
          <p:nvPr/>
        </p:nvCxnSpPr>
        <p:spPr>
          <a:xfrm>
            <a:off x="8863890" y="990600"/>
            <a:ext cx="0" cy="487680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0857335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 Id="rId19"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7" name="Picture 6" descr="HD-PanelContent-GrommetsCombined.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592E33A7-84C6-449C-AE67-6E7B8B6855DE}" type="datetimeFigureOut">
              <a:rPr lang="en-US" smtClean="0"/>
              <a:t>8/10/2026</a:t>
            </a:fld>
            <a:endParaRPr lang="en-US"/>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783C7E8E-FD18-4999-BA7E-E42594F7B785}" type="slidenum">
              <a:rPr lang="en-US" smtClean="0"/>
              <a:t>‹#›</a:t>
            </a:fld>
            <a:endParaRPr lang="en-US"/>
          </a:p>
        </p:txBody>
      </p:sp>
    </p:spTree>
    <p:extLst>
      <p:ext uri="{BB962C8B-B14F-4D97-AF65-F5344CB8AC3E}">
        <p14:creationId xmlns:p14="http://schemas.microsoft.com/office/powerpoint/2010/main" val="369268416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0.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The Paint-Over</a:t>
            </a:r>
          </a:p>
        </p:txBody>
      </p:sp>
      <p:sp>
        <p:nvSpPr>
          <p:cNvPr id="3" name="Subtitle 2"/>
          <p:cNvSpPr>
            <a:spLocks noGrp="1"/>
          </p:cNvSpPr>
          <p:nvPr>
            <p:ph type="subTitle" idx="1"/>
          </p:nvPr>
        </p:nvSpPr>
        <p:spPr/>
        <p:txBody>
          <a:bodyPr/>
          <a:lstStyle/>
          <a:p>
            <a:r>
              <a:t>Digital Imaging and Painting  |  Judging what the machine made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Spot it</a:t>
            </a:r>
          </a:p>
        </p:txBody>
      </p:sp>
      <p:sp>
        <p:nvSpPr>
          <p:cNvPr id="3" name="Content Placeholder 2"/>
          <p:cNvSpPr>
            <a:spLocks noGrp="1"/>
          </p:cNvSpPr>
          <p:nvPr>
            <p:ph idx="1"/>
          </p:nvPr>
        </p:nvSpPr>
        <p:spPr>
          <a:xfrm>
            <a:off x="1298448" y="2560320"/>
            <a:ext cx="5349240" cy="3383280"/>
          </a:xfrm>
        </p:spPr>
        <p:txBody>
          <a:bodyPr/>
          <a:lstStyle/>
          <a:p>
            <a:pPr/>
            <a:r>
              <a:t>One image. Ninety seconds.</a:t>
            </a:r>
          </a:p>
          <a:p>
            <a:pPr/>
            <a:r>
              <a:t>What's wrong with it?</a:t>
            </a:r>
          </a:p>
          <a:p>
            <a:pPr/>
            <a:r>
              <a:t>Say where, and what kind.</a:t>
            </a:r>
          </a:p>
        </p:txBody>
      </p:sp>
      <p:sp>
        <p:nvSpPr>
          <p:cNvPr id="4" name="IMAGE SLOT"/>
          <p:cNvSpPr/>
          <p:nvPr/>
        </p:nvSpPr>
        <p:spPr>
          <a:xfrm>
            <a:off x="6949440" y="2468880"/>
            <a:ext cx="4471416" cy="3429000"/>
          </a:xfrm>
          <a:prstGeom prst="rect">
            <a:avLst/>
          </a:prstGeom>
          <a:solidFill>
            <a:srgbClr val="F2F0EA"/>
          </a:solidFill>
          <a:ln w="15875">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i="1">
                <a:solidFill>
                  <a:srgbClr val="8A8A8A"/>
                </a:solidFill>
              </a:rPr>
              <a:t>image: one of the instructor-generated images from today's set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Milestone 2 is in</a:t>
            </a:r>
          </a:p>
        </p:txBody>
      </p:sp>
      <p:sp>
        <p:nvSpPr>
          <p:cNvPr id="3" name="Content Placeholder 2"/>
          <p:cNvSpPr>
            <a:spLocks noGrp="1"/>
          </p:cNvSpPr>
          <p:nvPr>
            <p:ph idx="1"/>
          </p:nvPr>
        </p:nvSpPr>
        <p:spPr/>
        <p:txBody>
          <a:bodyPr/>
          <a:lstStyle/>
          <a:p>
            <a:pPr/>
            <a:r>
              <a:t>Value block-in, collected.</a:t>
            </a:r>
          </a:p>
          <a:p>
            <a:pPr/>
            <a:r>
              <a:t>Today: someone else's image.</a:t>
            </a:r>
          </a:p>
          <a:p>
            <a:pPr/>
            <a:r>
              <a:t>Back to your extension tomorrow.</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If you missed it: what these are</a:t>
            </a:r>
          </a:p>
        </p:txBody>
      </p:sp>
      <p:sp>
        <p:nvSpPr>
          <p:cNvPr id="3" name="Content Placeholder 2"/>
          <p:cNvSpPr>
            <a:spLocks noGrp="1"/>
          </p:cNvSpPr>
          <p:nvPr>
            <p:ph idx="1"/>
          </p:nvPr>
        </p:nvSpPr>
        <p:spPr/>
        <p:txBody>
          <a:bodyPr/>
          <a:lstStyle/>
          <a:p>
            <a:pPr/>
            <a:r>
              <a:t>Built out of noise, steered by words.</a:t>
            </a:r>
          </a:p>
          <a:p>
            <a:pPr/>
            <a:r>
              <a:t>Good at surfaces, bad at rules.</a:t>
            </a:r>
          </a:p>
          <a:p>
            <a:pPr/>
            <a:r>
              <a:t>No decisions about light or focus.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generator produced something.</a:t>
            </a:r>
          </a:p>
        </p:txBody>
      </p:sp>
      <p:sp>
        <p:nvSpPr>
          <p:cNvPr id="3" name="Text Placeholder 2"/>
          <p:cNvSpPr>
            <a:spLocks noGrp="1"/>
          </p:cNvSpPr>
          <p:nvPr>
            <p:ph type="body" idx="13" sz="quarter"/>
          </p:nvPr>
        </p:nvSpPr>
        <p:spPr/>
        <p:txBody>
          <a:bodyPr/>
          <a:lstStyle/>
          <a:p>
            <a:r>
              <a:t>Today's idea</a:t>
            </a:r>
          </a:p>
        </p:txBody>
      </p:sp>
      <p:sp>
        <p:nvSpPr>
          <p:cNvPr id="4" name="Text Placeholder 3"/>
          <p:cNvSpPr>
            <a:spLocks noGrp="1"/>
          </p:cNvSpPr>
          <p:nvPr>
            <p:ph type="body" idx="1"/>
          </p:nvPr>
        </p:nvSpPr>
        <p:spPr/>
        <p:txBody>
          <a:bodyPr/>
          <a:lstStyle/>
          <a:p>
            <a:r>
              <a:t>The painter decides what's wrong with 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Why this is a painting exercise</a:t>
            </a:r>
          </a:p>
        </p:txBody>
      </p:sp>
      <p:sp>
        <p:nvSpPr>
          <p:cNvPr id="3" name="Content Placeholder 2"/>
          <p:cNvSpPr>
            <a:spLocks noGrp="1"/>
          </p:cNvSpPr>
          <p:nvPr>
            <p:ph idx="1"/>
          </p:nvPr>
        </p:nvSpPr>
        <p:spPr/>
        <p:txBody>
          <a:bodyPr/>
          <a:lstStyle/>
          <a:p>
            <a:pPr/>
            <a:r>
              <a:t>Every error here is a painting error.</a:t>
            </a:r>
          </a:p>
          <a:p>
            <a:pPr/>
            <a:r>
              <a:t>Value, light, form, edges, perspective.</a:t>
            </a:r>
          </a:p>
          <a:p>
            <a:pPr/>
            <a:r>
              <a:t>You already have the words.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painter's checklist</a:t>
            </a:r>
          </a:p>
        </p:txBody>
      </p:sp>
      <p:sp>
        <p:nvSpPr>
          <p:cNvPr id="3" name="Rectangle 2"/>
          <p:cNvSpPr/>
          <p:nvPr/>
        </p:nvSpPr>
        <p:spPr>
          <a:xfrm>
            <a:off x="1298448" y="2606040"/>
            <a:ext cx="274320" cy="274320"/>
          </a:xfrm>
          <a:prstGeom prst="rect">
            <a:avLst/>
          </a:prstGeom>
          <a:no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664207" y="2514600"/>
            <a:ext cx="4343400" cy="411480"/>
          </a:xfrm>
          <a:prstGeom prst="rect">
            <a:avLst/>
          </a:prstGeom>
          <a:noFill/>
        </p:spPr>
        <p:txBody>
          <a:bodyPr wrap="square">
            <a:spAutoFit/>
          </a:bodyPr>
          <a:lstStyle/>
          <a:p>
            <a:r>
              <a:rPr sz="1700">
                <a:solidFill>
                  <a:srgbClr val="2B2B2B"/>
                </a:solidFill>
              </a:rPr>
              <a:t>1. Value structure (squint)</a:t>
            </a:r>
          </a:p>
        </p:txBody>
      </p:sp>
      <p:sp>
        <p:nvSpPr>
          <p:cNvPr id="5" name="Rectangle 4"/>
          <p:cNvSpPr/>
          <p:nvPr/>
        </p:nvSpPr>
        <p:spPr>
          <a:xfrm>
            <a:off x="1298448" y="3172968"/>
            <a:ext cx="274320" cy="274320"/>
          </a:xfrm>
          <a:prstGeom prst="rect">
            <a:avLst/>
          </a:prstGeom>
          <a:no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664207" y="3081528"/>
            <a:ext cx="4343400" cy="411480"/>
          </a:xfrm>
          <a:prstGeom prst="rect">
            <a:avLst/>
          </a:prstGeom>
          <a:noFill/>
        </p:spPr>
        <p:txBody>
          <a:bodyPr wrap="square">
            <a:spAutoFit/>
          </a:bodyPr>
          <a:lstStyle/>
          <a:p>
            <a:r>
              <a:rPr sz="1700">
                <a:solidFill>
                  <a:srgbClr val="2B2B2B"/>
                </a:solidFill>
              </a:rPr>
              <a:t>2. Light direction</a:t>
            </a:r>
          </a:p>
        </p:txBody>
      </p:sp>
      <p:sp>
        <p:nvSpPr>
          <p:cNvPr id="7" name="Rectangle 6"/>
          <p:cNvSpPr/>
          <p:nvPr/>
        </p:nvSpPr>
        <p:spPr>
          <a:xfrm>
            <a:off x="1298448" y="3739896"/>
            <a:ext cx="274320" cy="274320"/>
          </a:xfrm>
          <a:prstGeom prst="rect">
            <a:avLst/>
          </a:prstGeom>
          <a:no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664207" y="3648456"/>
            <a:ext cx="4343400" cy="411480"/>
          </a:xfrm>
          <a:prstGeom prst="rect">
            <a:avLst/>
          </a:prstGeom>
          <a:noFill/>
        </p:spPr>
        <p:txBody>
          <a:bodyPr wrap="square">
            <a:spAutoFit/>
          </a:bodyPr>
          <a:lstStyle/>
          <a:p>
            <a:r>
              <a:rPr sz="1700">
                <a:solidFill>
                  <a:srgbClr val="2B2B2B"/>
                </a:solidFill>
              </a:rPr>
              <a:t>3. Form: core and cast shadows</a:t>
            </a:r>
          </a:p>
        </p:txBody>
      </p:sp>
      <p:sp>
        <p:nvSpPr>
          <p:cNvPr id="9" name="Rectangle 8"/>
          <p:cNvSpPr/>
          <p:nvPr/>
        </p:nvSpPr>
        <p:spPr>
          <a:xfrm>
            <a:off x="6099048" y="2606040"/>
            <a:ext cx="274320" cy="274320"/>
          </a:xfrm>
          <a:prstGeom prst="rect">
            <a:avLst/>
          </a:prstGeom>
          <a:no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64808" y="2514600"/>
            <a:ext cx="4343400" cy="411480"/>
          </a:xfrm>
          <a:prstGeom prst="rect">
            <a:avLst/>
          </a:prstGeom>
          <a:noFill/>
        </p:spPr>
        <p:txBody>
          <a:bodyPr wrap="square">
            <a:spAutoFit/>
          </a:bodyPr>
          <a:lstStyle/>
          <a:p>
            <a:r>
              <a:rPr sz="1700">
                <a:solidFill>
                  <a:srgbClr val="2B2B2B"/>
                </a:solidFill>
              </a:rPr>
              <a:t>4. Edges and material</a:t>
            </a:r>
          </a:p>
        </p:txBody>
      </p:sp>
      <p:sp>
        <p:nvSpPr>
          <p:cNvPr id="11" name="Rectangle 10"/>
          <p:cNvSpPr/>
          <p:nvPr/>
        </p:nvSpPr>
        <p:spPr>
          <a:xfrm>
            <a:off x="6099048" y="3172968"/>
            <a:ext cx="274320" cy="274320"/>
          </a:xfrm>
          <a:prstGeom prst="rect">
            <a:avLst/>
          </a:prstGeom>
          <a:no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4808" y="3081528"/>
            <a:ext cx="4343400" cy="411480"/>
          </a:xfrm>
          <a:prstGeom prst="rect">
            <a:avLst/>
          </a:prstGeom>
          <a:noFill/>
        </p:spPr>
        <p:txBody>
          <a:bodyPr wrap="square">
            <a:spAutoFit/>
          </a:bodyPr>
          <a:lstStyle/>
          <a:p>
            <a:r>
              <a:rPr sz="1700">
                <a:solidFill>
                  <a:srgbClr val="2B2B2B"/>
                </a:solidFill>
              </a:rPr>
              <a:t>5. Perspective and scale</a:t>
            </a:r>
          </a:p>
        </p:txBody>
      </p:sp>
      <p:sp>
        <p:nvSpPr>
          <p:cNvPr id="13" name="Rectangle 12"/>
          <p:cNvSpPr/>
          <p:nvPr/>
        </p:nvSpPr>
        <p:spPr>
          <a:xfrm>
            <a:off x="6099048" y="3739896"/>
            <a:ext cx="274320" cy="274320"/>
          </a:xfrm>
          <a:prstGeom prst="rect">
            <a:avLst/>
          </a:prstGeom>
          <a:no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64808" y="3648456"/>
            <a:ext cx="4343400" cy="411480"/>
          </a:xfrm>
          <a:prstGeom prst="rect">
            <a:avLst/>
          </a:prstGeom>
          <a:noFill/>
        </p:spPr>
        <p:txBody>
          <a:bodyPr wrap="square">
            <a:spAutoFit/>
          </a:bodyPr>
          <a:lstStyle/>
          <a:p>
            <a:r>
              <a:rPr sz="1700">
                <a:solidFill>
                  <a:srgbClr val="2B2B2B"/>
                </a:solidFill>
              </a:rPr>
              <a:t>6. Anatomy and hands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 Value structure</a:t>
            </a:r>
          </a:p>
        </p:txBody>
      </p:sp>
      <p:pic>
        <p:nvPicPr>
          <p:cNvPr id="3" name="Picture 2" descr="value_check.png"/>
          <p:cNvPicPr>
            <a:picLocks noChangeAspect="1"/>
          </p:cNvPicPr>
          <p:nvPr/>
        </p:nvPicPr>
        <p:blipFill>
          <a:blip r:embed="rId2"/>
          <a:stretch>
            <a:fillRect/>
          </a:stretch>
        </p:blipFill>
        <p:spPr>
          <a:xfrm>
            <a:off x="1298448" y="2626876"/>
            <a:ext cx="9601200" cy="2747246"/>
          </a:xfrm>
          <a:prstGeom prst="rect">
            <a:avLst/>
          </a:prstGeom>
        </p:spPr>
      </p:pic>
      <p:sp>
        <p:nvSpPr>
          <p:cNvPr id="4" name="TextBox 3"/>
          <p:cNvSpPr txBox="1"/>
          <p:nvPr/>
        </p:nvSpPr>
        <p:spPr>
          <a:xfrm>
            <a:off x="1298448" y="5650992"/>
            <a:ext cx="9601200" cy="411480"/>
          </a:xfrm>
          <a:prstGeom prst="rect">
            <a:avLst/>
          </a:prstGeom>
          <a:noFill/>
        </p:spPr>
        <p:txBody>
          <a:bodyPr wrap="square">
            <a:spAutoFit/>
          </a:bodyPr>
          <a:lstStyle/>
          <a:p>
            <a:pPr algn="ctr"/>
            <a:r>
              <a:rPr sz="1500">
                <a:solidFill>
                  <a:srgbClr val="2B2B2B"/>
                </a:solidFill>
              </a:rPr>
              <a:t>Desaturate. Squint. Is there a light mass, a dark mass, a focal point?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2. Light direction</a:t>
            </a:r>
          </a:p>
        </p:txBody>
      </p:sp>
      <p:sp>
        <p:nvSpPr>
          <p:cNvPr id="3" name="Content Placeholder 2"/>
          <p:cNvSpPr>
            <a:spLocks noGrp="1"/>
          </p:cNvSpPr>
          <p:nvPr>
            <p:ph idx="1"/>
          </p:nvPr>
        </p:nvSpPr>
        <p:spPr>
          <a:xfrm>
            <a:off x="1298448" y="2560320"/>
            <a:ext cx="5349240" cy="3383280"/>
          </a:xfrm>
        </p:spPr>
        <p:txBody>
          <a:bodyPr/>
          <a:lstStyle/>
          <a:p>
            <a:pPr/>
            <a:r>
              <a:t>Point at the light.</a:t>
            </a:r>
          </a:p>
          <a:p>
            <a:pPr/>
            <a:r>
              <a:t>Every shadow agrees?</a:t>
            </a:r>
          </a:p>
          <a:p>
            <a:pPr/>
            <a:r>
              <a:t>Highlights face the source?</a:t>
            </a:r>
          </a:p>
        </p:txBody>
      </p:sp>
      <p:pic>
        <p:nvPicPr>
          <p:cNvPr id="4" name="Picture 3" descr="error_light.png"/>
          <p:cNvPicPr>
            <a:picLocks noChangeAspect="1"/>
          </p:cNvPicPr>
          <p:nvPr/>
        </p:nvPicPr>
        <p:blipFill>
          <a:blip r:embed="rId2"/>
          <a:stretch>
            <a:fillRect/>
          </a:stretch>
        </p:blipFill>
        <p:spPr>
          <a:xfrm>
            <a:off x="6949440" y="2786062"/>
            <a:ext cx="4471416" cy="2794634"/>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 Form: core and cast</a:t>
            </a:r>
          </a:p>
        </p:txBody>
      </p:sp>
      <p:pic>
        <p:nvPicPr>
          <p:cNvPr id="3" name="Picture 2" descr="light_spheres.png"/>
          <p:cNvPicPr>
            <a:picLocks noChangeAspect="1"/>
          </p:cNvPicPr>
          <p:nvPr/>
        </p:nvPicPr>
        <p:blipFill>
          <a:blip r:embed="rId2"/>
          <a:stretch>
            <a:fillRect/>
          </a:stretch>
        </p:blipFill>
        <p:spPr>
          <a:xfrm>
            <a:off x="1298448" y="2809110"/>
            <a:ext cx="9601200" cy="2382779"/>
          </a:xfrm>
          <a:prstGeom prst="rect">
            <a:avLst/>
          </a:prstGeom>
        </p:spPr>
      </p:pic>
      <p:sp>
        <p:nvSpPr>
          <p:cNvPr id="4" name="TextBox 3"/>
          <p:cNvSpPr txBox="1"/>
          <p:nvPr/>
        </p:nvSpPr>
        <p:spPr>
          <a:xfrm>
            <a:off x="1298448" y="5650992"/>
            <a:ext cx="9601200" cy="411480"/>
          </a:xfrm>
          <a:prstGeom prst="rect">
            <a:avLst/>
          </a:prstGeom>
          <a:noFill/>
        </p:spPr>
        <p:txBody>
          <a:bodyPr wrap="square">
            <a:spAutoFit/>
          </a:bodyPr>
          <a:lstStyle/>
          <a:p>
            <a:pPr algn="ctr"/>
            <a:r>
              <a:rPr sz="1500">
                <a:solidFill>
                  <a:srgbClr val="2B2B2B"/>
                </a:solidFill>
              </a:rPr>
              <a:t>Light side, core shadow, cast shadow, bounce, highlight. In the right places?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 Edges and material</a:t>
            </a:r>
          </a:p>
        </p:txBody>
      </p:sp>
      <p:sp>
        <p:nvSpPr>
          <p:cNvPr id="3" name="Content Placeholder 2"/>
          <p:cNvSpPr>
            <a:spLocks noGrp="1"/>
          </p:cNvSpPr>
          <p:nvPr>
            <p:ph idx="1"/>
          </p:nvPr>
        </p:nvSpPr>
        <p:spPr>
          <a:xfrm>
            <a:off x="1298448" y="2560320"/>
            <a:ext cx="5349240" cy="3383280"/>
          </a:xfrm>
        </p:spPr>
        <p:txBody>
          <a:bodyPr/>
          <a:lstStyle/>
          <a:p>
            <a:pPr/>
            <a:r>
              <a:t>Everything equally sharp?</a:t>
            </a:r>
          </a:p>
          <a:p>
            <a:pPr/>
            <a:r>
              <a:t>Hard, soft and lost: where?</a:t>
            </a:r>
          </a:p>
          <a:p>
            <a:pPr/>
            <a:r>
              <a:t>Does metal read as metal?</a:t>
            </a:r>
          </a:p>
        </p:txBody>
      </p:sp>
      <p:sp>
        <p:nvSpPr>
          <p:cNvPr id="4" name="IMAGE SLOT"/>
          <p:cNvSpPr/>
          <p:nvPr/>
        </p:nvSpPr>
        <p:spPr>
          <a:xfrm>
            <a:off x="6949440" y="2468880"/>
            <a:ext cx="4471416" cy="3429000"/>
          </a:xfrm>
          <a:prstGeom prst="rect">
            <a:avLst/>
          </a:prstGeom>
          <a:solidFill>
            <a:srgbClr val="F2F0EA"/>
          </a:solidFill>
          <a:ln w="15875">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i="1">
                <a:solidFill>
                  <a:srgbClr val="8A8A8A"/>
                </a:solidFill>
              </a:rPr>
              <a:t>image: a generated image with even, everywhere detail and uniform edges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 Perspective and scale</a:t>
            </a:r>
          </a:p>
        </p:txBody>
      </p:sp>
      <p:sp>
        <p:nvSpPr>
          <p:cNvPr id="3" name="Content Placeholder 2"/>
          <p:cNvSpPr>
            <a:spLocks noGrp="1"/>
          </p:cNvSpPr>
          <p:nvPr>
            <p:ph idx="1"/>
          </p:nvPr>
        </p:nvSpPr>
        <p:spPr>
          <a:xfrm>
            <a:off x="1298448" y="2560320"/>
            <a:ext cx="5349240" cy="3383280"/>
          </a:xfrm>
        </p:spPr>
        <p:txBody>
          <a:bodyPr/>
          <a:lstStyle/>
          <a:p>
            <a:pPr/>
            <a:r>
              <a:t>Find the horizon.</a:t>
            </a:r>
          </a:p>
          <a:p>
            <a:pPr/>
            <a:r>
              <a:t>Lines agree with it?</a:t>
            </a:r>
          </a:p>
          <a:p>
            <a:pPr/>
            <a:r>
              <a:t>Figures the right size?</a:t>
            </a:r>
          </a:p>
        </p:txBody>
      </p:sp>
      <p:pic>
        <p:nvPicPr>
          <p:cNvPr id="4" name="Picture 3" descr="error_perspective.png"/>
          <p:cNvPicPr>
            <a:picLocks noChangeAspect="1"/>
          </p:cNvPicPr>
          <p:nvPr/>
        </p:nvPicPr>
        <p:blipFill>
          <a:blip r:embed="rId2"/>
          <a:stretch>
            <a:fillRect/>
          </a:stretch>
        </p:blipFill>
        <p:spPr>
          <a:xfrm>
            <a:off x="6949440" y="2786062"/>
            <a:ext cx="4471416" cy="2794634"/>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6. Anatomy and hands</a:t>
            </a:r>
          </a:p>
        </p:txBody>
      </p:sp>
      <p:sp>
        <p:nvSpPr>
          <p:cNvPr id="3" name="Content Placeholder 2"/>
          <p:cNvSpPr>
            <a:spLocks noGrp="1"/>
          </p:cNvSpPr>
          <p:nvPr>
            <p:ph idx="1"/>
          </p:nvPr>
        </p:nvSpPr>
        <p:spPr>
          <a:xfrm>
            <a:off x="1298448" y="2560320"/>
            <a:ext cx="5349240" cy="3383280"/>
          </a:xfrm>
        </p:spPr>
        <p:txBody>
          <a:bodyPr/>
          <a:lstStyle/>
          <a:p>
            <a:pPr/>
            <a:r>
              <a:t>Count the fingers.</a:t>
            </a:r>
          </a:p>
          <a:p>
            <a:pPr/>
            <a:r>
              <a:t>Joints bend one way.</a:t>
            </a:r>
          </a:p>
          <a:p>
            <a:pPr/>
            <a:r>
              <a:t>Shoot your own hand as reference.</a:t>
            </a:r>
          </a:p>
        </p:txBody>
      </p:sp>
      <p:sp>
        <p:nvSpPr>
          <p:cNvPr id="4" name="IMAGE SLOT"/>
          <p:cNvSpPr/>
          <p:nvPr/>
        </p:nvSpPr>
        <p:spPr>
          <a:xfrm>
            <a:off x="6949440" y="2468880"/>
            <a:ext cx="4471416" cy="3429000"/>
          </a:xfrm>
          <a:prstGeom prst="rect">
            <a:avLst/>
          </a:prstGeom>
          <a:solidFill>
            <a:srgbClr val="F2F0EA"/>
          </a:solidFill>
          <a:ln w="15875">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i="1">
                <a:solidFill>
                  <a:srgbClr val="8A8A8A"/>
                </a:solidFill>
              </a:rPr>
              <a:t>image: a generated hand with errors (from today's set)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Marking it up, then fixing it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callout layer</a:t>
            </a:r>
          </a:p>
        </p:txBody>
      </p:sp>
      <p:sp>
        <p:nvSpPr>
          <p:cNvPr id="3" name="Rounded Rectangle 2"/>
          <p:cNvSpPr/>
          <p:nvPr/>
        </p:nvSpPr>
        <p:spPr>
          <a:xfrm>
            <a:off x="1298448" y="2697480"/>
            <a:ext cx="2180844" cy="1691640"/>
          </a:xfrm>
          <a:prstGeom prst="roundRect">
            <a:avLst/>
          </a:prstGeom>
          <a:solidFill>
            <a:srgbClr val="F2F0EA"/>
          </a:solid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2B2B2B"/>
                </a:solidFill>
              </a:rPr>
              <a:t>Lock the original</a:t>
            </a:r>
          </a:p>
          <a:p>
            <a:pPr algn="ctr"/>
            <a:r>
              <a:rPr sz="1600">
                <a:solidFill>
                  <a:srgbClr val="2B2B2B"/>
                </a:solidFill>
              </a:rPr>
              <a:t>never paint on it</a:t>
            </a:r>
          </a:p>
        </p:txBody>
      </p:sp>
      <p:sp>
        <p:nvSpPr>
          <p:cNvPr id="4" name="Rounded Rectangle 3"/>
          <p:cNvSpPr/>
          <p:nvPr/>
        </p:nvSpPr>
        <p:spPr>
          <a:xfrm>
            <a:off x="3771900" y="2697480"/>
            <a:ext cx="2180844" cy="1691640"/>
          </a:xfrm>
          <a:prstGeom prst="roundRect">
            <a:avLst/>
          </a:prstGeom>
          <a:solidFill>
            <a:srgbClr val="F2F0EA"/>
          </a:solid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2B2B2B"/>
                </a:solidFill>
              </a:rPr>
              <a:t>CALLOUT layer</a:t>
            </a:r>
          </a:p>
          <a:p>
            <a:pPr algn="ctr"/>
            <a:r>
              <a:rPr sz="1600">
                <a:solidFill>
                  <a:srgbClr val="2B2B2B"/>
                </a:solidFill>
              </a:rPr>
              <a:t>circle and number</a:t>
            </a:r>
          </a:p>
        </p:txBody>
      </p:sp>
      <p:sp>
        <p:nvSpPr>
          <p:cNvPr id="5" name="Rounded Rectangle 4"/>
          <p:cNvSpPr/>
          <p:nvPr/>
        </p:nvSpPr>
        <p:spPr>
          <a:xfrm>
            <a:off x="6245351" y="2697480"/>
            <a:ext cx="2180844" cy="1691640"/>
          </a:xfrm>
          <a:prstGeom prst="roundRect">
            <a:avLst/>
          </a:prstGeom>
          <a:solidFill>
            <a:srgbClr val="F2F0EA"/>
          </a:solid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2B2B2B"/>
                </a:solidFill>
              </a:rPr>
              <a:t>List</a:t>
            </a:r>
          </a:p>
          <a:p>
            <a:pPr algn="ctr"/>
            <a:r>
              <a:rPr sz="1600">
                <a:solidFill>
                  <a:srgbClr val="2B2B2B"/>
                </a:solidFill>
              </a:rPr>
              <a:t>number, check, fix</a:t>
            </a:r>
          </a:p>
        </p:txBody>
      </p:sp>
      <p:sp>
        <p:nvSpPr>
          <p:cNvPr id="6" name="Rounded Rectangle 5"/>
          <p:cNvSpPr/>
          <p:nvPr/>
        </p:nvSpPr>
        <p:spPr>
          <a:xfrm>
            <a:off x="8718803" y="2697480"/>
            <a:ext cx="2180844" cy="1691640"/>
          </a:xfrm>
          <a:prstGeom prst="roundRect">
            <a:avLst/>
          </a:prstGeom>
          <a:solidFill>
            <a:srgbClr val="F2F0EA"/>
          </a:solid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2B2B2B"/>
                </a:solidFill>
              </a:rPr>
              <a:t>FIX_ layers</a:t>
            </a:r>
          </a:p>
          <a:p>
            <a:pPr algn="ctr"/>
            <a:r>
              <a:rPr sz="1600">
                <a:solidFill>
                  <a:srgbClr val="2B2B2B"/>
                </a:solidFill>
              </a:rPr>
              <a:t>one per fix</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it looks like</a:t>
            </a:r>
          </a:p>
        </p:txBody>
      </p:sp>
      <p:pic>
        <p:nvPicPr>
          <p:cNvPr id="3" name="Picture 2" descr="heal_demo.png"/>
          <p:cNvPicPr>
            <a:picLocks noChangeAspect="1"/>
          </p:cNvPicPr>
          <p:nvPr/>
        </p:nvPicPr>
        <p:blipFill>
          <a:blip r:embed="rId2"/>
          <a:stretch>
            <a:fillRect/>
          </a:stretch>
        </p:blipFill>
        <p:spPr>
          <a:xfrm>
            <a:off x="1298448" y="2645973"/>
            <a:ext cx="9601200" cy="2709052"/>
          </a:xfrm>
          <a:prstGeom prst="rect">
            <a:avLst/>
          </a:prstGeom>
        </p:spPr>
      </p:pic>
      <p:sp>
        <p:nvSpPr>
          <p:cNvPr id="4" name="TextBox 3"/>
          <p:cNvSpPr txBox="1"/>
          <p:nvPr/>
        </p:nvSpPr>
        <p:spPr>
          <a:xfrm>
            <a:off x="1298448" y="5650992"/>
            <a:ext cx="9601200" cy="411480"/>
          </a:xfrm>
          <a:prstGeom prst="rect">
            <a:avLst/>
          </a:prstGeom>
          <a:noFill/>
        </p:spPr>
        <p:txBody>
          <a:bodyPr wrap="square">
            <a:spAutoFit/>
          </a:bodyPr>
          <a:lstStyle/>
          <a:p>
            <a:pPr algn="ctr"/>
            <a:r>
              <a:rPr sz="1500">
                <a:solidFill>
                  <a:srgbClr val="2B2B2B"/>
                </a:solidFill>
              </a:rPr>
              <a:t>Generated, called out, fixed on its own layer.</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Fixing by painting</a:t>
            </a:r>
          </a:p>
        </p:txBody>
      </p:sp>
      <p:sp>
        <p:nvSpPr>
          <p:cNvPr id="3" name="Content Placeholder 2"/>
          <p:cNvSpPr>
            <a:spLocks noGrp="1"/>
          </p:cNvSpPr>
          <p:nvPr>
            <p:ph idx="1"/>
          </p:nvPr>
        </p:nvSpPr>
        <p:spPr/>
        <p:txBody>
          <a:bodyPr/>
          <a:lstStyle/>
          <a:p>
            <a:pPr/>
            <a:r>
              <a:t>Structure, then light, then surface.</a:t>
            </a:r>
          </a:p>
          <a:p>
            <a:pPr/>
            <a:r>
              <a:t>Sample color from the image.</a:t>
            </a:r>
          </a:p>
          <a:p>
            <a:pPr/>
            <a:r>
              <a:t>Value first, then color.</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Make the fix disappear</a:t>
            </a:r>
          </a:p>
        </p:txBody>
      </p:sp>
      <p:pic>
        <p:nvPicPr>
          <p:cNvPr id="3" name="Picture 2" descr="composite_zoom.png"/>
          <p:cNvPicPr>
            <a:picLocks noChangeAspect="1"/>
          </p:cNvPicPr>
          <p:nvPr/>
        </p:nvPicPr>
        <p:blipFill>
          <a:blip r:embed="rId2"/>
          <a:stretch>
            <a:fillRect/>
          </a:stretch>
        </p:blipFill>
        <p:spPr>
          <a:xfrm>
            <a:off x="3425772" y="2377440"/>
            <a:ext cx="5346550" cy="3246120"/>
          </a:xfrm>
          <a:prstGeom prst="rect">
            <a:avLst/>
          </a:prstGeom>
        </p:spPr>
      </p:pic>
      <p:sp>
        <p:nvSpPr>
          <p:cNvPr id="4" name="TextBox 3"/>
          <p:cNvSpPr txBox="1"/>
          <p:nvPr/>
        </p:nvSpPr>
        <p:spPr>
          <a:xfrm>
            <a:off x="1298448" y="5650992"/>
            <a:ext cx="9601200" cy="411480"/>
          </a:xfrm>
          <a:prstGeom prst="rect">
            <a:avLst/>
          </a:prstGeom>
          <a:noFill/>
        </p:spPr>
        <p:txBody>
          <a:bodyPr wrap="square">
            <a:spAutoFit/>
          </a:bodyPr>
          <a:lstStyle/>
          <a:p>
            <a:pPr algn="ctr"/>
            <a:r>
              <a:rPr sz="1500">
                <a:solidFill>
                  <a:srgbClr val="2B2B2B"/>
                </a:solidFill>
              </a:rPr>
              <a:t>Match the grain and the edge softness, at 100%.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Worked example</a:t>
            </a:r>
          </a:p>
        </p:txBody>
      </p:sp>
      <p:sp>
        <p:nvSpPr>
          <p:cNvPr id="3" name="Rounded Rectangle 2"/>
          <p:cNvSpPr/>
          <p:nvPr/>
        </p:nvSpPr>
        <p:spPr>
          <a:xfrm>
            <a:off x="1298448" y="2697480"/>
            <a:ext cx="1686153" cy="1691640"/>
          </a:xfrm>
          <a:prstGeom prst="roundRect">
            <a:avLst/>
          </a:prstGeom>
          <a:solidFill>
            <a:srgbClr val="F2F0EA"/>
          </a:solid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2B2B2B"/>
                </a:solidFill>
              </a:rPr>
              <a:t>Squint</a:t>
            </a:r>
          </a:p>
          <a:p>
            <a:pPr algn="ctr"/>
            <a:r>
              <a:rPr sz="1400">
                <a:solidFill>
                  <a:srgbClr val="2B2B2B"/>
                </a:solidFill>
              </a:rPr>
              <a:t>value fails?</a:t>
            </a:r>
          </a:p>
        </p:txBody>
      </p:sp>
      <p:sp>
        <p:nvSpPr>
          <p:cNvPr id="4" name="Rounded Rectangle 3"/>
          <p:cNvSpPr/>
          <p:nvPr/>
        </p:nvSpPr>
        <p:spPr>
          <a:xfrm>
            <a:off x="3277209" y="2697480"/>
            <a:ext cx="1686153" cy="1691640"/>
          </a:xfrm>
          <a:prstGeom prst="roundRect">
            <a:avLst/>
          </a:prstGeom>
          <a:solidFill>
            <a:srgbClr val="F2F0EA"/>
          </a:solid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2B2B2B"/>
                </a:solidFill>
              </a:rPr>
              <a:t>Point</a:t>
            </a:r>
          </a:p>
          <a:p>
            <a:pPr algn="ctr"/>
            <a:r>
              <a:rPr sz="1400">
                <a:solidFill>
                  <a:srgbClr val="2B2B2B"/>
                </a:solidFill>
              </a:rPr>
              <a:t>where's the light?</a:t>
            </a:r>
          </a:p>
        </p:txBody>
      </p:sp>
      <p:sp>
        <p:nvSpPr>
          <p:cNvPr id="5" name="Rounded Rectangle 4"/>
          <p:cNvSpPr/>
          <p:nvPr/>
        </p:nvSpPr>
        <p:spPr>
          <a:xfrm>
            <a:off x="5255971" y="2697480"/>
            <a:ext cx="1686153" cy="1691640"/>
          </a:xfrm>
          <a:prstGeom prst="roundRect">
            <a:avLst/>
          </a:prstGeom>
          <a:solidFill>
            <a:srgbClr val="F2F0EA"/>
          </a:solid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2B2B2B"/>
                </a:solidFill>
              </a:rPr>
              <a:t>Callout</a:t>
            </a:r>
          </a:p>
          <a:p>
            <a:pPr algn="ctr"/>
            <a:r>
              <a:rPr sz="1400">
                <a:solidFill>
                  <a:srgbClr val="2B2B2B"/>
                </a:solidFill>
              </a:rPr>
              <a:t>number each error</a:t>
            </a:r>
          </a:p>
        </p:txBody>
      </p:sp>
      <p:sp>
        <p:nvSpPr>
          <p:cNvPr id="6" name="Rounded Rectangle 5"/>
          <p:cNvSpPr/>
          <p:nvPr/>
        </p:nvSpPr>
        <p:spPr>
          <a:xfrm>
            <a:off x="7234732" y="2697480"/>
            <a:ext cx="1686153" cy="1691640"/>
          </a:xfrm>
          <a:prstGeom prst="roundRect">
            <a:avLst/>
          </a:prstGeom>
          <a:solidFill>
            <a:srgbClr val="F2F0EA"/>
          </a:solid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2B2B2B"/>
                </a:solidFill>
              </a:rPr>
              <a:t>Fix</a:t>
            </a:r>
          </a:p>
          <a:p>
            <a:pPr algn="ctr"/>
            <a:r>
              <a:rPr sz="1400">
                <a:solidFill>
                  <a:srgbClr val="2B2B2B"/>
                </a:solidFill>
              </a:rPr>
              <a:t>structure, light, surface</a:t>
            </a:r>
          </a:p>
        </p:txBody>
      </p:sp>
      <p:sp>
        <p:nvSpPr>
          <p:cNvPr id="7" name="Rounded Rectangle 6"/>
          <p:cNvSpPr/>
          <p:nvPr/>
        </p:nvSpPr>
        <p:spPr>
          <a:xfrm>
            <a:off x="9213494" y="2697480"/>
            <a:ext cx="1686153" cy="1691640"/>
          </a:xfrm>
          <a:prstGeom prst="roundRect">
            <a:avLst/>
          </a:prstGeom>
          <a:solidFill>
            <a:srgbClr val="F2F0EA"/>
          </a:solid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2B2B2B"/>
                </a:solidFill>
              </a:rPr>
              <a:t>Match</a:t>
            </a:r>
          </a:p>
          <a:p>
            <a:pPr algn="ctr"/>
            <a:r>
              <a:rPr sz="1400">
                <a:solidFill>
                  <a:srgbClr val="2B2B2B"/>
                </a:solidFill>
              </a:rPr>
              <a:t>grain at 100%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Now you: plan the fixes</a:t>
            </a:r>
          </a:p>
        </p:txBody>
      </p:sp>
      <p:sp>
        <p:nvSpPr>
          <p:cNvPr id="3" name="IMAGE SLOT"/>
          <p:cNvSpPr/>
          <p:nvPr/>
        </p:nvSpPr>
        <p:spPr>
          <a:xfrm>
            <a:off x="1298448" y="2395728"/>
            <a:ext cx="9601200" cy="3474720"/>
          </a:xfrm>
          <a:prstGeom prst="rect">
            <a:avLst/>
          </a:prstGeom>
          <a:solidFill>
            <a:srgbClr val="F2F0EA"/>
          </a:solidFill>
          <a:ln w="15875">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i="1">
                <a:solidFill>
                  <a:srgbClr val="8A8A8A"/>
                </a:solidFill>
              </a:rPr>
              <a:t>image: a second generated image from your set, unfixed</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 the wild: the white puffer jacket</a:t>
            </a:r>
          </a:p>
        </p:txBody>
      </p:sp>
      <p:sp>
        <p:nvSpPr>
          <p:cNvPr id="3" name="Content Placeholder 2"/>
          <p:cNvSpPr>
            <a:spLocks noGrp="1"/>
          </p:cNvSpPr>
          <p:nvPr>
            <p:ph idx="1"/>
          </p:nvPr>
        </p:nvSpPr>
        <p:spPr>
          <a:xfrm>
            <a:off x="1298448" y="2560320"/>
            <a:ext cx="5349240" cy="3383280"/>
          </a:xfrm>
        </p:spPr>
        <p:txBody>
          <a:bodyPr/>
          <a:lstStyle/>
          <a:p>
            <a:pPr/>
            <a:r>
              <a:t>A famous fake, 2023 or so.</a:t>
            </a:r>
          </a:p>
          <a:p>
            <a:pPr/>
            <a:r>
              <a:t>Millions believed it.</a:t>
            </a:r>
          </a:p>
          <a:p>
            <a:pPr/>
            <a:r>
              <a:t>A painter would have caught it.</a:t>
            </a:r>
          </a:p>
        </p:txBody>
      </p:sp>
      <p:sp>
        <p:nvSpPr>
          <p:cNvPr id="4" name="IMAGE SLOT"/>
          <p:cNvSpPr/>
          <p:nvPr/>
        </p:nvSpPr>
        <p:spPr>
          <a:xfrm>
            <a:off x="6949440" y="2468880"/>
            <a:ext cx="4471416" cy="3429000"/>
          </a:xfrm>
          <a:prstGeom prst="rect">
            <a:avLst/>
          </a:prstGeom>
          <a:solidFill>
            <a:srgbClr val="F2F0EA"/>
          </a:solidFill>
          <a:ln w="15875">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i="1">
                <a:solidFill>
                  <a:srgbClr val="8A8A8A"/>
                </a:solidFill>
              </a:rPr>
              <a:t>image: the generated image of the Pope in a white puffer jacket, 2023 or so</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Your extension versus Expand</a:t>
            </a:r>
          </a:p>
        </p:txBody>
      </p:sp>
      <p:sp>
        <p:nvSpPr>
          <p:cNvPr id="3" name="Content Placeholder 2"/>
          <p:cNvSpPr>
            <a:spLocks noGrp="1"/>
          </p:cNvSpPr>
          <p:nvPr>
            <p:ph idx="1"/>
          </p:nvPr>
        </p:nvSpPr>
        <p:spPr/>
        <p:txBody>
          <a:bodyPr/>
          <a:lstStyle/>
          <a:p>
            <a:pPr/>
            <a:r>
              <a:t>Expand fills the space.</a:t>
            </a:r>
          </a:p>
          <a:p>
            <a:pPr/>
            <a:r>
              <a:t>You decide what the space says.</a:t>
            </a:r>
          </a:p>
          <a:p>
            <a:pPr/>
            <a:r>
              <a:t>That's the whole final.</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Words from today</a:t>
            </a:r>
          </a:p>
        </p:txBody>
      </p:sp>
      <p:sp>
        <p:nvSpPr>
          <p:cNvPr id="3" name="Content Placeholder 2"/>
          <p:cNvSpPr>
            <a:spLocks noGrp="1"/>
          </p:cNvSpPr>
          <p:nvPr>
            <p:ph idx="1" sz="half"/>
          </p:nvPr>
        </p:nvSpPr>
        <p:spPr/>
        <p:txBody>
          <a:bodyPr/>
          <a:lstStyle/>
          <a:p>
            <a:pPr>
              <a:spcAft>
                <a:spcPts val="600"/>
              </a:spcAft>
            </a:pPr>
            <a:r>
              <a:rPr b="1" sz="1900"/>
              <a:t>Paint-over</a:t>
            </a:r>
            <a:r>
              <a:rPr sz="1900"/>
              <a:t> – correcting an image by painting on new layers</a:t>
            </a:r>
          </a:p>
          <a:p>
            <a:pPr>
              <a:spcAft>
                <a:spcPts val="600"/>
              </a:spcAft>
            </a:pPr>
            <a:r>
              <a:rPr b="1" sz="1900"/>
              <a:t>Callout layer</a:t>
            </a:r>
            <a:r>
              <a:rPr sz="1900"/>
              <a:t> – numbered errors, on their own layer</a:t>
            </a:r>
          </a:p>
          <a:p>
            <a:pPr>
              <a:spcAft>
                <a:spcPts val="600"/>
              </a:spcAft>
            </a:pPr>
            <a:r>
              <a:rPr b="1" sz="1900"/>
              <a:t>Two suns</a:t>
            </a:r>
            <a:r>
              <a:rPr sz="1900"/>
              <a:t> – objects lit from different directions</a:t>
            </a:r>
          </a:p>
        </p:txBody>
      </p:sp>
      <p:sp>
        <p:nvSpPr>
          <p:cNvPr id="4" name="Content Placeholder 3"/>
          <p:cNvSpPr>
            <a:spLocks noGrp="1"/>
          </p:cNvSpPr>
          <p:nvPr>
            <p:ph idx="2" sz="half"/>
          </p:nvPr>
        </p:nvSpPr>
        <p:spPr/>
        <p:txBody>
          <a:bodyPr/>
          <a:lstStyle/>
          <a:p>
            <a:pPr>
              <a:spcAft>
                <a:spcPts val="600"/>
              </a:spcAft>
            </a:pPr>
            <a:r>
              <a:rPr b="1" sz="1900"/>
              <a:t>Mush</a:t>
            </a:r>
            <a:r>
              <a:rPr sz="1900"/>
              <a:t> – detail everywhere, value structure nowhere</a:t>
            </a:r>
          </a:p>
          <a:p>
            <a:pPr>
              <a:spcAft>
                <a:spcPts val="600"/>
              </a:spcAft>
            </a:pPr>
            <a:r>
              <a:rPr b="1" sz="1900"/>
              <a:t>Edge hierarchy</a:t>
            </a:r>
            <a:r>
              <a:rPr sz="1900"/>
              <a:t> – hard at the focus, soft and lost elsewhere</a:t>
            </a:r>
          </a:p>
          <a:p>
            <a:pPr>
              <a:spcAft>
                <a:spcPts val="600"/>
              </a:spcAft>
            </a:pPr>
            <a:r>
              <a:rPr b="1" sz="1900"/>
              <a:t>FIX_ layer</a:t>
            </a:r>
            <a:r>
              <a:rPr sz="1900"/>
              <a:t> – one correction, named for what it fixes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Before next class: pick one</a:t>
            </a:r>
          </a:p>
        </p:txBody>
      </p:sp>
      <p:sp>
        <p:nvSpPr>
          <p:cNvPr id="3" name="Text Placeholder 2"/>
          <p:cNvSpPr>
            <a:spLocks noGrp="1"/>
          </p:cNvSpPr>
          <p:nvPr>
            <p:ph type="body" idx="1"/>
          </p:nvPr>
        </p:nvSpPr>
        <p:spPr/>
        <p:txBody>
          <a:bodyPr/>
          <a:lstStyle/>
          <a:p>
            <a:r>
              <a:t>Option A, guided</a:t>
            </a:r>
          </a:p>
        </p:txBody>
      </p:sp>
      <p:sp>
        <p:nvSpPr>
          <p:cNvPr id="4" name="Content Placeholder 3"/>
          <p:cNvSpPr>
            <a:spLocks noGrp="1"/>
          </p:cNvSpPr>
          <p:nvPr>
            <p:ph idx="2" sz="half"/>
          </p:nvPr>
        </p:nvSpPr>
        <p:spPr/>
        <p:txBody>
          <a:bodyPr/>
          <a:lstStyle/>
          <a:p>
            <a:pPr/>
            <a:r>
              <a:t>A second paint-over</a:t>
            </a:r>
          </a:p>
          <a:p>
            <a:pPr/>
            <a:r>
              <a:t>on a provided image.</a:t>
            </a:r>
          </a:p>
          <a:p>
            <a:pPr/>
            <a:r>
              <a:t>Each fix on its own named layer.</a:t>
            </a:r>
          </a:p>
        </p:txBody>
      </p:sp>
      <p:sp>
        <p:nvSpPr>
          <p:cNvPr id="5" name="Text Placeholder 4"/>
          <p:cNvSpPr>
            <a:spLocks noGrp="1"/>
          </p:cNvSpPr>
          <p:nvPr>
            <p:ph type="body" idx="3" sz="quarter"/>
          </p:nvPr>
        </p:nvSpPr>
        <p:spPr/>
        <p:txBody>
          <a:bodyPr/>
          <a:lstStyle/>
          <a:p>
            <a:r>
              <a:t>Option B, own material</a:t>
            </a:r>
          </a:p>
        </p:txBody>
      </p:sp>
      <p:sp>
        <p:nvSpPr>
          <p:cNvPr id="6" name="Content Placeholder 5"/>
          <p:cNvSpPr>
            <a:spLocks noGrp="1"/>
          </p:cNvSpPr>
          <p:nvPr>
            <p:ph idx="4" sz="quarter"/>
          </p:nvPr>
        </p:nvSpPr>
        <p:spPr/>
        <p:txBody>
          <a:bodyPr/>
          <a:lstStyle/>
          <a:p>
            <a:pPr/>
            <a:r>
              <a:t>Short written comparison: three things</a:t>
            </a:r>
          </a:p>
          <a:p>
            <a:pPr/>
            <a:r>
              <a:t>the generator got wrong and how you</a:t>
            </a:r>
          </a:p>
          <a:p>
            <a:pPr/>
            <a:r>
              <a:t>fixed each, with layer names.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Most people see the hands.</a:t>
            </a:r>
          </a:p>
        </p:txBody>
      </p:sp>
      <p:sp>
        <p:nvSpPr>
          <p:cNvPr id="3" name="Text Placeholder 2"/>
          <p:cNvSpPr>
            <a:spLocks noGrp="1"/>
          </p:cNvSpPr>
          <p:nvPr>
            <p:ph type="body" idx="13" sz="quarter"/>
          </p:nvPr>
        </p:nvSpPr>
        <p:spPr/>
        <p:txBody>
          <a:bodyPr/>
          <a:lstStyle/>
          <a:p>
            <a:r>
              <a:t>One line to take home</a:t>
            </a:r>
          </a:p>
        </p:txBody>
      </p:sp>
      <p:sp>
        <p:nvSpPr>
          <p:cNvPr id="4" name="Text Placeholder 3"/>
          <p:cNvSpPr>
            <a:spLocks noGrp="1"/>
          </p:cNvSpPr>
          <p:nvPr>
            <p:ph type="body" idx="1"/>
          </p:nvPr>
        </p:nvSpPr>
        <p:spPr/>
        <p:txBody>
          <a:bodyPr/>
          <a:lstStyle/>
          <a:p>
            <a:r>
              <a:t>A painter sees the shadows.</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2.jpeg"/></Relationships>
</file>

<file path=ppt/theme/theme1.xml><?xml version="1.0" encoding="utf-8"?>
<a:theme xmlns:a="http://schemas.openxmlformats.org/drawingml/2006/main" name="Game Design Theme">
  <a:themeElements>
    <a:clrScheme name="Organic">
      <a:dk1>
        <a:sysClr val="windowText" lastClr="000000"/>
      </a:dk1>
      <a:lt1>
        <a:sysClr val="window" lastClr="FFFFFF"/>
      </a:lt1>
      <a:dk2>
        <a:srgbClr val="212121"/>
      </a:dk2>
      <a:lt2>
        <a:srgbClr val="DADADA"/>
      </a:lt2>
      <a:accent1>
        <a:srgbClr val="D9B247"/>
      </a:accent1>
      <a:accent2>
        <a:srgbClr val="CC702D"/>
      </a:accent2>
      <a:accent3>
        <a:srgbClr val="B53A31"/>
      </a:accent3>
      <a:accent4>
        <a:srgbClr val="815F56"/>
      </a:accent4>
      <a:accent5>
        <a:srgbClr val="AE9E7C"/>
      </a:accent5>
      <a:accent6>
        <a:srgbClr val="7B8865"/>
      </a:accent6>
      <a:hlink>
        <a:srgbClr val="BB7826"/>
      </a:hlink>
      <a:folHlink>
        <a:srgbClr val="CF9C5F"/>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Game Design Theme" id="{FDF2760C-01FA-4CD6-92F4-89C50AE1AED8}" vid="{701598FD-A452-4D8B-8848-C96AAD2A0DD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Game Design Theme</Template>
  <TotalTime>8078</TotalTime>
  <Words>4258</Words>
  <Application>Microsoft Office PowerPoint</Application>
  <PresentationFormat>Widescreen</PresentationFormat>
  <Paragraphs>228</Paragraphs>
  <Slides>36</Slides>
  <Notes>36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36</vt:i4>
      </vt:variant>
    </vt:vector>
  </HeadingPairs>
  <TitlesOfParts>
    <vt:vector size="40" baseType="lpstr">
      <vt:lpstr>Arial</vt:lpstr>
      <vt:lpstr>Calibri</vt:lpstr>
      <vt:lpstr>Garamond</vt:lpstr>
      <vt:lpstr>Game Design Theme</vt:lpstr>
      <vt:lpstr>Storytelling Through Lighting</vt:lpstr>
      <vt:lpstr>Nothing Is Accidental</vt:lpstr>
      <vt:lpstr>Where This Comes From</vt:lpstr>
      <vt:lpstr>Film vs. 3D</vt:lpstr>
      <vt:lpstr>The Standard Setup</vt:lpstr>
      <vt:lpstr>Key Light</vt:lpstr>
      <vt:lpstr>Fill Light</vt:lpstr>
      <vt:lpstr>Backlight</vt:lpstr>
      <vt:lpstr>The Two Families</vt:lpstr>
      <vt:lpstr>High-Key Lighting</vt:lpstr>
      <vt:lpstr>Low-Key Lighting</vt:lpstr>
      <vt:lpstr>What Contrast Does</vt:lpstr>
      <vt:lpstr>High Contrast</vt:lpstr>
      <vt:lpstr>Low Contrast</vt:lpstr>
      <vt:lpstr>Hard vs. Soft, Explained by the Sun</vt:lpstr>
      <vt:lpstr>Hard Light</vt:lpstr>
      <vt:lpstr>Soft Light</vt:lpstr>
      <vt:lpstr>Drawing Light in a Storyboard Panel</vt:lpstr>
      <vt:lpstr>Direction Changes the Mood</vt:lpstr>
      <vt:lpstr>Frontal Lighting</vt:lpstr>
      <vt:lpstr>Side Lighting</vt:lpstr>
      <vt:lpstr>Backlighting</vt:lpstr>
      <vt:lpstr>Underlighting</vt:lpstr>
      <vt:lpstr>Exercise: Light the Same Pose Four Ways</vt:lpstr>
      <vt:lpstr>Train Your Eye</vt:lpstr>
      <vt:lpstr>Realistic Lighting</vt:lpstr>
      <vt:lpstr>Dramatic / Stylized Lighting</vt:lpstr>
      <vt:lpstr>What Color Does in a Story</vt:lpstr>
      <vt:lpstr>Contrast Is the Real Tool</vt:lpstr>
      <vt:lpstr>Making Something Stand Out — Or Getting Out of Its Way</vt:lpstr>
      <vt:lpstr>The Wheel, Once</vt:lpstr>
      <vt:lpstr>Warm</vt:lpstr>
      <vt:lpstr>Cool</vt:lpstr>
      <vt:lpstr>Color Meaning Is Cultural</vt:lpstr>
      <vt:lpstr>Apply It: Light and Color, One Panel</vt:lpstr>
      <vt:lpstr>A Language Still Being Written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Acting for Animation</dc:title>
  <dc:creator>Daniel</dc:creator>
  <cp:lastModifiedBy>Daniel Coes</cp:lastModifiedBy>
  <cp:revision>372</cp:revision>
  <dcterms:created xsi:type="dcterms:W3CDTF">2016-05-07T19:16:27Z</dcterms:created>
  <dcterms:modified xsi:type="dcterms:W3CDTF">2026-08-11T01:20:15Z</dcterms:modified>
</cp:coreProperties>
</file>